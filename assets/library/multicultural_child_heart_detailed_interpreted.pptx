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63"/>
  </p:notesMasterIdLst>
  <p:sldIdLst>
    <p:sldId id="599" r:id="rId2"/>
    <p:sldId id="556" r:id="rId3"/>
    <p:sldId id="262" r:id="rId4"/>
    <p:sldId id="560" r:id="rId5"/>
    <p:sldId id="525" r:id="rId6"/>
    <p:sldId id="527" r:id="rId7"/>
    <p:sldId id="568" r:id="rId8"/>
    <p:sldId id="581" r:id="rId9"/>
    <p:sldId id="570" r:id="rId10"/>
    <p:sldId id="574" r:id="rId11"/>
    <p:sldId id="579" r:id="rId12"/>
    <p:sldId id="580" r:id="rId13"/>
    <p:sldId id="577" r:id="rId14"/>
    <p:sldId id="571" r:id="rId15"/>
    <p:sldId id="600" r:id="rId16"/>
    <p:sldId id="575" r:id="rId17"/>
    <p:sldId id="546" r:id="rId18"/>
    <p:sldId id="558" r:id="rId19"/>
    <p:sldId id="595" r:id="rId20"/>
    <p:sldId id="561" r:id="rId21"/>
    <p:sldId id="596" r:id="rId22"/>
    <p:sldId id="590" r:id="rId23"/>
    <p:sldId id="458" r:id="rId24"/>
    <p:sldId id="479" r:id="rId25"/>
    <p:sldId id="602" r:id="rId26"/>
    <p:sldId id="601" r:id="rId27"/>
    <p:sldId id="605" r:id="rId28"/>
    <p:sldId id="544" r:id="rId29"/>
    <p:sldId id="535" r:id="rId30"/>
    <p:sldId id="591" r:id="rId31"/>
    <p:sldId id="512" r:id="rId32"/>
    <p:sldId id="513" r:id="rId33"/>
    <p:sldId id="514" r:id="rId34"/>
    <p:sldId id="559" r:id="rId35"/>
    <p:sldId id="592" r:id="rId36"/>
    <p:sldId id="610" r:id="rId37"/>
    <p:sldId id="609" r:id="rId38"/>
    <p:sldId id="508" r:id="rId39"/>
    <p:sldId id="606" r:id="rId40"/>
    <p:sldId id="509" r:id="rId41"/>
    <p:sldId id="607" r:id="rId42"/>
    <p:sldId id="582" r:id="rId43"/>
    <p:sldId id="547" r:id="rId44"/>
    <p:sldId id="450" r:id="rId45"/>
    <p:sldId id="501" r:id="rId46"/>
    <p:sldId id="452" r:id="rId47"/>
    <p:sldId id="503" r:id="rId48"/>
    <p:sldId id="455" r:id="rId49"/>
    <p:sldId id="506" r:id="rId50"/>
    <p:sldId id="569" r:id="rId51"/>
    <p:sldId id="539" r:id="rId52"/>
    <p:sldId id="565" r:id="rId53"/>
    <p:sldId id="260" r:id="rId54"/>
    <p:sldId id="563" r:id="rId55"/>
    <p:sldId id="299" r:id="rId56"/>
    <p:sldId id="329" r:id="rId57"/>
    <p:sldId id="257" r:id="rId58"/>
    <p:sldId id="536" r:id="rId59"/>
    <p:sldId id="604" r:id="rId60"/>
    <p:sldId id="603" r:id="rId61"/>
    <p:sldId id="597" r:id="rId62"/>
  </p:sldIdLst>
  <p:sldSz cx="9144000" cy="5143500" type="screen16x9"/>
  <p:notesSz cx="9926638" cy="67976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46" autoAdjust="0"/>
    <p:restoredTop sz="79797" autoAdjust="0"/>
  </p:normalViewPr>
  <p:slideViewPr>
    <p:cSldViewPr snapToGrid="0" snapToObjects="1">
      <p:cViewPr varScale="1">
        <p:scale>
          <a:sx n="111" d="100"/>
          <a:sy n="111" d="100"/>
        </p:scale>
        <p:origin x="1518" y="9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061357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924175" y="849313"/>
            <a:ext cx="4078288" cy="2293937"/>
          </a:xfrm>
          <a:prstGeom prst="rect">
            <a:avLst/>
          </a:prstGeom>
          <a:noFill/>
          <a:ln w="12700">
            <a:solidFill>
              <a:prstClr val="black"/>
            </a:solidFill>
          </a:ln>
        </p:spPr>
      </p:sp>
      <p:sp>
        <p:nvSpPr>
          <p:cNvPr id="3" name="슬라이드 노트 개체 틀 2"/>
          <p:cNvSpPr>
            <a:spLocks noGrp="1"/>
          </p:cNvSpPr>
          <p:nvPr>
            <p:ph type="body" idx="1"/>
          </p:nvPr>
        </p:nvSpPr>
        <p:spPr>
          <a:xfrm>
            <a:off x="992188" y="3271838"/>
            <a:ext cx="7942262" cy="2676525"/>
          </a:xfrm>
          <a:prstGeom prst="rect">
            <a:avLst/>
          </a:prstGeom>
        </p:spPr>
        <p:txBody>
          <a:bodyPr/>
          <a:lstStyle/>
          <a:p>
            <a:r>
              <a:rPr lang="ko-KR" altLang="en-US" dirty="0"/>
              <a:t>안녕하세요</a:t>
            </a:r>
            <a:r>
              <a:rPr lang="en-US" altLang="ko-KR" dirty="0"/>
              <a:t>~ Nice to meet you , </a:t>
            </a:r>
            <a:r>
              <a:rPr lang="ko-KR" altLang="en-US" dirty="0"/>
              <a:t>씬 </a:t>
            </a:r>
            <a:r>
              <a:rPr lang="ko-KR" altLang="en-US" dirty="0" err="1"/>
              <a:t>짜오</a:t>
            </a:r>
            <a:r>
              <a:rPr lang="ko-KR" altLang="en-US" dirty="0"/>
              <a:t> 머이 </a:t>
            </a:r>
            <a:r>
              <a:rPr lang="ko-KR" altLang="en-US" dirty="0" err="1"/>
              <a:t>응으어이</a:t>
            </a:r>
            <a:r>
              <a:rPr lang="en-US" altLang="ko-KR" dirty="0"/>
              <a:t>!, </a:t>
            </a:r>
            <a:r>
              <a:rPr lang="ko-KR" altLang="en-US" dirty="0" err="1"/>
              <a:t>쿠무스타</a:t>
            </a:r>
            <a:r>
              <a:rPr lang="ko-KR" altLang="en-US" dirty="0"/>
              <a:t> 포 </a:t>
            </a:r>
            <a:r>
              <a:rPr lang="ko-KR" altLang="en-US" dirty="0" err="1"/>
              <a:t>카용</a:t>
            </a:r>
            <a:r>
              <a:rPr lang="ko-KR" altLang="en-US" dirty="0"/>
              <a:t> </a:t>
            </a:r>
            <a:r>
              <a:rPr lang="ko-KR" altLang="en-US" dirty="0" err="1"/>
              <a:t>라핫</a:t>
            </a:r>
            <a:r>
              <a:rPr lang="en-US" altLang="ko-KR" dirty="0"/>
              <a:t>, </a:t>
            </a:r>
            <a:r>
              <a:rPr lang="ko-KR" altLang="en-US" dirty="0" err="1"/>
              <a:t>싸왓디</a:t>
            </a:r>
            <a:r>
              <a:rPr lang="ko-KR" altLang="en-US" dirty="0"/>
              <a:t> </a:t>
            </a:r>
            <a:r>
              <a:rPr lang="ko-KR" altLang="en-US" dirty="0" err="1"/>
              <a:t>툭콘</a:t>
            </a:r>
            <a:r>
              <a:rPr lang="ko-KR" altLang="en-US" dirty="0"/>
              <a:t> 카</a:t>
            </a:r>
            <a:r>
              <a:rPr lang="en-US" altLang="ko-KR" dirty="0"/>
              <a:t>~</a:t>
            </a:r>
          </a:p>
          <a:p>
            <a:r>
              <a:rPr lang="ko-KR" altLang="en-US" dirty="0"/>
              <a:t>제 이름은 이정민 입니다</a:t>
            </a:r>
            <a:r>
              <a:rPr lang="en-US" altLang="ko-KR" dirty="0"/>
              <a:t>. </a:t>
            </a:r>
            <a:r>
              <a:rPr lang="ko-KR" altLang="en-US" dirty="0"/>
              <a:t>두 아이를 키우고 </a:t>
            </a:r>
            <a:r>
              <a:rPr lang="ko-KR" altLang="en-US" dirty="0" err="1"/>
              <a:t>있구요</a:t>
            </a:r>
            <a:r>
              <a:rPr lang="en-US" altLang="ko-KR" dirty="0"/>
              <a:t>.</a:t>
            </a:r>
          </a:p>
          <a:p>
            <a:r>
              <a:rPr lang="ko-KR" altLang="en-US" dirty="0"/>
              <a:t>현재 사상구보건소에 보건소장으로 근무하면서 사상구 주민들의 건강을 돌보는 일을 하고 있습니다</a:t>
            </a:r>
            <a:r>
              <a:rPr lang="en-US" altLang="ko-KR" dirty="0"/>
              <a:t>.</a:t>
            </a:r>
          </a:p>
          <a:p>
            <a:r>
              <a:rPr lang="ko-KR" altLang="en-US" dirty="0"/>
              <a:t>이렇게 행복하고 즐거운 자리에 </a:t>
            </a:r>
            <a:r>
              <a:rPr lang="ko-KR" altLang="en-US" dirty="0" err="1"/>
              <a:t>초대해주셔서</a:t>
            </a:r>
            <a:r>
              <a:rPr lang="ko-KR" altLang="en-US" dirty="0"/>
              <a:t> 감사드립니다</a:t>
            </a:r>
            <a:r>
              <a:rPr lang="en-US" altLang="ko-KR" dirty="0"/>
              <a:t>. </a:t>
            </a:r>
          </a:p>
          <a:p>
            <a:r>
              <a:rPr lang="ko-KR" altLang="en-US" dirty="0"/>
              <a:t>제가 이 자리에서 말씀드릴 내용은 어떻게 하면 아이가 잘 </a:t>
            </a:r>
            <a:r>
              <a:rPr lang="ko-KR" altLang="en-US" dirty="0" err="1"/>
              <a:t>자랄까에</a:t>
            </a:r>
            <a:r>
              <a:rPr lang="ko-KR" altLang="en-US" dirty="0"/>
              <a:t> 대한 내용입니다</a:t>
            </a:r>
            <a:r>
              <a:rPr lang="en-US" altLang="ko-KR" dirty="0"/>
              <a:t>. </a:t>
            </a:r>
          </a:p>
          <a:p>
            <a:r>
              <a:rPr lang="ko-KR" altLang="en-US" dirty="0"/>
              <a:t>저도 이 강의를 준비하면서 지난 날을 되돌아보게 되고</a:t>
            </a:r>
            <a:r>
              <a:rPr lang="en-US" altLang="ko-KR" dirty="0"/>
              <a:t>. </a:t>
            </a:r>
            <a:r>
              <a:rPr lang="ko-KR" altLang="en-US" dirty="0"/>
              <a:t>반성도 하고</a:t>
            </a:r>
            <a:r>
              <a:rPr lang="en-US" altLang="ko-KR" dirty="0"/>
              <a:t>. </a:t>
            </a:r>
            <a:r>
              <a:rPr lang="ko-KR" altLang="en-US" dirty="0"/>
              <a:t>다시 다짐을 하는 계기가 되었네요</a:t>
            </a:r>
            <a:r>
              <a:rPr lang="en-US" altLang="ko-KR" dirty="0"/>
              <a:t>.</a:t>
            </a:r>
          </a:p>
          <a:p>
            <a:endParaRPr lang="ko-KR" altLang="en-US" dirty="0"/>
          </a:p>
        </p:txBody>
      </p:sp>
    </p:spTree>
    <p:extLst>
      <p:ext uri="{BB962C8B-B14F-4D97-AF65-F5344CB8AC3E}">
        <p14:creationId xmlns:p14="http://schemas.microsoft.com/office/powerpoint/2010/main" val="37145460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atinLnBrk="1">
              <a:lnSpc>
                <a:spcPct val="125000"/>
              </a:lnSpc>
              <a:spcAft>
                <a:spcPts val="500"/>
              </a:spcAft>
            </a:pPr>
            <a:r>
              <a:rPr lang="ko-KR" altLang="ko-KR" sz="1800" dirty="0">
                <a:effectLst/>
                <a:latin typeface="Times New Roman" panose="02020603050405020304" pitchFamily="18" charset="0"/>
                <a:ea typeface="맑은 고딕" panose="020B0503020000020004" pitchFamily="50" charset="-127"/>
              </a:rPr>
              <a:t>여러분은 아이가 잘 자란다는 것이 무엇이라고 생각하시나요</a:t>
            </a:r>
            <a:r>
              <a:rPr lang="en-US" altLang="ko-KR" sz="1800" dirty="0">
                <a:effectLst/>
                <a:latin typeface="Times New Roman" panose="02020603050405020304" pitchFamily="18" charset="0"/>
                <a:ea typeface="맑은 고딕" panose="020B0503020000020004" pitchFamily="50" charset="-127"/>
              </a:rPr>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atinLnBrk="1">
              <a:lnSpc>
                <a:spcPct val="125000"/>
              </a:lnSpc>
              <a:spcAft>
                <a:spcPts val="500"/>
              </a:spcAft>
            </a:pPr>
            <a:r>
              <a:rPr lang="ko-KR" altLang="ko-KR" sz="1200" dirty="0">
                <a:effectLst/>
                <a:latin typeface="Times New Roman" panose="02020603050405020304" pitchFamily="18" charset="0"/>
                <a:ea typeface="맑은 고딕" panose="020B0503020000020004" pitchFamily="50" charset="-127"/>
              </a:rPr>
              <a:t>공부를 잘하는 아이일까요</a:t>
            </a:r>
            <a:r>
              <a:rPr lang="en-US" altLang="ko-KR" sz="1200" dirty="0">
                <a:effectLst/>
                <a:latin typeface="Times New Roman" panose="02020603050405020304" pitchFamily="18" charset="0"/>
                <a:ea typeface="맑은 고딕" panose="020B0503020000020004" pitchFamily="50" charset="-127"/>
              </a:rPr>
              <a:t>? </a:t>
            </a:r>
            <a:r>
              <a:rPr lang="ko-KR" altLang="ko-KR" sz="1200" dirty="0">
                <a:effectLst/>
                <a:latin typeface="Times New Roman" panose="02020603050405020304" pitchFamily="18" charset="0"/>
                <a:ea typeface="맑은 고딕" panose="020B0503020000020004" pitchFamily="50" charset="-127"/>
              </a:rPr>
              <a:t>부모 말을 잘 듣는 아이일까요</a:t>
            </a:r>
            <a:r>
              <a:rPr lang="en-US" altLang="ko-KR" sz="1200" dirty="0">
                <a:effectLst/>
                <a:latin typeface="Times New Roman" panose="02020603050405020304" pitchFamily="18" charset="0"/>
                <a:ea typeface="맑은 고딕" panose="020B0503020000020004" pitchFamily="50" charset="-127"/>
              </a:rPr>
              <a:t>? </a:t>
            </a:r>
            <a:r>
              <a:rPr lang="ko-KR" altLang="ko-KR" sz="1200" dirty="0">
                <a:effectLst/>
                <a:latin typeface="Times New Roman" panose="02020603050405020304" pitchFamily="18" charset="0"/>
                <a:ea typeface="맑은 고딕" panose="020B0503020000020004" pitchFamily="50" charset="-127"/>
              </a:rPr>
              <a:t>친구가 많은 아이일까요</a:t>
            </a:r>
            <a:r>
              <a:rPr lang="en-US" altLang="ko-KR" sz="1200" dirty="0">
                <a:effectLst/>
                <a:latin typeface="Times New Roman" panose="02020603050405020304" pitchFamily="18" charset="0"/>
                <a:ea typeface="맑은 고딕" panose="020B0503020000020004" pitchFamily="50" charset="-127"/>
              </a:rPr>
              <a:t>? </a:t>
            </a:r>
            <a:r>
              <a:rPr lang="ko-KR" altLang="ko-KR" sz="1200" dirty="0">
                <a:effectLst/>
                <a:latin typeface="Times New Roman" panose="02020603050405020304" pitchFamily="18" charset="0"/>
                <a:ea typeface="맑은 고딕" panose="020B0503020000020004" pitchFamily="50" charset="-127"/>
              </a:rPr>
              <a:t>이것들도 물론 중요합니다</a:t>
            </a:r>
            <a:r>
              <a:rPr lang="en-US" altLang="ko-KR" sz="1200" dirty="0">
                <a:effectLst/>
                <a:latin typeface="Times New Roman" panose="02020603050405020304" pitchFamily="18" charset="0"/>
                <a:ea typeface="맑은 고딕" panose="020B0503020000020004" pitchFamily="50" charset="-127"/>
              </a:rPr>
              <a:t>. </a:t>
            </a:r>
            <a:r>
              <a:rPr lang="ko-KR" altLang="ko-KR" sz="1200" dirty="0">
                <a:effectLst/>
                <a:latin typeface="Times New Roman" panose="02020603050405020304" pitchFamily="18" charset="0"/>
                <a:ea typeface="맑은 고딕" panose="020B0503020000020004" pitchFamily="50" charset="-127"/>
              </a:rPr>
              <a:t>하지만 </a:t>
            </a:r>
            <a:r>
              <a:rPr lang="ko-KR" altLang="ko-KR" sz="1200" dirty="0" err="1">
                <a:effectLst/>
                <a:latin typeface="Times New Roman" panose="02020603050405020304" pitchFamily="18" charset="0"/>
                <a:ea typeface="맑은 고딕" panose="020B0503020000020004" pitchFamily="50" charset="-127"/>
              </a:rPr>
              <a:t>이것만으로</a:t>
            </a:r>
            <a:r>
              <a:rPr lang="ko-KR" altLang="ko-KR" sz="1200" dirty="0">
                <a:effectLst/>
                <a:latin typeface="Times New Roman" panose="02020603050405020304" pitchFamily="18" charset="0"/>
                <a:ea typeface="맑은 고딕" panose="020B0503020000020004" pitchFamily="50" charset="-127"/>
              </a:rPr>
              <a:t> 아이가 잘 자랐다고 말하기는 어렵습니다</a:t>
            </a:r>
            <a:r>
              <a:rPr lang="en-US" altLang="ko-KR" sz="1200" dirty="0">
                <a:effectLst/>
                <a:latin typeface="Times New Roman" panose="02020603050405020304" pitchFamily="18" charset="0"/>
                <a:ea typeface="맑은 고딕" panose="020B0503020000020004" pitchFamily="50" charset="-127"/>
              </a:rPr>
              <a:t>. </a:t>
            </a:r>
            <a:r>
              <a:rPr lang="ko-KR" altLang="ko-KR" sz="1200" dirty="0">
                <a:effectLst/>
                <a:latin typeface="Times New Roman" panose="02020603050405020304" pitchFamily="18" charset="0"/>
                <a:ea typeface="맑은 고딕" panose="020B0503020000020004" pitchFamily="50" charset="-127"/>
              </a:rPr>
              <a:t>아이가 잘 자란다는 것은 시험 점수만 높은 아이가 아니라 몸도 마음도 건강하게 자라는 것입니다</a:t>
            </a:r>
            <a:r>
              <a:rPr lang="en-US" altLang="ko-KR" sz="1200" dirty="0">
                <a:effectLst/>
                <a:latin typeface="Times New Roman" panose="02020603050405020304" pitchFamily="18" charset="0"/>
                <a:ea typeface="맑은 고딕" panose="020B0503020000020004" pitchFamily="50" charset="-127"/>
              </a:rPr>
              <a:t>. </a:t>
            </a:r>
            <a:r>
              <a:rPr lang="ko-KR" altLang="ko-KR" sz="1200" dirty="0">
                <a:effectLst/>
                <a:latin typeface="Times New Roman" panose="02020603050405020304" pitchFamily="18" charset="0"/>
                <a:ea typeface="맑은 고딕" panose="020B0503020000020004" pitchFamily="50" charset="-127"/>
              </a:rPr>
              <a:t>그리고 자신을 소중하게 생각하고</a:t>
            </a:r>
            <a:r>
              <a:rPr lang="en-US" altLang="ko-KR" sz="1200" dirty="0">
                <a:effectLst/>
                <a:latin typeface="Times New Roman" panose="02020603050405020304" pitchFamily="18" charset="0"/>
                <a:ea typeface="맑은 고딕" panose="020B0503020000020004" pitchFamily="50" charset="-127"/>
              </a:rPr>
              <a:t>, </a:t>
            </a:r>
            <a:r>
              <a:rPr lang="ko-KR" altLang="ko-KR" sz="1200" dirty="0">
                <a:effectLst/>
                <a:latin typeface="Times New Roman" panose="02020603050405020304" pitchFamily="18" charset="0"/>
                <a:ea typeface="맑은 고딕" panose="020B0503020000020004" pitchFamily="50" charset="-127"/>
              </a:rPr>
              <a:t>다른 사람을 사랑하고</a:t>
            </a:r>
            <a:r>
              <a:rPr lang="en-US" altLang="ko-KR" sz="1200" dirty="0">
                <a:effectLst/>
                <a:latin typeface="Times New Roman" panose="02020603050405020304" pitchFamily="18" charset="0"/>
                <a:ea typeface="맑은 고딕" panose="020B0503020000020004" pitchFamily="50" charset="-127"/>
              </a:rPr>
              <a:t>, </a:t>
            </a:r>
            <a:r>
              <a:rPr lang="ko-KR" altLang="ko-KR" sz="1200" dirty="0">
                <a:effectLst/>
                <a:latin typeface="Times New Roman" panose="02020603050405020304" pitchFamily="18" charset="0"/>
                <a:ea typeface="맑은 고딕" panose="020B0503020000020004" pitchFamily="50" charset="-127"/>
              </a:rPr>
              <a:t>실수해도 다시 도전할 수 있는 아이로 자라는 것입니다</a:t>
            </a:r>
            <a:r>
              <a:rPr lang="en-US" altLang="ko-KR" sz="1200" dirty="0">
                <a:effectLst/>
                <a:latin typeface="Times New Roman" panose="02020603050405020304" pitchFamily="18" charset="0"/>
                <a:ea typeface="맑은 고딕" panose="020B0503020000020004" pitchFamily="50" charset="-127"/>
              </a:rPr>
              <a:t>.</a:t>
            </a:r>
            <a:endParaRPr lang="ko-KR" altLang="ko-KR" sz="1200" dirty="0">
              <a:effectLst/>
              <a:latin typeface="Times New Roman" panose="02020603050405020304" pitchFamily="18" charset="0"/>
              <a:ea typeface="맑은 고딕" panose="020B0503020000020004" pitchFamily="50" charset="-127"/>
            </a:endParaRPr>
          </a:p>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924175" y="849313"/>
            <a:ext cx="4078288" cy="2293937"/>
          </a:xfrm>
          <a:prstGeom prst="rect">
            <a:avLst/>
          </a:prstGeom>
          <a:noFill/>
          <a:ln w="12700">
            <a:solidFill>
              <a:prstClr val="black"/>
            </a:solidFill>
          </a:ln>
        </p:spPr>
      </p:sp>
      <p:sp>
        <p:nvSpPr>
          <p:cNvPr id="3" name="슬라이드 노트 개체 틀 2"/>
          <p:cNvSpPr>
            <a:spLocks noGrp="1"/>
          </p:cNvSpPr>
          <p:nvPr>
            <p:ph type="body" idx="1"/>
          </p:nvPr>
        </p:nvSpPr>
        <p:spPr>
          <a:xfrm>
            <a:off x="992188" y="3271838"/>
            <a:ext cx="7942262" cy="2676525"/>
          </a:xfrm>
          <a:prstGeom prst="rect">
            <a:avLst/>
          </a:prstGeom>
        </p:spPr>
        <p:txBody>
          <a:bodyPr/>
          <a:lstStyle/>
          <a:p>
            <a:pPr latinLnBrk="1">
              <a:lnSpc>
                <a:spcPct val="125000"/>
              </a:lnSpc>
              <a:spcAft>
                <a:spcPts val="500"/>
              </a:spcAft>
            </a:pPr>
            <a:r>
              <a:rPr lang="ko-KR" altLang="ko-KR" sz="1200" dirty="0">
                <a:effectLst/>
                <a:latin typeface="Times New Roman" panose="02020603050405020304" pitchFamily="18" charset="0"/>
                <a:ea typeface="맑은 고딕" panose="020B0503020000020004" pitchFamily="50" charset="-127"/>
              </a:rPr>
              <a:t>아이가 잘 자란다는 것은 시험 점수만 높은 아이가 아니라 몸도 마음도 건강하게 자라는 것입니다</a:t>
            </a:r>
            <a:r>
              <a:rPr lang="en-US" altLang="ko-KR" sz="1200" dirty="0">
                <a:effectLst/>
                <a:latin typeface="Times New Roman" panose="02020603050405020304" pitchFamily="18" charset="0"/>
                <a:ea typeface="맑은 고딕" panose="020B0503020000020004" pitchFamily="50" charset="-127"/>
              </a:rPr>
              <a:t>. </a:t>
            </a:r>
            <a:endParaRPr lang="ko-KR" altLang="ko-KR" sz="1200" dirty="0">
              <a:effectLst/>
              <a:latin typeface="Times New Roman" panose="02020603050405020304" pitchFamily="18" charset="0"/>
              <a:ea typeface="맑은 고딕" panose="020B0503020000020004" pitchFamily="50" charset="-127"/>
            </a:endParaRPr>
          </a:p>
          <a:p>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그렇다면</a:t>
            </a:r>
            <a:r>
              <a:rPr lang="ko-KR" altLang="ko-KR" sz="1800" dirty="0">
                <a:effectLst/>
                <a:ea typeface="Times New Roman" panose="02020603050405020304" pitchFamily="18" charset="0"/>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아이</a:t>
            </a:r>
            <a:r>
              <a:rPr lang="ko-KR" altLang="ko-KR" sz="1800" dirty="0">
                <a:effectLst/>
                <a:ea typeface="Times New Roman" panose="02020603050405020304" pitchFamily="18" charset="0"/>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마음속에는</a:t>
            </a:r>
            <a:r>
              <a:rPr lang="ko-KR" altLang="ko-KR" sz="1800" dirty="0">
                <a:effectLst/>
                <a:ea typeface="Times New Roman" panose="02020603050405020304" pitchFamily="18" charset="0"/>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무엇이</a:t>
            </a:r>
            <a:r>
              <a:rPr lang="ko-KR" altLang="ko-KR" sz="1800" dirty="0">
                <a:effectLst/>
                <a:ea typeface="Times New Roman" panose="02020603050405020304" pitchFamily="18" charset="0"/>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자라야</a:t>
            </a:r>
            <a:r>
              <a:rPr lang="ko-KR" altLang="ko-KR" sz="1800" dirty="0">
                <a:effectLst/>
                <a:ea typeface="Times New Roman" panose="02020603050405020304" pitchFamily="18" charset="0"/>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할까요</a:t>
            </a:r>
            <a:r>
              <a:rPr lang="en-US" altLang="ko-KR" sz="1800" dirty="0">
                <a:effectLst/>
                <a:latin typeface="Times New Roman" panose="02020603050405020304" pitchFamily="18" charset="0"/>
                <a:ea typeface="맑은 고딕" panose="020B0503020000020004" pitchFamily="50" charset="-127"/>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첫째는</a:t>
            </a:r>
            <a:r>
              <a:rPr lang="ko-KR" altLang="ko-KR" sz="1800" dirty="0">
                <a:effectLst/>
                <a:ea typeface="Times New Roman" panose="02020603050405020304" pitchFamily="18" charset="0"/>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사랑하는</a:t>
            </a:r>
            <a:r>
              <a:rPr lang="ko-KR" altLang="ko-KR" sz="1800" dirty="0">
                <a:effectLst/>
                <a:ea typeface="Times New Roman" panose="02020603050405020304" pitchFamily="18" charset="0"/>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마음</a:t>
            </a:r>
            <a:r>
              <a:rPr lang="en-US" altLang="ko-KR" sz="1800" dirty="0">
                <a:effectLst/>
                <a:latin typeface="Times New Roman" panose="02020603050405020304" pitchFamily="18" charset="0"/>
                <a:ea typeface="맑은 고딕" panose="020B0503020000020004" pitchFamily="50" charset="-127"/>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나만이</a:t>
            </a:r>
            <a:r>
              <a:rPr lang="ko-KR" altLang="ko-KR" sz="1800" dirty="0">
                <a:effectLst/>
                <a:ea typeface="Times New Roman" panose="02020603050405020304" pitchFamily="18" charset="0"/>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아니라</a:t>
            </a:r>
            <a:r>
              <a:rPr lang="ko-KR" altLang="ko-KR" sz="1800" dirty="0">
                <a:effectLst/>
                <a:ea typeface="Times New Roman" panose="02020603050405020304" pitchFamily="18" charset="0"/>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다른</a:t>
            </a:r>
            <a:r>
              <a:rPr lang="ko-KR" altLang="ko-KR" sz="1800" dirty="0">
                <a:effectLst/>
                <a:ea typeface="Times New Roman" panose="02020603050405020304" pitchFamily="18" charset="0"/>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사람도</a:t>
            </a:r>
            <a:r>
              <a:rPr lang="ko-KR" altLang="ko-KR" sz="1800" dirty="0">
                <a:effectLst/>
                <a:ea typeface="Times New Roman" panose="02020603050405020304" pitchFamily="18" charset="0"/>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소중하게</a:t>
            </a:r>
            <a:r>
              <a:rPr lang="ko-KR" altLang="ko-KR" sz="1800" dirty="0">
                <a:effectLst/>
                <a:ea typeface="Times New Roman" panose="02020603050405020304" pitchFamily="18" charset="0"/>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생각하는</a:t>
            </a:r>
            <a:r>
              <a:rPr lang="ko-KR" altLang="ko-KR" sz="1800" dirty="0">
                <a:effectLst/>
                <a:ea typeface="Times New Roman" panose="02020603050405020304" pitchFamily="18" charset="0"/>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마음입니다</a:t>
            </a:r>
            <a:r>
              <a:rPr lang="en-US" altLang="ko-KR" sz="1800" dirty="0">
                <a:effectLst/>
                <a:latin typeface="Times New Roman" panose="02020603050405020304" pitchFamily="18" charset="0"/>
                <a:ea typeface="맑은 고딕" panose="020B0503020000020004" pitchFamily="50" charset="-127"/>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둘째는</a:t>
            </a:r>
            <a:r>
              <a:rPr lang="ko-KR" altLang="ko-KR" sz="1800" dirty="0">
                <a:effectLst/>
                <a:ea typeface="Times New Roman" panose="02020603050405020304" pitchFamily="18" charset="0"/>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잘</a:t>
            </a:r>
            <a:r>
              <a:rPr lang="ko-KR" altLang="ko-KR" sz="1800" dirty="0">
                <a:effectLst/>
                <a:ea typeface="Times New Roman" panose="02020603050405020304" pitchFamily="18" charset="0"/>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듣는</a:t>
            </a:r>
            <a:r>
              <a:rPr lang="ko-KR" altLang="ko-KR" sz="1800" dirty="0">
                <a:effectLst/>
                <a:ea typeface="Times New Roman" panose="02020603050405020304" pitchFamily="18" charset="0"/>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마음입니다</a:t>
            </a:r>
            <a:r>
              <a:rPr lang="en-US" altLang="ko-KR" sz="1800" dirty="0">
                <a:effectLst/>
                <a:latin typeface="Times New Roman" panose="02020603050405020304" pitchFamily="18" charset="0"/>
                <a:ea typeface="맑은 고딕" panose="020B0503020000020004" pitchFamily="50" charset="-127"/>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말을</a:t>
            </a:r>
            <a:r>
              <a:rPr lang="ko-KR" altLang="ko-KR" sz="1800" dirty="0">
                <a:effectLst/>
                <a:ea typeface="Times New Roman" panose="02020603050405020304" pitchFamily="18" charset="0"/>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듣는다는</a:t>
            </a:r>
            <a:r>
              <a:rPr lang="ko-KR" altLang="ko-KR" sz="1800" dirty="0">
                <a:effectLst/>
                <a:ea typeface="Times New Roman" panose="02020603050405020304" pitchFamily="18" charset="0"/>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것은</a:t>
            </a:r>
            <a:r>
              <a:rPr lang="ko-KR" altLang="ko-KR" sz="1800" dirty="0">
                <a:effectLst/>
                <a:ea typeface="Times New Roman" panose="02020603050405020304" pitchFamily="18" charset="0"/>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혼나는</a:t>
            </a:r>
            <a:r>
              <a:rPr lang="ko-KR" altLang="ko-KR" sz="1800" dirty="0">
                <a:effectLst/>
                <a:ea typeface="Times New Roman" panose="02020603050405020304" pitchFamily="18" charset="0"/>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것이</a:t>
            </a:r>
            <a:r>
              <a:rPr lang="ko-KR" altLang="ko-KR" sz="1800" dirty="0">
                <a:effectLst/>
                <a:ea typeface="Times New Roman" panose="02020603050405020304" pitchFamily="18" charset="0"/>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아니라</a:t>
            </a:r>
            <a:r>
              <a:rPr lang="ko-KR" altLang="ko-KR" sz="1800" dirty="0">
                <a:effectLst/>
                <a:ea typeface="Times New Roman" panose="02020603050405020304" pitchFamily="18" charset="0"/>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다른</a:t>
            </a:r>
            <a:r>
              <a:rPr lang="ko-KR" altLang="ko-KR" sz="1800" dirty="0">
                <a:effectLst/>
                <a:ea typeface="Times New Roman" panose="02020603050405020304" pitchFamily="18" charset="0"/>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사람의</a:t>
            </a:r>
            <a:r>
              <a:rPr lang="ko-KR" altLang="ko-KR" sz="1800" dirty="0">
                <a:effectLst/>
                <a:ea typeface="Times New Roman" panose="02020603050405020304" pitchFamily="18" charset="0"/>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이야기를</a:t>
            </a:r>
            <a:r>
              <a:rPr lang="ko-KR" altLang="ko-KR" sz="1800" dirty="0">
                <a:effectLst/>
                <a:ea typeface="Times New Roman" panose="02020603050405020304" pitchFamily="18" charset="0"/>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이해하려는</a:t>
            </a:r>
            <a:r>
              <a:rPr lang="ko-KR" altLang="ko-KR" sz="1800" dirty="0">
                <a:effectLst/>
                <a:ea typeface="Times New Roman" panose="02020603050405020304" pitchFamily="18" charset="0"/>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마음입니다</a:t>
            </a:r>
            <a:r>
              <a:rPr lang="en-US" altLang="ko-KR" sz="1800" dirty="0">
                <a:effectLst/>
                <a:latin typeface="Times New Roman" panose="02020603050405020304" pitchFamily="18" charset="0"/>
                <a:ea typeface="맑은 고딕" panose="020B0503020000020004" pitchFamily="50" charset="-127"/>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셋째는</a:t>
            </a:r>
            <a:r>
              <a:rPr lang="en-US" altLang="ko-KR" sz="1800" dirty="0">
                <a:effectLst/>
                <a:latin typeface="Times New Roman" panose="02020603050405020304" pitchFamily="18" charset="0"/>
                <a:ea typeface="맑은 고딕" panose="020B0503020000020004" pitchFamily="50" charset="-127"/>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실수해도</a:t>
            </a:r>
            <a:r>
              <a:rPr lang="ko-KR" altLang="ko-KR" sz="1800" dirty="0">
                <a:effectLst/>
                <a:ea typeface="Times New Roman" panose="02020603050405020304" pitchFamily="18" charset="0"/>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괜찮아</a:t>
            </a:r>
            <a:r>
              <a:rPr lang="en-US" altLang="ko-KR" sz="1800" dirty="0">
                <a:effectLst/>
                <a:latin typeface="Times New Roman" panose="02020603050405020304" pitchFamily="18" charset="0"/>
                <a:ea typeface="맑은 고딕" panose="020B0503020000020004" pitchFamily="50" charset="-127"/>
              </a:rPr>
              <a:t>'</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라는</a:t>
            </a:r>
            <a:r>
              <a:rPr lang="ko-KR" altLang="ko-KR" sz="1800" dirty="0">
                <a:effectLst/>
                <a:ea typeface="Times New Roman" panose="02020603050405020304" pitchFamily="18" charset="0"/>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마음</a:t>
            </a:r>
            <a:r>
              <a:rPr lang="en-US" altLang="ko-KR" sz="1800" dirty="0">
                <a:effectLst/>
                <a:latin typeface="Times New Roman" panose="02020603050405020304" pitchFamily="18" charset="0"/>
                <a:ea typeface="맑은 고딕" panose="020B0503020000020004" pitchFamily="50" charset="-127"/>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실수는</a:t>
            </a:r>
            <a:r>
              <a:rPr lang="ko-KR" altLang="ko-KR" sz="1800" dirty="0">
                <a:effectLst/>
                <a:ea typeface="Times New Roman" panose="02020603050405020304" pitchFamily="18" charset="0"/>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실패가</a:t>
            </a:r>
            <a:r>
              <a:rPr lang="ko-KR" altLang="ko-KR" sz="1800" dirty="0">
                <a:effectLst/>
                <a:ea typeface="Times New Roman" panose="02020603050405020304" pitchFamily="18" charset="0"/>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아니라</a:t>
            </a:r>
            <a:r>
              <a:rPr lang="ko-KR" altLang="ko-KR" sz="1800" dirty="0">
                <a:effectLst/>
                <a:ea typeface="Times New Roman" panose="02020603050405020304" pitchFamily="18" charset="0"/>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배우는</a:t>
            </a:r>
            <a:r>
              <a:rPr lang="ko-KR" altLang="ko-KR" sz="1800" dirty="0">
                <a:effectLst/>
                <a:ea typeface="Times New Roman" panose="02020603050405020304" pitchFamily="18" charset="0"/>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과정이라는</a:t>
            </a:r>
            <a:r>
              <a:rPr lang="ko-KR" altLang="ko-KR" sz="1800" dirty="0">
                <a:effectLst/>
                <a:ea typeface="Times New Roman" panose="02020603050405020304" pitchFamily="18" charset="0"/>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뜻입니다</a:t>
            </a:r>
            <a:r>
              <a:rPr lang="en-US" altLang="ko-KR" sz="1800" dirty="0">
                <a:effectLst/>
                <a:latin typeface="Times New Roman" panose="02020603050405020304" pitchFamily="18" charset="0"/>
                <a:ea typeface="맑은 고딕" panose="020B0503020000020004" pitchFamily="50" charset="-127"/>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마지막은</a:t>
            </a:r>
            <a:r>
              <a:rPr lang="en-US" altLang="ko-KR" sz="1800" dirty="0">
                <a:effectLst/>
                <a:latin typeface="Times New Roman" panose="02020603050405020304" pitchFamily="18" charset="0"/>
                <a:ea typeface="맑은 고딕" panose="020B0503020000020004" pitchFamily="50" charset="-127"/>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나는</a:t>
            </a:r>
            <a:r>
              <a:rPr lang="ko-KR" altLang="ko-KR" sz="1800" dirty="0">
                <a:effectLst/>
                <a:ea typeface="Times New Roman" panose="02020603050405020304" pitchFamily="18" charset="0"/>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소중한</a:t>
            </a:r>
            <a:r>
              <a:rPr lang="ko-KR" altLang="ko-KR" sz="1800" dirty="0">
                <a:effectLst/>
                <a:ea typeface="Times New Roman" panose="02020603050405020304" pitchFamily="18" charset="0"/>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사람이야</a:t>
            </a:r>
            <a:r>
              <a:rPr lang="en-US" altLang="ko-KR" sz="1800" dirty="0">
                <a:effectLst/>
                <a:latin typeface="Times New Roman" panose="02020603050405020304" pitchFamily="18" charset="0"/>
                <a:ea typeface="맑은 고딕" panose="020B0503020000020004" pitchFamily="50" charset="-127"/>
              </a:rPr>
              <a:t>'</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라는</a:t>
            </a:r>
            <a:r>
              <a:rPr lang="ko-KR" altLang="ko-KR" sz="1800" dirty="0">
                <a:effectLst/>
                <a:ea typeface="Times New Roman" panose="02020603050405020304" pitchFamily="18" charset="0"/>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마음입니다</a:t>
            </a:r>
            <a:r>
              <a:rPr lang="en-US" altLang="ko-KR" sz="1800" dirty="0">
                <a:effectLst/>
                <a:latin typeface="Times New Roman" panose="02020603050405020304" pitchFamily="18" charset="0"/>
                <a:ea typeface="맑은 고딕" panose="020B0503020000020004" pitchFamily="50" charset="-127"/>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자신을</a:t>
            </a:r>
            <a:r>
              <a:rPr lang="ko-KR" altLang="ko-KR" sz="1800" dirty="0">
                <a:effectLst/>
                <a:ea typeface="Times New Roman" panose="02020603050405020304" pitchFamily="18" charset="0"/>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소중하게</a:t>
            </a:r>
            <a:r>
              <a:rPr lang="ko-KR" altLang="ko-KR" sz="1800" dirty="0">
                <a:effectLst/>
                <a:ea typeface="Times New Roman" panose="02020603050405020304" pitchFamily="18" charset="0"/>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생각하는</a:t>
            </a:r>
            <a:r>
              <a:rPr lang="ko-KR" altLang="ko-KR" sz="1800" dirty="0">
                <a:effectLst/>
                <a:ea typeface="Times New Roman" panose="02020603050405020304" pitchFamily="18" charset="0"/>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아이는</a:t>
            </a:r>
            <a:r>
              <a:rPr lang="ko-KR" altLang="ko-KR" sz="1800" dirty="0">
                <a:effectLst/>
                <a:ea typeface="Times New Roman" panose="02020603050405020304" pitchFamily="18" charset="0"/>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다른</a:t>
            </a:r>
            <a:r>
              <a:rPr lang="ko-KR" altLang="ko-KR" sz="1800" dirty="0">
                <a:effectLst/>
                <a:ea typeface="Times New Roman" panose="02020603050405020304" pitchFamily="18" charset="0"/>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사람도</a:t>
            </a:r>
            <a:r>
              <a:rPr lang="ko-KR" altLang="ko-KR" sz="1800" dirty="0">
                <a:effectLst/>
                <a:ea typeface="Times New Roman" panose="02020603050405020304" pitchFamily="18" charset="0"/>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소중하게</a:t>
            </a:r>
            <a:r>
              <a:rPr lang="ko-KR" altLang="ko-KR" sz="1800" dirty="0">
                <a:effectLst/>
                <a:ea typeface="Times New Roman" panose="02020603050405020304" pitchFamily="18" charset="0"/>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생각할</a:t>
            </a:r>
            <a:r>
              <a:rPr lang="ko-KR" altLang="ko-KR" sz="1800" dirty="0">
                <a:effectLst/>
                <a:ea typeface="Times New Roman" panose="02020603050405020304" pitchFamily="18" charset="0"/>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수</a:t>
            </a:r>
            <a:r>
              <a:rPr lang="ko-KR" altLang="ko-KR" sz="1800" dirty="0">
                <a:effectLst/>
                <a:ea typeface="Times New Roman" panose="02020603050405020304" pitchFamily="18" charset="0"/>
              </a:rPr>
              <a:t> </a:t>
            </a:r>
            <a:r>
              <a:rPr lang="ko-KR" altLang="ko-KR" sz="1800" dirty="0">
                <a:effectLst/>
                <a:latin typeface="Times New Roman" panose="02020603050405020304" pitchFamily="18" charset="0"/>
                <a:ea typeface="맑은 고딕" panose="020B0503020000020004" pitchFamily="50" charset="-127"/>
                <a:cs typeface="Times New Roman" panose="02020603050405020304" pitchFamily="18" charset="0"/>
              </a:rPr>
              <a:t>있습니다</a:t>
            </a:r>
            <a:endParaRPr lang="en-US" altLang="ko-KR" sz="1800" dirty="0">
              <a:effectLst/>
              <a:latin typeface="Times New Roman" panose="02020603050405020304" pitchFamily="18" charset="0"/>
              <a:ea typeface="맑은 고딕" panose="020B0503020000020004" pitchFamily="50" charset="-127"/>
              <a:cs typeface="Times New Roman" panose="02020603050405020304" pitchFamily="18" charset="0"/>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ko-KR" sz="1800" dirty="0">
                <a:effectLst/>
                <a:latin typeface="Times New Roman" panose="02020603050405020304" pitchFamily="18" charset="0"/>
                <a:ea typeface="맑은 고딕" panose="020B0503020000020004" pitchFamily="50" charset="-127"/>
              </a:rPr>
              <a:t>이 네 가지 마음이 자라면 아이는 이미 건강하게 잘 자라고 있는 것입니다</a:t>
            </a:r>
            <a:r>
              <a:rPr lang="en-US" altLang="ko-KR" sz="1800" dirty="0">
                <a:effectLst/>
                <a:latin typeface="Times New Roman" panose="02020603050405020304" pitchFamily="18" charset="0"/>
                <a:ea typeface="맑은 고딕" panose="020B0503020000020004" pitchFamily="50" charset="-127"/>
              </a:rPr>
              <a:t>.</a:t>
            </a:r>
            <a:endParaRPr lang="ko-KR" altLang="ko-KR" sz="1800" dirty="0">
              <a:effectLst/>
              <a:latin typeface="Times New Roman" panose="02020603050405020304" pitchFamily="18" charset="0"/>
              <a:ea typeface="맑은 고딕" panose="020B0503020000020004" pitchFamily="50" charset="-127"/>
            </a:endParaRPr>
          </a:p>
          <a:p>
            <a:endParaRPr lang="ko-KR" altLang="en-US" dirty="0"/>
          </a:p>
        </p:txBody>
      </p:sp>
    </p:spTree>
    <p:extLst>
      <p:ext uri="{BB962C8B-B14F-4D97-AF65-F5344CB8AC3E}">
        <p14:creationId xmlns:p14="http://schemas.microsoft.com/office/powerpoint/2010/main" val="27045081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925763" y="850900"/>
            <a:ext cx="4075112" cy="2292350"/>
          </a:xfrm>
          <a:prstGeom prst="rect">
            <a:avLst/>
          </a:prstGeom>
          <a:noFill/>
          <a:ln w="12700">
            <a:solidFill>
              <a:prstClr val="black"/>
            </a:solidFill>
          </a:ln>
        </p:spPr>
      </p:sp>
      <p:sp>
        <p:nvSpPr>
          <p:cNvPr id="3" name="슬라이드 노트 개체 틀 2"/>
          <p:cNvSpPr>
            <a:spLocks noGrp="1"/>
          </p:cNvSpPr>
          <p:nvPr>
            <p:ph type="body" idx="1"/>
          </p:nvPr>
        </p:nvSpPr>
        <p:spPr>
          <a:xfrm>
            <a:off x="992201" y="3271103"/>
            <a:ext cx="7942238" cy="2676455"/>
          </a:xfrm>
          <a:prstGeom prst="rect">
            <a:avLst/>
          </a:prstGeom>
        </p:spPr>
        <p:txBody>
          <a:bodyPr/>
          <a:lstStyle/>
          <a:p>
            <a:pPr latinLnBrk="1">
              <a:lnSpc>
                <a:spcPct val="125000"/>
              </a:lnSpc>
              <a:spcAft>
                <a:spcPts val="500"/>
              </a:spcAft>
            </a:pPr>
            <a:r>
              <a:rPr lang="ko-KR" altLang="ko-KR" sz="1800" dirty="0">
                <a:effectLst/>
                <a:latin typeface="Times New Roman" panose="02020603050405020304" pitchFamily="18" charset="0"/>
                <a:ea typeface="맑은 고딕" panose="020B0503020000020004" pitchFamily="50" charset="-127"/>
              </a:rPr>
              <a:t>결국 아이를 가장 크게 성장시키는 것은 비싼 장난감도</a:t>
            </a:r>
            <a:r>
              <a:rPr lang="en-US" altLang="ko-KR" sz="1800" dirty="0">
                <a:effectLst/>
                <a:latin typeface="Times New Roman" panose="02020603050405020304" pitchFamily="18" charset="0"/>
                <a:ea typeface="맑은 고딕" panose="020B0503020000020004" pitchFamily="50" charset="-127"/>
              </a:rPr>
              <a:t>, </a:t>
            </a:r>
            <a:r>
              <a:rPr lang="ko-KR" altLang="ko-KR" sz="1800" dirty="0">
                <a:effectLst/>
                <a:latin typeface="Times New Roman" panose="02020603050405020304" pitchFamily="18" charset="0"/>
                <a:ea typeface="맑은 고딕" panose="020B0503020000020004" pitchFamily="50" charset="-127"/>
              </a:rPr>
              <a:t>좋은 학원도 아닙니다</a:t>
            </a:r>
            <a:r>
              <a:rPr lang="en-US" altLang="ko-KR" sz="1800" dirty="0">
                <a:effectLst/>
                <a:latin typeface="Times New Roman" panose="02020603050405020304" pitchFamily="18" charset="0"/>
                <a:ea typeface="맑은 고딕" panose="020B0503020000020004" pitchFamily="50" charset="-127"/>
              </a:rPr>
              <a:t>. </a:t>
            </a:r>
            <a:r>
              <a:rPr lang="ko-KR" altLang="ko-KR" sz="1800" dirty="0">
                <a:effectLst/>
                <a:latin typeface="Times New Roman" panose="02020603050405020304" pitchFamily="18" charset="0"/>
                <a:ea typeface="맑은 고딕" panose="020B0503020000020004" pitchFamily="50" charset="-127"/>
              </a:rPr>
              <a:t>바로 부모와의 좋은 관계입니다</a:t>
            </a:r>
            <a:r>
              <a:rPr lang="en-US" altLang="ko-KR" sz="1800" dirty="0">
                <a:effectLst/>
                <a:latin typeface="Times New Roman" panose="02020603050405020304" pitchFamily="18" charset="0"/>
                <a:ea typeface="맑은 고딕" panose="020B0503020000020004" pitchFamily="50" charset="-127"/>
              </a:rPr>
              <a:t>. </a:t>
            </a:r>
          </a:p>
          <a:p>
            <a:pPr latinLnBrk="1">
              <a:lnSpc>
                <a:spcPct val="125000"/>
              </a:lnSpc>
              <a:spcAft>
                <a:spcPts val="500"/>
              </a:spcAft>
            </a:pPr>
            <a:r>
              <a:rPr lang="ko-KR" altLang="ko-KR" sz="1800" dirty="0">
                <a:effectLst/>
                <a:latin typeface="Times New Roman" panose="02020603050405020304" pitchFamily="18" charset="0"/>
                <a:ea typeface="맑은 고딕" panose="020B0503020000020004" pitchFamily="50" charset="-127"/>
              </a:rPr>
              <a:t>부모와 좋은 관계를 맺으면 아이의 마음이 </a:t>
            </a:r>
            <a:r>
              <a:rPr lang="ko-KR" altLang="ko-KR" sz="1800" dirty="0" err="1">
                <a:effectLst/>
                <a:latin typeface="Times New Roman" panose="02020603050405020304" pitchFamily="18" charset="0"/>
                <a:ea typeface="맑은 고딕" panose="020B0503020000020004" pitchFamily="50" charset="-127"/>
              </a:rPr>
              <a:t>편안해집니다</a:t>
            </a:r>
            <a:r>
              <a:rPr lang="en-US" altLang="ko-KR" sz="1800" dirty="0">
                <a:effectLst/>
                <a:latin typeface="Times New Roman" panose="02020603050405020304" pitchFamily="18" charset="0"/>
                <a:ea typeface="맑은 고딕" panose="020B0503020000020004" pitchFamily="50" charset="-127"/>
              </a:rPr>
              <a:t>. </a:t>
            </a:r>
            <a:r>
              <a:rPr lang="ko-KR" altLang="ko-KR" sz="1800" dirty="0">
                <a:effectLst/>
                <a:latin typeface="Times New Roman" panose="02020603050405020304" pitchFamily="18" charset="0"/>
                <a:ea typeface="맑은 고딕" panose="020B0503020000020004" pitchFamily="50" charset="-127"/>
              </a:rPr>
              <a:t>마음이 편안하면 새로운 것에 도전하고</a:t>
            </a:r>
            <a:r>
              <a:rPr lang="en-US" altLang="ko-KR" sz="1800" dirty="0">
                <a:effectLst/>
                <a:latin typeface="Times New Roman" panose="02020603050405020304" pitchFamily="18" charset="0"/>
                <a:ea typeface="맑은 고딕" panose="020B0503020000020004" pitchFamily="50" charset="-127"/>
              </a:rPr>
              <a:t>, </a:t>
            </a:r>
            <a:r>
              <a:rPr lang="ko-KR" altLang="ko-KR" sz="1800" dirty="0">
                <a:effectLst/>
                <a:latin typeface="Times New Roman" panose="02020603050405020304" pitchFamily="18" charset="0"/>
                <a:ea typeface="맑은 고딕" panose="020B0503020000020004" pitchFamily="50" charset="-127"/>
              </a:rPr>
              <a:t>도전하면서 배우고 성장합니다</a:t>
            </a:r>
            <a:r>
              <a:rPr lang="en-US" altLang="ko-KR" sz="1800" dirty="0">
                <a:effectLst/>
                <a:latin typeface="Times New Roman" panose="02020603050405020304" pitchFamily="18" charset="0"/>
                <a:ea typeface="맑은 고딕" panose="020B0503020000020004" pitchFamily="50" charset="-127"/>
              </a:rPr>
              <a:t>. </a:t>
            </a:r>
            <a:r>
              <a:rPr lang="ko-KR" altLang="ko-KR" sz="1800" dirty="0">
                <a:effectLst/>
                <a:latin typeface="Times New Roman" panose="02020603050405020304" pitchFamily="18" charset="0"/>
                <a:ea typeface="맑은 고딕" panose="020B0503020000020004" pitchFamily="50" charset="-127"/>
              </a:rPr>
              <a:t>그리고 건강하고 행복한 아이로 자랍니다</a:t>
            </a:r>
            <a:r>
              <a:rPr lang="en-US" altLang="ko-KR" sz="1800" dirty="0">
                <a:effectLst/>
                <a:latin typeface="Times New Roman" panose="02020603050405020304" pitchFamily="18" charset="0"/>
                <a:ea typeface="맑은 고딕" panose="020B0503020000020004" pitchFamily="50" charset="-127"/>
              </a:rPr>
              <a:t>. </a:t>
            </a:r>
            <a:r>
              <a:rPr lang="ko-KR" altLang="ko-KR" sz="1800" dirty="0">
                <a:effectLst/>
                <a:latin typeface="Times New Roman" panose="02020603050405020304" pitchFamily="18" charset="0"/>
                <a:ea typeface="맑은 고딕" panose="020B0503020000020004" pitchFamily="50" charset="-127"/>
              </a:rPr>
              <a:t>오늘 강의에서는 아이의 마음을 건강하게 키우는 부모의 말과 행동을 함께 배워보겠습니다</a:t>
            </a:r>
            <a:r>
              <a:rPr lang="en-US" altLang="ko-KR" sz="1800" dirty="0">
                <a:effectLst/>
                <a:latin typeface="Times New Roman" panose="02020603050405020304" pitchFamily="18" charset="0"/>
                <a:ea typeface="맑은 고딕" panose="020B0503020000020004" pitchFamily="50" charset="-127"/>
              </a:rPr>
              <a:t>.</a:t>
            </a:r>
            <a:endParaRPr lang="ko-KR" altLang="ko-KR" sz="1800" dirty="0">
              <a:effectLst/>
              <a:latin typeface="Times New Roman" panose="02020603050405020304" pitchFamily="18" charset="0"/>
              <a:ea typeface="맑은 고딕" panose="020B0503020000020004" pitchFamily="50" charset="-127"/>
            </a:endParaRPr>
          </a:p>
          <a:p>
            <a:endParaRPr lang="ko-KR" altLang="en-US" dirty="0"/>
          </a:p>
        </p:txBody>
      </p:sp>
    </p:spTree>
    <p:extLst>
      <p:ext uri="{BB962C8B-B14F-4D97-AF65-F5344CB8AC3E}">
        <p14:creationId xmlns:p14="http://schemas.microsoft.com/office/powerpoint/2010/main" val="35992940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atinLnBrk="1">
              <a:lnSpc>
                <a:spcPct val="125000"/>
              </a:lnSpc>
              <a:spcAft>
                <a:spcPts val="500"/>
              </a:spcAft>
            </a:pPr>
            <a:r>
              <a:rPr lang="ko-KR" altLang="ko-KR" sz="1800" dirty="0">
                <a:effectLst/>
                <a:latin typeface="Times New Roman" panose="02020603050405020304" pitchFamily="18" charset="0"/>
                <a:ea typeface="맑은 고딕" panose="020B0503020000020004" pitchFamily="50" charset="-127"/>
              </a:rPr>
              <a:t>여러분도 경험해 보셨죠</a:t>
            </a:r>
            <a:r>
              <a:rPr lang="en-US" altLang="ko-KR" sz="1800" dirty="0">
                <a:effectLst/>
                <a:latin typeface="Times New Roman" panose="02020603050405020304" pitchFamily="18" charset="0"/>
                <a:ea typeface="맑은 고딕" panose="020B0503020000020004" pitchFamily="50" charset="-127"/>
              </a:rPr>
              <a:t>? </a:t>
            </a:r>
            <a:r>
              <a:rPr lang="ko-KR" altLang="ko-KR" sz="1800" dirty="0">
                <a:effectLst/>
                <a:latin typeface="Times New Roman" panose="02020603050405020304" pitchFamily="18" charset="0"/>
                <a:ea typeface="맑은 고딕" panose="020B0503020000020004" pitchFamily="50" charset="-127"/>
              </a:rPr>
              <a:t>걱정이 많으면 잠이 잘 오지 않고</a:t>
            </a:r>
            <a:r>
              <a:rPr lang="en-US" altLang="ko-KR" sz="1800" dirty="0">
                <a:effectLst/>
                <a:latin typeface="Times New Roman" panose="02020603050405020304" pitchFamily="18" charset="0"/>
                <a:ea typeface="맑은 고딕" panose="020B0503020000020004" pitchFamily="50" charset="-127"/>
              </a:rPr>
              <a:t>, </a:t>
            </a:r>
            <a:r>
              <a:rPr lang="ko-KR" altLang="ko-KR" sz="1800" dirty="0">
                <a:effectLst/>
                <a:latin typeface="Times New Roman" panose="02020603050405020304" pitchFamily="18" charset="0"/>
                <a:ea typeface="맑은 고딕" panose="020B0503020000020004" pitchFamily="50" charset="-127"/>
              </a:rPr>
              <a:t>스트레스를 받으면 밥맛도 없어집니다</a:t>
            </a:r>
            <a:r>
              <a:rPr lang="en-US" altLang="ko-KR" sz="1800" dirty="0">
                <a:effectLst/>
                <a:latin typeface="Times New Roman" panose="02020603050405020304" pitchFamily="18" charset="0"/>
                <a:ea typeface="맑은 고딕" panose="020B0503020000020004" pitchFamily="50" charset="-127"/>
              </a:rPr>
              <a:t>. </a:t>
            </a:r>
            <a:r>
              <a:rPr lang="ko-KR" altLang="ko-KR" sz="1800" dirty="0">
                <a:effectLst/>
                <a:latin typeface="Times New Roman" panose="02020603050405020304" pitchFamily="18" charset="0"/>
                <a:ea typeface="맑은 고딕" panose="020B0503020000020004" pitchFamily="50" charset="-127"/>
              </a:rPr>
              <a:t>아이도 똑같습니다</a:t>
            </a:r>
            <a:r>
              <a:rPr lang="en-US" altLang="ko-KR" sz="1800" dirty="0">
                <a:effectLst/>
                <a:latin typeface="Times New Roman" panose="02020603050405020304" pitchFamily="18" charset="0"/>
                <a:ea typeface="맑은 고딕" panose="020B0503020000020004" pitchFamily="50" charset="-127"/>
              </a:rPr>
              <a:t>. </a:t>
            </a:r>
            <a:r>
              <a:rPr lang="ko-KR" altLang="ko-KR" sz="1800" dirty="0">
                <a:effectLst/>
                <a:latin typeface="Times New Roman" panose="02020603050405020304" pitchFamily="18" charset="0"/>
                <a:ea typeface="맑은 고딕" panose="020B0503020000020004" pitchFamily="50" charset="-127"/>
              </a:rPr>
              <a:t>마음이 힘들면 잠도 잘 못 자고 짜증도 많아지고</a:t>
            </a:r>
            <a:r>
              <a:rPr lang="en-US" altLang="ko-KR" sz="1800" dirty="0">
                <a:effectLst/>
                <a:latin typeface="Times New Roman" panose="02020603050405020304" pitchFamily="18" charset="0"/>
                <a:ea typeface="맑은 고딕" panose="020B0503020000020004" pitchFamily="50" charset="-127"/>
              </a:rPr>
              <a:t>, </a:t>
            </a:r>
            <a:r>
              <a:rPr lang="ko-KR" altLang="ko-KR" sz="1800" dirty="0">
                <a:effectLst/>
                <a:latin typeface="Times New Roman" panose="02020603050405020304" pitchFamily="18" charset="0"/>
                <a:ea typeface="맑은 고딕" panose="020B0503020000020004" pitchFamily="50" charset="-127"/>
              </a:rPr>
              <a:t>배가 아프다고 말하기도 합니다</a:t>
            </a:r>
            <a:r>
              <a:rPr lang="en-US" altLang="ko-KR" sz="1800" dirty="0">
                <a:effectLst/>
                <a:latin typeface="Times New Roman" panose="02020603050405020304" pitchFamily="18" charset="0"/>
                <a:ea typeface="맑은 고딕" panose="020B0503020000020004" pitchFamily="50" charset="-127"/>
              </a:rPr>
              <a:t>. </a:t>
            </a:r>
          </a:p>
          <a:p>
            <a:pPr latinLnBrk="1">
              <a:lnSpc>
                <a:spcPct val="125000"/>
              </a:lnSpc>
              <a:spcAft>
                <a:spcPts val="500"/>
              </a:spcAft>
            </a:pPr>
            <a:r>
              <a:rPr lang="ko-KR" altLang="ko-KR" sz="1800" dirty="0">
                <a:effectLst/>
                <a:latin typeface="Times New Roman" panose="02020603050405020304" pitchFamily="18" charset="0"/>
                <a:ea typeface="맑은 고딕" panose="020B0503020000020004" pitchFamily="50" charset="-127"/>
              </a:rPr>
              <a:t>반대로 마음이 편하면 잠도 잘 자고</a:t>
            </a:r>
            <a:r>
              <a:rPr lang="en-US" altLang="ko-KR" sz="1800" dirty="0">
                <a:effectLst/>
                <a:latin typeface="Times New Roman" panose="02020603050405020304" pitchFamily="18" charset="0"/>
                <a:ea typeface="맑은 고딕" panose="020B0503020000020004" pitchFamily="50" charset="-127"/>
              </a:rPr>
              <a:t>, </a:t>
            </a:r>
            <a:r>
              <a:rPr lang="ko-KR" altLang="ko-KR" sz="1800" dirty="0">
                <a:effectLst/>
                <a:latin typeface="Times New Roman" panose="02020603050405020304" pitchFamily="18" charset="0"/>
                <a:ea typeface="맑은 고딕" panose="020B0503020000020004" pitchFamily="50" charset="-127"/>
              </a:rPr>
              <a:t>잘 웃고</a:t>
            </a:r>
            <a:r>
              <a:rPr lang="en-US" altLang="ko-KR" sz="1800" dirty="0">
                <a:effectLst/>
                <a:latin typeface="Times New Roman" panose="02020603050405020304" pitchFamily="18" charset="0"/>
                <a:ea typeface="맑은 고딕" panose="020B0503020000020004" pitchFamily="50" charset="-127"/>
              </a:rPr>
              <a:t>, </a:t>
            </a:r>
            <a:r>
              <a:rPr lang="ko-KR" altLang="ko-KR" sz="1800" dirty="0">
                <a:effectLst/>
                <a:latin typeface="Times New Roman" panose="02020603050405020304" pitchFamily="18" charset="0"/>
                <a:ea typeface="맑은 고딕" panose="020B0503020000020004" pitchFamily="50" charset="-127"/>
              </a:rPr>
              <a:t>새로운 것을 배우려는 힘이 생깁니다</a:t>
            </a:r>
            <a:r>
              <a:rPr lang="en-US" altLang="ko-KR" sz="1800" dirty="0">
                <a:effectLst/>
                <a:latin typeface="Times New Roman" panose="02020603050405020304" pitchFamily="18" charset="0"/>
                <a:ea typeface="맑은 고딕" panose="020B0503020000020004" pitchFamily="50" charset="-127"/>
              </a:rPr>
              <a:t>. </a:t>
            </a:r>
            <a:r>
              <a:rPr lang="ko-KR" altLang="ko-KR" sz="1800" dirty="0">
                <a:effectLst/>
                <a:latin typeface="Times New Roman" panose="02020603050405020304" pitchFamily="18" charset="0"/>
                <a:ea typeface="맑은 고딕" panose="020B0503020000020004" pitchFamily="50" charset="-127"/>
              </a:rPr>
              <a:t>그래서 우리는 아이의 </a:t>
            </a:r>
            <a:r>
              <a:rPr lang="ko-KR" altLang="ko-KR" sz="1800" dirty="0" err="1">
                <a:effectLst/>
                <a:latin typeface="Times New Roman" panose="02020603050405020304" pitchFamily="18" charset="0"/>
                <a:ea typeface="맑은 고딕" panose="020B0503020000020004" pitchFamily="50" charset="-127"/>
              </a:rPr>
              <a:t>몸뿐</a:t>
            </a:r>
            <a:r>
              <a:rPr lang="ko-KR" altLang="ko-KR" sz="1800" dirty="0">
                <a:effectLst/>
                <a:latin typeface="Times New Roman" panose="02020603050405020304" pitchFamily="18" charset="0"/>
                <a:ea typeface="맑은 고딕" panose="020B0503020000020004" pitchFamily="50" charset="-127"/>
              </a:rPr>
              <a:t> 아니라 마음도 함께 돌봐야 합니다</a:t>
            </a:r>
            <a:r>
              <a:rPr lang="en-US" altLang="ko-KR" sz="1800" dirty="0">
                <a:effectLst/>
                <a:latin typeface="Times New Roman" panose="02020603050405020304" pitchFamily="18" charset="0"/>
                <a:ea typeface="맑은 고딕" panose="020B0503020000020004" pitchFamily="50" charset="-127"/>
              </a:rPr>
              <a:t>.</a:t>
            </a:r>
            <a:endParaRPr lang="ko-KR" altLang="ko-KR" sz="1800" dirty="0">
              <a:effectLst/>
              <a:latin typeface="Times New Roman" panose="02020603050405020304" pitchFamily="18" charset="0"/>
              <a:ea typeface="맑은 고딕" panose="020B0503020000020004" pitchFamily="50" charset="-127"/>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7255857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924175" y="849313"/>
            <a:ext cx="4078288" cy="2293937"/>
          </a:xfrm>
          <a:prstGeom prst="rect">
            <a:avLst/>
          </a:prstGeom>
          <a:noFill/>
          <a:ln w="12700">
            <a:solidFill>
              <a:prstClr val="black"/>
            </a:solidFill>
          </a:ln>
        </p:spPr>
      </p:sp>
      <p:sp>
        <p:nvSpPr>
          <p:cNvPr id="3" name="슬라이드 노트 개체 틀 2"/>
          <p:cNvSpPr>
            <a:spLocks noGrp="1"/>
          </p:cNvSpPr>
          <p:nvPr>
            <p:ph type="body" idx="1"/>
          </p:nvPr>
        </p:nvSpPr>
        <p:spPr>
          <a:xfrm>
            <a:off x="992188" y="3271838"/>
            <a:ext cx="7942262" cy="2676525"/>
          </a:xfrm>
          <a:prstGeom prst="rect">
            <a:avLst/>
          </a:prstGeom>
        </p:spPr>
        <p:txBody>
          <a:bodyPr/>
          <a:lstStyle/>
          <a:p>
            <a:r>
              <a:rPr lang="ko-KR" altLang="en-US" sz="2800" b="1" dirty="0"/>
              <a:t>버지니아 </a:t>
            </a:r>
            <a:r>
              <a:rPr lang="ko-KR" altLang="en-US" sz="2800" b="1" dirty="0" err="1"/>
              <a:t>사티어는</a:t>
            </a:r>
            <a:r>
              <a:rPr lang="ko-KR" altLang="en-US" sz="2800" b="1" dirty="0"/>
              <a:t> 이렇게 생각했습니다</a:t>
            </a:r>
          </a:p>
          <a:p>
            <a:r>
              <a:rPr lang="ko-KR" altLang="en-US" sz="2800" dirty="0"/>
              <a:t>버지니아 </a:t>
            </a:r>
            <a:r>
              <a:rPr lang="ko-KR" altLang="en-US" sz="2800" dirty="0" err="1"/>
              <a:t>사티어는</a:t>
            </a:r>
            <a:r>
              <a:rPr lang="ko-KR" altLang="en-US" sz="2800" dirty="0"/>
              <a:t> 가족의 </a:t>
            </a:r>
            <a:r>
              <a:rPr lang="ko-KR" altLang="en-US" sz="2800" b="1" dirty="0"/>
              <a:t>관계와 대화 방법</a:t>
            </a:r>
            <a:r>
              <a:rPr lang="ko-KR" altLang="en-US" sz="2800" dirty="0"/>
              <a:t>을 연구한 학자입니다</a:t>
            </a:r>
            <a:r>
              <a:rPr lang="en-US" altLang="ko-KR" sz="2800" dirty="0"/>
              <a:t>.</a:t>
            </a:r>
            <a:br>
              <a:rPr lang="en-US" altLang="ko-KR" sz="2800" dirty="0"/>
            </a:br>
            <a:r>
              <a:rPr lang="ko-KR" altLang="en-US" sz="2800" dirty="0"/>
              <a:t>특히 </a:t>
            </a:r>
            <a:r>
              <a:rPr lang="ko-KR" altLang="en-US" sz="2800" b="1" dirty="0"/>
              <a:t>자아존중감</a:t>
            </a:r>
            <a:r>
              <a:rPr lang="ko-KR" altLang="en-US" sz="2800" dirty="0"/>
              <a:t>과 </a:t>
            </a:r>
            <a:r>
              <a:rPr lang="ko-KR" altLang="en-US" sz="2800" b="1" dirty="0"/>
              <a:t>의사소통</a:t>
            </a:r>
            <a:r>
              <a:rPr lang="ko-KR" altLang="en-US" sz="2800" dirty="0"/>
              <a:t>을 중요하게 생각했습니다</a:t>
            </a:r>
            <a:r>
              <a:rPr lang="en-US" altLang="ko-KR" sz="2800" dirty="0"/>
              <a:t>.</a:t>
            </a:r>
          </a:p>
          <a:p>
            <a:r>
              <a:rPr lang="ko-KR" altLang="en-US" sz="2800" dirty="0" err="1"/>
              <a:t>사티어는</a:t>
            </a:r>
            <a:r>
              <a:rPr lang="ko-KR" altLang="en-US" sz="2800" dirty="0"/>
              <a:t> 이렇게 말합니다</a:t>
            </a:r>
            <a:r>
              <a:rPr lang="en-US" altLang="ko-KR" sz="2800" dirty="0"/>
              <a:t>.</a:t>
            </a:r>
          </a:p>
          <a:p>
            <a:r>
              <a:rPr lang="ko-KR" altLang="en-US" sz="2800" b="1" dirty="0"/>
              <a:t>“아이의 행동만 보지 말고</a:t>
            </a:r>
            <a:r>
              <a:rPr lang="en-US" altLang="ko-KR" sz="2800" b="1" dirty="0"/>
              <a:t>, </a:t>
            </a:r>
            <a:r>
              <a:rPr lang="ko-KR" altLang="en-US" sz="2800" b="1" dirty="0"/>
              <a:t>그 행동 뒤에 있는 마음을 보세요</a:t>
            </a:r>
            <a:r>
              <a:rPr lang="en-US" altLang="ko-KR" sz="2800" b="1" dirty="0"/>
              <a:t>.”</a:t>
            </a:r>
            <a:endParaRPr lang="ko-KR" altLang="en-US" sz="2800" dirty="0"/>
          </a:p>
          <a:p>
            <a:r>
              <a:rPr lang="ko-KR" altLang="en-US" sz="2800" dirty="0"/>
              <a:t>예를 들어 아이가 화를 내거나 말을 듣지 않을 때</a:t>
            </a:r>
            <a:r>
              <a:rPr lang="en-US" altLang="ko-KR" sz="2800" dirty="0"/>
              <a:t>,</a:t>
            </a:r>
            <a:br>
              <a:rPr lang="en-US" altLang="ko-KR" sz="2800" dirty="0"/>
            </a:br>
            <a:r>
              <a:rPr lang="ko-KR" altLang="en-US" sz="2800" dirty="0"/>
              <a:t>바로 </a:t>
            </a:r>
            <a:r>
              <a:rPr lang="ko-KR" altLang="en-US" sz="2800" b="1" dirty="0"/>
              <a:t>“왜 그렇게 </a:t>
            </a:r>
            <a:r>
              <a:rPr lang="ko-KR" altLang="en-US" sz="2800" b="1" dirty="0" err="1"/>
              <a:t>했어</a:t>
            </a:r>
            <a:r>
              <a:rPr lang="en-US" altLang="ko-KR" sz="2800" b="1" dirty="0"/>
              <a:t>?”</a:t>
            </a:r>
            <a:r>
              <a:rPr lang="ko-KR" altLang="en-US" sz="2800" dirty="0"/>
              <a:t>라고 혼내기보다 먼저 생각해 봅니다</a:t>
            </a:r>
            <a:r>
              <a:rPr lang="en-US" altLang="ko-KR" sz="2800" dirty="0"/>
              <a:t>.</a:t>
            </a:r>
          </a:p>
          <a:p>
            <a:r>
              <a:rPr lang="ko-KR" altLang="en-US" sz="2800" b="1" dirty="0"/>
              <a:t>“우리 아이가 지금 어떤 마음일까</a:t>
            </a:r>
            <a:r>
              <a:rPr lang="en-US" altLang="ko-KR" sz="2800" b="1" dirty="0"/>
              <a:t>?”</a:t>
            </a:r>
            <a:br>
              <a:rPr lang="ko-KR" altLang="en-US" sz="2800" dirty="0"/>
            </a:br>
            <a:r>
              <a:rPr lang="ko-KR" altLang="en-US" sz="2800" b="1" dirty="0"/>
              <a:t>“무엇을 원하고 있을까</a:t>
            </a:r>
            <a:r>
              <a:rPr lang="en-US" altLang="ko-KR" sz="2800" b="1" dirty="0"/>
              <a:t>?”</a:t>
            </a:r>
            <a:br>
              <a:rPr lang="ko-KR" altLang="en-US" sz="2800" dirty="0"/>
            </a:br>
            <a:r>
              <a:rPr lang="ko-KR" altLang="en-US" sz="2800" b="1" dirty="0"/>
              <a:t>“나는 아이에게 어떻게 말하고 있을까</a:t>
            </a:r>
            <a:r>
              <a:rPr lang="en-US" altLang="ko-KR" sz="2800" b="1" dirty="0"/>
              <a:t>?”</a:t>
            </a:r>
            <a:endParaRPr lang="ko-KR" altLang="en-US" sz="2800" dirty="0"/>
          </a:p>
          <a:p>
            <a:r>
              <a:rPr lang="ko-KR" altLang="en-US" sz="2800" dirty="0"/>
              <a:t>아이의 행동 뒤에는 </a:t>
            </a:r>
            <a:r>
              <a:rPr lang="ko-KR" altLang="en-US" sz="2800" b="1" dirty="0"/>
              <a:t>감정과 바람</a:t>
            </a:r>
            <a:r>
              <a:rPr lang="en-US" altLang="ko-KR" sz="2800" b="1" dirty="0"/>
              <a:t>(</a:t>
            </a:r>
            <a:r>
              <a:rPr lang="ko-KR" altLang="en-US" sz="2800" b="1" dirty="0"/>
              <a:t>욕구</a:t>
            </a:r>
            <a:r>
              <a:rPr lang="en-US" altLang="ko-KR" sz="2800" b="1" dirty="0"/>
              <a:t>)</a:t>
            </a:r>
            <a:r>
              <a:rPr lang="ko-KR" altLang="en-US" sz="2800" dirty="0"/>
              <a:t>이 있습니다</a:t>
            </a:r>
            <a:r>
              <a:rPr lang="en-US" altLang="ko-KR" sz="2800" dirty="0"/>
              <a:t>.</a:t>
            </a:r>
          </a:p>
          <a:p>
            <a:r>
              <a:rPr lang="ko-KR" altLang="en-US" sz="2800" dirty="0"/>
              <a:t>그래서 부모가 아이의 마음을 이해하고</a:t>
            </a:r>
            <a:r>
              <a:rPr lang="en-US" altLang="ko-KR" sz="2800" dirty="0"/>
              <a:t>, </a:t>
            </a:r>
            <a:r>
              <a:rPr lang="ko-KR" altLang="en-US" sz="2800" dirty="0"/>
              <a:t>서로의 감정과 바람을 </a:t>
            </a:r>
            <a:r>
              <a:rPr lang="ko-KR" altLang="en-US" sz="2800" b="1" dirty="0"/>
              <a:t>솔직하게 말하면서도 존중하며 대화할 때</a:t>
            </a:r>
            <a:r>
              <a:rPr lang="ko-KR" altLang="en-US" sz="2800" dirty="0"/>
              <a:t> 가족의 관계가 건강해질 수 있다고 보았습니다</a:t>
            </a:r>
            <a:r>
              <a:rPr lang="en-US" altLang="ko-KR" sz="2800" dirty="0"/>
              <a:t>.</a:t>
            </a:r>
          </a:p>
          <a:p>
            <a:endParaRPr lang="ko-KR" altLang="en-US" dirty="0"/>
          </a:p>
        </p:txBody>
      </p:sp>
    </p:spTree>
    <p:extLst>
      <p:ext uri="{BB962C8B-B14F-4D97-AF65-F5344CB8AC3E}">
        <p14:creationId xmlns:p14="http://schemas.microsoft.com/office/powerpoint/2010/main" val="3032343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924175" y="849313"/>
            <a:ext cx="4078288" cy="2293937"/>
          </a:xfrm>
          <a:prstGeom prst="rect">
            <a:avLst/>
          </a:prstGeom>
          <a:noFill/>
          <a:ln w="12700">
            <a:solidFill>
              <a:prstClr val="black"/>
            </a:solidFill>
          </a:ln>
        </p:spPr>
      </p:sp>
      <p:sp>
        <p:nvSpPr>
          <p:cNvPr id="3" name="슬라이드 노트 개체 틀 2"/>
          <p:cNvSpPr>
            <a:spLocks noGrp="1"/>
          </p:cNvSpPr>
          <p:nvPr>
            <p:ph type="body" idx="1"/>
          </p:nvPr>
        </p:nvSpPr>
        <p:spPr>
          <a:xfrm>
            <a:off x="992188" y="3271838"/>
            <a:ext cx="7942262" cy="2676525"/>
          </a:xfrm>
          <a:prstGeom prst="rect">
            <a:avLst/>
          </a:prstGeom>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ko-KR" sz="1800" dirty="0" err="1">
                <a:effectLst/>
                <a:latin typeface="Times New Roman" panose="02020603050405020304" pitchFamily="18" charset="0"/>
                <a:ea typeface="맑은 고딕" panose="020B0503020000020004" pitchFamily="50" charset="-127"/>
              </a:rPr>
              <a:t>사티어</a:t>
            </a:r>
            <a:r>
              <a:rPr lang="ko-KR" altLang="ko-KR" sz="1800" dirty="0">
                <a:effectLst/>
                <a:latin typeface="Times New Roman" panose="02020603050405020304" pitchFamily="18" charset="0"/>
                <a:ea typeface="맑은 고딕" panose="020B0503020000020004" pitchFamily="50" charset="-127"/>
              </a:rPr>
              <a:t> 성장모델은 크게 세 가지로 이루어져 있습니다</a:t>
            </a:r>
            <a:r>
              <a:rPr lang="en-US" altLang="ko-KR" sz="1800" dirty="0">
                <a:effectLst/>
                <a:latin typeface="Times New Roman" panose="02020603050405020304" pitchFamily="18" charset="0"/>
                <a:ea typeface="맑은 고딕" panose="020B0503020000020004" pitchFamily="50" charset="-127"/>
              </a:rPr>
              <a:t>. </a:t>
            </a:r>
            <a:r>
              <a:rPr lang="ko-KR" altLang="ko-KR" sz="1800" dirty="0">
                <a:effectLst/>
                <a:latin typeface="Times New Roman" panose="02020603050405020304" pitchFamily="18" charset="0"/>
                <a:ea typeface="맑은 고딕" panose="020B0503020000020004" pitchFamily="50" charset="-127"/>
              </a:rPr>
              <a:t>첫째는 자아존중감</a:t>
            </a:r>
            <a:r>
              <a:rPr lang="en-US" altLang="ko-KR" sz="1800" dirty="0">
                <a:effectLst/>
                <a:latin typeface="Times New Roman" panose="02020603050405020304" pitchFamily="18" charset="0"/>
                <a:ea typeface="맑은 고딕" panose="020B0503020000020004" pitchFamily="50" charset="-127"/>
              </a:rPr>
              <a:t>, </a:t>
            </a:r>
            <a:r>
              <a:rPr lang="ko-KR" altLang="ko-KR" sz="1800" dirty="0">
                <a:effectLst/>
                <a:latin typeface="Times New Roman" panose="02020603050405020304" pitchFamily="18" charset="0"/>
                <a:ea typeface="맑은 고딕" panose="020B0503020000020004" pitchFamily="50" charset="-127"/>
              </a:rPr>
              <a:t>둘째는 빙산모델</a:t>
            </a:r>
            <a:r>
              <a:rPr lang="en-US" altLang="ko-KR" sz="1800" dirty="0">
                <a:effectLst/>
                <a:latin typeface="Times New Roman" panose="02020603050405020304" pitchFamily="18" charset="0"/>
                <a:ea typeface="맑은 고딕" panose="020B0503020000020004" pitchFamily="50" charset="-127"/>
              </a:rPr>
              <a:t>, </a:t>
            </a:r>
            <a:r>
              <a:rPr lang="ko-KR" altLang="ko-KR" sz="1800" dirty="0">
                <a:effectLst/>
                <a:latin typeface="Times New Roman" panose="02020603050405020304" pitchFamily="18" charset="0"/>
                <a:ea typeface="맑은 고딕" panose="020B0503020000020004" pitchFamily="50" charset="-127"/>
              </a:rPr>
              <a:t>셋째는 의사소통입니다</a:t>
            </a:r>
            <a:r>
              <a:rPr lang="en-US" altLang="ko-KR" sz="1800" dirty="0">
                <a:effectLst/>
                <a:latin typeface="Times New Roman" panose="02020603050405020304" pitchFamily="18" charset="0"/>
                <a:ea typeface="맑은 고딕" panose="020B0503020000020004" pitchFamily="50" charset="-127"/>
              </a:rPr>
              <a:t>. </a:t>
            </a:r>
            <a:r>
              <a:rPr lang="ko-KR" altLang="ko-KR" sz="1800" dirty="0">
                <a:effectLst/>
                <a:latin typeface="Times New Roman" panose="02020603050405020304" pitchFamily="18" charset="0"/>
                <a:ea typeface="맑은 고딕" panose="020B0503020000020004" pitchFamily="50" charset="-127"/>
              </a:rPr>
              <a:t>이 세 가지를 차례로 하나씩 살펴보겠습니다</a:t>
            </a:r>
            <a:r>
              <a:rPr lang="en-US" altLang="ko-KR" sz="1800" dirty="0">
                <a:effectLst/>
                <a:latin typeface="Times New Roman" panose="02020603050405020304" pitchFamily="18" charset="0"/>
                <a:ea typeface="맑은 고딕" panose="020B0503020000020004" pitchFamily="50" charset="-127"/>
              </a:rPr>
              <a:t>.</a:t>
            </a:r>
            <a:endParaRPr lang="ko-KR" altLang="ko-KR" sz="1800" dirty="0">
              <a:effectLst/>
              <a:latin typeface="Times New Roman" panose="02020603050405020304" pitchFamily="18" charset="0"/>
              <a:ea typeface="맑은 고딕" panose="020B0503020000020004" pitchFamily="50" charset="-127"/>
            </a:endParaRPr>
          </a:p>
          <a:p>
            <a:endParaRPr lang="ko-KR" altLang="en-US" dirty="0"/>
          </a:p>
        </p:txBody>
      </p:sp>
    </p:spTree>
    <p:extLst>
      <p:ext uri="{BB962C8B-B14F-4D97-AF65-F5344CB8AC3E}">
        <p14:creationId xmlns:p14="http://schemas.microsoft.com/office/powerpoint/2010/main" val="27602099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924175" y="849313"/>
            <a:ext cx="4078288" cy="2293937"/>
          </a:xfrm>
          <a:prstGeom prst="rect">
            <a:avLst/>
          </a:prstGeom>
          <a:noFill/>
          <a:ln w="12700">
            <a:solidFill>
              <a:prstClr val="black"/>
            </a:solidFill>
          </a:ln>
        </p:spPr>
      </p:sp>
      <p:sp>
        <p:nvSpPr>
          <p:cNvPr id="3" name="슬라이드 노트 개체 틀 2"/>
          <p:cNvSpPr>
            <a:spLocks noGrp="1"/>
          </p:cNvSpPr>
          <p:nvPr>
            <p:ph type="body" idx="1"/>
          </p:nvPr>
        </p:nvSpPr>
        <p:spPr>
          <a:xfrm>
            <a:off x="992188" y="3271838"/>
            <a:ext cx="7942262" cy="2676525"/>
          </a:xfrm>
          <a:prstGeom prst="rect">
            <a:avLst/>
          </a:prstGeom>
        </p:spPr>
        <p:txBody>
          <a:bodyPr/>
          <a:lstStyle/>
          <a:p>
            <a:r>
              <a:rPr lang="ko-KR" altLang="en-US" sz="2800" b="1" dirty="0"/>
              <a:t>모든 변화의 시작은 ‘나를 소중하게 생각하는 </a:t>
            </a:r>
            <a:r>
              <a:rPr lang="ko-KR" altLang="en-US" sz="2800" b="1" dirty="0" err="1"/>
              <a:t>마음’입니다</a:t>
            </a:r>
            <a:endParaRPr lang="ko-KR" altLang="en-US" sz="2800" b="1" dirty="0"/>
          </a:p>
          <a:p>
            <a:r>
              <a:rPr lang="ko-KR" altLang="en-US" sz="2800" dirty="0" err="1"/>
              <a:t>사티어는</a:t>
            </a:r>
            <a:r>
              <a:rPr lang="ko-KR" altLang="en-US" sz="2800" dirty="0"/>
              <a:t> </a:t>
            </a:r>
            <a:r>
              <a:rPr lang="ko-KR" altLang="en-US" sz="2800" b="1" dirty="0"/>
              <a:t>자아존중감</a:t>
            </a:r>
            <a:r>
              <a:rPr lang="ko-KR" altLang="en-US" sz="2800" dirty="0"/>
              <a:t>을</a:t>
            </a:r>
            <a:br>
              <a:rPr lang="ko-KR" altLang="en-US" sz="2800" dirty="0"/>
            </a:br>
            <a:r>
              <a:rPr lang="ko-KR" altLang="en-US" sz="2800" b="1" dirty="0"/>
              <a:t>“나는 소중한 사람이라고 생각하는 </a:t>
            </a:r>
            <a:r>
              <a:rPr lang="ko-KR" altLang="en-US" sz="2800" b="1" dirty="0" err="1"/>
              <a:t>마음”</a:t>
            </a:r>
            <a:r>
              <a:rPr lang="ko-KR" altLang="en-US" sz="2800" dirty="0" err="1"/>
              <a:t>이라고</a:t>
            </a:r>
            <a:r>
              <a:rPr lang="ko-KR" altLang="en-US" sz="2800" dirty="0"/>
              <a:t> 보았습니다</a:t>
            </a:r>
            <a:r>
              <a:rPr lang="en-US" altLang="ko-KR" sz="2800" dirty="0"/>
              <a:t>.</a:t>
            </a:r>
          </a:p>
          <a:p>
            <a:endParaRPr lang="ko-KR" altLang="en-US" dirty="0"/>
          </a:p>
        </p:txBody>
      </p:sp>
    </p:spTree>
    <p:extLst>
      <p:ext uri="{BB962C8B-B14F-4D97-AF65-F5344CB8AC3E}">
        <p14:creationId xmlns:p14="http://schemas.microsoft.com/office/powerpoint/2010/main" val="2651183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924175" y="849313"/>
            <a:ext cx="4078288" cy="2293937"/>
          </a:xfrm>
          <a:prstGeom prst="rect">
            <a:avLst/>
          </a:prstGeom>
          <a:noFill/>
          <a:ln w="12700">
            <a:solidFill>
              <a:prstClr val="black"/>
            </a:solidFill>
          </a:ln>
        </p:spPr>
      </p:sp>
      <p:sp>
        <p:nvSpPr>
          <p:cNvPr id="3" name="슬라이드 노트 개체 틀 2"/>
          <p:cNvSpPr>
            <a:spLocks noGrp="1"/>
          </p:cNvSpPr>
          <p:nvPr>
            <p:ph type="body" idx="1"/>
          </p:nvPr>
        </p:nvSpPr>
        <p:spPr>
          <a:xfrm>
            <a:off x="992188" y="3271838"/>
            <a:ext cx="7942262" cy="2676525"/>
          </a:xfrm>
          <a:prstGeom prst="rect">
            <a:avLst/>
          </a:prstGeom>
        </p:spPr>
        <p:txBody>
          <a:bodyPr/>
          <a:lstStyle/>
          <a:p>
            <a:r>
              <a:rPr lang="ko-KR" altLang="en-US" sz="1200" dirty="0"/>
              <a:t>자아존중감이 높으면</a:t>
            </a:r>
          </a:p>
          <a:p>
            <a:pPr>
              <a:buFont typeface="Arial" panose="020B0604020202020204" pitchFamily="34" charset="0"/>
              <a:buChar char="•"/>
            </a:pPr>
            <a:r>
              <a:rPr lang="ko-KR" altLang="en-US" sz="1200" dirty="0"/>
              <a:t>내 감정을 솔직하게 말할 수 있습니다</a:t>
            </a:r>
            <a:r>
              <a:rPr lang="en-US" altLang="ko-KR" sz="1200" dirty="0"/>
              <a:t>.</a:t>
            </a:r>
          </a:p>
          <a:p>
            <a:pPr>
              <a:buFont typeface="Arial" panose="020B0604020202020204" pitchFamily="34" charset="0"/>
              <a:buChar char="•"/>
            </a:pPr>
            <a:r>
              <a:rPr lang="ko-KR" altLang="en-US" sz="1200" dirty="0"/>
              <a:t>다른 사람의 마음도 존중할 수 있습니다</a:t>
            </a:r>
            <a:r>
              <a:rPr lang="en-US" altLang="ko-KR" sz="1200" dirty="0"/>
              <a:t>.</a:t>
            </a:r>
          </a:p>
          <a:p>
            <a:pPr>
              <a:buFont typeface="Arial" panose="020B0604020202020204" pitchFamily="34" charset="0"/>
              <a:buChar char="•"/>
            </a:pPr>
            <a:r>
              <a:rPr lang="ko-KR" altLang="en-US" sz="1200" dirty="0"/>
              <a:t>갈등이 생겨도 대화로 해결하려고 합니다</a:t>
            </a:r>
            <a:r>
              <a:rPr lang="en-US" altLang="ko-KR" sz="1200" dirty="0"/>
              <a:t>.</a:t>
            </a:r>
          </a:p>
          <a:p>
            <a:pPr>
              <a:buFont typeface="Arial" panose="020B0604020202020204" pitchFamily="34" charset="0"/>
              <a:buChar char="•"/>
            </a:pPr>
            <a:r>
              <a:rPr lang="ko-KR" altLang="en-US" sz="1200" dirty="0"/>
              <a:t>어려움이나 변화가 와도 다시 적응할 수 있습니다</a:t>
            </a:r>
            <a:r>
              <a:rPr lang="en-US" altLang="ko-KR" sz="1200" dirty="0"/>
              <a:t>.</a:t>
            </a:r>
          </a:p>
          <a:p>
            <a:pPr>
              <a:buFont typeface="Arial" panose="020B0604020202020204" pitchFamily="34" charset="0"/>
              <a:buChar char="•"/>
            </a:pPr>
            <a:endParaRPr lang="en-US" altLang="ko-KR" sz="1200" dirty="0"/>
          </a:p>
          <a:p>
            <a:r>
              <a:rPr lang="ko-KR" altLang="en-US" sz="1200" dirty="0"/>
              <a:t>반대로 자아존중감이 낮으면</a:t>
            </a:r>
          </a:p>
          <a:p>
            <a:pPr>
              <a:buFont typeface="Arial" panose="020B0604020202020204" pitchFamily="34" charset="0"/>
              <a:buChar char="•"/>
            </a:pPr>
            <a:r>
              <a:rPr lang="ko-KR" altLang="en-US" sz="1200" dirty="0"/>
              <a:t>내 마음을 숨기거나 참습니다</a:t>
            </a:r>
            <a:r>
              <a:rPr lang="en-US" altLang="ko-KR" sz="1200" dirty="0"/>
              <a:t>.</a:t>
            </a:r>
          </a:p>
          <a:p>
            <a:pPr>
              <a:buFont typeface="Arial" panose="020B0604020202020204" pitchFamily="34" charset="0"/>
              <a:buChar char="•"/>
            </a:pPr>
            <a:r>
              <a:rPr lang="ko-KR" altLang="en-US" sz="1200" dirty="0"/>
              <a:t>다른 사람을 비난하기 쉽습니다</a:t>
            </a:r>
            <a:r>
              <a:rPr lang="en-US" altLang="ko-KR" sz="1200" dirty="0"/>
              <a:t>.</a:t>
            </a:r>
          </a:p>
          <a:p>
            <a:pPr>
              <a:buFont typeface="Arial" panose="020B0604020202020204" pitchFamily="34" charset="0"/>
              <a:buChar char="•"/>
            </a:pPr>
            <a:r>
              <a:rPr lang="ko-KR" altLang="en-US" sz="1200" dirty="0"/>
              <a:t>문제를 피하려고 할 수 있습니다</a:t>
            </a:r>
            <a:r>
              <a:rPr lang="en-US" altLang="ko-KR" sz="1200" dirty="0"/>
              <a:t>.</a:t>
            </a:r>
          </a:p>
          <a:p>
            <a:pPr>
              <a:buFont typeface="Arial" panose="020B0604020202020204" pitchFamily="34" charset="0"/>
              <a:buChar char="•"/>
            </a:pPr>
            <a:r>
              <a:rPr lang="ko-KR" altLang="en-US" sz="1200" dirty="0"/>
              <a:t>가족과의 관계가 힘들어질 수 있습니다</a:t>
            </a:r>
            <a:r>
              <a:rPr lang="en-US" altLang="ko-KR" sz="1200" dirty="0"/>
              <a:t>.</a:t>
            </a:r>
          </a:p>
          <a:p>
            <a:r>
              <a:rPr lang="ko-KR" altLang="en-US" sz="1200" b="1" dirty="0"/>
              <a:t>부모가 나를 존중하는 것에서 시작하여</a:t>
            </a:r>
            <a:br>
              <a:rPr lang="ko-KR" altLang="en-US" sz="1200" b="1" dirty="0"/>
            </a:br>
            <a:r>
              <a:rPr lang="ko-KR" altLang="en-US" sz="1200" b="1" dirty="0"/>
              <a:t>아이를 존중하고</a:t>
            </a:r>
            <a:r>
              <a:rPr lang="en-US" altLang="ko-KR" sz="1200" b="1" dirty="0"/>
              <a:t>, </a:t>
            </a:r>
            <a:r>
              <a:rPr lang="ko-KR" altLang="en-US" sz="1200" b="1" dirty="0"/>
              <a:t>가족의 관계도 건강하게 만들어 갑니다</a:t>
            </a:r>
            <a:r>
              <a:rPr lang="en-US" altLang="ko-KR" sz="1200" b="1" dirty="0"/>
              <a:t>.</a:t>
            </a:r>
            <a:endParaRPr lang="ko-KR" altLang="en-US" sz="1200" dirty="0"/>
          </a:p>
          <a:p>
            <a:endParaRPr lang="ko-KR" altLang="en-US" dirty="0"/>
          </a:p>
        </p:txBody>
      </p:sp>
    </p:spTree>
    <p:extLst>
      <p:ext uri="{BB962C8B-B14F-4D97-AF65-F5344CB8AC3E}">
        <p14:creationId xmlns:p14="http://schemas.microsoft.com/office/powerpoint/2010/main" val="11105832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924175" y="849313"/>
            <a:ext cx="4078288" cy="2293937"/>
          </a:xfrm>
          <a:prstGeom prst="rect">
            <a:avLst/>
          </a:prstGeom>
          <a:noFill/>
          <a:ln w="12700">
            <a:solidFill>
              <a:prstClr val="black"/>
            </a:solidFill>
          </a:ln>
        </p:spPr>
      </p:sp>
      <p:sp>
        <p:nvSpPr>
          <p:cNvPr id="3" name="슬라이드 노트 개체 틀 2"/>
          <p:cNvSpPr>
            <a:spLocks noGrp="1"/>
          </p:cNvSpPr>
          <p:nvPr>
            <p:ph type="body" idx="1"/>
          </p:nvPr>
        </p:nvSpPr>
        <p:spPr>
          <a:xfrm>
            <a:off x="992188" y="3271838"/>
            <a:ext cx="7942262" cy="2676525"/>
          </a:xfrm>
          <a:prstGeom prst="rect">
            <a:avLst/>
          </a:prstGeom>
        </p:spPr>
        <p:txBody>
          <a:bodyPr/>
          <a:lstStyle/>
          <a:p>
            <a:r>
              <a:rPr lang="ko-KR" altLang="en-US" dirty="0"/>
              <a:t>그런데 아이의 자아존중감은 </a:t>
            </a:r>
            <a:r>
              <a:rPr lang="ko-KR" altLang="en-US" b="1" dirty="0"/>
              <a:t>칭찬을 많이 한다고 해서 저절로 높아지는 것은 아닙니다</a:t>
            </a:r>
            <a:r>
              <a:rPr lang="en-US" altLang="ko-KR" b="1" dirty="0"/>
              <a:t>.</a:t>
            </a:r>
            <a:endParaRPr lang="ko-KR" altLang="en-US" dirty="0"/>
          </a:p>
          <a:p>
            <a:r>
              <a:rPr lang="ko-KR" altLang="en-US" dirty="0"/>
              <a:t>아이에게 더 중요한 것은 일상에서 반복해서 경험하는 것입니다</a:t>
            </a:r>
            <a:r>
              <a:rPr lang="en-US" altLang="ko-KR" dirty="0"/>
              <a:t>.</a:t>
            </a:r>
          </a:p>
          <a:p>
            <a:r>
              <a:rPr lang="ko-KR" altLang="en-US" b="1" dirty="0"/>
              <a:t>‘내 이야기를 들어주는구나</a:t>
            </a:r>
            <a:r>
              <a:rPr lang="en-US" altLang="ko-KR" b="1" dirty="0"/>
              <a:t>.’</a:t>
            </a:r>
            <a:br>
              <a:rPr lang="en-US" altLang="ko-KR" b="1" dirty="0"/>
            </a:br>
            <a:r>
              <a:rPr lang="en-US" altLang="ko-KR" b="1" dirty="0"/>
              <a:t>‘</a:t>
            </a:r>
            <a:r>
              <a:rPr lang="ko-KR" altLang="en-US" b="1" dirty="0"/>
              <a:t>내 마음을 이해해 주는구나</a:t>
            </a:r>
            <a:r>
              <a:rPr lang="en-US" altLang="ko-KR" b="1" dirty="0"/>
              <a:t>.’</a:t>
            </a:r>
            <a:br>
              <a:rPr lang="en-US" altLang="ko-KR" b="1" dirty="0"/>
            </a:br>
            <a:r>
              <a:rPr lang="en-US" altLang="ko-KR" b="1" dirty="0"/>
              <a:t>‘</a:t>
            </a:r>
            <a:r>
              <a:rPr lang="ko-KR" altLang="en-US" b="1" dirty="0"/>
              <a:t>내가 잘하지 못해도 나를 소중하게 생각하는구나</a:t>
            </a:r>
            <a:r>
              <a:rPr lang="en-US" altLang="ko-KR" b="1" dirty="0"/>
              <a:t>.’</a:t>
            </a:r>
            <a:endParaRPr lang="ko-KR" altLang="en-US" dirty="0"/>
          </a:p>
          <a:p>
            <a:r>
              <a:rPr lang="ko-KR" altLang="en-US" dirty="0"/>
              <a:t>이렇게 </a:t>
            </a:r>
            <a:r>
              <a:rPr lang="ko-KR" altLang="en-US" b="1" dirty="0" err="1"/>
              <a:t>존중받고</a:t>
            </a:r>
            <a:r>
              <a:rPr lang="en-US" altLang="ko-KR" b="1" dirty="0"/>
              <a:t>, </a:t>
            </a:r>
            <a:r>
              <a:rPr lang="ko-KR" altLang="en-US" b="1" dirty="0" err="1"/>
              <a:t>공감받고</a:t>
            </a:r>
            <a:r>
              <a:rPr lang="en-US" altLang="ko-KR" b="1" dirty="0"/>
              <a:t>, </a:t>
            </a:r>
            <a:r>
              <a:rPr lang="ko-KR" altLang="en-US" b="1" dirty="0"/>
              <a:t>있는 그대로 받아들여지는 경험</a:t>
            </a:r>
            <a:r>
              <a:rPr lang="ko-KR" altLang="en-US" dirty="0"/>
              <a:t>이 쌓이면서 아이는 마음속으로 생각합니다</a:t>
            </a:r>
            <a:r>
              <a:rPr lang="en-US" altLang="ko-KR" dirty="0"/>
              <a:t>.</a:t>
            </a:r>
          </a:p>
          <a:p>
            <a:r>
              <a:rPr lang="ko-KR" altLang="en-US" b="1" dirty="0"/>
              <a:t>‘나는 소중한 사람이야</a:t>
            </a:r>
            <a:r>
              <a:rPr lang="en-US" altLang="ko-KR" b="1" dirty="0"/>
              <a:t>.’</a:t>
            </a:r>
            <a:br>
              <a:rPr lang="en-US" altLang="ko-KR" b="1" dirty="0"/>
            </a:br>
            <a:r>
              <a:rPr lang="en-US" altLang="ko-KR" b="1" dirty="0"/>
              <a:t>‘</a:t>
            </a:r>
            <a:r>
              <a:rPr lang="ko-KR" altLang="en-US" b="1" dirty="0"/>
              <a:t>나는 사랑받을 만한 사람이야</a:t>
            </a:r>
            <a:r>
              <a:rPr lang="en-US" altLang="ko-KR" b="1" dirty="0"/>
              <a:t>.’</a:t>
            </a:r>
            <a:endParaRPr lang="ko-KR" altLang="en-US" dirty="0"/>
          </a:p>
          <a:p>
            <a:r>
              <a:rPr lang="ko-KR" altLang="en-US" dirty="0"/>
              <a:t>이 마음이 바로 </a:t>
            </a:r>
            <a:r>
              <a:rPr lang="ko-KR" altLang="en-US" dirty="0" err="1"/>
              <a:t>자아존중감입니다</a:t>
            </a:r>
            <a:r>
              <a:rPr lang="en-US" altLang="ko-KR" dirty="0"/>
              <a:t>.</a:t>
            </a:r>
          </a:p>
          <a:p>
            <a:r>
              <a:rPr lang="ko-KR" altLang="en-US" dirty="0"/>
              <a:t>그래서 부모가 아이에게 줄 수 있는 가장 중요한 것은 완벽한 칭찬이 아니라</a:t>
            </a:r>
            <a:r>
              <a:rPr lang="en-US" altLang="ko-KR" dirty="0"/>
              <a:t>, </a:t>
            </a:r>
            <a:r>
              <a:rPr lang="ko-KR" altLang="en-US" b="1" dirty="0"/>
              <a:t>‘너는 있는 그대로 </a:t>
            </a:r>
            <a:r>
              <a:rPr lang="ko-KR" altLang="en-US" b="1" dirty="0" err="1"/>
              <a:t>소중해’라는</a:t>
            </a:r>
            <a:r>
              <a:rPr lang="ko-KR" altLang="en-US" b="1" dirty="0"/>
              <a:t> 경험을 반복해서 주는 것</a:t>
            </a:r>
            <a:r>
              <a:rPr lang="ko-KR" altLang="en-US" dirty="0"/>
              <a:t>입니다</a:t>
            </a:r>
            <a:r>
              <a:rPr lang="en-US" altLang="ko-KR" dirty="0"/>
              <a:t>.”</a:t>
            </a:r>
          </a:p>
          <a:p>
            <a:endParaRPr lang="ko-KR" altLang="en-US" dirty="0"/>
          </a:p>
        </p:txBody>
      </p:sp>
    </p:spTree>
    <p:extLst>
      <p:ext uri="{BB962C8B-B14F-4D97-AF65-F5344CB8AC3E}">
        <p14:creationId xmlns:p14="http://schemas.microsoft.com/office/powerpoint/2010/main" val="36589216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924175" y="849313"/>
            <a:ext cx="4078288" cy="2293937"/>
          </a:xfrm>
          <a:prstGeom prst="rect">
            <a:avLst/>
          </a:prstGeom>
          <a:noFill/>
          <a:ln w="12700">
            <a:solidFill>
              <a:prstClr val="black"/>
            </a:solidFill>
          </a:ln>
        </p:spPr>
      </p:sp>
      <p:sp>
        <p:nvSpPr>
          <p:cNvPr id="3" name="슬라이드 노트 개체 틀 2"/>
          <p:cNvSpPr>
            <a:spLocks noGrp="1"/>
          </p:cNvSpPr>
          <p:nvPr>
            <p:ph type="body" idx="1"/>
          </p:nvPr>
        </p:nvSpPr>
        <p:spPr>
          <a:xfrm>
            <a:off x="992188" y="3271838"/>
            <a:ext cx="7942262" cy="2676525"/>
          </a:xfrm>
          <a:prstGeom prst="rect">
            <a:avLst/>
          </a:prstGeom>
        </p:spPr>
        <p:txBody>
          <a:bodyPr/>
          <a:lstStyle/>
          <a:p>
            <a:r>
              <a:rPr lang="ko-KR" altLang="en-US" sz="2800" dirty="0"/>
              <a:t>“그러면 아이의 자아존중감은 어떻게 키워줄 수 있을까요</a:t>
            </a:r>
            <a:r>
              <a:rPr lang="en-US" altLang="ko-KR" sz="2800" dirty="0"/>
              <a:t>?</a:t>
            </a:r>
          </a:p>
          <a:p>
            <a:r>
              <a:rPr lang="ko-KR" altLang="en-US" sz="2800" dirty="0"/>
              <a:t>어렵지 않습니다</a:t>
            </a:r>
            <a:r>
              <a:rPr lang="en-US" altLang="ko-KR" sz="2800" dirty="0"/>
              <a:t>. </a:t>
            </a:r>
            <a:r>
              <a:rPr lang="ko-KR" altLang="en-US" sz="2800" dirty="0"/>
              <a:t>부모가 평소에 아이에게 하는 </a:t>
            </a:r>
            <a:r>
              <a:rPr lang="ko-KR" altLang="en-US" sz="2800" b="1" dirty="0"/>
              <a:t>작은 말 한마디</a:t>
            </a:r>
            <a:r>
              <a:rPr lang="ko-KR" altLang="en-US" sz="2800" dirty="0"/>
              <a:t>에서 시작됩니다</a:t>
            </a:r>
            <a:r>
              <a:rPr lang="en-US" altLang="ko-KR" sz="2800" dirty="0"/>
              <a:t>.</a:t>
            </a:r>
          </a:p>
          <a:p>
            <a:r>
              <a:rPr lang="en-US" altLang="ko-KR" sz="2800" dirty="0"/>
              <a:t>‘</a:t>
            </a:r>
            <a:r>
              <a:rPr lang="ko-KR" altLang="en-US" sz="2800" dirty="0"/>
              <a:t>너는 소중한 아이야</a:t>
            </a:r>
            <a:r>
              <a:rPr lang="en-US" altLang="ko-KR" sz="2800" dirty="0"/>
              <a:t>.’</a:t>
            </a:r>
            <a:br>
              <a:rPr lang="en-US" altLang="ko-KR" sz="2800" dirty="0"/>
            </a:br>
            <a:r>
              <a:rPr lang="en-US" altLang="ko-KR" sz="2800" dirty="0"/>
              <a:t>→ </a:t>
            </a:r>
            <a:r>
              <a:rPr lang="ko-KR" altLang="en-US" sz="2800" dirty="0"/>
              <a:t>아이는 </a:t>
            </a:r>
            <a:r>
              <a:rPr lang="ko-KR" altLang="en-US" sz="2800" b="1" dirty="0"/>
              <a:t>‘나는 사랑받는 사람이구나</a:t>
            </a:r>
            <a:r>
              <a:rPr lang="en-US" altLang="ko-KR" sz="2800" b="1" dirty="0"/>
              <a:t>.’</a:t>
            </a:r>
            <a:r>
              <a:rPr lang="ko-KR" altLang="en-US" sz="2800" dirty="0"/>
              <a:t>라고 느낍니다</a:t>
            </a:r>
            <a:r>
              <a:rPr lang="en-US" altLang="ko-KR" sz="2800" dirty="0"/>
              <a:t>.</a:t>
            </a:r>
          </a:p>
          <a:p>
            <a:r>
              <a:rPr lang="en-US" altLang="ko-KR" sz="2800" dirty="0"/>
              <a:t>‘</a:t>
            </a:r>
            <a:r>
              <a:rPr lang="ko-KR" altLang="en-US" sz="2800" dirty="0"/>
              <a:t>네 이야기를 </a:t>
            </a:r>
            <a:r>
              <a:rPr lang="ko-KR" altLang="en-US" sz="2800" dirty="0" err="1"/>
              <a:t>들어줄게</a:t>
            </a:r>
            <a:r>
              <a:rPr lang="en-US" altLang="ko-KR" sz="2800" dirty="0"/>
              <a:t>.’</a:t>
            </a:r>
            <a:br>
              <a:rPr lang="en-US" altLang="ko-KR" sz="2800" dirty="0"/>
            </a:br>
            <a:r>
              <a:rPr lang="en-US" altLang="ko-KR" sz="2800" dirty="0"/>
              <a:t>→ </a:t>
            </a:r>
            <a:r>
              <a:rPr lang="ko-KR" altLang="en-US" sz="2800" dirty="0"/>
              <a:t>아이는 </a:t>
            </a:r>
            <a:r>
              <a:rPr lang="ko-KR" altLang="en-US" sz="2800" b="1" dirty="0"/>
              <a:t>‘내 생각과 마음도 중요하구나</a:t>
            </a:r>
            <a:r>
              <a:rPr lang="en-US" altLang="ko-KR" sz="2800" b="1" dirty="0"/>
              <a:t>.’</a:t>
            </a:r>
            <a:r>
              <a:rPr lang="ko-KR" altLang="en-US" sz="2800" dirty="0"/>
              <a:t>라고 느낍니다</a:t>
            </a:r>
            <a:r>
              <a:rPr lang="en-US" altLang="ko-KR" sz="2800" dirty="0"/>
              <a:t>.</a:t>
            </a:r>
          </a:p>
          <a:p>
            <a:r>
              <a:rPr lang="en-US" altLang="ko-KR" sz="2800" dirty="0"/>
              <a:t>‘</a:t>
            </a:r>
            <a:r>
              <a:rPr lang="ko-KR" altLang="en-US" sz="2800" dirty="0"/>
              <a:t>실수해도 괜찮아</a:t>
            </a:r>
            <a:r>
              <a:rPr lang="en-US" altLang="ko-KR" sz="2800" dirty="0"/>
              <a:t>.’</a:t>
            </a:r>
            <a:br>
              <a:rPr lang="en-US" altLang="ko-KR" sz="2800" dirty="0"/>
            </a:br>
            <a:r>
              <a:rPr lang="en-US" altLang="ko-KR" sz="2800" dirty="0"/>
              <a:t>→ </a:t>
            </a:r>
            <a:r>
              <a:rPr lang="ko-KR" altLang="en-US" sz="2800" dirty="0"/>
              <a:t>아이는 실패를 너무 두려워하지 않고 </a:t>
            </a:r>
            <a:r>
              <a:rPr lang="ko-KR" altLang="en-US" sz="2800" b="1" dirty="0"/>
              <a:t>다시 도전할 힘</a:t>
            </a:r>
            <a:r>
              <a:rPr lang="ko-KR" altLang="en-US" sz="2800" dirty="0"/>
              <a:t>을 얻습니다</a:t>
            </a:r>
            <a:r>
              <a:rPr lang="en-US" altLang="ko-KR" sz="2800" dirty="0"/>
              <a:t>.</a:t>
            </a:r>
          </a:p>
          <a:p>
            <a:r>
              <a:rPr lang="en-US" altLang="ko-KR" sz="2800" dirty="0"/>
              <a:t>‘</a:t>
            </a:r>
            <a:r>
              <a:rPr lang="ko-KR" altLang="en-US" sz="2800" dirty="0"/>
              <a:t>노력한 것이 참 </a:t>
            </a:r>
            <a:r>
              <a:rPr lang="ko-KR" altLang="en-US" sz="2800" dirty="0" err="1"/>
              <a:t>좋았어</a:t>
            </a:r>
            <a:r>
              <a:rPr lang="en-US" altLang="ko-KR" sz="2800" dirty="0"/>
              <a:t>.’</a:t>
            </a:r>
            <a:br>
              <a:rPr lang="en-US" altLang="ko-KR" sz="2800" dirty="0"/>
            </a:br>
            <a:r>
              <a:rPr lang="en-US" altLang="ko-KR" sz="2800" dirty="0"/>
              <a:t>→ </a:t>
            </a:r>
            <a:r>
              <a:rPr lang="ko-KR" altLang="en-US" sz="2800" dirty="0"/>
              <a:t>결과만 잘해야 사랑받는 것이 아니라</a:t>
            </a:r>
            <a:r>
              <a:rPr lang="en-US" altLang="ko-KR" sz="2800" dirty="0"/>
              <a:t>, </a:t>
            </a:r>
            <a:r>
              <a:rPr lang="ko-KR" altLang="en-US" sz="2800" b="1" dirty="0"/>
              <a:t>내가 노력한 과정도 </a:t>
            </a:r>
            <a:r>
              <a:rPr lang="ko-KR" altLang="en-US" sz="2800" b="1" dirty="0" err="1"/>
              <a:t>인정받는구나</a:t>
            </a:r>
            <a:r>
              <a:rPr lang="ko-KR" altLang="en-US" sz="2800" dirty="0" err="1"/>
              <a:t>라고</a:t>
            </a:r>
            <a:r>
              <a:rPr lang="ko-KR" altLang="en-US" sz="2800" dirty="0"/>
              <a:t> 배웁니다</a:t>
            </a:r>
            <a:r>
              <a:rPr lang="en-US" altLang="ko-KR" sz="2800" dirty="0"/>
              <a:t>.</a:t>
            </a:r>
          </a:p>
          <a:p>
            <a:r>
              <a:rPr lang="en-US" altLang="ko-KR" sz="2800" dirty="0"/>
              <a:t>‘</a:t>
            </a:r>
            <a:r>
              <a:rPr lang="ko-KR" altLang="en-US" sz="2800" dirty="0"/>
              <a:t>엄마</a:t>
            </a:r>
            <a:r>
              <a:rPr lang="en-US" altLang="ko-KR" sz="2800" dirty="0"/>
              <a:t>, </a:t>
            </a:r>
            <a:r>
              <a:rPr lang="ko-KR" altLang="en-US" sz="2800" dirty="0"/>
              <a:t>아빠는 언제나 네 편이야</a:t>
            </a:r>
            <a:r>
              <a:rPr lang="en-US" altLang="ko-KR" sz="2800" dirty="0"/>
              <a:t>.’</a:t>
            </a:r>
            <a:br>
              <a:rPr lang="en-US" altLang="ko-KR" sz="2800" dirty="0"/>
            </a:br>
            <a:r>
              <a:rPr lang="en-US" altLang="ko-KR" sz="2800" dirty="0"/>
              <a:t>→ </a:t>
            </a:r>
            <a:r>
              <a:rPr lang="ko-KR" altLang="en-US" sz="2800" dirty="0"/>
              <a:t>아이에게 </a:t>
            </a:r>
            <a:r>
              <a:rPr lang="ko-KR" altLang="en-US" sz="2800" b="1" dirty="0"/>
              <a:t>안전하고 든든한 마음</a:t>
            </a:r>
            <a:r>
              <a:rPr lang="ko-KR" altLang="en-US" sz="2800" dirty="0"/>
              <a:t>을 만들어 줍니다</a:t>
            </a:r>
            <a:r>
              <a:rPr lang="en-US" altLang="ko-KR" sz="2800" dirty="0"/>
              <a:t>.</a:t>
            </a:r>
          </a:p>
          <a:p>
            <a:r>
              <a:rPr lang="ko-KR" altLang="en-US" sz="2800" dirty="0"/>
              <a:t>중요한 것은 아이를 무조건 칭찬하는 것이 아닙니다</a:t>
            </a:r>
            <a:r>
              <a:rPr lang="en-US" altLang="ko-KR" sz="2800" dirty="0"/>
              <a:t>.</a:t>
            </a:r>
            <a:br>
              <a:rPr lang="en-US" altLang="ko-KR" sz="2800" dirty="0"/>
            </a:br>
            <a:r>
              <a:rPr lang="ko-KR" altLang="en-US" sz="2800" b="1" dirty="0"/>
              <a:t>아이의 존재를 소중히 여기고</a:t>
            </a:r>
            <a:r>
              <a:rPr lang="en-US" altLang="ko-KR" sz="2800" b="1" dirty="0"/>
              <a:t>, </a:t>
            </a:r>
            <a:r>
              <a:rPr lang="ko-KR" altLang="en-US" sz="2800" b="1" dirty="0"/>
              <a:t>이야기를 들어주고</a:t>
            </a:r>
            <a:r>
              <a:rPr lang="en-US" altLang="ko-KR" sz="2800" b="1" dirty="0"/>
              <a:t>, </a:t>
            </a:r>
            <a:r>
              <a:rPr lang="ko-KR" altLang="en-US" sz="2800" b="1" dirty="0"/>
              <a:t>실수와 노력까지 받아주는 것</a:t>
            </a:r>
            <a:r>
              <a:rPr lang="en-US" altLang="ko-KR" sz="2800" dirty="0"/>
              <a:t>, </a:t>
            </a:r>
            <a:r>
              <a:rPr lang="ko-KR" altLang="en-US" sz="2800" dirty="0"/>
              <a:t>이것이 아이의 자아존중감을 키우는 부모의 말입니다</a:t>
            </a:r>
            <a:r>
              <a:rPr lang="en-US" altLang="ko-KR" sz="2800" dirty="0"/>
              <a:t>.”</a:t>
            </a:r>
          </a:p>
          <a:p>
            <a:r>
              <a:rPr lang="ko-KR" altLang="en-US" sz="2800" dirty="0"/>
              <a:t>마지막에는 부모님들과 함께 </a:t>
            </a:r>
            <a:r>
              <a:rPr lang="ko-KR" altLang="en-US" sz="2800" b="1" dirty="0"/>
              <a:t>“오늘부터 이 다섯 가지 중 한 가지 말이라도 하루에 한 번 아이에게 해봅시다</a:t>
            </a:r>
            <a:r>
              <a:rPr lang="en-US" altLang="ko-KR" sz="2800" b="1" dirty="0"/>
              <a:t>.”</a:t>
            </a:r>
            <a:r>
              <a:rPr lang="ko-KR" altLang="en-US" sz="2800" dirty="0"/>
              <a:t>라고 마무리하면 행동 실천으로 연결하기 좋습니다</a:t>
            </a:r>
            <a:r>
              <a:rPr lang="en-US" altLang="ko-KR" sz="2800" dirty="0"/>
              <a:t>.</a:t>
            </a:r>
          </a:p>
          <a:p>
            <a:endParaRPr lang="ko-KR" altLang="en-US" dirty="0"/>
          </a:p>
        </p:txBody>
      </p:sp>
    </p:spTree>
    <p:extLst>
      <p:ext uri="{BB962C8B-B14F-4D97-AF65-F5344CB8AC3E}">
        <p14:creationId xmlns:p14="http://schemas.microsoft.com/office/powerpoint/2010/main" val="6835413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924175" y="849313"/>
            <a:ext cx="4078288" cy="2293937"/>
          </a:xfrm>
          <a:prstGeom prst="rect">
            <a:avLst/>
          </a:prstGeom>
          <a:noFill/>
          <a:ln w="12700">
            <a:solidFill>
              <a:prstClr val="black"/>
            </a:solidFill>
          </a:ln>
        </p:spPr>
      </p:sp>
      <p:sp>
        <p:nvSpPr>
          <p:cNvPr id="3" name="슬라이드 노트 개체 틀 2"/>
          <p:cNvSpPr>
            <a:spLocks noGrp="1"/>
          </p:cNvSpPr>
          <p:nvPr>
            <p:ph type="body" idx="1"/>
          </p:nvPr>
        </p:nvSpPr>
        <p:spPr>
          <a:xfrm>
            <a:off x="992188" y="3271838"/>
            <a:ext cx="7942262" cy="2676525"/>
          </a:xfrm>
          <a:prstGeom prst="rect">
            <a:avLst/>
          </a:prstGeom>
        </p:spPr>
        <p:txBody>
          <a:bodyPr/>
          <a:lstStyle/>
          <a:p>
            <a:r>
              <a:rPr lang="ko-KR" altLang="en-US" dirty="0"/>
              <a:t>“두 번째는 </a:t>
            </a:r>
            <a:r>
              <a:rPr lang="ko-KR" altLang="en-US" dirty="0" err="1"/>
              <a:t>사티어의</a:t>
            </a:r>
            <a:r>
              <a:rPr lang="ko-KR" altLang="en-US" dirty="0"/>
              <a:t> </a:t>
            </a:r>
            <a:r>
              <a:rPr lang="ko-KR" altLang="en-US" b="1" dirty="0" err="1"/>
              <a:t>빙산모델</a:t>
            </a:r>
            <a:r>
              <a:rPr lang="ko-KR" altLang="en-US" dirty="0" err="1"/>
              <a:t>입니다</a:t>
            </a:r>
            <a:r>
              <a:rPr lang="en-US" altLang="ko-KR" dirty="0"/>
              <a:t>.</a:t>
            </a:r>
          </a:p>
          <a:p>
            <a:r>
              <a:rPr lang="ko-KR" altLang="en-US" dirty="0"/>
              <a:t>빙산을 생각해 보세요</a:t>
            </a:r>
            <a:r>
              <a:rPr lang="en-US" altLang="ko-KR" dirty="0"/>
              <a:t>. </a:t>
            </a:r>
            <a:r>
              <a:rPr lang="ko-KR" altLang="en-US" dirty="0"/>
              <a:t>우리가 눈으로 볼 수 있는 것은 물 위에 나온 </a:t>
            </a:r>
            <a:r>
              <a:rPr lang="ko-KR" altLang="en-US" b="1" dirty="0"/>
              <a:t>아주 작은 부분</a:t>
            </a:r>
            <a:r>
              <a:rPr lang="ko-KR" altLang="en-US" dirty="0"/>
              <a:t>입니다</a:t>
            </a:r>
            <a:r>
              <a:rPr lang="en-US" altLang="ko-KR" dirty="0"/>
              <a:t>. </a:t>
            </a:r>
            <a:r>
              <a:rPr lang="ko-KR" altLang="en-US" dirty="0"/>
              <a:t>하지만 물속에는 훨씬 더 큰 부분이 숨어 있습니다</a:t>
            </a:r>
            <a:r>
              <a:rPr lang="en-US" altLang="ko-KR" dirty="0"/>
              <a:t>.</a:t>
            </a:r>
          </a:p>
          <a:p>
            <a:r>
              <a:rPr lang="ko-KR" altLang="en-US" dirty="0" err="1"/>
              <a:t>사티어는</a:t>
            </a:r>
            <a:r>
              <a:rPr lang="ko-KR" altLang="en-US" dirty="0"/>
              <a:t> </a:t>
            </a:r>
            <a:r>
              <a:rPr lang="ko-KR" altLang="en-US" b="1" dirty="0"/>
              <a:t>사람도 이 빙산과 같다고 보았습니다</a:t>
            </a:r>
            <a:r>
              <a:rPr lang="en-US" altLang="ko-KR" b="1" dirty="0"/>
              <a:t>.</a:t>
            </a:r>
            <a:endParaRPr lang="ko-KR" altLang="en-US" dirty="0"/>
          </a:p>
          <a:p>
            <a:endParaRPr lang="ko-KR" altLang="en-US" dirty="0"/>
          </a:p>
        </p:txBody>
      </p:sp>
    </p:spTree>
    <p:extLst>
      <p:ext uri="{BB962C8B-B14F-4D97-AF65-F5344CB8AC3E}">
        <p14:creationId xmlns:p14="http://schemas.microsoft.com/office/powerpoint/2010/main" val="18888933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924175" y="849313"/>
            <a:ext cx="4078288" cy="2293937"/>
          </a:xfrm>
          <a:prstGeom prst="rect">
            <a:avLst/>
          </a:prstGeom>
          <a:noFill/>
          <a:ln w="12700">
            <a:solidFill>
              <a:prstClr val="black"/>
            </a:solidFill>
          </a:ln>
        </p:spPr>
      </p:sp>
      <p:sp>
        <p:nvSpPr>
          <p:cNvPr id="3" name="슬라이드 노트 개체 틀 2"/>
          <p:cNvSpPr>
            <a:spLocks noGrp="1"/>
          </p:cNvSpPr>
          <p:nvPr>
            <p:ph type="body" idx="1"/>
          </p:nvPr>
        </p:nvSpPr>
        <p:spPr>
          <a:xfrm>
            <a:off x="992188" y="3271838"/>
            <a:ext cx="7942262" cy="2676525"/>
          </a:xfrm>
          <a:prstGeom prst="rect">
            <a:avLst/>
          </a:prstGeom>
        </p:spPr>
        <p:txBody>
          <a:bodyPr/>
          <a:lstStyle/>
          <a:p>
            <a:r>
              <a:rPr lang="ko-KR" altLang="en-US" dirty="0"/>
              <a:t>“</a:t>
            </a:r>
            <a:r>
              <a:rPr lang="ko-KR" altLang="en-US" dirty="0" err="1"/>
              <a:t>사티어는</a:t>
            </a:r>
            <a:r>
              <a:rPr lang="ko-KR" altLang="en-US" dirty="0"/>
              <a:t> </a:t>
            </a:r>
            <a:r>
              <a:rPr lang="ko-KR" altLang="en-US" b="1" dirty="0"/>
              <a:t>사람의 마음을 빙산에 비유</a:t>
            </a:r>
            <a:r>
              <a:rPr lang="ko-KR" altLang="en-US" dirty="0"/>
              <a:t>했습니다</a:t>
            </a:r>
            <a:r>
              <a:rPr lang="en-US" altLang="ko-KR" dirty="0"/>
              <a:t>.</a:t>
            </a:r>
          </a:p>
          <a:p>
            <a:r>
              <a:rPr lang="ko-KR" altLang="en-US" dirty="0"/>
              <a:t>우리가 아이를 볼 때 가장 먼저 보이는 것은 </a:t>
            </a:r>
            <a:r>
              <a:rPr lang="ko-KR" altLang="en-US" b="1" dirty="0"/>
              <a:t>행동과 말</a:t>
            </a:r>
            <a:r>
              <a:rPr lang="ko-KR" altLang="en-US" dirty="0"/>
              <a:t>입니다</a:t>
            </a:r>
            <a:r>
              <a:rPr lang="en-US" altLang="ko-KR" dirty="0"/>
              <a:t>.</a:t>
            </a:r>
            <a:br>
              <a:rPr lang="en-US" altLang="ko-KR" dirty="0"/>
            </a:br>
            <a:r>
              <a:rPr lang="ko-KR" altLang="en-US" dirty="0"/>
              <a:t>예를 들어 아이가 화를 내거나</a:t>
            </a:r>
            <a:r>
              <a:rPr lang="en-US" altLang="ko-KR" dirty="0"/>
              <a:t>, </a:t>
            </a:r>
            <a:r>
              <a:rPr lang="ko-KR" altLang="en-US" dirty="0"/>
              <a:t>짜증을 내거나</a:t>
            </a:r>
            <a:r>
              <a:rPr lang="en-US" altLang="ko-KR" dirty="0"/>
              <a:t>, </a:t>
            </a:r>
            <a:r>
              <a:rPr lang="ko-KR" altLang="en-US" dirty="0"/>
              <a:t>말을 듣지 않을 수 있습니다</a:t>
            </a:r>
            <a:r>
              <a:rPr lang="en-US" altLang="ko-KR" dirty="0"/>
              <a:t>.</a:t>
            </a:r>
          </a:p>
          <a:p>
            <a:r>
              <a:rPr lang="ko-KR" altLang="en-US" dirty="0"/>
              <a:t>그런데 </a:t>
            </a:r>
            <a:r>
              <a:rPr lang="ko-KR" altLang="en-US" dirty="0" err="1"/>
              <a:t>사티어는</a:t>
            </a:r>
            <a:r>
              <a:rPr lang="ko-KR" altLang="en-US" dirty="0"/>
              <a:t> </a:t>
            </a:r>
            <a:r>
              <a:rPr lang="ko-KR" altLang="en-US" b="1" dirty="0"/>
              <a:t>‘보이는 행동만 보지 말고</a:t>
            </a:r>
            <a:r>
              <a:rPr lang="en-US" altLang="ko-KR" b="1" dirty="0"/>
              <a:t>, </a:t>
            </a:r>
            <a:r>
              <a:rPr lang="ko-KR" altLang="en-US" b="1" dirty="0"/>
              <a:t>그 아래를 보세요</a:t>
            </a:r>
            <a:r>
              <a:rPr lang="en-US" altLang="ko-KR" b="1" dirty="0"/>
              <a:t>.’</a:t>
            </a:r>
            <a:r>
              <a:rPr lang="ko-KR" altLang="en-US" dirty="0"/>
              <a:t>라고 이야기합니다</a:t>
            </a:r>
            <a:r>
              <a:rPr lang="en-US" altLang="ko-KR" dirty="0"/>
              <a:t>.</a:t>
            </a:r>
          </a:p>
          <a:p>
            <a:r>
              <a:rPr lang="ko-KR" altLang="en-US" dirty="0"/>
              <a:t>아이의 행동 아래에는 여러 마음이 숨어 있습니다</a:t>
            </a:r>
            <a:r>
              <a:rPr lang="en-US" altLang="ko-KR" dirty="0"/>
              <a:t>.</a:t>
            </a:r>
            <a:br>
              <a:rPr lang="en-US" altLang="ko-KR" dirty="0"/>
            </a:br>
            <a:r>
              <a:rPr lang="ko-KR" altLang="en-US" b="1" dirty="0"/>
              <a:t>‘속상해’</a:t>
            </a:r>
            <a:r>
              <a:rPr lang="en-US" altLang="ko-KR" b="1" dirty="0"/>
              <a:t>, ‘</a:t>
            </a:r>
            <a:r>
              <a:rPr lang="ko-KR" altLang="en-US" b="1" dirty="0"/>
              <a:t>무서워’ 같은 감정</a:t>
            </a:r>
            <a:r>
              <a:rPr lang="ko-KR" altLang="en-US" dirty="0"/>
              <a:t>이 있고</a:t>
            </a:r>
            <a:r>
              <a:rPr lang="en-US" altLang="ko-KR" dirty="0"/>
              <a:t>,</a:t>
            </a:r>
            <a:br>
              <a:rPr lang="en-US" altLang="ko-KR" dirty="0"/>
            </a:br>
            <a:r>
              <a:rPr lang="ko-KR" altLang="en-US" b="1" dirty="0"/>
              <a:t>‘엄마가 내 마음을 알아줬으면 </a:t>
            </a:r>
            <a:r>
              <a:rPr lang="ko-KR" altLang="en-US" b="1" dirty="0" err="1"/>
              <a:t>좋겠어’라는</a:t>
            </a:r>
            <a:r>
              <a:rPr lang="ko-KR" altLang="en-US" b="1" dirty="0"/>
              <a:t> 기대</a:t>
            </a:r>
            <a:r>
              <a:rPr lang="en-US" altLang="ko-KR" dirty="0"/>
              <a:t>,</a:t>
            </a:r>
            <a:br>
              <a:rPr lang="en-US" altLang="ko-KR" dirty="0"/>
            </a:br>
            <a:r>
              <a:rPr lang="ko-KR" altLang="en-US" dirty="0"/>
              <a:t>더 깊은 곳에는 </a:t>
            </a:r>
            <a:r>
              <a:rPr lang="ko-KR" altLang="en-US" b="1" dirty="0"/>
              <a:t>‘사랑받고 싶어’</a:t>
            </a:r>
            <a:r>
              <a:rPr lang="en-US" altLang="ko-KR" b="1" dirty="0"/>
              <a:t>, ‘</a:t>
            </a:r>
            <a:r>
              <a:rPr lang="ko-KR" altLang="en-US" b="1" dirty="0"/>
              <a:t>인정받고 싶어’</a:t>
            </a:r>
            <a:r>
              <a:rPr lang="en-US" altLang="ko-KR" b="1" dirty="0"/>
              <a:t>, ‘</a:t>
            </a:r>
            <a:r>
              <a:rPr lang="ko-KR" altLang="en-US" b="1" dirty="0"/>
              <a:t>안전하고 </a:t>
            </a:r>
            <a:r>
              <a:rPr lang="ko-KR" altLang="en-US" b="1" dirty="0" err="1"/>
              <a:t>싶어’라는</a:t>
            </a:r>
            <a:r>
              <a:rPr lang="ko-KR" altLang="en-US" b="1" dirty="0"/>
              <a:t> 욕구</a:t>
            </a:r>
            <a:r>
              <a:rPr lang="ko-KR" altLang="en-US" dirty="0"/>
              <a:t>가 있습니다</a:t>
            </a:r>
            <a:r>
              <a:rPr lang="en-US" altLang="ko-KR" dirty="0"/>
              <a:t>.</a:t>
            </a:r>
          </a:p>
          <a:p>
            <a:r>
              <a:rPr lang="ko-KR" altLang="en-US" dirty="0"/>
              <a:t>그리고 가장 깊은 곳에는 </a:t>
            </a:r>
            <a:r>
              <a:rPr lang="ko-KR" altLang="en-US" b="1" dirty="0"/>
              <a:t>‘나는 어떤 사람인가’</a:t>
            </a:r>
            <a:r>
              <a:rPr lang="en-US" altLang="ko-KR" b="1" dirty="0"/>
              <a:t>, ‘</a:t>
            </a:r>
            <a:r>
              <a:rPr lang="ko-KR" altLang="en-US" b="1" dirty="0"/>
              <a:t>나는 소중한 </a:t>
            </a:r>
            <a:r>
              <a:rPr lang="ko-KR" altLang="en-US" b="1" dirty="0" err="1"/>
              <a:t>사람인가’라는</a:t>
            </a:r>
            <a:r>
              <a:rPr lang="ko-KR" altLang="en-US" b="1" dirty="0"/>
              <a:t> 자기</a:t>
            </a:r>
            <a:r>
              <a:rPr lang="en-US" altLang="ko-KR" b="1" dirty="0"/>
              <a:t>(Self)</a:t>
            </a:r>
            <a:r>
              <a:rPr lang="ko-KR" altLang="en-US" dirty="0"/>
              <a:t>가 있습니다</a:t>
            </a:r>
            <a:r>
              <a:rPr lang="en-US" altLang="ko-KR" dirty="0"/>
              <a:t>.</a:t>
            </a:r>
          </a:p>
          <a:p>
            <a:r>
              <a:rPr lang="ko-KR" altLang="en-US" dirty="0"/>
              <a:t>그래서 아이가 문제 행동을 할 때</a:t>
            </a:r>
            <a:br>
              <a:rPr lang="ko-KR" altLang="en-US" dirty="0"/>
            </a:br>
            <a:r>
              <a:rPr lang="ko-KR" altLang="en-US" b="1" dirty="0"/>
              <a:t>“왜 또 그래</a:t>
            </a:r>
            <a:r>
              <a:rPr lang="en-US" altLang="ko-KR" b="1" dirty="0"/>
              <a:t>?”</a:t>
            </a:r>
            <a:r>
              <a:rPr lang="ko-KR" altLang="en-US" b="1" dirty="0"/>
              <a:t>라고 행동만 보지 말고</a:t>
            </a:r>
            <a:r>
              <a:rPr lang="en-US" altLang="ko-KR" b="1" dirty="0"/>
              <a:t>,</a:t>
            </a:r>
            <a:br>
              <a:rPr lang="en-US" altLang="ko-KR" b="1" dirty="0"/>
            </a:br>
            <a:r>
              <a:rPr lang="en-US" altLang="ko-KR" b="1" dirty="0"/>
              <a:t>“</a:t>
            </a:r>
            <a:r>
              <a:rPr lang="ko-KR" altLang="en-US" b="1" dirty="0"/>
              <a:t>우리 아이의 마음속에는 지금 무엇이 있을까</a:t>
            </a:r>
            <a:r>
              <a:rPr lang="en-US" altLang="ko-KR" b="1" dirty="0"/>
              <a:t>?”</a:t>
            </a:r>
            <a:br>
              <a:rPr lang="ko-KR" altLang="en-US" dirty="0"/>
            </a:br>
            <a:r>
              <a:rPr lang="ko-KR" altLang="en-US" dirty="0"/>
              <a:t>한 번 생각해 보는 것이 중요합니다</a:t>
            </a:r>
            <a:r>
              <a:rPr lang="en-US" altLang="ko-KR" dirty="0"/>
              <a:t>.</a:t>
            </a:r>
          </a:p>
          <a:p>
            <a:r>
              <a:rPr lang="ko-KR" altLang="en-US" b="1" dirty="0"/>
              <a:t>행동을 바꾸기 전에 마음을 이해하는 것</a:t>
            </a:r>
            <a:r>
              <a:rPr lang="en-US" altLang="ko-KR" b="1" dirty="0"/>
              <a:t>, </a:t>
            </a:r>
            <a:r>
              <a:rPr lang="ko-KR" altLang="en-US" b="1" dirty="0"/>
              <a:t>이것이 </a:t>
            </a:r>
            <a:r>
              <a:rPr lang="ko-KR" altLang="en-US" b="1" dirty="0" err="1"/>
              <a:t>사티어</a:t>
            </a:r>
            <a:r>
              <a:rPr lang="ko-KR" altLang="en-US" b="1" dirty="0"/>
              <a:t> 빙산모델의 핵심입니다</a:t>
            </a:r>
            <a:r>
              <a:rPr lang="en-US" altLang="ko-KR" b="1" dirty="0"/>
              <a:t>.</a:t>
            </a:r>
            <a:r>
              <a:rPr lang="ko-KR" altLang="en-US" dirty="0"/>
              <a:t>”</a:t>
            </a:r>
          </a:p>
          <a:p>
            <a:endParaRPr lang="ko-KR" altLang="en-US" b="1" dirty="0"/>
          </a:p>
        </p:txBody>
      </p:sp>
    </p:spTree>
    <p:extLst>
      <p:ext uri="{BB962C8B-B14F-4D97-AF65-F5344CB8AC3E}">
        <p14:creationId xmlns:p14="http://schemas.microsoft.com/office/powerpoint/2010/main" val="19527836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924175" y="849313"/>
            <a:ext cx="4078288" cy="2293937"/>
          </a:xfrm>
          <a:prstGeom prst="rect">
            <a:avLst/>
          </a:prstGeom>
          <a:noFill/>
          <a:ln w="12700">
            <a:solidFill>
              <a:prstClr val="black"/>
            </a:solidFill>
          </a:ln>
        </p:spPr>
      </p:sp>
      <p:sp>
        <p:nvSpPr>
          <p:cNvPr id="3" name="슬라이드 노트 개체 틀 2"/>
          <p:cNvSpPr>
            <a:spLocks noGrp="1"/>
          </p:cNvSpPr>
          <p:nvPr>
            <p:ph type="body" idx="1"/>
          </p:nvPr>
        </p:nvSpPr>
        <p:spPr>
          <a:xfrm>
            <a:off x="992188" y="3271838"/>
            <a:ext cx="7942262" cy="2676525"/>
          </a:xfrm>
          <a:prstGeom prst="rect">
            <a:avLst/>
          </a:prstGeom>
        </p:spPr>
        <p:txBody>
          <a:bodyPr/>
          <a:lstStyle/>
          <a:p>
            <a:r>
              <a:rPr lang="ko-KR" altLang="en-US" dirty="0"/>
              <a:t>“</a:t>
            </a:r>
            <a:r>
              <a:rPr lang="ko-KR" altLang="en-US" dirty="0" err="1"/>
              <a:t>사티어는</a:t>
            </a:r>
            <a:r>
              <a:rPr lang="ko-KR" altLang="en-US" dirty="0"/>
              <a:t> </a:t>
            </a:r>
            <a:r>
              <a:rPr lang="ko-KR" altLang="en-US" b="1" dirty="0"/>
              <a:t>사람의 마음을 빙산에 비유</a:t>
            </a:r>
            <a:r>
              <a:rPr lang="ko-KR" altLang="en-US" dirty="0"/>
              <a:t>했습니다</a:t>
            </a:r>
            <a:r>
              <a:rPr lang="en-US" altLang="ko-KR" dirty="0"/>
              <a:t>.</a:t>
            </a:r>
          </a:p>
          <a:p>
            <a:r>
              <a:rPr lang="ko-KR" altLang="en-US" dirty="0"/>
              <a:t>우리가 아이를 볼 때 가장 먼저 보이는 것은 </a:t>
            </a:r>
            <a:r>
              <a:rPr lang="ko-KR" altLang="en-US" b="1" dirty="0"/>
              <a:t>행동과 말</a:t>
            </a:r>
            <a:r>
              <a:rPr lang="ko-KR" altLang="en-US" dirty="0"/>
              <a:t>입니다</a:t>
            </a:r>
            <a:r>
              <a:rPr lang="en-US" altLang="ko-KR" dirty="0"/>
              <a:t>.</a:t>
            </a:r>
            <a:br>
              <a:rPr lang="en-US" altLang="ko-KR" dirty="0"/>
            </a:br>
            <a:r>
              <a:rPr lang="ko-KR" altLang="en-US" dirty="0"/>
              <a:t>예를 들어 아이가 화를 내거나</a:t>
            </a:r>
            <a:r>
              <a:rPr lang="en-US" altLang="ko-KR" dirty="0"/>
              <a:t>, </a:t>
            </a:r>
            <a:r>
              <a:rPr lang="ko-KR" altLang="en-US" dirty="0"/>
              <a:t>짜증을 내거나</a:t>
            </a:r>
            <a:r>
              <a:rPr lang="en-US" altLang="ko-KR" dirty="0"/>
              <a:t>, </a:t>
            </a:r>
            <a:r>
              <a:rPr lang="ko-KR" altLang="en-US" dirty="0"/>
              <a:t>말을 듣지 않을 수 있습니다</a:t>
            </a:r>
            <a:r>
              <a:rPr lang="en-US" altLang="ko-KR" dirty="0"/>
              <a:t>.</a:t>
            </a:r>
          </a:p>
          <a:p>
            <a:r>
              <a:rPr lang="ko-KR" altLang="en-US" dirty="0"/>
              <a:t>그런데 </a:t>
            </a:r>
            <a:r>
              <a:rPr lang="ko-KR" altLang="en-US" dirty="0" err="1"/>
              <a:t>사티어는</a:t>
            </a:r>
            <a:r>
              <a:rPr lang="ko-KR" altLang="en-US" dirty="0"/>
              <a:t> </a:t>
            </a:r>
            <a:r>
              <a:rPr lang="ko-KR" altLang="en-US" b="1" dirty="0"/>
              <a:t>‘보이는 행동만 보지 말고</a:t>
            </a:r>
            <a:r>
              <a:rPr lang="en-US" altLang="ko-KR" b="1" dirty="0"/>
              <a:t>, </a:t>
            </a:r>
            <a:r>
              <a:rPr lang="ko-KR" altLang="en-US" b="1" dirty="0"/>
              <a:t>그 아래를 보세요</a:t>
            </a:r>
            <a:r>
              <a:rPr lang="en-US" altLang="ko-KR" b="1" dirty="0"/>
              <a:t>.’</a:t>
            </a:r>
            <a:r>
              <a:rPr lang="ko-KR" altLang="en-US" dirty="0"/>
              <a:t>라고 이야기합니다</a:t>
            </a:r>
            <a:r>
              <a:rPr lang="en-US" altLang="ko-KR" dirty="0"/>
              <a:t>.</a:t>
            </a:r>
          </a:p>
          <a:p>
            <a:r>
              <a:rPr lang="ko-KR" altLang="en-US" dirty="0"/>
              <a:t>아이의 행동 아래에는 여러 마음이 숨어 있습니다</a:t>
            </a:r>
            <a:r>
              <a:rPr lang="en-US" altLang="ko-KR" dirty="0"/>
              <a:t>.</a:t>
            </a:r>
            <a:br>
              <a:rPr lang="en-US" altLang="ko-KR" dirty="0"/>
            </a:br>
            <a:r>
              <a:rPr lang="ko-KR" altLang="en-US" b="1" dirty="0"/>
              <a:t>‘속상해’</a:t>
            </a:r>
            <a:r>
              <a:rPr lang="en-US" altLang="ko-KR" b="1" dirty="0"/>
              <a:t>, ‘</a:t>
            </a:r>
            <a:r>
              <a:rPr lang="ko-KR" altLang="en-US" b="1" dirty="0"/>
              <a:t>무서워’ 같은 감정</a:t>
            </a:r>
            <a:r>
              <a:rPr lang="ko-KR" altLang="en-US" dirty="0"/>
              <a:t>이 있고</a:t>
            </a:r>
            <a:r>
              <a:rPr lang="en-US" altLang="ko-KR" dirty="0"/>
              <a:t>,</a:t>
            </a:r>
            <a:br>
              <a:rPr lang="en-US" altLang="ko-KR" dirty="0"/>
            </a:br>
            <a:r>
              <a:rPr lang="ko-KR" altLang="en-US" b="1" dirty="0"/>
              <a:t>‘엄마가 내 마음을 알아줬으면 </a:t>
            </a:r>
            <a:r>
              <a:rPr lang="ko-KR" altLang="en-US" b="1" dirty="0" err="1"/>
              <a:t>좋겠어’라는</a:t>
            </a:r>
            <a:r>
              <a:rPr lang="ko-KR" altLang="en-US" b="1" dirty="0"/>
              <a:t> 기대</a:t>
            </a:r>
            <a:r>
              <a:rPr lang="en-US" altLang="ko-KR" dirty="0"/>
              <a:t>,</a:t>
            </a:r>
            <a:br>
              <a:rPr lang="en-US" altLang="ko-KR" dirty="0"/>
            </a:br>
            <a:r>
              <a:rPr lang="ko-KR" altLang="en-US" dirty="0"/>
              <a:t>더 깊은 곳에는 </a:t>
            </a:r>
            <a:r>
              <a:rPr lang="ko-KR" altLang="en-US" b="1" dirty="0"/>
              <a:t>‘사랑받고 싶어’</a:t>
            </a:r>
            <a:r>
              <a:rPr lang="en-US" altLang="ko-KR" b="1" dirty="0"/>
              <a:t>, ‘</a:t>
            </a:r>
            <a:r>
              <a:rPr lang="ko-KR" altLang="en-US" b="1" dirty="0"/>
              <a:t>인정받고 싶어’</a:t>
            </a:r>
            <a:r>
              <a:rPr lang="en-US" altLang="ko-KR" b="1" dirty="0"/>
              <a:t>, ‘</a:t>
            </a:r>
            <a:r>
              <a:rPr lang="ko-KR" altLang="en-US" b="1" dirty="0"/>
              <a:t>안전하고 </a:t>
            </a:r>
            <a:r>
              <a:rPr lang="ko-KR" altLang="en-US" b="1" dirty="0" err="1"/>
              <a:t>싶어’라는</a:t>
            </a:r>
            <a:r>
              <a:rPr lang="ko-KR" altLang="en-US" b="1" dirty="0"/>
              <a:t> 욕구</a:t>
            </a:r>
            <a:r>
              <a:rPr lang="ko-KR" altLang="en-US" dirty="0"/>
              <a:t>가 있습니다</a:t>
            </a:r>
            <a:r>
              <a:rPr lang="en-US" altLang="ko-KR" dirty="0"/>
              <a:t>.</a:t>
            </a:r>
          </a:p>
          <a:p>
            <a:r>
              <a:rPr lang="ko-KR" altLang="en-US" dirty="0"/>
              <a:t>그리고 가장 깊은 곳에는 </a:t>
            </a:r>
            <a:r>
              <a:rPr lang="ko-KR" altLang="en-US" b="1" dirty="0"/>
              <a:t>‘나는 어떤 사람인가’</a:t>
            </a:r>
            <a:r>
              <a:rPr lang="en-US" altLang="ko-KR" b="1" dirty="0"/>
              <a:t>, ‘</a:t>
            </a:r>
            <a:r>
              <a:rPr lang="ko-KR" altLang="en-US" b="1" dirty="0"/>
              <a:t>나는 소중한 </a:t>
            </a:r>
            <a:r>
              <a:rPr lang="ko-KR" altLang="en-US" b="1" dirty="0" err="1"/>
              <a:t>사람인가’라는</a:t>
            </a:r>
            <a:r>
              <a:rPr lang="ko-KR" altLang="en-US" b="1" dirty="0"/>
              <a:t> 자기</a:t>
            </a:r>
            <a:r>
              <a:rPr lang="en-US" altLang="ko-KR" b="1" dirty="0"/>
              <a:t>(Self)</a:t>
            </a:r>
            <a:r>
              <a:rPr lang="ko-KR" altLang="en-US" dirty="0"/>
              <a:t>가 있습니다</a:t>
            </a:r>
            <a:r>
              <a:rPr lang="en-US" altLang="ko-KR" dirty="0"/>
              <a:t>.</a:t>
            </a:r>
          </a:p>
          <a:p>
            <a:r>
              <a:rPr lang="ko-KR" altLang="en-US" dirty="0"/>
              <a:t>그래서 아이가 문제 행동을 할 때</a:t>
            </a:r>
            <a:br>
              <a:rPr lang="ko-KR" altLang="en-US" dirty="0"/>
            </a:br>
            <a:r>
              <a:rPr lang="ko-KR" altLang="en-US" b="1" dirty="0"/>
              <a:t>“왜 또 그래</a:t>
            </a:r>
            <a:r>
              <a:rPr lang="en-US" altLang="ko-KR" b="1" dirty="0"/>
              <a:t>?”</a:t>
            </a:r>
            <a:r>
              <a:rPr lang="ko-KR" altLang="en-US" b="1" dirty="0"/>
              <a:t>라고 행동만 보지 말고</a:t>
            </a:r>
            <a:r>
              <a:rPr lang="en-US" altLang="ko-KR" b="1" dirty="0"/>
              <a:t>,</a:t>
            </a:r>
            <a:br>
              <a:rPr lang="en-US" altLang="ko-KR" b="1" dirty="0"/>
            </a:br>
            <a:r>
              <a:rPr lang="en-US" altLang="ko-KR" b="1" dirty="0"/>
              <a:t>“</a:t>
            </a:r>
            <a:r>
              <a:rPr lang="ko-KR" altLang="en-US" b="1" dirty="0"/>
              <a:t>우리 아이의 마음속에는 지금 무엇이 있을까</a:t>
            </a:r>
            <a:r>
              <a:rPr lang="en-US" altLang="ko-KR" b="1" dirty="0"/>
              <a:t>?”</a:t>
            </a:r>
            <a:br>
              <a:rPr lang="ko-KR" altLang="en-US" dirty="0"/>
            </a:br>
            <a:r>
              <a:rPr lang="ko-KR" altLang="en-US" dirty="0"/>
              <a:t>한 번 생각해 보는 것이 중요합니다</a:t>
            </a:r>
            <a:r>
              <a:rPr lang="en-US" altLang="ko-KR" dirty="0"/>
              <a:t>.</a:t>
            </a:r>
          </a:p>
          <a:p>
            <a:r>
              <a:rPr lang="ko-KR" altLang="en-US" b="1" dirty="0"/>
              <a:t>행동을 바꾸기 전에 마음을 이해하는 것</a:t>
            </a:r>
            <a:r>
              <a:rPr lang="en-US" altLang="ko-KR" b="1" dirty="0"/>
              <a:t>, </a:t>
            </a:r>
            <a:r>
              <a:rPr lang="ko-KR" altLang="en-US" b="1" dirty="0"/>
              <a:t>이것이 </a:t>
            </a:r>
            <a:r>
              <a:rPr lang="ko-KR" altLang="en-US" b="1" dirty="0" err="1"/>
              <a:t>사티어</a:t>
            </a:r>
            <a:r>
              <a:rPr lang="ko-KR" altLang="en-US" b="1" dirty="0"/>
              <a:t> 빙산모델의 핵심입니다</a:t>
            </a:r>
            <a:r>
              <a:rPr lang="en-US" altLang="ko-KR" b="1" dirty="0"/>
              <a:t>.</a:t>
            </a:r>
            <a:r>
              <a:rPr lang="ko-KR" altLang="en-US" dirty="0"/>
              <a:t>”</a:t>
            </a:r>
          </a:p>
          <a:p>
            <a:endParaRPr lang="ko-KR" altLang="en-US" b="1" dirty="0"/>
          </a:p>
        </p:txBody>
      </p:sp>
    </p:spTree>
    <p:extLst>
      <p:ext uri="{BB962C8B-B14F-4D97-AF65-F5344CB8AC3E}">
        <p14:creationId xmlns:p14="http://schemas.microsoft.com/office/powerpoint/2010/main" val="41625625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924175" y="849313"/>
            <a:ext cx="4078288" cy="2293937"/>
          </a:xfrm>
          <a:prstGeom prst="rect">
            <a:avLst/>
          </a:prstGeom>
          <a:noFill/>
          <a:ln w="12700">
            <a:solidFill>
              <a:prstClr val="black"/>
            </a:solidFill>
          </a:ln>
        </p:spPr>
      </p:sp>
      <p:sp>
        <p:nvSpPr>
          <p:cNvPr id="3" name="슬라이드 노트 개체 틀 2"/>
          <p:cNvSpPr>
            <a:spLocks noGrp="1"/>
          </p:cNvSpPr>
          <p:nvPr>
            <p:ph type="body" idx="1"/>
          </p:nvPr>
        </p:nvSpPr>
        <p:spPr>
          <a:xfrm>
            <a:off x="992188" y="3271838"/>
            <a:ext cx="7942262" cy="2676525"/>
          </a:xfrm>
          <a:prstGeom prst="rect">
            <a:avLst/>
          </a:prstGeom>
        </p:spPr>
        <p:txBody>
          <a:bodyPr/>
          <a:lstStyle/>
          <a:p>
            <a:r>
              <a:rPr lang="ko-KR" altLang="en-US" dirty="0"/>
              <a:t>“세 번째는 </a:t>
            </a:r>
            <a:r>
              <a:rPr lang="ko-KR" altLang="en-US" b="1" dirty="0"/>
              <a:t>의사소통</a:t>
            </a:r>
            <a:r>
              <a:rPr lang="en-US" altLang="ko-KR" dirty="0"/>
              <a:t>, </a:t>
            </a:r>
            <a:r>
              <a:rPr lang="ko-KR" altLang="en-US" dirty="0"/>
              <a:t>즉 </a:t>
            </a:r>
            <a:r>
              <a:rPr lang="ko-KR" altLang="en-US" b="1" dirty="0"/>
              <a:t>어떻게 말하고 </a:t>
            </a:r>
            <a:r>
              <a:rPr lang="ko-KR" altLang="en-US" b="1" dirty="0" err="1"/>
              <a:t>듣느냐</a:t>
            </a:r>
            <a:r>
              <a:rPr lang="ko-KR" altLang="en-US" dirty="0" err="1"/>
              <a:t>입니다</a:t>
            </a:r>
            <a:r>
              <a:rPr lang="en-US" altLang="ko-KR" dirty="0"/>
              <a:t>.</a:t>
            </a:r>
          </a:p>
          <a:p>
            <a:r>
              <a:rPr lang="ko-KR" altLang="en-US" dirty="0" err="1"/>
              <a:t>사티어는</a:t>
            </a:r>
            <a:r>
              <a:rPr lang="ko-KR" altLang="en-US" dirty="0"/>
              <a:t> 가족관계에서 </a:t>
            </a:r>
            <a:r>
              <a:rPr lang="ko-KR" altLang="en-US" b="1" dirty="0"/>
              <a:t>무슨 말을 </a:t>
            </a:r>
            <a:r>
              <a:rPr lang="ko-KR" altLang="en-US" b="1" dirty="0" err="1"/>
              <a:t>하느냐만큼</a:t>
            </a:r>
            <a:r>
              <a:rPr lang="ko-KR" altLang="en-US" b="1" dirty="0"/>
              <a:t> 어떻게 말하느냐가 중요하다</a:t>
            </a:r>
            <a:r>
              <a:rPr lang="ko-KR" altLang="en-US" dirty="0"/>
              <a:t>고 보았습니다</a:t>
            </a:r>
            <a:r>
              <a:rPr lang="en-US" altLang="ko-KR" dirty="0"/>
              <a:t>.</a:t>
            </a:r>
          </a:p>
          <a:p>
            <a:endParaRPr lang="ko-KR" altLang="en-US" dirty="0"/>
          </a:p>
        </p:txBody>
      </p:sp>
    </p:spTree>
    <p:extLst>
      <p:ext uri="{BB962C8B-B14F-4D97-AF65-F5344CB8AC3E}">
        <p14:creationId xmlns:p14="http://schemas.microsoft.com/office/powerpoint/2010/main" val="1042865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924175" y="849313"/>
            <a:ext cx="4078288" cy="2293937"/>
          </a:xfrm>
          <a:prstGeom prst="rect">
            <a:avLst/>
          </a:prstGeom>
          <a:noFill/>
          <a:ln w="12700">
            <a:solidFill>
              <a:prstClr val="black"/>
            </a:solidFill>
          </a:ln>
        </p:spPr>
      </p:sp>
      <p:sp>
        <p:nvSpPr>
          <p:cNvPr id="3" name="슬라이드 노트 개체 틀 2"/>
          <p:cNvSpPr>
            <a:spLocks noGrp="1"/>
          </p:cNvSpPr>
          <p:nvPr>
            <p:ph type="body" idx="1"/>
          </p:nvPr>
        </p:nvSpPr>
        <p:spPr>
          <a:xfrm>
            <a:off x="992188" y="3271838"/>
            <a:ext cx="7942262" cy="2676525"/>
          </a:xfrm>
          <a:prstGeom prst="rect">
            <a:avLst/>
          </a:prstGeom>
        </p:spPr>
        <p:txBody>
          <a:bodyPr/>
          <a:lstStyle/>
          <a:p>
            <a:r>
              <a:rPr lang="ko-KR" altLang="en-US" dirty="0" err="1"/>
              <a:t>상감바란</a:t>
            </a:r>
            <a:r>
              <a:rPr lang="ko-KR" altLang="en-US" dirty="0"/>
              <a:t> 단어를 아시나요</a:t>
            </a:r>
            <a:r>
              <a:rPr lang="en-US" altLang="ko-KR" dirty="0"/>
              <a:t>?</a:t>
            </a:r>
          </a:p>
          <a:p>
            <a:endParaRPr lang="ko-KR" altLang="en-US" dirty="0"/>
          </a:p>
        </p:txBody>
      </p:sp>
    </p:spTree>
    <p:extLst>
      <p:ext uri="{BB962C8B-B14F-4D97-AF65-F5344CB8AC3E}">
        <p14:creationId xmlns:p14="http://schemas.microsoft.com/office/powerpoint/2010/main" val="38045849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924175" y="849313"/>
            <a:ext cx="4078288" cy="2293937"/>
          </a:xfrm>
          <a:prstGeom prst="rect">
            <a:avLst/>
          </a:prstGeom>
          <a:noFill/>
          <a:ln w="12700">
            <a:solidFill>
              <a:prstClr val="black"/>
            </a:solidFill>
          </a:ln>
        </p:spPr>
      </p:sp>
      <p:sp>
        <p:nvSpPr>
          <p:cNvPr id="3" name="슬라이드 노트 개체 틀 2"/>
          <p:cNvSpPr>
            <a:spLocks noGrp="1"/>
          </p:cNvSpPr>
          <p:nvPr>
            <p:ph type="body" idx="1"/>
          </p:nvPr>
        </p:nvSpPr>
        <p:spPr>
          <a:xfrm>
            <a:off x="992188" y="3271838"/>
            <a:ext cx="7942262" cy="2676525"/>
          </a:xfrm>
          <a:prstGeom prst="rect">
            <a:avLst/>
          </a:prstGeom>
        </p:spPr>
        <p:txBody>
          <a:bodyPr/>
          <a:lstStyle/>
          <a:p>
            <a:r>
              <a:rPr lang="ko-KR" altLang="en-US" dirty="0"/>
              <a:t>“아이와 대화할 때 </a:t>
            </a:r>
            <a:r>
              <a:rPr lang="ko-KR" altLang="en-US" b="1" dirty="0"/>
              <a:t>세 가지만 생각해 보겠습니다</a:t>
            </a:r>
            <a:r>
              <a:rPr lang="en-US" altLang="ko-KR" b="1" dirty="0"/>
              <a:t>. </a:t>
            </a:r>
            <a:r>
              <a:rPr lang="ko-KR" altLang="en-US" b="1" dirty="0"/>
              <a:t>상황</a:t>
            </a:r>
            <a:r>
              <a:rPr lang="en-US" altLang="ko-KR" b="1" dirty="0"/>
              <a:t>, </a:t>
            </a:r>
            <a:r>
              <a:rPr lang="ko-KR" altLang="en-US" b="1" dirty="0"/>
              <a:t>감정</a:t>
            </a:r>
            <a:r>
              <a:rPr lang="en-US" altLang="ko-KR" b="1" dirty="0"/>
              <a:t>, </a:t>
            </a:r>
            <a:r>
              <a:rPr lang="ko-KR" altLang="en-US" b="1" dirty="0"/>
              <a:t>바람입니다</a:t>
            </a:r>
            <a:r>
              <a:rPr lang="en-US" altLang="ko-KR" b="1" dirty="0"/>
              <a:t>.</a:t>
            </a:r>
            <a:endParaRPr lang="ko-KR" altLang="en-US" dirty="0"/>
          </a:p>
          <a:p>
            <a:r>
              <a:rPr lang="ko-KR" altLang="en-US" dirty="0"/>
              <a:t>먼저 </a:t>
            </a:r>
            <a:r>
              <a:rPr lang="ko-KR" altLang="en-US" b="1" dirty="0"/>
              <a:t>상황</a:t>
            </a:r>
            <a:r>
              <a:rPr lang="ko-KR" altLang="en-US" dirty="0"/>
              <a:t>은 ‘무슨 일이 있었나요</a:t>
            </a:r>
            <a:r>
              <a:rPr lang="en-US" altLang="ko-KR" dirty="0"/>
              <a:t>?’</a:t>
            </a:r>
            <a:r>
              <a:rPr lang="ko-KR" altLang="en-US" dirty="0"/>
              <a:t>입니다</a:t>
            </a:r>
            <a:r>
              <a:rPr lang="en-US" altLang="ko-KR" dirty="0"/>
              <a:t>.</a:t>
            </a:r>
            <a:br>
              <a:rPr lang="en-US" altLang="ko-KR" dirty="0"/>
            </a:br>
            <a:r>
              <a:rPr lang="ko-KR" altLang="en-US" dirty="0"/>
              <a:t>예를 들어 </a:t>
            </a:r>
            <a:r>
              <a:rPr lang="ko-KR" altLang="en-US" b="1" dirty="0"/>
              <a:t>‘장난감이 망가졌어요</a:t>
            </a:r>
            <a:r>
              <a:rPr lang="en-US" altLang="ko-KR" b="1" dirty="0"/>
              <a:t>.’</a:t>
            </a:r>
            <a:r>
              <a:rPr lang="ko-KR" altLang="en-US" dirty="0"/>
              <a:t> 이것은 실제로 일어난 일입니다</a:t>
            </a:r>
            <a:r>
              <a:rPr lang="en-US" altLang="ko-KR" dirty="0"/>
              <a:t>.</a:t>
            </a:r>
          </a:p>
          <a:p>
            <a:r>
              <a:rPr lang="ko-KR" altLang="en-US" dirty="0"/>
              <a:t>두 번째 </a:t>
            </a:r>
            <a:r>
              <a:rPr lang="ko-KR" altLang="en-US" b="1" dirty="0"/>
              <a:t>감정</a:t>
            </a:r>
            <a:r>
              <a:rPr lang="ko-KR" altLang="en-US" dirty="0"/>
              <a:t>은 ‘그래서 어떤 마음이 들었나요</a:t>
            </a:r>
            <a:r>
              <a:rPr lang="en-US" altLang="ko-KR" dirty="0"/>
              <a:t>?’</a:t>
            </a:r>
            <a:r>
              <a:rPr lang="ko-KR" altLang="en-US" dirty="0"/>
              <a:t>입니다</a:t>
            </a:r>
            <a:r>
              <a:rPr lang="en-US" altLang="ko-KR" dirty="0"/>
              <a:t>.</a:t>
            </a:r>
            <a:br>
              <a:rPr lang="en-US" altLang="ko-KR" dirty="0"/>
            </a:br>
            <a:r>
              <a:rPr lang="ko-KR" altLang="en-US" b="1" dirty="0"/>
              <a:t>‘속상해요</a:t>
            </a:r>
            <a:r>
              <a:rPr lang="en-US" altLang="ko-KR" b="1" dirty="0"/>
              <a:t>.’ ‘</a:t>
            </a:r>
            <a:r>
              <a:rPr lang="ko-KR" altLang="en-US" b="1" dirty="0"/>
              <a:t>화가 나요</a:t>
            </a:r>
            <a:r>
              <a:rPr lang="en-US" altLang="ko-KR" b="1" dirty="0"/>
              <a:t>.’ ‘</a:t>
            </a:r>
            <a:r>
              <a:rPr lang="ko-KR" altLang="en-US" b="1" dirty="0"/>
              <a:t>슬퍼요</a:t>
            </a:r>
            <a:r>
              <a:rPr lang="en-US" altLang="ko-KR" b="1" dirty="0"/>
              <a:t>.’</a:t>
            </a:r>
            <a:r>
              <a:rPr lang="ko-KR" altLang="en-US" dirty="0"/>
              <a:t> 이런 것이 감정입니다</a:t>
            </a:r>
            <a:r>
              <a:rPr lang="en-US" altLang="ko-KR" dirty="0"/>
              <a:t>.</a:t>
            </a:r>
          </a:p>
          <a:p>
            <a:r>
              <a:rPr lang="ko-KR" altLang="en-US" dirty="0"/>
              <a:t>세 번째 </a:t>
            </a:r>
            <a:r>
              <a:rPr lang="ko-KR" altLang="en-US" b="1" dirty="0"/>
              <a:t>바람</a:t>
            </a:r>
            <a:r>
              <a:rPr lang="ko-KR" altLang="en-US" dirty="0"/>
              <a:t>은 ‘그래서 정말 원하는 것은 무엇인가요</a:t>
            </a:r>
            <a:r>
              <a:rPr lang="en-US" altLang="ko-KR" dirty="0"/>
              <a:t>?’</a:t>
            </a:r>
            <a:r>
              <a:rPr lang="ko-KR" altLang="en-US" dirty="0"/>
              <a:t>입니다</a:t>
            </a:r>
            <a:r>
              <a:rPr lang="en-US" altLang="ko-KR" dirty="0"/>
              <a:t>.</a:t>
            </a:r>
            <a:br>
              <a:rPr lang="en-US" altLang="ko-KR" dirty="0"/>
            </a:br>
            <a:r>
              <a:rPr lang="ko-KR" altLang="en-US" b="1" dirty="0"/>
              <a:t>‘장난감을 고쳐서 다시 가지고 놀고 싶어요</a:t>
            </a:r>
            <a:r>
              <a:rPr lang="en-US" altLang="ko-KR" b="1" dirty="0"/>
              <a:t>.’</a:t>
            </a:r>
            <a:r>
              <a:rPr lang="ko-KR" altLang="en-US" dirty="0"/>
              <a:t> 이것이 바람입니다</a:t>
            </a:r>
            <a:r>
              <a:rPr lang="en-US" altLang="ko-KR" dirty="0"/>
              <a:t>.</a:t>
            </a:r>
          </a:p>
          <a:p>
            <a:r>
              <a:rPr lang="ko-KR" altLang="en-US" dirty="0"/>
              <a:t>아이의 행동만 보면 ‘왜 울어</a:t>
            </a:r>
            <a:r>
              <a:rPr lang="en-US" altLang="ko-KR" dirty="0"/>
              <a:t>?’, ‘</a:t>
            </a:r>
            <a:r>
              <a:rPr lang="ko-KR" altLang="en-US" dirty="0"/>
              <a:t>왜 화를 내</a:t>
            </a:r>
            <a:r>
              <a:rPr lang="en-US" altLang="ko-KR" dirty="0"/>
              <a:t>?’</a:t>
            </a:r>
            <a:r>
              <a:rPr lang="ko-KR" altLang="en-US" dirty="0"/>
              <a:t>라고 하기 쉽습니다</a:t>
            </a:r>
            <a:r>
              <a:rPr lang="en-US" altLang="ko-KR" dirty="0"/>
              <a:t>.</a:t>
            </a:r>
            <a:br>
              <a:rPr lang="en-US" altLang="ko-KR" dirty="0"/>
            </a:br>
            <a:r>
              <a:rPr lang="ko-KR" altLang="en-US" dirty="0"/>
              <a:t>하지만 한 번 더 생각해 보는 겁니다</a:t>
            </a:r>
            <a:r>
              <a:rPr lang="en-US" altLang="ko-KR" dirty="0"/>
              <a:t>.</a:t>
            </a:r>
          </a:p>
          <a:p>
            <a:r>
              <a:rPr lang="ko-KR" altLang="en-US" b="1" dirty="0"/>
              <a:t>무슨 일이 있었지</a:t>
            </a:r>
            <a:r>
              <a:rPr lang="en-US" altLang="ko-KR" b="1" dirty="0"/>
              <a:t>? → </a:t>
            </a:r>
            <a:r>
              <a:rPr lang="ko-KR" altLang="en-US" b="1" dirty="0"/>
              <a:t>어떤 마음이지</a:t>
            </a:r>
            <a:r>
              <a:rPr lang="en-US" altLang="ko-KR" b="1" dirty="0"/>
              <a:t>? → </a:t>
            </a:r>
            <a:r>
              <a:rPr lang="ko-KR" altLang="en-US" b="1" dirty="0"/>
              <a:t>무엇을 원하는 걸까</a:t>
            </a:r>
            <a:r>
              <a:rPr lang="en-US" altLang="ko-KR" b="1" dirty="0"/>
              <a:t>?</a:t>
            </a:r>
            <a:endParaRPr lang="ko-KR" altLang="en-US" dirty="0"/>
          </a:p>
          <a:p>
            <a:r>
              <a:rPr lang="ko-KR" altLang="en-US" dirty="0"/>
              <a:t>이렇게 아이의 마음을 따라가다 보면 </a:t>
            </a:r>
            <a:r>
              <a:rPr lang="ko-KR" altLang="en-US" b="1" dirty="0"/>
              <a:t>행동 뒤에 숨어 있는 진짜 마음을 더 잘 이해할 수 있습니다</a:t>
            </a:r>
            <a:r>
              <a:rPr lang="en-US" altLang="ko-KR" b="1" dirty="0"/>
              <a:t>.</a:t>
            </a:r>
            <a:r>
              <a:rPr lang="ko-KR" altLang="en-US" dirty="0"/>
              <a:t>”</a:t>
            </a:r>
          </a:p>
          <a:p>
            <a:endParaRPr lang="ko-KR" altLang="en-US" dirty="0"/>
          </a:p>
        </p:txBody>
      </p:sp>
    </p:spTree>
    <p:extLst>
      <p:ext uri="{BB962C8B-B14F-4D97-AF65-F5344CB8AC3E}">
        <p14:creationId xmlns:p14="http://schemas.microsoft.com/office/powerpoint/2010/main" val="13080407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924175" y="849313"/>
            <a:ext cx="4078288" cy="2293937"/>
          </a:xfrm>
          <a:prstGeom prst="rect">
            <a:avLst/>
          </a:prstGeom>
          <a:noFill/>
          <a:ln w="12700">
            <a:solidFill>
              <a:prstClr val="black"/>
            </a:solidFill>
          </a:ln>
        </p:spPr>
      </p:sp>
      <p:sp>
        <p:nvSpPr>
          <p:cNvPr id="3" name="슬라이드 노트 개체 틀 2"/>
          <p:cNvSpPr>
            <a:spLocks noGrp="1"/>
          </p:cNvSpPr>
          <p:nvPr>
            <p:ph type="body" idx="1"/>
          </p:nvPr>
        </p:nvSpPr>
        <p:spPr>
          <a:xfrm>
            <a:off x="992188" y="3271838"/>
            <a:ext cx="7942262" cy="2676525"/>
          </a:xfrm>
          <a:prstGeom prst="rect">
            <a:avLst/>
          </a:prstGeom>
        </p:spPr>
        <p:txBody>
          <a:bodyPr/>
          <a:lstStyle/>
          <a:p>
            <a:r>
              <a:rPr lang="ko-KR" altLang="en-US" b="1" dirty="0"/>
              <a:t>감정 </a:t>
            </a:r>
            <a:r>
              <a:rPr lang="ko-KR" altLang="en-US" b="1" dirty="0" err="1"/>
              <a:t>라벨링이란</a:t>
            </a:r>
            <a:r>
              <a:rPr lang="en-US" altLang="ko-KR" b="1" dirty="0"/>
              <a:t>?</a:t>
            </a:r>
          </a:p>
          <a:p>
            <a:r>
              <a:rPr lang="en-US" altLang="ko-KR" b="1" dirty="0"/>
              <a:t>“</a:t>
            </a:r>
            <a:r>
              <a:rPr lang="ko-KR" altLang="en-US" b="1" dirty="0"/>
              <a:t>내 마음이 지금 </a:t>
            </a:r>
            <a:r>
              <a:rPr lang="ko-KR" altLang="en-US" b="1" dirty="0" err="1"/>
              <a:t>어떤지</a:t>
            </a:r>
            <a:r>
              <a:rPr lang="ko-KR" altLang="en-US" b="1" dirty="0"/>
              <a:t> 알아보고</a:t>
            </a:r>
            <a:r>
              <a:rPr lang="en-US" altLang="ko-KR" b="1" dirty="0"/>
              <a:t>, </a:t>
            </a:r>
            <a:r>
              <a:rPr lang="ko-KR" altLang="en-US" b="1" dirty="0"/>
              <a:t>그 마음에 이름을 붙여주는 </a:t>
            </a:r>
            <a:r>
              <a:rPr lang="ko-KR" altLang="en-US" b="1" dirty="0" err="1"/>
              <a:t>것”</a:t>
            </a:r>
            <a:r>
              <a:rPr lang="ko-KR" altLang="en-US" dirty="0" err="1"/>
              <a:t>입니다</a:t>
            </a:r>
            <a:r>
              <a:rPr lang="en-US" altLang="ko-KR" dirty="0"/>
              <a:t>.</a:t>
            </a:r>
          </a:p>
          <a:p>
            <a:r>
              <a:rPr lang="ko-KR" altLang="en-US" dirty="0"/>
              <a:t>아이가 장난감이 망가져 울고 있다고 </a:t>
            </a:r>
            <a:r>
              <a:rPr lang="ko-KR" altLang="en-US" dirty="0" err="1"/>
              <a:t>해볼게요</a:t>
            </a:r>
            <a:r>
              <a:rPr lang="en-US" altLang="ko-KR" dirty="0"/>
              <a:t>.</a:t>
            </a:r>
          </a:p>
          <a:p>
            <a:r>
              <a:rPr lang="ko-KR" altLang="en-US" b="1" dirty="0"/>
              <a:t>장난감이 망가졌어요</a:t>
            </a:r>
            <a:r>
              <a:rPr lang="en-US" altLang="ko-KR" b="1" dirty="0"/>
              <a:t>.</a:t>
            </a:r>
            <a:br>
              <a:rPr lang="ko-KR" altLang="en-US" dirty="0"/>
            </a:br>
            <a:r>
              <a:rPr lang="ko-KR" altLang="en-US" dirty="0"/>
              <a:t>→ 아이 마음은 어떨까요</a:t>
            </a:r>
            <a:r>
              <a:rPr lang="en-US" altLang="ko-KR" dirty="0"/>
              <a:t>?</a:t>
            </a:r>
            <a:br>
              <a:rPr lang="en-US" altLang="ko-KR" dirty="0"/>
            </a:br>
            <a:r>
              <a:rPr lang="en-US" altLang="ko-KR" dirty="0"/>
              <a:t>→ </a:t>
            </a:r>
            <a:r>
              <a:rPr lang="ko-KR" altLang="en-US" b="1" dirty="0"/>
              <a:t>“속상하구나</a:t>
            </a:r>
            <a:r>
              <a:rPr lang="en-US" altLang="ko-KR" b="1" dirty="0"/>
              <a:t>.”</a:t>
            </a:r>
            <a:br>
              <a:rPr lang="ko-KR" altLang="en-US" dirty="0"/>
            </a:br>
            <a:r>
              <a:rPr lang="ko-KR" altLang="en-US" dirty="0"/>
              <a:t>→ </a:t>
            </a:r>
            <a:r>
              <a:rPr lang="ko-KR" altLang="en-US" b="1" dirty="0"/>
              <a:t>“좋아하던 장난감이라 많이 속상했겠다</a:t>
            </a:r>
            <a:r>
              <a:rPr lang="en-US" altLang="ko-KR" b="1" dirty="0"/>
              <a:t>.”</a:t>
            </a:r>
            <a:endParaRPr lang="ko-KR" altLang="en-US" dirty="0"/>
          </a:p>
          <a:p>
            <a:r>
              <a:rPr lang="ko-KR" altLang="en-US" dirty="0"/>
              <a:t>이렇게 </a:t>
            </a:r>
            <a:r>
              <a:rPr lang="ko-KR" altLang="en-US" b="1" dirty="0"/>
              <a:t>“속상해”</a:t>
            </a:r>
            <a:r>
              <a:rPr lang="en-US" altLang="ko-KR" b="1" dirty="0"/>
              <a:t>, “</a:t>
            </a:r>
            <a:r>
              <a:rPr lang="ko-KR" altLang="en-US" b="1" dirty="0"/>
              <a:t>화가 나”</a:t>
            </a:r>
            <a:r>
              <a:rPr lang="en-US" altLang="ko-KR" b="1" dirty="0"/>
              <a:t>, “</a:t>
            </a:r>
            <a:r>
              <a:rPr lang="ko-KR" altLang="en-US" b="1" dirty="0"/>
              <a:t>무서워”</a:t>
            </a:r>
            <a:r>
              <a:rPr lang="en-US" altLang="ko-KR" b="1" dirty="0"/>
              <a:t>, “</a:t>
            </a:r>
            <a:r>
              <a:rPr lang="ko-KR" altLang="en-US" b="1" dirty="0" err="1"/>
              <a:t>슬퍼”</a:t>
            </a:r>
            <a:r>
              <a:rPr lang="ko-KR" altLang="en-US" dirty="0" err="1"/>
              <a:t>처럼</a:t>
            </a:r>
            <a:r>
              <a:rPr lang="ko-KR" altLang="en-US" dirty="0"/>
              <a:t> 마음에 이름을 붙이면</a:t>
            </a:r>
            <a:r>
              <a:rPr lang="en-US" altLang="ko-KR" dirty="0"/>
              <a:t>, </a:t>
            </a:r>
            <a:r>
              <a:rPr lang="ko-KR" altLang="en-US" dirty="0"/>
              <a:t>막연하고 복잡했던 감정을 아이가 조금 더 쉽게 이해하고 다룰 수 있습니다</a:t>
            </a:r>
            <a:r>
              <a:rPr lang="en-US" altLang="ko-KR" dirty="0"/>
              <a:t>.</a:t>
            </a:r>
          </a:p>
          <a:p>
            <a:r>
              <a:rPr lang="ko-KR" altLang="en-US" dirty="0"/>
              <a:t>뇌 연구에서도 감정을 말로 표현할 때 </a:t>
            </a:r>
            <a:r>
              <a:rPr lang="ko-KR" altLang="en-US" b="1" dirty="0"/>
              <a:t>감정적인 반응은 줄어들고</a:t>
            </a:r>
            <a:r>
              <a:rPr lang="en-US" altLang="ko-KR" b="1" dirty="0"/>
              <a:t>, </a:t>
            </a:r>
            <a:r>
              <a:rPr lang="ko-KR" altLang="en-US" b="1" dirty="0"/>
              <a:t>생각하고 조절하는 뇌의 활동은 높아지는 모습</a:t>
            </a:r>
            <a:r>
              <a:rPr lang="ko-KR" altLang="en-US" dirty="0"/>
              <a:t>이 관찰되었습니다</a:t>
            </a:r>
            <a:r>
              <a:rPr lang="en-US" altLang="ko-KR" dirty="0"/>
              <a:t>.</a:t>
            </a:r>
          </a:p>
          <a:p>
            <a:r>
              <a:rPr lang="ko-KR" altLang="en-US" dirty="0"/>
              <a:t>부모교육에서는 한 문장으로 이렇게 설명하면 가장 쉽습니다</a:t>
            </a:r>
            <a:r>
              <a:rPr lang="en-US" altLang="ko-KR" dirty="0"/>
              <a:t>.</a:t>
            </a:r>
          </a:p>
          <a:p>
            <a:r>
              <a:rPr lang="ko-KR" altLang="en-US" b="1" dirty="0"/>
              <a:t>“아이의 마음을 먼저 고치려고 하지 말고</a:t>
            </a:r>
            <a:r>
              <a:rPr lang="en-US" altLang="ko-KR" b="1" dirty="0"/>
              <a:t>, </a:t>
            </a:r>
            <a:r>
              <a:rPr lang="ko-KR" altLang="en-US" b="1" dirty="0"/>
              <a:t>그 마음이 무엇인지 이름부터 붙여주세요</a:t>
            </a:r>
            <a:r>
              <a:rPr lang="en-US" altLang="ko-KR" b="1" dirty="0"/>
              <a:t>.”</a:t>
            </a:r>
            <a:endParaRPr lang="ko-KR" altLang="en-US" dirty="0"/>
          </a:p>
          <a:p>
            <a:r>
              <a:rPr lang="ko-KR" altLang="en-US" b="1" dirty="0"/>
              <a:t>“울지 마</a:t>
            </a:r>
            <a:r>
              <a:rPr lang="en-US" altLang="ko-KR" b="1" dirty="0"/>
              <a:t>!”</a:t>
            </a:r>
            <a:r>
              <a:rPr lang="ko-KR" altLang="en-US" b="1" dirty="0"/>
              <a:t>보다 “속상했구나</a:t>
            </a:r>
            <a:r>
              <a:rPr lang="en-US" altLang="ko-KR" b="1" dirty="0"/>
              <a:t>.”</a:t>
            </a:r>
            <a:r>
              <a:rPr lang="ko-KR" altLang="en-US" b="1" dirty="0"/>
              <a:t>가 먼저입니다</a:t>
            </a:r>
            <a:r>
              <a:rPr lang="en-US" altLang="ko-KR" b="1" dirty="0"/>
              <a:t>.</a:t>
            </a:r>
            <a:endParaRPr lang="ko-KR" altLang="en-US" dirty="0"/>
          </a:p>
          <a:p>
            <a:endParaRPr lang="ko-KR" altLang="en-US" dirty="0"/>
          </a:p>
        </p:txBody>
      </p:sp>
    </p:spTree>
    <p:extLst>
      <p:ext uri="{BB962C8B-B14F-4D97-AF65-F5344CB8AC3E}">
        <p14:creationId xmlns:p14="http://schemas.microsoft.com/office/powerpoint/2010/main" val="7120141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924175" y="849313"/>
            <a:ext cx="4078288" cy="2293937"/>
          </a:xfrm>
          <a:prstGeom prst="rect">
            <a:avLst/>
          </a:prstGeom>
          <a:noFill/>
          <a:ln w="12700">
            <a:solidFill>
              <a:prstClr val="black"/>
            </a:solidFill>
          </a:ln>
        </p:spPr>
      </p:sp>
      <p:sp>
        <p:nvSpPr>
          <p:cNvPr id="3" name="슬라이드 노트 개체 틀 2"/>
          <p:cNvSpPr>
            <a:spLocks noGrp="1"/>
          </p:cNvSpPr>
          <p:nvPr>
            <p:ph type="body" idx="1"/>
          </p:nvPr>
        </p:nvSpPr>
        <p:spPr>
          <a:xfrm>
            <a:off x="992188" y="3271838"/>
            <a:ext cx="7942262" cy="2676525"/>
          </a:xfrm>
          <a:prstGeom prst="rect">
            <a:avLst/>
          </a:prstGeom>
        </p:spPr>
        <p:txBody>
          <a:bodyPr/>
          <a:lstStyle/>
          <a:p>
            <a:r>
              <a:rPr lang="ko-KR" altLang="en-US" dirty="0"/>
              <a:t>베트남어</a:t>
            </a:r>
          </a:p>
        </p:txBody>
      </p:sp>
    </p:spTree>
    <p:extLst>
      <p:ext uri="{BB962C8B-B14F-4D97-AF65-F5344CB8AC3E}">
        <p14:creationId xmlns:p14="http://schemas.microsoft.com/office/powerpoint/2010/main" val="39649124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924175" y="849313"/>
            <a:ext cx="4078288" cy="2293937"/>
          </a:xfrm>
          <a:prstGeom prst="rect">
            <a:avLst/>
          </a:prstGeom>
          <a:noFill/>
          <a:ln w="12700">
            <a:solidFill>
              <a:prstClr val="black"/>
            </a:solidFill>
          </a:ln>
        </p:spPr>
      </p:sp>
      <p:sp>
        <p:nvSpPr>
          <p:cNvPr id="3" name="슬라이드 노트 개체 틀 2"/>
          <p:cNvSpPr>
            <a:spLocks noGrp="1"/>
          </p:cNvSpPr>
          <p:nvPr>
            <p:ph type="body" idx="1"/>
          </p:nvPr>
        </p:nvSpPr>
        <p:spPr>
          <a:xfrm>
            <a:off x="992188" y="3271838"/>
            <a:ext cx="7942262" cy="2676525"/>
          </a:xfrm>
          <a:prstGeom prst="rect">
            <a:avLst/>
          </a:prstGeom>
        </p:spPr>
        <p:txBody>
          <a:bodyPr/>
          <a:lstStyle/>
          <a:p>
            <a:r>
              <a:rPr lang="ko-KR" altLang="en-US" dirty="0" err="1"/>
              <a:t>캄보이아어</a:t>
            </a:r>
            <a:endParaRPr lang="ko-KR" altLang="en-US" dirty="0"/>
          </a:p>
        </p:txBody>
      </p:sp>
    </p:spTree>
    <p:extLst>
      <p:ext uri="{BB962C8B-B14F-4D97-AF65-F5344CB8AC3E}">
        <p14:creationId xmlns:p14="http://schemas.microsoft.com/office/powerpoint/2010/main" val="11689960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924175" y="849313"/>
            <a:ext cx="4078288" cy="2293937"/>
          </a:xfrm>
          <a:prstGeom prst="rect">
            <a:avLst/>
          </a:prstGeom>
          <a:noFill/>
          <a:ln w="12700">
            <a:solidFill>
              <a:prstClr val="black"/>
            </a:solidFill>
          </a:ln>
        </p:spPr>
      </p:sp>
      <p:sp>
        <p:nvSpPr>
          <p:cNvPr id="3" name="슬라이드 노트 개체 틀 2"/>
          <p:cNvSpPr>
            <a:spLocks noGrp="1"/>
          </p:cNvSpPr>
          <p:nvPr>
            <p:ph type="body" idx="1"/>
          </p:nvPr>
        </p:nvSpPr>
        <p:spPr>
          <a:xfrm>
            <a:off x="992188" y="3271838"/>
            <a:ext cx="7942262" cy="2676525"/>
          </a:xfrm>
          <a:prstGeom prst="rect">
            <a:avLst/>
          </a:prstGeom>
        </p:spPr>
        <p:txBody>
          <a:bodyPr/>
          <a:lstStyle/>
          <a:p>
            <a:r>
              <a:rPr lang="ko-KR" altLang="en-US" dirty="0" err="1"/>
              <a:t>파키스탄어</a:t>
            </a:r>
            <a:endParaRPr lang="ko-KR" altLang="en-US" dirty="0"/>
          </a:p>
        </p:txBody>
      </p:sp>
    </p:spTree>
    <p:extLst>
      <p:ext uri="{BB962C8B-B14F-4D97-AF65-F5344CB8AC3E}">
        <p14:creationId xmlns:p14="http://schemas.microsoft.com/office/powerpoint/2010/main" val="22826733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부모님, 아이가 감정을 표현하려면 먼저 감정에 이름을 붙일 수 있어야 합니다.
다양한 표정을 담은 감정 포스터를 아이 눈높이에 붙여두고, 매일 잠깐이라도 함께 보아주세요.
"지금 기분이 어때?" 하고 물으며 아이가 포스터에서 표정을 손으로 짚어보게 해주세요.
정확한 표현이 아니어도 괜찮습니다. 감정에 이름을 붙이는 연습 자체가 큰 걸음입니다.</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9713892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924175" y="849313"/>
            <a:ext cx="4078288" cy="2293937"/>
          </a:xfrm>
          <a:prstGeom prst="rect">
            <a:avLst/>
          </a:prstGeom>
          <a:noFill/>
          <a:ln w="12700">
            <a:solidFill>
              <a:prstClr val="black"/>
            </a:solidFill>
          </a:ln>
        </p:spPr>
      </p:sp>
      <p:sp>
        <p:nvSpPr>
          <p:cNvPr id="3" name="슬라이드 노트 개체 틀 2"/>
          <p:cNvSpPr>
            <a:spLocks noGrp="1"/>
          </p:cNvSpPr>
          <p:nvPr>
            <p:ph type="body" idx="1"/>
          </p:nvPr>
        </p:nvSpPr>
        <p:spPr>
          <a:xfrm>
            <a:off x="992188" y="3271838"/>
            <a:ext cx="7942262" cy="2676525"/>
          </a:xfrm>
          <a:prstGeom prst="rect">
            <a:avLst/>
          </a:prstGeom>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dirty="0"/>
              <a:t>이제 어떤 상황에서 나의 감정을 어떻게 표현하는지에 대하여 알아보겠습니다</a:t>
            </a:r>
            <a:r>
              <a:rPr lang="en-US" altLang="ko-KR" dirty="0"/>
              <a:t>.</a:t>
            </a:r>
            <a:endParaRPr lang="ko-KR" altLang="en-US" dirty="0"/>
          </a:p>
          <a:p>
            <a:endParaRPr lang="ko-KR" altLang="en-US" dirty="0"/>
          </a:p>
        </p:txBody>
      </p:sp>
    </p:spTree>
    <p:extLst>
      <p:ext uri="{BB962C8B-B14F-4D97-AF65-F5344CB8AC3E}">
        <p14:creationId xmlns:p14="http://schemas.microsoft.com/office/powerpoint/2010/main" val="10511233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924175" y="849313"/>
            <a:ext cx="4078288" cy="2293937"/>
          </a:xfrm>
          <a:prstGeom prst="rect">
            <a:avLst/>
          </a:prstGeom>
          <a:noFill/>
          <a:ln w="12700">
            <a:solidFill>
              <a:prstClr val="black"/>
            </a:solidFill>
          </a:ln>
        </p:spPr>
      </p:sp>
      <p:sp>
        <p:nvSpPr>
          <p:cNvPr id="3" name="슬라이드 노트 개체 틀 2"/>
          <p:cNvSpPr>
            <a:spLocks noGrp="1"/>
          </p:cNvSpPr>
          <p:nvPr>
            <p:ph type="body" idx="1"/>
          </p:nvPr>
        </p:nvSpPr>
        <p:spPr>
          <a:xfrm>
            <a:off x="992188" y="3271838"/>
            <a:ext cx="7942262" cy="2676525"/>
          </a:xfrm>
          <a:prstGeom prst="rect">
            <a:avLst/>
          </a:prstGeom>
        </p:spPr>
        <p:txBody>
          <a:bodyPr/>
          <a:lstStyle/>
          <a:p>
            <a:r>
              <a:rPr lang="ko-KR" altLang="en-US" dirty="0"/>
              <a:t>“우리가 대화할 때 </a:t>
            </a:r>
            <a:r>
              <a:rPr lang="ko-KR" altLang="en-US" b="1" dirty="0"/>
              <a:t>‘너는 왜 그래</a:t>
            </a:r>
            <a:r>
              <a:rPr lang="en-US" altLang="ko-KR" b="1" dirty="0"/>
              <a:t>?’</a:t>
            </a:r>
            <a:r>
              <a:rPr lang="ko-KR" altLang="en-US" b="1" dirty="0"/>
              <a:t>라는 말</a:t>
            </a:r>
            <a:r>
              <a:rPr lang="ko-KR" altLang="en-US" dirty="0"/>
              <a:t>을 자주 하게 됩니다</a:t>
            </a:r>
            <a:r>
              <a:rPr lang="en-US" altLang="ko-KR" dirty="0"/>
              <a:t>. </a:t>
            </a:r>
            <a:r>
              <a:rPr lang="ko-KR" altLang="en-US" dirty="0"/>
              <a:t>그런데 ‘</a:t>
            </a:r>
            <a:r>
              <a:rPr lang="ko-KR" altLang="en-US" dirty="0" err="1"/>
              <a:t>너’로</a:t>
            </a:r>
            <a:r>
              <a:rPr lang="ko-KR" altLang="en-US" dirty="0"/>
              <a:t> 시작하면 상대방은 </a:t>
            </a:r>
            <a:r>
              <a:rPr lang="ko-KR" altLang="en-US" b="1" dirty="0" err="1"/>
              <a:t>비난받는다고</a:t>
            </a:r>
            <a:r>
              <a:rPr lang="ko-KR" altLang="en-US" b="1" dirty="0"/>
              <a:t> 느껴서 방어하거나 마음을 닫기 쉽습니다</a:t>
            </a:r>
            <a:r>
              <a:rPr lang="en-US" altLang="ko-KR" b="1" dirty="0"/>
              <a:t>.</a:t>
            </a:r>
            <a:endParaRPr lang="ko-KR" altLang="en-US" dirty="0"/>
          </a:p>
          <a:p>
            <a:r>
              <a:rPr lang="ko-KR" altLang="en-US" dirty="0"/>
              <a:t>반대로 </a:t>
            </a:r>
            <a:r>
              <a:rPr lang="ko-KR" altLang="en-US" b="1" dirty="0"/>
              <a:t>‘나는 이렇게 느꼈어’</a:t>
            </a:r>
            <a:r>
              <a:rPr lang="en-US" altLang="ko-KR" b="1" dirty="0"/>
              <a:t>, ‘</a:t>
            </a:r>
            <a:r>
              <a:rPr lang="ko-KR" altLang="en-US" b="1" dirty="0"/>
              <a:t>나는 이렇게 해주면 </a:t>
            </a:r>
            <a:r>
              <a:rPr lang="ko-KR" altLang="en-US" b="1" dirty="0" err="1"/>
              <a:t>좋겠어’</a:t>
            </a:r>
            <a:r>
              <a:rPr lang="ko-KR" altLang="en-US" dirty="0" err="1"/>
              <a:t>라고</a:t>
            </a:r>
            <a:r>
              <a:rPr lang="ko-KR" altLang="en-US" dirty="0"/>
              <a:t> 말하면 상대를 공격하지 않으면서 </a:t>
            </a:r>
            <a:r>
              <a:rPr lang="ko-KR" altLang="en-US" b="1" dirty="0"/>
              <a:t>내 마음과 바람을 전달할 수 있습니다</a:t>
            </a:r>
            <a:r>
              <a:rPr lang="en-US" altLang="ko-KR" b="1" dirty="0"/>
              <a:t>.</a:t>
            </a:r>
            <a:endParaRPr lang="ko-KR" altLang="en-US" dirty="0"/>
          </a:p>
          <a:p>
            <a:r>
              <a:rPr lang="ko-KR" altLang="en-US" dirty="0"/>
              <a:t>예를 들어 아이가 약속한 시간에 숙제를 하지 않았을 때</a:t>
            </a:r>
            <a:r>
              <a:rPr lang="en-US" altLang="ko-KR" dirty="0"/>
              <a:t>,</a:t>
            </a:r>
            <a:br>
              <a:rPr lang="en-US" altLang="ko-KR" dirty="0"/>
            </a:br>
            <a:r>
              <a:rPr lang="en-US" altLang="ko-KR" dirty="0"/>
              <a:t>‘</a:t>
            </a:r>
            <a:r>
              <a:rPr lang="ko-KR" altLang="en-US" dirty="0"/>
              <a:t>너는 왜 맨날 숙제를 안 해</a:t>
            </a:r>
            <a:r>
              <a:rPr lang="en-US" altLang="ko-KR" dirty="0"/>
              <a:t>?’</a:t>
            </a:r>
            <a:r>
              <a:rPr lang="ko-KR" altLang="en-US" dirty="0"/>
              <a:t>라고 하기보다</a:t>
            </a:r>
            <a:br>
              <a:rPr lang="ko-KR" altLang="en-US" dirty="0"/>
            </a:br>
            <a:r>
              <a:rPr lang="ko-KR" altLang="en-US" dirty="0"/>
              <a:t>‘엄마는 네가 숙제를 미루면 걱정돼</a:t>
            </a:r>
            <a:r>
              <a:rPr lang="en-US" altLang="ko-KR" dirty="0"/>
              <a:t>. </a:t>
            </a:r>
            <a:r>
              <a:rPr lang="ko-KR" altLang="en-US" dirty="0"/>
              <a:t>약속한 시간에 해주면 </a:t>
            </a:r>
            <a:r>
              <a:rPr lang="ko-KR" altLang="en-US" dirty="0" err="1"/>
              <a:t>좋겠어</a:t>
            </a:r>
            <a:r>
              <a:rPr lang="en-US" altLang="ko-KR" dirty="0"/>
              <a:t>.’</a:t>
            </a:r>
            <a:r>
              <a:rPr lang="ko-KR" altLang="en-US" dirty="0"/>
              <a:t>라고 말하는 것입니다</a:t>
            </a:r>
            <a:r>
              <a:rPr lang="en-US" altLang="ko-KR" dirty="0"/>
              <a:t>.</a:t>
            </a:r>
          </a:p>
          <a:p>
            <a:r>
              <a:rPr lang="ko-KR" altLang="en-US" dirty="0"/>
              <a:t>핵심은 간단합니다</a:t>
            </a:r>
            <a:r>
              <a:rPr lang="en-US" altLang="ko-KR" dirty="0"/>
              <a:t>.</a:t>
            </a:r>
            <a:br>
              <a:rPr lang="en-US" altLang="ko-KR" dirty="0"/>
            </a:br>
            <a:r>
              <a:rPr lang="ko-KR" altLang="en-US" b="1" dirty="0"/>
              <a:t>‘</a:t>
            </a:r>
            <a:r>
              <a:rPr lang="ko-KR" altLang="en-US" b="1" dirty="0" err="1"/>
              <a:t>너’는</a:t>
            </a:r>
            <a:r>
              <a:rPr lang="ko-KR" altLang="en-US" b="1" dirty="0"/>
              <a:t> 상대를 평가하는 말이 되기 쉽고</a:t>
            </a:r>
            <a:r>
              <a:rPr lang="en-US" altLang="ko-KR" b="1" dirty="0"/>
              <a:t>, ‘</a:t>
            </a:r>
            <a:r>
              <a:rPr lang="ko-KR" altLang="en-US" b="1" dirty="0"/>
              <a:t>나’는 내 마음을 설명하는 말입니다</a:t>
            </a:r>
            <a:r>
              <a:rPr lang="en-US" altLang="ko-KR" b="1" dirty="0"/>
              <a:t>.</a:t>
            </a:r>
            <a:endParaRPr lang="ko-KR" altLang="en-US" dirty="0"/>
          </a:p>
          <a:p>
            <a:r>
              <a:rPr lang="ko-KR" altLang="en-US" dirty="0"/>
              <a:t>아이와 좋은 관계를 만들고 싶다면</a:t>
            </a:r>
            <a:r>
              <a:rPr lang="en-US" altLang="ko-KR" dirty="0"/>
              <a:t>,</a:t>
            </a:r>
            <a:br>
              <a:rPr lang="en-US" altLang="ko-KR" dirty="0"/>
            </a:br>
            <a:r>
              <a:rPr lang="ko-KR" altLang="en-US" b="1" dirty="0"/>
              <a:t>‘너는 왜</a:t>
            </a:r>
            <a:r>
              <a:rPr lang="en-US" altLang="ko-KR" b="1" dirty="0"/>
              <a:t>?’ </a:t>
            </a:r>
            <a:r>
              <a:rPr lang="ko-KR" altLang="en-US" b="1" dirty="0"/>
              <a:t>대신 ‘나는 이렇게 </a:t>
            </a:r>
            <a:r>
              <a:rPr lang="ko-KR" altLang="en-US" b="1" dirty="0" err="1"/>
              <a:t>느껴’로</a:t>
            </a:r>
            <a:r>
              <a:rPr lang="ko-KR" altLang="en-US" b="1" dirty="0"/>
              <a:t> 바꿔 말해 보세요</a:t>
            </a:r>
            <a:r>
              <a:rPr lang="en-US" altLang="ko-KR" b="1" dirty="0"/>
              <a:t>.</a:t>
            </a:r>
            <a:r>
              <a:rPr lang="ko-KR" altLang="en-US" dirty="0"/>
              <a:t>”</a:t>
            </a:r>
          </a:p>
          <a:p>
            <a:endParaRPr lang="ko-KR" altLang="en-US" dirty="0"/>
          </a:p>
        </p:txBody>
      </p:sp>
    </p:spTree>
    <p:extLst>
      <p:ext uri="{BB962C8B-B14F-4D97-AF65-F5344CB8AC3E}">
        <p14:creationId xmlns:p14="http://schemas.microsoft.com/office/powerpoint/2010/main" val="25122245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924175" y="849313"/>
            <a:ext cx="4078288" cy="2293937"/>
          </a:xfrm>
          <a:prstGeom prst="rect">
            <a:avLst/>
          </a:prstGeom>
          <a:noFill/>
          <a:ln w="12700">
            <a:solidFill>
              <a:prstClr val="black"/>
            </a:solidFill>
          </a:ln>
        </p:spPr>
      </p:sp>
      <p:sp>
        <p:nvSpPr>
          <p:cNvPr id="3" name="슬라이드 노트 개체 틀 2"/>
          <p:cNvSpPr>
            <a:spLocks noGrp="1"/>
          </p:cNvSpPr>
          <p:nvPr>
            <p:ph type="body" idx="1"/>
          </p:nvPr>
        </p:nvSpPr>
        <p:spPr>
          <a:xfrm>
            <a:off x="992188" y="3271838"/>
            <a:ext cx="7942262" cy="2676525"/>
          </a:xfrm>
          <a:prstGeom prst="rect">
            <a:avLst/>
          </a:prstGeom>
        </p:spPr>
        <p:txBody>
          <a:bodyPr/>
          <a:lstStyle/>
          <a:p>
            <a:r>
              <a:rPr lang="ko-KR" altLang="en-US" dirty="0"/>
              <a:t>“</a:t>
            </a:r>
            <a:r>
              <a:rPr lang="ko-KR" altLang="en-US" b="1" dirty="0"/>
              <a:t>나 전달법</a:t>
            </a:r>
            <a:r>
              <a:rPr lang="ko-KR" altLang="en-US" dirty="0"/>
              <a:t>은 상대를 비난하지 않고 </a:t>
            </a:r>
            <a:r>
              <a:rPr lang="ko-KR" altLang="en-US" b="1" dirty="0"/>
              <a:t>내 마음을 표현하는 방법</a:t>
            </a:r>
            <a:r>
              <a:rPr lang="ko-KR" altLang="en-US" dirty="0"/>
              <a:t>입니다</a:t>
            </a:r>
            <a:r>
              <a:rPr lang="en-US" altLang="ko-KR" dirty="0"/>
              <a:t>.</a:t>
            </a:r>
          </a:p>
          <a:p>
            <a:r>
              <a:rPr lang="en-US" altLang="ko-KR" dirty="0"/>
              <a:t>‘</a:t>
            </a:r>
            <a:r>
              <a:rPr lang="ko-KR" altLang="en-US" dirty="0"/>
              <a:t>너는 왜 </a:t>
            </a:r>
            <a:r>
              <a:rPr lang="ko-KR" altLang="en-US" dirty="0" err="1"/>
              <a:t>늦었어</a:t>
            </a:r>
            <a:r>
              <a:rPr lang="en-US" altLang="ko-KR" dirty="0"/>
              <a:t>?’ </a:t>
            </a:r>
            <a:r>
              <a:rPr lang="ko-KR" altLang="en-US" dirty="0"/>
              <a:t>대신</a:t>
            </a:r>
            <a:br>
              <a:rPr lang="ko-KR" altLang="en-US" dirty="0"/>
            </a:br>
            <a:r>
              <a:rPr lang="ko-KR" altLang="en-US" b="1" dirty="0"/>
              <a:t>‘나는 </a:t>
            </a:r>
            <a:r>
              <a:rPr lang="ko-KR" altLang="en-US" b="1" dirty="0" err="1"/>
              <a:t>걱정됐어</a:t>
            </a:r>
            <a:r>
              <a:rPr lang="en-US" altLang="ko-KR" b="1" dirty="0"/>
              <a:t>.’</a:t>
            </a:r>
            <a:endParaRPr lang="ko-KR" altLang="en-US" dirty="0"/>
          </a:p>
          <a:p>
            <a:r>
              <a:rPr lang="ko-KR" altLang="en-US" dirty="0"/>
              <a:t>‘너 때문에 </a:t>
            </a:r>
            <a:r>
              <a:rPr lang="ko-KR" altLang="en-US" dirty="0" err="1"/>
              <a:t>화났어</a:t>
            </a:r>
            <a:r>
              <a:rPr lang="en-US" altLang="ko-KR" dirty="0"/>
              <a:t>.’ </a:t>
            </a:r>
            <a:r>
              <a:rPr lang="ko-KR" altLang="en-US" dirty="0"/>
              <a:t>대신</a:t>
            </a:r>
            <a:br>
              <a:rPr lang="ko-KR" altLang="en-US" dirty="0"/>
            </a:br>
            <a:r>
              <a:rPr lang="ko-KR" altLang="en-US" b="1" dirty="0"/>
              <a:t>‘나는 속상하고 힘들어</a:t>
            </a:r>
            <a:r>
              <a:rPr lang="en-US" altLang="ko-KR" b="1" dirty="0"/>
              <a:t>.’</a:t>
            </a:r>
            <a:r>
              <a:rPr lang="ko-KR" altLang="en-US" dirty="0"/>
              <a:t>라고 말합니다</a:t>
            </a:r>
            <a:r>
              <a:rPr lang="en-US" altLang="ko-KR" dirty="0"/>
              <a:t>.</a:t>
            </a:r>
          </a:p>
          <a:p>
            <a:r>
              <a:rPr lang="ko-KR" altLang="en-US" dirty="0"/>
              <a:t>핵심은 </a:t>
            </a:r>
            <a:r>
              <a:rPr lang="ko-KR" altLang="en-US" b="1" dirty="0"/>
              <a:t>‘너는 왜 그래</a:t>
            </a:r>
            <a:r>
              <a:rPr lang="en-US" altLang="ko-KR" b="1" dirty="0"/>
              <a:t>?’</a:t>
            </a:r>
            <a:r>
              <a:rPr lang="ko-KR" altLang="en-US" b="1" dirty="0"/>
              <a:t>가 아니라 ‘나는 이렇게 느껴</a:t>
            </a:r>
            <a:r>
              <a:rPr lang="en-US" altLang="ko-KR" b="1" dirty="0"/>
              <a:t>. </a:t>
            </a:r>
            <a:r>
              <a:rPr lang="ko-KR" altLang="en-US" b="1" dirty="0"/>
              <a:t>나는 이렇게 해주면 </a:t>
            </a:r>
            <a:r>
              <a:rPr lang="ko-KR" altLang="en-US" b="1" dirty="0" err="1"/>
              <a:t>좋겠어</a:t>
            </a:r>
            <a:r>
              <a:rPr lang="en-US" altLang="ko-KR" b="1" dirty="0"/>
              <a:t>.’</a:t>
            </a:r>
            <a:r>
              <a:rPr lang="ko-KR" altLang="en-US" dirty="0"/>
              <a:t>라고 말하는 것입니다</a:t>
            </a:r>
            <a:r>
              <a:rPr lang="en-US" altLang="ko-KR" dirty="0"/>
              <a:t>.</a:t>
            </a:r>
          </a:p>
          <a:p>
            <a:r>
              <a:rPr lang="ko-KR" altLang="en-US" dirty="0"/>
              <a:t>이렇게 말하면 아이가 방어하기보다 </a:t>
            </a:r>
            <a:r>
              <a:rPr lang="ko-KR" altLang="en-US" b="1" dirty="0"/>
              <a:t>부모의 마음을 이해하고 대화하기 쉬워집니다</a:t>
            </a:r>
            <a:r>
              <a:rPr lang="en-US" altLang="ko-KR" b="1" dirty="0"/>
              <a:t>.</a:t>
            </a:r>
            <a:r>
              <a:rPr lang="ko-KR" altLang="en-US" dirty="0"/>
              <a:t>”</a:t>
            </a:r>
          </a:p>
          <a:p>
            <a:endParaRPr lang="ko-KR" altLang="en-US" dirty="0"/>
          </a:p>
        </p:txBody>
      </p:sp>
    </p:spTree>
    <p:extLst>
      <p:ext uri="{BB962C8B-B14F-4D97-AF65-F5344CB8AC3E}">
        <p14:creationId xmlns:p14="http://schemas.microsoft.com/office/powerpoint/2010/main" val="14355114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924175" y="849313"/>
            <a:ext cx="4078288" cy="2293937"/>
          </a:xfrm>
          <a:prstGeom prst="rect">
            <a:avLst/>
          </a:prstGeom>
          <a:noFill/>
          <a:ln w="12700">
            <a:solidFill>
              <a:prstClr val="black"/>
            </a:solidFill>
          </a:ln>
        </p:spPr>
      </p:sp>
      <p:sp>
        <p:nvSpPr>
          <p:cNvPr id="3" name="슬라이드 노트 개체 틀 2"/>
          <p:cNvSpPr>
            <a:spLocks noGrp="1"/>
          </p:cNvSpPr>
          <p:nvPr>
            <p:ph type="body" idx="1"/>
          </p:nvPr>
        </p:nvSpPr>
        <p:spPr>
          <a:xfrm>
            <a:off x="992188" y="3271838"/>
            <a:ext cx="7942262" cy="2676525"/>
          </a:xfrm>
          <a:prstGeom prst="rect">
            <a:avLst/>
          </a:prstGeom>
        </p:spPr>
        <p:txBody>
          <a:bodyPr/>
          <a:lstStyle/>
          <a:p>
            <a:r>
              <a:rPr lang="ko-KR" altLang="en-US" dirty="0"/>
              <a:t>“아이가 약속 시간보다 늦게 왔을 때를 생각해 보겠습니다</a:t>
            </a:r>
            <a:r>
              <a:rPr lang="en-US" altLang="ko-KR" dirty="0"/>
              <a:t>.</a:t>
            </a:r>
          </a:p>
          <a:p>
            <a:r>
              <a:rPr lang="ko-KR" altLang="en-US" b="1" dirty="0"/>
              <a:t>‘너는 왜 또 </a:t>
            </a:r>
            <a:r>
              <a:rPr lang="ko-KR" altLang="en-US" b="1" dirty="0" err="1"/>
              <a:t>늦었어</a:t>
            </a:r>
            <a:r>
              <a:rPr lang="en-US" altLang="ko-KR" b="1" dirty="0"/>
              <a:t>? </a:t>
            </a:r>
            <a:r>
              <a:rPr lang="ko-KR" altLang="en-US" b="1" dirty="0"/>
              <a:t>너는 항상 그래</a:t>
            </a:r>
            <a:r>
              <a:rPr lang="en-US" altLang="ko-KR" b="1" dirty="0"/>
              <a:t>!’</a:t>
            </a:r>
            <a:r>
              <a:rPr lang="ko-KR" altLang="en-US" dirty="0"/>
              <a:t>라고 하면 아이도 화를 내면서 대화가 끊어질 수 있습니다</a:t>
            </a:r>
            <a:r>
              <a:rPr lang="en-US" altLang="ko-KR" dirty="0"/>
              <a:t>.</a:t>
            </a:r>
          </a:p>
          <a:p>
            <a:r>
              <a:rPr lang="ko-KR" altLang="en-US" dirty="0"/>
              <a:t>대신 </a:t>
            </a:r>
            <a:r>
              <a:rPr lang="ko-KR" altLang="en-US" b="1" dirty="0"/>
              <a:t>‘엄마는 네가 늦게 와서 많이 </a:t>
            </a:r>
            <a:r>
              <a:rPr lang="ko-KR" altLang="en-US" b="1" dirty="0" err="1"/>
              <a:t>걱정했어</a:t>
            </a:r>
            <a:r>
              <a:rPr lang="en-US" altLang="ko-KR" b="1" dirty="0"/>
              <a:t>. </a:t>
            </a:r>
            <a:r>
              <a:rPr lang="ko-KR" altLang="en-US" b="1" dirty="0"/>
              <a:t>다음에는 늦으면 전화해 </a:t>
            </a:r>
            <a:r>
              <a:rPr lang="ko-KR" altLang="en-US" b="1" dirty="0" err="1"/>
              <a:t>줄래</a:t>
            </a:r>
            <a:r>
              <a:rPr lang="en-US" altLang="ko-KR" b="1" dirty="0"/>
              <a:t>?’</a:t>
            </a:r>
            <a:r>
              <a:rPr lang="ko-KR" altLang="en-US" dirty="0"/>
              <a:t>라고 말해 보세요</a:t>
            </a:r>
            <a:r>
              <a:rPr lang="en-US" altLang="ko-KR" dirty="0"/>
              <a:t>.</a:t>
            </a:r>
          </a:p>
          <a:p>
            <a:r>
              <a:rPr lang="ko-KR" altLang="en-US" dirty="0"/>
              <a:t>같은 상황이라도 </a:t>
            </a:r>
            <a:r>
              <a:rPr lang="ko-KR" altLang="en-US" b="1" dirty="0"/>
              <a:t>비난 대신 내 감정과 바람을 말하면</a:t>
            </a:r>
            <a:r>
              <a:rPr lang="en-US" altLang="ko-KR" dirty="0"/>
              <a:t>, </a:t>
            </a:r>
            <a:r>
              <a:rPr lang="ko-KR" altLang="en-US" dirty="0"/>
              <a:t>아이도 부모의 마음을 이해하고 대화를 </a:t>
            </a:r>
            <a:r>
              <a:rPr lang="ko-KR" altLang="en-US" dirty="0" err="1"/>
              <a:t>이어가기</a:t>
            </a:r>
            <a:r>
              <a:rPr lang="ko-KR" altLang="en-US" dirty="0"/>
              <a:t> 쉬워집니다</a:t>
            </a:r>
            <a:r>
              <a:rPr lang="en-US" altLang="ko-KR" dirty="0"/>
              <a:t>.</a:t>
            </a:r>
          </a:p>
          <a:p>
            <a:r>
              <a:rPr lang="ko-KR" altLang="en-US" b="1" dirty="0"/>
              <a:t>나 전달법의 핵심은 ‘</a:t>
            </a:r>
            <a:r>
              <a:rPr lang="ko-KR" altLang="en-US" b="1" dirty="0" err="1"/>
              <a:t>비난’이</a:t>
            </a:r>
            <a:r>
              <a:rPr lang="ko-KR" altLang="en-US" b="1" dirty="0"/>
              <a:t> 아니라 ‘내 마음 </a:t>
            </a:r>
            <a:r>
              <a:rPr lang="en-US" altLang="ko-KR" b="1" dirty="0"/>
              <a:t>+ </a:t>
            </a:r>
            <a:r>
              <a:rPr lang="ko-KR" altLang="en-US" b="1" dirty="0" err="1"/>
              <a:t>바람’을</a:t>
            </a:r>
            <a:r>
              <a:rPr lang="ko-KR" altLang="en-US" b="1" dirty="0"/>
              <a:t> 말하는 것입니다</a:t>
            </a:r>
            <a:r>
              <a:rPr lang="en-US" altLang="ko-KR" b="1" dirty="0"/>
              <a:t>.</a:t>
            </a:r>
            <a:r>
              <a:rPr lang="ko-KR" altLang="en-US" dirty="0"/>
              <a:t>”</a:t>
            </a:r>
          </a:p>
          <a:p>
            <a:endParaRPr lang="ko-KR" altLang="en-US" dirty="0"/>
          </a:p>
        </p:txBody>
      </p:sp>
    </p:spTree>
    <p:extLst>
      <p:ext uri="{BB962C8B-B14F-4D97-AF65-F5344CB8AC3E}">
        <p14:creationId xmlns:p14="http://schemas.microsoft.com/office/powerpoint/2010/main" val="5303507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924175" y="849313"/>
            <a:ext cx="4078288" cy="2293937"/>
          </a:xfrm>
          <a:prstGeom prst="rect">
            <a:avLst/>
          </a:prstGeom>
          <a:noFill/>
          <a:ln w="12700">
            <a:solidFill>
              <a:prstClr val="black"/>
            </a:solidFill>
          </a:ln>
        </p:spPr>
      </p:sp>
      <p:sp>
        <p:nvSpPr>
          <p:cNvPr id="3" name="슬라이드 노트 개체 틀 2"/>
          <p:cNvSpPr>
            <a:spLocks noGrp="1"/>
          </p:cNvSpPr>
          <p:nvPr>
            <p:ph type="body" idx="1"/>
          </p:nvPr>
        </p:nvSpPr>
        <p:spPr>
          <a:xfrm>
            <a:off x="992188" y="3271838"/>
            <a:ext cx="7942262" cy="2676525"/>
          </a:xfrm>
          <a:prstGeom prst="rect">
            <a:avLst/>
          </a:prstGeom>
        </p:spPr>
        <p:txBody>
          <a:bodyPr/>
          <a:lstStyle/>
          <a:p>
            <a:r>
              <a:rPr lang="ko-KR" altLang="en-US" dirty="0" err="1"/>
              <a:t>상감바중</a:t>
            </a:r>
            <a:r>
              <a:rPr lang="ko-KR" altLang="en-US" dirty="0"/>
              <a:t> 바람에 대해 알아보겠습니다</a:t>
            </a:r>
            <a:r>
              <a:rPr lang="en-US" altLang="ko-KR" dirty="0"/>
              <a:t>.</a:t>
            </a:r>
            <a:endParaRPr lang="ko-KR" altLang="en-US" dirty="0"/>
          </a:p>
        </p:txBody>
      </p:sp>
    </p:spTree>
    <p:extLst>
      <p:ext uri="{BB962C8B-B14F-4D97-AF65-F5344CB8AC3E}">
        <p14:creationId xmlns:p14="http://schemas.microsoft.com/office/powerpoint/2010/main" val="7347293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924175" y="849313"/>
            <a:ext cx="4078288" cy="2293937"/>
          </a:xfrm>
          <a:prstGeom prst="rect">
            <a:avLst/>
          </a:prstGeom>
          <a:noFill/>
          <a:ln w="12700">
            <a:solidFill>
              <a:prstClr val="black"/>
            </a:solidFill>
          </a:ln>
        </p:spPr>
      </p:sp>
      <p:sp>
        <p:nvSpPr>
          <p:cNvPr id="3" name="슬라이드 노트 개체 틀 2"/>
          <p:cNvSpPr>
            <a:spLocks noGrp="1"/>
          </p:cNvSpPr>
          <p:nvPr>
            <p:ph type="body" idx="1"/>
          </p:nvPr>
        </p:nvSpPr>
        <p:spPr>
          <a:xfrm>
            <a:off x="992188" y="3271838"/>
            <a:ext cx="7942262" cy="2676525"/>
          </a:xfrm>
          <a:prstGeom prst="rect">
            <a:avLst/>
          </a:prstGeom>
        </p:spPr>
        <p:txBody>
          <a:bodyPr/>
          <a:lstStyle/>
          <a:p>
            <a:r>
              <a:rPr lang="ko-KR" altLang="en-US" dirty="0"/>
              <a:t>“아이와 대화할 때 </a:t>
            </a:r>
            <a:r>
              <a:rPr lang="ko-KR" altLang="en-US" b="1" dirty="0"/>
              <a:t>세 가지만 생각해 보겠습니다</a:t>
            </a:r>
            <a:r>
              <a:rPr lang="en-US" altLang="ko-KR" b="1" dirty="0"/>
              <a:t>. </a:t>
            </a:r>
            <a:r>
              <a:rPr lang="ko-KR" altLang="en-US" b="1" dirty="0"/>
              <a:t>상황</a:t>
            </a:r>
            <a:r>
              <a:rPr lang="en-US" altLang="ko-KR" b="1" dirty="0"/>
              <a:t>, </a:t>
            </a:r>
            <a:r>
              <a:rPr lang="ko-KR" altLang="en-US" b="1" dirty="0"/>
              <a:t>감정</a:t>
            </a:r>
            <a:r>
              <a:rPr lang="en-US" altLang="ko-KR" b="1" dirty="0"/>
              <a:t>, </a:t>
            </a:r>
            <a:r>
              <a:rPr lang="ko-KR" altLang="en-US" b="1" dirty="0"/>
              <a:t>바람입니다</a:t>
            </a:r>
            <a:r>
              <a:rPr lang="en-US" altLang="ko-KR" b="1" dirty="0"/>
              <a:t>.</a:t>
            </a:r>
            <a:endParaRPr lang="ko-KR" altLang="en-US" dirty="0"/>
          </a:p>
          <a:p>
            <a:r>
              <a:rPr lang="ko-KR" altLang="en-US" dirty="0"/>
              <a:t>먼저 </a:t>
            </a:r>
            <a:r>
              <a:rPr lang="ko-KR" altLang="en-US" b="1" dirty="0"/>
              <a:t>상황</a:t>
            </a:r>
            <a:r>
              <a:rPr lang="ko-KR" altLang="en-US" dirty="0"/>
              <a:t>은 ‘무슨 일이 있었나요</a:t>
            </a:r>
            <a:r>
              <a:rPr lang="en-US" altLang="ko-KR" dirty="0"/>
              <a:t>?’</a:t>
            </a:r>
            <a:r>
              <a:rPr lang="ko-KR" altLang="en-US" dirty="0"/>
              <a:t>입니다</a:t>
            </a:r>
            <a:r>
              <a:rPr lang="en-US" altLang="ko-KR" dirty="0"/>
              <a:t>.</a:t>
            </a:r>
            <a:br>
              <a:rPr lang="en-US" altLang="ko-KR" dirty="0"/>
            </a:br>
            <a:r>
              <a:rPr lang="ko-KR" altLang="en-US" dirty="0"/>
              <a:t>예를 들어 </a:t>
            </a:r>
            <a:r>
              <a:rPr lang="ko-KR" altLang="en-US" b="1" dirty="0"/>
              <a:t>‘장난감이 망가졌어요</a:t>
            </a:r>
            <a:r>
              <a:rPr lang="en-US" altLang="ko-KR" b="1" dirty="0"/>
              <a:t>.’</a:t>
            </a:r>
            <a:r>
              <a:rPr lang="ko-KR" altLang="en-US" dirty="0"/>
              <a:t> 이것은 실제로 일어난 일입니다</a:t>
            </a:r>
            <a:r>
              <a:rPr lang="en-US" altLang="ko-KR" dirty="0"/>
              <a:t>.</a:t>
            </a:r>
          </a:p>
          <a:p>
            <a:r>
              <a:rPr lang="ko-KR" altLang="en-US" dirty="0"/>
              <a:t>두 번째 </a:t>
            </a:r>
            <a:r>
              <a:rPr lang="ko-KR" altLang="en-US" b="1" dirty="0"/>
              <a:t>감정</a:t>
            </a:r>
            <a:r>
              <a:rPr lang="ko-KR" altLang="en-US" dirty="0"/>
              <a:t>은 ‘그래서 어떤 마음이 들었나요</a:t>
            </a:r>
            <a:r>
              <a:rPr lang="en-US" altLang="ko-KR" dirty="0"/>
              <a:t>?’</a:t>
            </a:r>
            <a:r>
              <a:rPr lang="ko-KR" altLang="en-US" dirty="0"/>
              <a:t>입니다</a:t>
            </a:r>
            <a:r>
              <a:rPr lang="en-US" altLang="ko-KR" dirty="0"/>
              <a:t>.</a:t>
            </a:r>
            <a:br>
              <a:rPr lang="en-US" altLang="ko-KR" dirty="0"/>
            </a:br>
            <a:r>
              <a:rPr lang="ko-KR" altLang="en-US" b="1" dirty="0"/>
              <a:t>‘속상해요</a:t>
            </a:r>
            <a:r>
              <a:rPr lang="en-US" altLang="ko-KR" b="1" dirty="0"/>
              <a:t>.’ ‘</a:t>
            </a:r>
            <a:r>
              <a:rPr lang="ko-KR" altLang="en-US" b="1" dirty="0"/>
              <a:t>화가 나요</a:t>
            </a:r>
            <a:r>
              <a:rPr lang="en-US" altLang="ko-KR" b="1" dirty="0"/>
              <a:t>.’ ‘</a:t>
            </a:r>
            <a:r>
              <a:rPr lang="ko-KR" altLang="en-US" b="1" dirty="0"/>
              <a:t>슬퍼요</a:t>
            </a:r>
            <a:r>
              <a:rPr lang="en-US" altLang="ko-KR" b="1" dirty="0"/>
              <a:t>.’</a:t>
            </a:r>
            <a:r>
              <a:rPr lang="ko-KR" altLang="en-US" dirty="0"/>
              <a:t> 이런 것이 감정입니다</a:t>
            </a:r>
            <a:r>
              <a:rPr lang="en-US" altLang="ko-KR" dirty="0"/>
              <a:t>.</a:t>
            </a:r>
          </a:p>
          <a:p>
            <a:r>
              <a:rPr lang="ko-KR" altLang="en-US" dirty="0"/>
              <a:t>세 번째 </a:t>
            </a:r>
            <a:r>
              <a:rPr lang="ko-KR" altLang="en-US" b="1" dirty="0"/>
              <a:t>바람</a:t>
            </a:r>
            <a:r>
              <a:rPr lang="ko-KR" altLang="en-US" dirty="0"/>
              <a:t>은 ‘그래서 정말 원하는 것은 무엇인가요</a:t>
            </a:r>
            <a:r>
              <a:rPr lang="en-US" altLang="ko-KR" dirty="0"/>
              <a:t>?’</a:t>
            </a:r>
            <a:r>
              <a:rPr lang="ko-KR" altLang="en-US" dirty="0"/>
              <a:t>입니다</a:t>
            </a:r>
            <a:r>
              <a:rPr lang="en-US" altLang="ko-KR" dirty="0"/>
              <a:t>.</a:t>
            </a:r>
            <a:br>
              <a:rPr lang="en-US" altLang="ko-KR" dirty="0"/>
            </a:br>
            <a:r>
              <a:rPr lang="ko-KR" altLang="en-US" b="1" dirty="0"/>
              <a:t>‘장난감을 고쳐서 다시 가지고 놀고 싶어요</a:t>
            </a:r>
            <a:r>
              <a:rPr lang="en-US" altLang="ko-KR" b="1" dirty="0"/>
              <a:t>.’</a:t>
            </a:r>
            <a:r>
              <a:rPr lang="ko-KR" altLang="en-US" dirty="0"/>
              <a:t> 이것이 바람입니다</a:t>
            </a:r>
            <a:r>
              <a:rPr lang="en-US" altLang="ko-KR" dirty="0"/>
              <a:t>.</a:t>
            </a:r>
          </a:p>
          <a:p>
            <a:r>
              <a:rPr lang="ko-KR" altLang="en-US" dirty="0"/>
              <a:t>아이의 행동만 보면 ‘왜 울어</a:t>
            </a:r>
            <a:r>
              <a:rPr lang="en-US" altLang="ko-KR" dirty="0"/>
              <a:t>?’, ‘</a:t>
            </a:r>
            <a:r>
              <a:rPr lang="ko-KR" altLang="en-US" dirty="0"/>
              <a:t>왜 화를 내</a:t>
            </a:r>
            <a:r>
              <a:rPr lang="en-US" altLang="ko-KR" dirty="0"/>
              <a:t>?’</a:t>
            </a:r>
            <a:r>
              <a:rPr lang="ko-KR" altLang="en-US" dirty="0"/>
              <a:t>라고 하기 쉽습니다</a:t>
            </a:r>
            <a:r>
              <a:rPr lang="en-US" altLang="ko-KR" dirty="0"/>
              <a:t>.</a:t>
            </a:r>
            <a:br>
              <a:rPr lang="en-US" altLang="ko-KR" dirty="0"/>
            </a:br>
            <a:r>
              <a:rPr lang="ko-KR" altLang="en-US" dirty="0"/>
              <a:t>하지만 한 번 더 생각해 보는 겁니다</a:t>
            </a:r>
            <a:r>
              <a:rPr lang="en-US" altLang="ko-KR" dirty="0"/>
              <a:t>.</a:t>
            </a:r>
          </a:p>
          <a:p>
            <a:r>
              <a:rPr lang="ko-KR" altLang="en-US" b="1" dirty="0"/>
              <a:t>무슨 일이 있었지</a:t>
            </a:r>
            <a:r>
              <a:rPr lang="en-US" altLang="ko-KR" b="1" dirty="0"/>
              <a:t>? → </a:t>
            </a:r>
            <a:r>
              <a:rPr lang="ko-KR" altLang="en-US" b="1" dirty="0"/>
              <a:t>어떤 마음이지</a:t>
            </a:r>
            <a:r>
              <a:rPr lang="en-US" altLang="ko-KR" b="1" dirty="0"/>
              <a:t>? → </a:t>
            </a:r>
            <a:r>
              <a:rPr lang="ko-KR" altLang="en-US" b="1" dirty="0"/>
              <a:t>무엇을 원하는 걸까</a:t>
            </a:r>
            <a:r>
              <a:rPr lang="en-US" altLang="ko-KR" b="1" dirty="0"/>
              <a:t>?</a:t>
            </a:r>
            <a:endParaRPr lang="ko-KR" altLang="en-US" dirty="0"/>
          </a:p>
          <a:p>
            <a:r>
              <a:rPr lang="ko-KR" altLang="en-US" dirty="0"/>
              <a:t>이렇게 아이의 마음을 따라가다 보면 </a:t>
            </a:r>
            <a:r>
              <a:rPr lang="ko-KR" altLang="en-US" b="1" dirty="0"/>
              <a:t>행동 뒤에 숨어 있는 진짜 마음을 더 잘 이해할 수 있습니다</a:t>
            </a:r>
            <a:r>
              <a:rPr lang="en-US" altLang="ko-KR" b="1" dirty="0"/>
              <a:t>.</a:t>
            </a:r>
            <a:r>
              <a:rPr lang="ko-KR" altLang="en-US" dirty="0"/>
              <a:t>”</a:t>
            </a:r>
          </a:p>
          <a:p>
            <a:endParaRPr lang="ko-KR" altLang="en-US" dirty="0"/>
          </a:p>
        </p:txBody>
      </p:sp>
    </p:spTree>
    <p:extLst>
      <p:ext uri="{BB962C8B-B14F-4D97-AF65-F5344CB8AC3E}">
        <p14:creationId xmlns:p14="http://schemas.microsoft.com/office/powerpoint/2010/main" val="18541840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924175" y="849313"/>
            <a:ext cx="4078288" cy="2293937"/>
          </a:xfrm>
          <a:prstGeom prst="rect">
            <a:avLst/>
          </a:prstGeom>
          <a:noFill/>
          <a:ln w="12700">
            <a:solidFill>
              <a:prstClr val="black"/>
            </a:solidFill>
          </a:ln>
        </p:spPr>
      </p:sp>
      <p:sp>
        <p:nvSpPr>
          <p:cNvPr id="3" name="슬라이드 노트 개체 틀 2"/>
          <p:cNvSpPr>
            <a:spLocks noGrp="1"/>
          </p:cNvSpPr>
          <p:nvPr>
            <p:ph type="body" idx="1"/>
          </p:nvPr>
        </p:nvSpPr>
        <p:spPr>
          <a:xfrm>
            <a:off x="992188" y="3271838"/>
            <a:ext cx="7942262" cy="2676525"/>
          </a:xfrm>
          <a:prstGeom prst="rect">
            <a:avLst/>
          </a:prstGeom>
        </p:spPr>
        <p:txBody>
          <a:bodyPr/>
          <a:lstStyle/>
          <a:p>
            <a:r>
              <a:rPr lang="ko-KR" altLang="en-US" dirty="0"/>
              <a:t>“우리가 살아가면서 원하는 </a:t>
            </a:r>
            <a:r>
              <a:rPr lang="ko-KR" altLang="en-US" b="1" dirty="0"/>
              <a:t>바람</a:t>
            </a:r>
            <a:r>
              <a:rPr lang="en-US" altLang="ko-KR" b="1" dirty="0"/>
              <a:t>, </a:t>
            </a:r>
            <a:r>
              <a:rPr lang="ko-KR" altLang="en-US" b="1" dirty="0"/>
              <a:t>즉 욕구</a:t>
            </a:r>
            <a:r>
              <a:rPr lang="ko-KR" altLang="en-US" dirty="0"/>
              <a:t>는 크게 세 가지로 생각해 볼 수 있습니다</a:t>
            </a:r>
            <a:r>
              <a:rPr lang="en-US" altLang="ko-KR" dirty="0"/>
              <a:t>.</a:t>
            </a:r>
          </a:p>
          <a:p>
            <a:r>
              <a:rPr lang="ko-KR" altLang="en-US" dirty="0"/>
              <a:t>첫째</a:t>
            </a:r>
            <a:r>
              <a:rPr lang="en-US" altLang="ko-KR" dirty="0"/>
              <a:t>, </a:t>
            </a:r>
            <a:r>
              <a:rPr lang="ko-KR" altLang="en-US" b="1" dirty="0"/>
              <a:t>안전하고 건강하게 살고 싶은 바람</a:t>
            </a:r>
            <a:r>
              <a:rPr lang="en-US" altLang="ko-KR" dirty="0"/>
              <a:t>,</a:t>
            </a:r>
            <a:br>
              <a:rPr lang="en-US" altLang="ko-KR" dirty="0"/>
            </a:br>
            <a:r>
              <a:rPr lang="ko-KR" altLang="en-US" dirty="0"/>
              <a:t>둘째</a:t>
            </a:r>
            <a:r>
              <a:rPr lang="en-US" altLang="ko-KR" dirty="0"/>
              <a:t>, </a:t>
            </a:r>
            <a:r>
              <a:rPr lang="ko-KR" altLang="en-US" b="1" dirty="0"/>
              <a:t>사랑받고 다른 사람과 함께하고 싶은 바람</a:t>
            </a:r>
            <a:r>
              <a:rPr lang="en-US" altLang="ko-KR" dirty="0"/>
              <a:t>,</a:t>
            </a:r>
            <a:br>
              <a:rPr lang="en-US" altLang="ko-KR" dirty="0"/>
            </a:br>
            <a:r>
              <a:rPr lang="ko-KR" altLang="en-US" dirty="0"/>
              <a:t>셋째</a:t>
            </a:r>
            <a:r>
              <a:rPr lang="en-US" altLang="ko-KR" dirty="0"/>
              <a:t>, </a:t>
            </a:r>
            <a:r>
              <a:rPr lang="ko-KR" altLang="en-US" b="1" dirty="0"/>
              <a:t>인정받고 성장하고 싶은 바람</a:t>
            </a:r>
            <a:r>
              <a:rPr lang="ko-KR" altLang="en-US" dirty="0"/>
              <a:t>입니다</a:t>
            </a:r>
            <a:r>
              <a:rPr lang="en-US" altLang="ko-KR" dirty="0"/>
              <a:t>.</a:t>
            </a:r>
          </a:p>
          <a:p>
            <a:r>
              <a:rPr lang="ko-KR" altLang="en-US" dirty="0"/>
              <a:t>어른도 아이도 이런 바람을 가지고 있습니다</a:t>
            </a:r>
            <a:r>
              <a:rPr lang="en-US" altLang="ko-KR" dirty="0"/>
              <a:t>.</a:t>
            </a:r>
            <a:br>
              <a:rPr lang="en-US" altLang="ko-KR" dirty="0"/>
            </a:br>
            <a:r>
              <a:rPr lang="ko-KR" altLang="en-US" dirty="0"/>
              <a:t>그래서 아이의 행동만 보기보다 </a:t>
            </a:r>
            <a:r>
              <a:rPr lang="ko-KR" altLang="en-US" b="1" dirty="0"/>
              <a:t>‘이 아이가 지금 무엇을 바라고 있을까</a:t>
            </a:r>
            <a:r>
              <a:rPr lang="en-US" altLang="ko-KR" b="1" dirty="0"/>
              <a:t>?’</a:t>
            </a:r>
            <a:r>
              <a:rPr lang="ko-KR" altLang="en-US" dirty="0"/>
              <a:t>를 생각해 보면 아이의 마음을 더 잘 이해할 수 있습니다</a:t>
            </a:r>
            <a:r>
              <a:rPr lang="en-US" altLang="ko-KR" dirty="0"/>
              <a:t>.</a:t>
            </a:r>
          </a:p>
          <a:p>
            <a:r>
              <a:rPr lang="ko-KR" altLang="en-US" b="1" dirty="0"/>
              <a:t>행동 뒤에는 감정이 있고</a:t>
            </a:r>
            <a:r>
              <a:rPr lang="en-US" altLang="ko-KR" b="1" dirty="0"/>
              <a:t>, </a:t>
            </a:r>
            <a:r>
              <a:rPr lang="ko-KR" altLang="en-US" b="1" dirty="0"/>
              <a:t>감정 뒤에는 바람이 있습니다</a:t>
            </a:r>
            <a:r>
              <a:rPr lang="en-US" altLang="ko-KR" b="1" dirty="0"/>
              <a:t>.</a:t>
            </a:r>
            <a:r>
              <a:rPr lang="ko-KR" altLang="en-US" dirty="0"/>
              <a:t>”</a:t>
            </a:r>
          </a:p>
          <a:p>
            <a:endParaRPr lang="ko-KR" altLang="en-US" dirty="0"/>
          </a:p>
        </p:txBody>
      </p:sp>
    </p:spTree>
    <p:extLst>
      <p:ext uri="{BB962C8B-B14F-4D97-AF65-F5344CB8AC3E}">
        <p14:creationId xmlns:p14="http://schemas.microsoft.com/office/powerpoint/2010/main" val="39055195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924175" y="849313"/>
            <a:ext cx="4078288" cy="2293937"/>
          </a:xfrm>
          <a:prstGeom prst="rect">
            <a:avLst/>
          </a:prstGeom>
          <a:noFill/>
          <a:ln w="12700">
            <a:solidFill>
              <a:prstClr val="black"/>
            </a:solidFill>
          </a:ln>
        </p:spPr>
      </p:sp>
      <p:sp>
        <p:nvSpPr>
          <p:cNvPr id="3" name="슬라이드 노트 개체 틀 2"/>
          <p:cNvSpPr>
            <a:spLocks noGrp="1"/>
          </p:cNvSpPr>
          <p:nvPr>
            <p:ph type="body" idx="1"/>
          </p:nvPr>
        </p:nvSpPr>
        <p:spPr>
          <a:xfrm>
            <a:off x="992188" y="3271838"/>
            <a:ext cx="7942262" cy="2676525"/>
          </a:xfrm>
          <a:prstGeom prst="rect">
            <a:avLst/>
          </a:prstGeom>
        </p:spPr>
        <p:txBody>
          <a:bodyPr/>
          <a:lstStyle/>
          <a:p>
            <a:r>
              <a:rPr lang="ko-KR" altLang="en-US" dirty="0"/>
              <a:t>“우리에게는 또 다른 바람도 있습니다</a:t>
            </a:r>
            <a:r>
              <a:rPr lang="en-US" altLang="ko-KR" dirty="0"/>
              <a:t>.</a:t>
            </a:r>
          </a:p>
          <a:p>
            <a:r>
              <a:rPr lang="ko-KR" altLang="en-US" b="1" dirty="0"/>
              <a:t>내가 선택하고 자유롭게 살고 싶은 마음</a:t>
            </a:r>
            <a:r>
              <a:rPr lang="en-US" altLang="ko-KR" dirty="0"/>
              <a:t>,</a:t>
            </a:r>
            <a:br>
              <a:rPr lang="en-US" altLang="ko-KR" dirty="0"/>
            </a:br>
            <a:r>
              <a:rPr lang="ko-KR" altLang="en-US" b="1" dirty="0"/>
              <a:t>새로운 것을 배우고 즐기고 싶은 마음</a:t>
            </a:r>
            <a:r>
              <a:rPr lang="en-US" altLang="ko-KR" dirty="0"/>
              <a:t>,</a:t>
            </a:r>
            <a:br>
              <a:rPr lang="en-US" altLang="ko-KR" dirty="0"/>
            </a:br>
            <a:r>
              <a:rPr lang="ko-KR" altLang="en-US" dirty="0"/>
              <a:t>그리고 </a:t>
            </a:r>
            <a:r>
              <a:rPr lang="ko-KR" altLang="en-US" b="1" dirty="0"/>
              <a:t>내 삶을 의미 있고 가치 있게 살고 싶은 마음</a:t>
            </a:r>
            <a:r>
              <a:rPr lang="ko-KR" altLang="en-US" dirty="0"/>
              <a:t>입니다</a:t>
            </a:r>
            <a:r>
              <a:rPr lang="en-US" altLang="ko-KR" dirty="0"/>
              <a:t>.</a:t>
            </a:r>
          </a:p>
          <a:p>
            <a:r>
              <a:rPr lang="ko-KR" altLang="en-US" dirty="0"/>
              <a:t>아이들도 마찬가지입니다</a:t>
            </a:r>
            <a:r>
              <a:rPr lang="en-US" altLang="ko-KR" dirty="0"/>
              <a:t>.</a:t>
            </a:r>
            <a:br>
              <a:rPr lang="en-US" altLang="ko-KR" dirty="0"/>
            </a:br>
            <a:r>
              <a:rPr lang="ko-KR" altLang="en-US" dirty="0"/>
              <a:t>스스로 해보고 싶고</a:t>
            </a:r>
            <a:r>
              <a:rPr lang="en-US" altLang="ko-KR" dirty="0"/>
              <a:t>, </a:t>
            </a:r>
            <a:r>
              <a:rPr lang="ko-KR" altLang="en-US" dirty="0"/>
              <a:t>재미있게 배우고 싶고</a:t>
            </a:r>
            <a:r>
              <a:rPr lang="en-US" altLang="ko-KR" dirty="0"/>
              <a:t>, </a:t>
            </a:r>
            <a:r>
              <a:rPr lang="ko-KR" altLang="en-US" dirty="0"/>
              <a:t>자신이 소중한 사람이라고 느끼고 싶어 합니다</a:t>
            </a:r>
            <a:r>
              <a:rPr lang="en-US" altLang="ko-KR" dirty="0"/>
              <a:t>.</a:t>
            </a:r>
          </a:p>
          <a:p>
            <a:r>
              <a:rPr lang="ko-KR" altLang="en-US" dirty="0"/>
              <a:t>그래서 아이의 행동을 볼 때 </a:t>
            </a:r>
            <a:r>
              <a:rPr lang="ko-KR" altLang="en-US" b="1" dirty="0"/>
              <a:t>‘왜 저럴까</a:t>
            </a:r>
            <a:r>
              <a:rPr lang="en-US" altLang="ko-KR" b="1" dirty="0"/>
              <a:t>?’</a:t>
            </a:r>
            <a:r>
              <a:rPr lang="ko-KR" altLang="en-US" b="1" dirty="0"/>
              <a:t>보다 ‘지금 무엇을 바라고 있을까</a:t>
            </a:r>
            <a:r>
              <a:rPr lang="en-US" altLang="ko-KR" b="1" dirty="0"/>
              <a:t>?’</a:t>
            </a:r>
            <a:r>
              <a:rPr lang="ko-KR" altLang="en-US" dirty="0"/>
              <a:t>라고 생각해 보면 아이를 이해하는 데 도움이 됩니다</a:t>
            </a:r>
            <a:r>
              <a:rPr lang="en-US" altLang="ko-KR" dirty="0"/>
              <a:t>.”</a:t>
            </a:r>
          </a:p>
          <a:p>
            <a:endParaRPr lang="ko-KR" altLang="en-US" dirty="0"/>
          </a:p>
        </p:txBody>
      </p:sp>
    </p:spTree>
    <p:extLst>
      <p:ext uri="{BB962C8B-B14F-4D97-AF65-F5344CB8AC3E}">
        <p14:creationId xmlns:p14="http://schemas.microsoft.com/office/powerpoint/2010/main" val="28755177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924175" y="849313"/>
            <a:ext cx="4078288" cy="2293937"/>
          </a:xfrm>
          <a:prstGeom prst="rect">
            <a:avLst/>
          </a:prstGeom>
          <a:noFill/>
          <a:ln w="12700">
            <a:solidFill>
              <a:prstClr val="black"/>
            </a:solidFill>
          </a:ln>
        </p:spPr>
      </p:sp>
      <p:sp>
        <p:nvSpPr>
          <p:cNvPr id="3" name="슬라이드 노트 개체 틀 2"/>
          <p:cNvSpPr>
            <a:spLocks noGrp="1"/>
          </p:cNvSpPr>
          <p:nvPr>
            <p:ph type="body" idx="1"/>
          </p:nvPr>
        </p:nvSpPr>
        <p:spPr>
          <a:xfrm>
            <a:off x="992188" y="3271838"/>
            <a:ext cx="7942262" cy="2676525"/>
          </a:xfrm>
          <a:prstGeom prst="rect">
            <a:avLst/>
          </a:prstGeom>
        </p:spPr>
        <p:txBody>
          <a:bodyPr/>
          <a:lstStyle/>
          <a:p>
            <a:r>
              <a:rPr lang="ko-KR" altLang="en-US" dirty="0"/>
              <a:t>“우리의 행동을 이해하려면 </a:t>
            </a:r>
            <a:r>
              <a:rPr lang="ko-KR" altLang="en-US" b="1" dirty="0"/>
              <a:t>상황</a:t>
            </a:r>
            <a:r>
              <a:rPr lang="en-US" altLang="ko-KR" b="1" dirty="0"/>
              <a:t>–</a:t>
            </a:r>
            <a:r>
              <a:rPr lang="ko-KR" altLang="en-US" b="1" dirty="0"/>
              <a:t>감정</a:t>
            </a:r>
            <a:r>
              <a:rPr lang="en-US" altLang="ko-KR" b="1" dirty="0"/>
              <a:t>–</a:t>
            </a:r>
            <a:r>
              <a:rPr lang="ko-KR" altLang="en-US" b="1" dirty="0"/>
              <a:t>바람</a:t>
            </a:r>
            <a:r>
              <a:rPr lang="ko-KR" altLang="en-US" dirty="0"/>
              <a:t>을 함께 보면 좋습니다</a:t>
            </a:r>
            <a:r>
              <a:rPr lang="en-US" altLang="ko-KR" dirty="0"/>
              <a:t>.</a:t>
            </a:r>
          </a:p>
          <a:p>
            <a:r>
              <a:rPr lang="ko-KR" altLang="en-US" dirty="0"/>
              <a:t>어떤 </a:t>
            </a:r>
            <a:r>
              <a:rPr lang="ko-KR" altLang="en-US" b="1" dirty="0"/>
              <a:t>상황</a:t>
            </a:r>
            <a:r>
              <a:rPr lang="ko-KR" altLang="en-US" dirty="0"/>
              <a:t>이 생기면 우리는 여러 </a:t>
            </a:r>
            <a:r>
              <a:rPr lang="ko-KR" altLang="en-US" b="1" dirty="0"/>
              <a:t>감정</a:t>
            </a:r>
            <a:r>
              <a:rPr lang="ko-KR" altLang="en-US" dirty="0"/>
              <a:t>을 느끼고</a:t>
            </a:r>
            <a:r>
              <a:rPr lang="en-US" altLang="ko-KR" dirty="0"/>
              <a:t>, </a:t>
            </a:r>
            <a:r>
              <a:rPr lang="ko-KR" altLang="en-US" dirty="0"/>
              <a:t>그 감정 뒤에는 </a:t>
            </a:r>
            <a:r>
              <a:rPr lang="ko-KR" altLang="en-US" b="1" dirty="0"/>
              <a:t>‘내가 정말 원하는 것’</a:t>
            </a:r>
            <a:r>
              <a:rPr lang="en-US" altLang="ko-KR" b="1" dirty="0"/>
              <a:t>, </a:t>
            </a:r>
            <a:r>
              <a:rPr lang="ko-KR" altLang="en-US" b="1" dirty="0"/>
              <a:t>즉 바람</a:t>
            </a:r>
            <a:r>
              <a:rPr lang="ko-KR" altLang="en-US" dirty="0"/>
              <a:t>이 있습니다</a:t>
            </a:r>
            <a:r>
              <a:rPr lang="en-US" altLang="ko-KR" dirty="0"/>
              <a:t>.</a:t>
            </a:r>
          </a:p>
          <a:p>
            <a:r>
              <a:rPr lang="ko-KR" altLang="en-US" dirty="0"/>
              <a:t>예를 들어 아이가 화를 낸다면</a:t>
            </a:r>
            <a:r>
              <a:rPr lang="en-US" altLang="ko-KR" dirty="0"/>
              <a:t>, </a:t>
            </a:r>
            <a:r>
              <a:rPr lang="ko-KR" altLang="en-US" dirty="0"/>
              <a:t>화만 보지 말고</a:t>
            </a:r>
            <a:br>
              <a:rPr lang="ko-KR" altLang="en-US" dirty="0"/>
            </a:br>
            <a:r>
              <a:rPr lang="ko-KR" altLang="en-US" b="1" dirty="0"/>
              <a:t>‘무엇이 속상했을까</a:t>
            </a:r>
            <a:r>
              <a:rPr lang="en-US" altLang="ko-KR" b="1" dirty="0"/>
              <a:t>? </a:t>
            </a:r>
            <a:r>
              <a:rPr lang="ko-KR" altLang="en-US" b="1" dirty="0"/>
              <a:t>무엇을 바라고 있을까</a:t>
            </a:r>
            <a:r>
              <a:rPr lang="en-US" altLang="ko-KR" b="1" dirty="0"/>
              <a:t>?’</a:t>
            </a:r>
            <a:r>
              <a:rPr lang="ko-KR" altLang="en-US" dirty="0"/>
              <a:t>를 생각해 보는 것입니다</a:t>
            </a:r>
            <a:r>
              <a:rPr lang="en-US" altLang="ko-KR" dirty="0"/>
              <a:t>.</a:t>
            </a:r>
          </a:p>
          <a:p>
            <a:r>
              <a:rPr lang="ko-KR" altLang="en-US" dirty="0"/>
              <a:t>바람이 채워지지 않으면 힘든 감정과 행동으로 나타날 수 있고</a:t>
            </a:r>
            <a:r>
              <a:rPr lang="en-US" altLang="ko-KR" dirty="0"/>
              <a:t>, </a:t>
            </a:r>
            <a:r>
              <a:rPr lang="ko-KR" altLang="en-US" dirty="0"/>
              <a:t>바람이 채워지면 마음이 편안해지고 긍정적인 행동으로 이어질 수 있습니다</a:t>
            </a:r>
            <a:r>
              <a:rPr lang="en-US" altLang="ko-KR" dirty="0"/>
              <a:t>.</a:t>
            </a:r>
          </a:p>
          <a:p>
            <a:r>
              <a:rPr lang="ko-KR" altLang="en-US" dirty="0"/>
              <a:t>그래서 </a:t>
            </a:r>
            <a:r>
              <a:rPr lang="ko-KR" altLang="en-US" b="1" dirty="0"/>
              <a:t>행동만 고치려고 하기보다 그 안에 있는 감정과 바람을 알아주는 것</a:t>
            </a:r>
            <a:r>
              <a:rPr lang="ko-KR" altLang="en-US" dirty="0"/>
              <a:t>이 중요합니다</a:t>
            </a:r>
            <a:r>
              <a:rPr lang="en-US" altLang="ko-KR" dirty="0"/>
              <a:t>.”</a:t>
            </a:r>
          </a:p>
          <a:p>
            <a:endParaRPr lang="ko-KR" altLang="en-US" dirty="0"/>
          </a:p>
        </p:txBody>
      </p:sp>
    </p:spTree>
    <p:extLst>
      <p:ext uri="{BB962C8B-B14F-4D97-AF65-F5344CB8AC3E}">
        <p14:creationId xmlns:p14="http://schemas.microsoft.com/office/powerpoint/2010/main" val="15061428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924175" y="849313"/>
            <a:ext cx="4078288" cy="2293937"/>
          </a:xfrm>
          <a:prstGeom prst="rect">
            <a:avLst/>
          </a:prstGeom>
          <a:noFill/>
          <a:ln w="12700">
            <a:solidFill>
              <a:prstClr val="black"/>
            </a:solidFill>
          </a:ln>
        </p:spPr>
      </p:sp>
      <p:sp>
        <p:nvSpPr>
          <p:cNvPr id="3" name="슬라이드 노트 개체 틀 2"/>
          <p:cNvSpPr>
            <a:spLocks noGrp="1"/>
          </p:cNvSpPr>
          <p:nvPr>
            <p:ph type="body" idx="1"/>
          </p:nvPr>
        </p:nvSpPr>
        <p:spPr>
          <a:xfrm>
            <a:off x="992188" y="3271838"/>
            <a:ext cx="7942262" cy="2676525"/>
          </a:xfrm>
          <a:prstGeom prst="rect">
            <a:avLst/>
          </a:prstGeom>
        </p:spPr>
        <p:txBody>
          <a:bodyPr/>
          <a:lstStyle/>
          <a:p>
            <a:r>
              <a:rPr lang="ko-KR" altLang="en-US" dirty="0"/>
              <a:t>“이번에는 아이의 입장에서 생각해 보겠습니다</a:t>
            </a:r>
            <a:r>
              <a:rPr lang="en-US" altLang="ko-KR" dirty="0"/>
              <a:t>.</a:t>
            </a:r>
          </a:p>
          <a:p>
            <a:r>
              <a:rPr lang="ko-KR" altLang="en-US" dirty="0"/>
              <a:t>선생님을 여러 번 불렀는데 선생님이 듣지 못했습니다</a:t>
            </a:r>
            <a:r>
              <a:rPr lang="en-US" altLang="ko-KR" dirty="0"/>
              <a:t>. </a:t>
            </a:r>
            <a:r>
              <a:rPr lang="ko-KR" altLang="en-US" dirty="0"/>
              <a:t>이것이 </a:t>
            </a:r>
            <a:r>
              <a:rPr lang="ko-KR" altLang="en-US" b="1" dirty="0"/>
              <a:t>상황</a:t>
            </a:r>
            <a:r>
              <a:rPr lang="ko-KR" altLang="en-US" dirty="0"/>
              <a:t>입니다</a:t>
            </a:r>
            <a:r>
              <a:rPr lang="en-US" altLang="ko-KR" dirty="0"/>
              <a:t>.</a:t>
            </a:r>
            <a:br>
              <a:rPr lang="en-US" altLang="ko-KR" dirty="0"/>
            </a:br>
            <a:r>
              <a:rPr lang="ko-KR" altLang="en-US" dirty="0"/>
              <a:t>아이는 </a:t>
            </a:r>
            <a:r>
              <a:rPr lang="ko-KR" altLang="en-US" b="1" dirty="0"/>
              <a:t>속상한 감정</a:t>
            </a:r>
            <a:r>
              <a:rPr lang="ko-KR" altLang="en-US" dirty="0"/>
              <a:t>을 느꼈고</a:t>
            </a:r>
            <a:r>
              <a:rPr lang="en-US" altLang="ko-KR" dirty="0"/>
              <a:t>, </a:t>
            </a:r>
            <a:r>
              <a:rPr lang="ko-KR" altLang="en-US" dirty="0"/>
              <a:t>그 마음속에는 </a:t>
            </a:r>
            <a:r>
              <a:rPr lang="ko-KR" altLang="en-US" b="1" dirty="0"/>
              <a:t>‘선생님이 내 말을 들어주었으면 </a:t>
            </a:r>
            <a:r>
              <a:rPr lang="ko-KR" altLang="en-US" b="1" dirty="0" err="1"/>
              <a:t>좋겠다’는</a:t>
            </a:r>
            <a:r>
              <a:rPr lang="ko-KR" altLang="en-US" b="1" dirty="0"/>
              <a:t> 바람</a:t>
            </a:r>
            <a:r>
              <a:rPr lang="ko-KR" altLang="en-US" dirty="0"/>
              <a:t>이 있었습니다</a:t>
            </a:r>
            <a:r>
              <a:rPr lang="en-US" altLang="ko-KR" dirty="0"/>
              <a:t>.</a:t>
            </a:r>
          </a:p>
          <a:p>
            <a:r>
              <a:rPr lang="ko-KR" altLang="en-US" dirty="0"/>
              <a:t>이렇게 </a:t>
            </a:r>
            <a:r>
              <a:rPr lang="ko-KR" altLang="en-US" b="1" dirty="0"/>
              <a:t>‘무슨 일이 있었는지</a:t>
            </a:r>
            <a:r>
              <a:rPr lang="en-US" altLang="ko-KR" b="1" dirty="0"/>
              <a:t>–</a:t>
            </a:r>
            <a:r>
              <a:rPr lang="ko-KR" altLang="en-US" b="1" dirty="0"/>
              <a:t>어떤 마음이었는지</a:t>
            </a:r>
            <a:r>
              <a:rPr lang="en-US" altLang="ko-KR" b="1" dirty="0"/>
              <a:t>–</a:t>
            </a:r>
            <a:r>
              <a:rPr lang="ko-KR" altLang="en-US" b="1" dirty="0"/>
              <a:t>무엇을 바라는지’</a:t>
            </a:r>
            <a:r>
              <a:rPr lang="ko-KR" altLang="en-US" dirty="0"/>
              <a:t> 차례대로 말하면 상대방도 내 마음을 더 쉽게 이해할 수 있습니다</a:t>
            </a:r>
            <a:r>
              <a:rPr lang="en-US" altLang="ko-KR" dirty="0"/>
              <a:t>.</a:t>
            </a:r>
          </a:p>
          <a:p>
            <a:r>
              <a:rPr lang="ko-KR" altLang="en-US" dirty="0"/>
              <a:t>아이에게도 </a:t>
            </a:r>
            <a:r>
              <a:rPr lang="ko-KR" altLang="en-US" b="1" dirty="0"/>
              <a:t>상황</a:t>
            </a:r>
            <a:r>
              <a:rPr lang="en-US" altLang="ko-KR" b="1" dirty="0"/>
              <a:t>–</a:t>
            </a:r>
            <a:r>
              <a:rPr lang="ko-KR" altLang="en-US" b="1" dirty="0"/>
              <a:t>감정</a:t>
            </a:r>
            <a:r>
              <a:rPr lang="en-US" altLang="ko-KR" b="1" dirty="0"/>
              <a:t>–</a:t>
            </a:r>
            <a:r>
              <a:rPr lang="ko-KR" altLang="en-US" b="1" dirty="0"/>
              <a:t>바람으로 말하는 연습</a:t>
            </a:r>
            <a:r>
              <a:rPr lang="ko-KR" altLang="en-US" dirty="0"/>
              <a:t>을 시켜주세요</a:t>
            </a:r>
            <a:r>
              <a:rPr lang="en-US" altLang="ko-KR" dirty="0"/>
              <a:t>.”</a:t>
            </a:r>
          </a:p>
          <a:p>
            <a:endParaRPr lang="ko-KR" altLang="en-US" dirty="0"/>
          </a:p>
        </p:txBody>
      </p:sp>
    </p:spTree>
    <p:extLst>
      <p:ext uri="{BB962C8B-B14F-4D97-AF65-F5344CB8AC3E}">
        <p14:creationId xmlns:p14="http://schemas.microsoft.com/office/powerpoint/2010/main" val="96598922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924175" y="849313"/>
            <a:ext cx="4078288" cy="2293937"/>
          </a:xfrm>
          <a:prstGeom prst="rect">
            <a:avLst/>
          </a:prstGeom>
          <a:noFill/>
          <a:ln w="12700">
            <a:solidFill>
              <a:prstClr val="black"/>
            </a:solidFill>
          </a:ln>
        </p:spPr>
      </p:sp>
      <p:sp>
        <p:nvSpPr>
          <p:cNvPr id="3" name="슬라이드 노트 개체 틀 2"/>
          <p:cNvSpPr>
            <a:spLocks noGrp="1"/>
          </p:cNvSpPr>
          <p:nvPr>
            <p:ph type="body" idx="1"/>
          </p:nvPr>
        </p:nvSpPr>
        <p:spPr>
          <a:xfrm>
            <a:off x="992188" y="3271838"/>
            <a:ext cx="7942262" cy="2676525"/>
          </a:xfrm>
          <a:prstGeom prst="rect">
            <a:avLst/>
          </a:prstGeom>
        </p:spPr>
        <p:txBody>
          <a:bodyPr/>
          <a:lstStyle/>
          <a:p>
            <a:r>
              <a:rPr lang="ko-KR" altLang="en-US" dirty="0"/>
              <a:t>“이번에는 친구가 내 물건을 허락 없이 사용한 상황입니다</a:t>
            </a:r>
            <a:r>
              <a:rPr lang="en-US" altLang="ko-KR" dirty="0"/>
              <a:t>.</a:t>
            </a:r>
          </a:p>
          <a:p>
            <a:r>
              <a:rPr lang="ko-KR" altLang="en-US" dirty="0"/>
              <a:t>이때 아이는 </a:t>
            </a:r>
            <a:r>
              <a:rPr lang="ko-KR" altLang="en-US" b="1" dirty="0"/>
              <a:t>화나고 속상하고 걱정될 수 있습니다</a:t>
            </a:r>
            <a:r>
              <a:rPr lang="en-US" altLang="ko-KR" b="1" dirty="0"/>
              <a:t>.</a:t>
            </a:r>
            <a:br>
              <a:rPr lang="ko-KR" altLang="en-US" dirty="0"/>
            </a:br>
            <a:r>
              <a:rPr lang="ko-KR" altLang="en-US" dirty="0"/>
              <a:t>그 감정 뒤에는 </a:t>
            </a:r>
            <a:r>
              <a:rPr lang="ko-KR" altLang="en-US" b="1" dirty="0"/>
              <a:t>‘내 물건을 소중히 다뤄줬으면 </a:t>
            </a:r>
            <a:r>
              <a:rPr lang="ko-KR" altLang="en-US" b="1" dirty="0" err="1"/>
              <a:t>좋겠어</a:t>
            </a:r>
            <a:r>
              <a:rPr lang="ko-KR" altLang="en-US" b="1" dirty="0"/>
              <a:t>’</a:t>
            </a:r>
            <a:r>
              <a:rPr lang="en-US" altLang="ko-KR" b="1" dirty="0"/>
              <a:t>, ‘</a:t>
            </a:r>
            <a:r>
              <a:rPr lang="ko-KR" altLang="en-US" b="1" dirty="0"/>
              <a:t>먼저 허락을 구해줬으면 </a:t>
            </a:r>
            <a:r>
              <a:rPr lang="ko-KR" altLang="en-US" b="1" dirty="0" err="1"/>
              <a:t>좋겠어’</a:t>
            </a:r>
            <a:r>
              <a:rPr lang="ko-KR" altLang="en-US" dirty="0" err="1"/>
              <a:t>라는</a:t>
            </a:r>
            <a:r>
              <a:rPr lang="ko-KR" altLang="en-US" dirty="0"/>
              <a:t> 바람이 있습니다</a:t>
            </a:r>
            <a:r>
              <a:rPr lang="en-US" altLang="ko-KR" dirty="0"/>
              <a:t>.</a:t>
            </a:r>
          </a:p>
          <a:p>
            <a:r>
              <a:rPr lang="ko-KR" altLang="en-US" dirty="0"/>
              <a:t>그래서 ‘너 왜 내 물건을 마음대로 써</a:t>
            </a:r>
            <a:r>
              <a:rPr lang="en-US" altLang="ko-KR" dirty="0"/>
              <a:t>!’</a:t>
            </a:r>
            <a:r>
              <a:rPr lang="ko-KR" altLang="en-US" dirty="0"/>
              <a:t>라고 하기보다</a:t>
            </a:r>
            <a:r>
              <a:rPr lang="en-US" altLang="ko-KR" dirty="0"/>
              <a:t>,</a:t>
            </a:r>
            <a:br>
              <a:rPr lang="en-US" altLang="ko-KR" dirty="0"/>
            </a:br>
            <a:r>
              <a:rPr lang="ko-KR" altLang="en-US" b="1" dirty="0"/>
              <a:t>‘네가 내 물건을 허락 없이 써서 </a:t>
            </a:r>
            <a:r>
              <a:rPr lang="ko-KR" altLang="en-US" b="1" dirty="0" err="1"/>
              <a:t>속상했어</a:t>
            </a:r>
            <a:r>
              <a:rPr lang="en-US" altLang="ko-KR" b="1" dirty="0"/>
              <a:t>. </a:t>
            </a:r>
            <a:r>
              <a:rPr lang="ko-KR" altLang="en-US" b="1" dirty="0"/>
              <a:t>다음에는 먼저 물어봐 줬으면 </a:t>
            </a:r>
            <a:r>
              <a:rPr lang="ko-KR" altLang="en-US" b="1" dirty="0" err="1"/>
              <a:t>좋겠어</a:t>
            </a:r>
            <a:r>
              <a:rPr lang="en-US" altLang="ko-KR" b="1" dirty="0"/>
              <a:t>.’</a:t>
            </a:r>
            <a:r>
              <a:rPr lang="ko-KR" altLang="en-US" dirty="0"/>
              <a:t>라고 말하도록 도와주세요</a:t>
            </a:r>
            <a:r>
              <a:rPr lang="en-US" altLang="ko-KR" dirty="0"/>
              <a:t>.</a:t>
            </a:r>
          </a:p>
          <a:p>
            <a:r>
              <a:rPr lang="ko-KR" altLang="en-US" b="1" dirty="0"/>
              <a:t>상황</a:t>
            </a:r>
            <a:r>
              <a:rPr lang="en-US" altLang="ko-KR" b="1" dirty="0"/>
              <a:t>–</a:t>
            </a:r>
            <a:r>
              <a:rPr lang="ko-KR" altLang="en-US" b="1" dirty="0"/>
              <a:t>감정</a:t>
            </a:r>
            <a:r>
              <a:rPr lang="en-US" altLang="ko-KR" b="1" dirty="0"/>
              <a:t>–</a:t>
            </a:r>
            <a:r>
              <a:rPr lang="ko-KR" altLang="en-US" b="1" dirty="0"/>
              <a:t>바람으로 말하면 싸움보다 대화로 해결하기 쉬워집니다</a:t>
            </a:r>
            <a:r>
              <a:rPr lang="en-US" altLang="ko-KR" b="1" dirty="0"/>
              <a:t>.</a:t>
            </a:r>
            <a:r>
              <a:rPr lang="ko-KR" altLang="en-US" dirty="0"/>
              <a:t>”</a:t>
            </a:r>
          </a:p>
          <a:p>
            <a:endParaRPr lang="ko-KR" altLang="en-US" dirty="0"/>
          </a:p>
        </p:txBody>
      </p:sp>
    </p:spTree>
    <p:extLst>
      <p:ext uri="{BB962C8B-B14F-4D97-AF65-F5344CB8AC3E}">
        <p14:creationId xmlns:p14="http://schemas.microsoft.com/office/powerpoint/2010/main" val="180025049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924175" y="849313"/>
            <a:ext cx="4078288" cy="2293937"/>
          </a:xfrm>
          <a:prstGeom prst="rect">
            <a:avLst/>
          </a:prstGeom>
          <a:noFill/>
          <a:ln w="12700">
            <a:solidFill>
              <a:prstClr val="black"/>
            </a:solidFill>
          </a:ln>
        </p:spPr>
      </p:sp>
      <p:sp>
        <p:nvSpPr>
          <p:cNvPr id="3" name="슬라이드 노트 개체 틀 2"/>
          <p:cNvSpPr>
            <a:spLocks noGrp="1"/>
          </p:cNvSpPr>
          <p:nvPr>
            <p:ph type="body" idx="1"/>
          </p:nvPr>
        </p:nvSpPr>
        <p:spPr>
          <a:xfrm>
            <a:off x="992188" y="3271838"/>
            <a:ext cx="7942262" cy="2676525"/>
          </a:xfrm>
          <a:prstGeom prst="rect">
            <a:avLst/>
          </a:prstGeom>
        </p:spPr>
        <p:txBody>
          <a:bodyPr/>
          <a:lstStyle/>
          <a:p>
            <a:r>
              <a:rPr lang="ko-KR" altLang="en-US" dirty="0"/>
              <a:t>“이번에는 많은 사람 앞에서 내 그림을 발표하는 상황입니다</a:t>
            </a:r>
            <a:r>
              <a:rPr lang="en-US" altLang="ko-KR" dirty="0"/>
              <a:t>.</a:t>
            </a:r>
          </a:p>
          <a:p>
            <a:r>
              <a:rPr lang="ko-KR" altLang="en-US" dirty="0"/>
              <a:t>이때 아이는 </a:t>
            </a:r>
            <a:r>
              <a:rPr lang="ko-KR" altLang="en-US" b="1" dirty="0"/>
              <a:t>긴장되기도 하고 신나기도 합니다</a:t>
            </a:r>
            <a:r>
              <a:rPr lang="en-US" altLang="ko-KR" b="1" dirty="0"/>
              <a:t>.</a:t>
            </a:r>
            <a:br>
              <a:rPr lang="ko-KR" altLang="en-US" dirty="0"/>
            </a:br>
            <a:r>
              <a:rPr lang="ko-KR" altLang="en-US" dirty="0"/>
              <a:t>그 감정 뒤에는 </a:t>
            </a:r>
            <a:r>
              <a:rPr lang="ko-KR" altLang="en-US" b="1" dirty="0"/>
              <a:t>‘사람들이 나를 이해해 주었으면 좋겠다’</a:t>
            </a:r>
            <a:r>
              <a:rPr lang="en-US" altLang="ko-KR" b="1" dirty="0"/>
              <a:t>, ‘</a:t>
            </a:r>
            <a:r>
              <a:rPr lang="ko-KR" altLang="en-US" b="1" dirty="0"/>
              <a:t>내가 한 것을 인정하고 응원해 주었으면 </a:t>
            </a:r>
            <a:r>
              <a:rPr lang="ko-KR" altLang="en-US" b="1" dirty="0" err="1"/>
              <a:t>좋겠다’</a:t>
            </a:r>
            <a:r>
              <a:rPr lang="ko-KR" altLang="en-US" dirty="0" err="1"/>
              <a:t>는</a:t>
            </a:r>
            <a:r>
              <a:rPr lang="ko-KR" altLang="en-US" dirty="0"/>
              <a:t> 바람이 있을 수 있습니다</a:t>
            </a:r>
            <a:r>
              <a:rPr lang="en-US" altLang="ko-KR" dirty="0"/>
              <a:t>.</a:t>
            </a:r>
          </a:p>
          <a:p>
            <a:r>
              <a:rPr lang="ko-KR" altLang="en-US" dirty="0"/>
              <a:t>여기서 중요한 점은 </a:t>
            </a:r>
            <a:r>
              <a:rPr lang="ko-KR" altLang="en-US" b="1" dirty="0"/>
              <a:t>같은 상황에서도 여러 감정을 느낄 수 있고</a:t>
            </a:r>
            <a:r>
              <a:rPr lang="en-US" altLang="ko-KR" b="1" dirty="0"/>
              <a:t>, </a:t>
            </a:r>
            <a:r>
              <a:rPr lang="ko-KR" altLang="en-US" b="1" dirty="0"/>
              <a:t>그 안에는 내가 중요하게 생각하는 바람이 있다는 것</a:t>
            </a:r>
            <a:r>
              <a:rPr lang="ko-KR" altLang="en-US" dirty="0"/>
              <a:t>입니다</a:t>
            </a:r>
            <a:r>
              <a:rPr lang="en-US" altLang="ko-KR" dirty="0"/>
              <a:t>.</a:t>
            </a:r>
          </a:p>
          <a:p>
            <a:r>
              <a:rPr lang="ko-KR" altLang="en-US" dirty="0"/>
              <a:t>아이에게 </a:t>
            </a:r>
            <a:r>
              <a:rPr lang="ko-KR" altLang="en-US" b="1" dirty="0"/>
              <a:t>‘지금 어떤 마음이야</a:t>
            </a:r>
            <a:r>
              <a:rPr lang="en-US" altLang="ko-KR" b="1" dirty="0"/>
              <a:t>? </a:t>
            </a:r>
            <a:r>
              <a:rPr lang="ko-KR" altLang="en-US" b="1" dirty="0"/>
              <a:t>무엇을 바라고 있어</a:t>
            </a:r>
            <a:r>
              <a:rPr lang="en-US" altLang="ko-KR" b="1" dirty="0"/>
              <a:t>?’</a:t>
            </a:r>
            <a:r>
              <a:rPr lang="ko-KR" altLang="en-US" dirty="0"/>
              <a:t>라고 물어봐 주세요</a:t>
            </a:r>
            <a:r>
              <a:rPr lang="en-US" altLang="ko-KR" dirty="0"/>
              <a:t>.”</a:t>
            </a:r>
          </a:p>
          <a:p>
            <a:endParaRPr lang="ko-KR" altLang="en-US" dirty="0"/>
          </a:p>
        </p:txBody>
      </p:sp>
    </p:spTree>
    <p:extLst>
      <p:ext uri="{BB962C8B-B14F-4D97-AF65-F5344CB8AC3E}">
        <p14:creationId xmlns:p14="http://schemas.microsoft.com/office/powerpoint/2010/main" val="411594446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924175" y="849313"/>
            <a:ext cx="4078288" cy="2293937"/>
          </a:xfrm>
          <a:prstGeom prst="rect">
            <a:avLst/>
          </a:prstGeom>
          <a:noFill/>
          <a:ln w="12700">
            <a:solidFill>
              <a:prstClr val="black"/>
            </a:solidFill>
          </a:ln>
        </p:spPr>
      </p:sp>
      <p:sp>
        <p:nvSpPr>
          <p:cNvPr id="3" name="슬라이드 노트 개체 틀 2"/>
          <p:cNvSpPr>
            <a:spLocks noGrp="1"/>
          </p:cNvSpPr>
          <p:nvPr>
            <p:ph type="body" idx="1"/>
          </p:nvPr>
        </p:nvSpPr>
        <p:spPr>
          <a:xfrm>
            <a:off x="992188" y="3271838"/>
            <a:ext cx="7942262" cy="2676525"/>
          </a:xfrm>
          <a:prstGeom prst="rect">
            <a:avLst/>
          </a:prstGeom>
        </p:spPr>
        <p:txBody>
          <a:bodyPr/>
          <a:lstStyle/>
          <a:p>
            <a:r>
              <a:rPr lang="ko-KR" altLang="en-US" dirty="0"/>
              <a:t>“새로운 대화 방법을 배운다고 바로 익숙해지는 것은 아닙니다</a:t>
            </a:r>
            <a:r>
              <a:rPr lang="en-US" altLang="ko-KR" dirty="0"/>
              <a:t>.</a:t>
            </a:r>
          </a:p>
          <a:p>
            <a:r>
              <a:rPr lang="ko-KR" altLang="en-US" dirty="0"/>
              <a:t>처음에는 </a:t>
            </a:r>
            <a:r>
              <a:rPr lang="ko-KR" altLang="en-US" b="1" dirty="0"/>
              <a:t>지금까지 하던 방식</a:t>
            </a:r>
            <a:r>
              <a:rPr lang="ko-KR" altLang="en-US" dirty="0"/>
              <a:t>이 편합니다</a:t>
            </a:r>
            <a:r>
              <a:rPr lang="en-US" altLang="ko-KR" dirty="0"/>
              <a:t>. </a:t>
            </a:r>
            <a:r>
              <a:rPr lang="ko-KR" altLang="en-US" dirty="0"/>
              <a:t>새로운 방법을 배우면 잠시 </a:t>
            </a:r>
            <a:r>
              <a:rPr lang="ko-KR" altLang="en-US" b="1" dirty="0"/>
              <a:t>어색하고 혼란스러울 수 있습니다</a:t>
            </a:r>
            <a:r>
              <a:rPr lang="en-US" altLang="ko-KR" b="1" dirty="0"/>
              <a:t>.</a:t>
            </a:r>
            <a:r>
              <a:rPr lang="ko-KR" altLang="en-US" dirty="0"/>
              <a:t> 하지만 계속 연습하면 조금씩 익숙해지고</a:t>
            </a:r>
            <a:r>
              <a:rPr lang="en-US" altLang="ko-KR" dirty="0"/>
              <a:t>, </a:t>
            </a:r>
            <a:r>
              <a:rPr lang="ko-KR" altLang="en-US" dirty="0"/>
              <a:t>결국 </a:t>
            </a:r>
            <a:r>
              <a:rPr lang="ko-KR" altLang="en-US" b="1" dirty="0"/>
              <a:t>새로운 대화 방식이 자연스러워집니다</a:t>
            </a:r>
            <a:r>
              <a:rPr lang="en-US" altLang="ko-KR" b="1" dirty="0"/>
              <a:t>.</a:t>
            </a:r>
            <a:endParaRPr lang="ko-KR" altLang="en-US" dirty="0"/>
          </a:p>
          <a:p>
            <a:r>
              <a:rPr lang="ko-KR" altLang="en-US" dirty="0"/>
              <a:t>부모도 아이도 변화에는 시간이 필요합니다</a:t>
            </a:r>
            <a:r>
              <a:rPr lang="en-US" altLang="ko-KR" dirty="0"/>
              <a:t>.</a:t>
            </a:r>
            <a:br>
              <a:rPr lang="en-US" altLang="ko-KR" dirty="0"/>
            </a:br>
            <a:r>
              <a:rPr lang="ko-KR" altLang="en-US" b="1" dirty="0"/>
              <a:t>잘하려고 하기보다</a:t>
            </a:r>
            <a:r>
              <a:rPr lang="en-US" altLang="ko-KR" b="1" dirty="0"/>
              <a:t>, </a:t>
            </a:r>
            <a:r>
              <a:rPr lang="ko-KR" altLang="en-US" b="1" dirty="0"/>
              <a:t>조금씩 반복해서 실천하는 것이 중요합니다</a:t>
            </a:r>
            <a:r>
              <a:rPr lang="en-US" altLang="ko-KR" b="1" dirty="0"/>
              <a:t>.</a:t>
            </a:r>
            <a:r>
              <a:rPr lang="ko-KR" altLang="en-US" dirty="0"/>
              <a:t>”</a:t>
            </a:r>
          </a:p>
          <a:p>
            <a:endParaRPr lang="ko-KR" altLang="en-US" dirty="0"/>
          </a:p>
        </p:txBody>
      </p:sp>
    </p:spTree>
    <p:extLst>
      <p:ext uri="{BB962C8B-B14F-4D97-AF65-F5344CB8AC3E}">
        <p14:creationId xmlns:p14="http://schemas.microsoft.com/office/powerpoint/2010/main" val="28997356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91190658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그런데 우리가 살아가다 보면 취향보다 더 큰 '다름'을 만나게 됩니다. 바로 문화입니다. 많은 사람들은 문화를 '한국 문화와 베트남 문화'처럼 나라 사이의 차이라고만 생각합니다. 하지만 사실 문화는 훨씬 우리 가까이에 있습니다.</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78932409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그래서 문화란 단순히 국적의 차이가 아니라, '한 집단의 사람들이 자연스럽게 익히고 살아가는 생활방식과 생각하는 방식'이라고 할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21953023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925763" y="850900"/>
            <a:ext cx="4075112" cy="2292350"/>
          </a:xfrm>
          <a:prstGeom prst="rect">
            <a:avLst/>
          </a:prstGeom>
          <a:noFill/>
          <a:ln w="12700">
            <a:solidFill>
              <a:prstClr val="black"/>
            </a:solidFill>
          </a:ln>
        </p:spPr>
      </p:sp>
      <p:sp>
        <p:nvSpPr>
          <p:cNvPr id="3" name="슬라이드 노트 개체 틀 2"/>
          <p:cNvSpPr>
            <a:spLocks noGrp="1"/>
          </p:cNvSpPr>
          <p:nvPr>
            <p:ph type="body" idx="1"/>
          </p:nvPr>
        </p:nvSpPr>
        <p:spPr>
          <a:xfrm>
            <a:off x="992201" y="3271103"/>
            <a:ext cx="7942238" cy="2676455"/>
          </a:xfrm>
          <a:prstGeom prst="rect">
            <a:avLst/>
          </a:prstGeom>
        </p:spPr>
        <p:txBody>
          <a:bodyPr/>
          <a:lstStyle/>
          <a:p>
            <a:r>
              <a:rPr lang="ko-KR" altLang="en-US" dirty="0"/>
              <a:t>또 어떤 분은 커피를 좋아하고</a:t>
            </a:r>
            <a:r>
              <a:rPr lang="en-US" altLang="ko-KR" dirty="0"/>
              <a:t>, </a:t>
            </a:r>
            <a:r>
              <a:rPr lang="ko-KR" altLang="en-US" dirty="0"/>
              <a:t>어떤 분은 차를 좋아합니다</a:t>
            </a:r>
            <a:r>
              <a:rPr lang="en-US" altLang="ko-KR" dirty="0"/>
              <a:t>.</a:t>
            </a:r>
            <a:br>
              <a:rPr lang="en-US" altLang="ko-KR" dirty="0"/>
            </a:br>
            <a:r>
              <a:rPr lang="ko-KR" altLang="en-US" dirty="0"/>
              <a:t>매운 음식을 좋아하는 사람도 있고</a:t>
            </a:r>
            <a:r>
              <a:rPr lang="en-US" altLang="ko-KR" dirty="0"/>
              <a:t>, </a:t>
            </a:r>
            <a:r>
              <a:rPr lang="ko-KR" altLang="en-US" dirty="0"/>
              <a:t>전혀 못 먹는 사람도 있습니다</a:t>
            </a:r>
            <a:r>
              <a:rPr lang="en-US" altLang="ko-KR" dirty="0"/>
              <a:t>.</a:t>
            </a:r>
          </a:p>
          <a:p>
            <a:r>
              <a:rPr lang="ko-KR" altLang="en-US" dirty="0"/>
              <a:t>이런 것은 무엇이 다르기 때문일까요</a:t>
            </a:r>
            <a:r>
              <a:rPr lang="en-US" altLang="ko-KR" dirty="0"/>
              <a:t>?</a:t>
            </a:r>
            <a:r>
              <a:rPr lang="ko-KR" altLang="en-US" b="1" dirty="0"/>
              <a:t>취향이 다르기 때문입니다</a:t>
            </a:r>
            <a:r>
              <a:rPr lang="en-US" altLang="ko-KR" b="1" dirty="0"/>
              <a:t>.</a:t>
            </a:r>
            <a:endParaRPr lang="ko-KR" altLang="en-US" dirty="0"/>
          </a:p>
          <a:p>
            <a:r>
              <a:rPr lang="ko-KR" altLang="en-US" dirty="0"/>
              <a:t>취향에는 정답도 없고 틀림도 없습니다</a:t>
            </a:r>
            <a:r>
              <a:rPr lang="en-US" altLang="ko-KR" dirty="0"/>
              <a:t>. </a:t>
            </a:r>
            <a:r>
              <a:rPr lang="ko-KR" altLang="en-US" dirty="0"/>
              <a:t>그냥 서로 다를 뿐입니다</a:t>
            </a:r>
            <a:r>
              <a:rPr lang="en-US" altLang="ko-KR" dirty="0"/>
              <a:t>.</a:t>
            </a:r>
          </a:p>
          <a:p>
            <a:r>
              <a:rPr lang="ko-KR" altLang="en-US" dirty="0"/>
              <a:t>그런데 우리가 살아가다 보면 취향보다 더 큰 </a:t>
            </a:r>
            <a:r>
              <a:rPr lang="en-US" altLang="ko-KR" dirty="0"/>
              <a:t>'</a:t>
            </a:r>
            <a:r>
              <a:rPr lang="ko-KR" altLang="en-US" dirty="0"/>
              <a:t>다름</a:t>
            </a:r>
            <a:r>
              <a:rPr lang="en-US" altLang="ko-KR" dirty="0"/>
              <a:t>'</a:t>
            </a:r>
            <a:r>
              <a:rPr lang="ko-KR" altLang="en-US" dirty="0"/>
              <a:t>을 만나게 됩니다</a:t>
            </a:r>
            <a:r>
              <a:rPr lang="en-US" altLang="ko-KR" dirty="0"/>
              <a:t>.</a:t>
            </a:r>
          </a:p>
          <a:p>
            <a:r>
              <a:rPr lang="ko-KR" altLang="en-US" dirty="0"/>
              <a:t>바로 </a:t>
            </a:r>
            <a:r>
              <a:rPr lang="ko-KR" altLang="en-US" b="1" dirty="0"/>
              <a:t>문화</a:t>
            </a:r>
            <a:r>
              <a:rPr lang="ko-KR" altLang="en-US" dirty="0"/>
              <a:t>입니다</a:t>
            </a:r>
            <a:r>
              <a:rPr lang="en-US" altLang="ko-KR" dirty="0"/>
              <a:t>.</a:t>
            </a:r>
          </a:p>
          <a:p>
            <a:r>
              <a:rPr lang="ko-KR" altLang="en-US" dirty="0"/>
              <a:t>많은 사람들은 문화를 </a:t>
            </a:r>
            <a:r>
              <a:rPr lang="en-US" altLang="ko-KR" dirty="0"/>
              <a:t>'</a:t>
            </a:r>
            <a:r>
              <a:rPr lang="ko-KR" altLang="en-US" dirty="0"/>
              <a:t>한국 문화와 베트남 문화</a:t>
            </a:r>
            <a:r>
              <a:rPr lang="en-US" altLang="ko-KR" dirty="0"/>
              <a:t>', '</a:t>
            </a:r>
            <a:r>
              <a:rPr lang="ko-KR" altLang="en-US" dirty="0"/>
              <a:t>한국 문화와 필리핀 문화</a:t>
            </a:r>
            <a:r>
              <a:rPr lang="en-US" altLang="ko-KR" dirty="0"/>
              <a:t>'</a:t>
            </a:r>
            <a:r>
              <a:rPr lang="ko-KR" altLang="en-US" dirty="0"/>
              <a:t>처럼 나라 사이의 차이라고만 생각합니다</a:t>
            </a:r>
            <a:r>
              <a:rPr lang="en-US" altLang="ko-KR" dirty="0"/>
              <a:t>.</a:t>
            </a:r>
          </a:p>
          <a:p>
            <a:r>
              <a:rPr lang="ko-KR" altLang="en-US" dirty="0"/>
              <a:t>하지만 사실 문화는 훨씬 우리 가까이에 있습니다</a:t>
            </a:r>
            <a:r>
              <a:rPr lang="en-US" altLang="ko-KR" dirty="0"/>
              <a:t>.</a:t>
            </a:r>
          </a:p>
          <a:p>
            <a:r>
              <a:rPr lang="ko-KR" altLang="en-US" dirty="0"/>
              <a:t>예를 들어</a:t>
            </a:r>
            <a:r>
              <a:rPr lang="en-US" altLang="ko-KR" dirty="0"/>
              <a:t>,</a:t>
            </a:r>
          </a:p>
          <a:p>
            <a:pPr>
              <a:buFont typeface="Arial" panose="020B0604020202020204" pitchFamily="34" charset="0"/>
              <a:buChar char="•"/>
            </a:pPr>
            <a:r>
              <a:rPr lang="en-US" altLang="ko-KR" dirty="0"/>
              <a:t>70</a:t>
            </a:r>
            <a:r>
              <a:rPr lang="ko-KR" altLang="en-US" dirty="0"/>
              <a:t>대 어르신들이 중요하게 생각하는 것과</a:t>
            </a:r>
            <a:br>
              <a:rPr lang="ko-KR" altLang="en-US" dirty="0"/>
            </a:br>
            <a:r>
              <a:rPr lang="en-US" altLang="ko-KR" dirty="0"/>
              <a:t>20</a:t>
            </a:r>
            <a:r>
              <a:rPr lang="ko-KR" altLang="en-US" dirty="0"/>
              <a:t>대 청년들이 중요하게 생각하는 것이 다릅니다</a:t>
            </a:r>
            <a:r>
              <a:rPr lang="en-US" altLang="ko-KR" dirty="0"/>
              <a:t>. </a:t>
            </a:r>
          </a:p>
          <a:p>
            <a:pPr>
              <a:buFont typeface="Arial" panose="020B0604020202020204" pitchFamily="34" charset="0"/>
              <a:buChar char="•"/>
            </a:pPr>
            <a:r>
              <a:rPr lang="ko-KR" altLang="en-US" dirty="0"/>
              <a:t>중학생들이 사용하는 말과 부모님이 사용하는 말도 다릅니다</a:t>
            </a:r>
            <a:r>
              <a:rPr lang="en-US" altLang="ko-KR" dirty="0"/>
              <a:t>. </a:t>
            </a:r>
          </a:p>
          <a:p>
            <a:pPr>
              <a:buFont typeface="Arial" panose="020B0604020202020204" pitchFamily="34" charset="0"/>
              <a:buChar char="•"/>
            </a:pPr>
            <a:r>
              <a:rPr lang="ko-KR" altLang="en-US" dirty="0"/>
              <a:t>남편과 아내가 자란 가정의 분위기도 다를 수 있습니다</a:t>
            </a:r>
            <a:r>
              <a:rPr lang="en-US" altLang="ko-KR" dirty="0"/>
              <a:t>. </a:t>
            </a:r>
          </a:p>
          <a:p>
            <a:pPr>
              <a:buFont typeface="Arial" panose="020B0604020202020204" pitchFamily="34" charset="0"/>
              <a:buChar char="•"/>
            </a:pPr>
            <a:r>
              <a:rPr lang="ko-KR" altLang="en-US" dirty="0"/>
              <a:t>심지어 같은 학교 안에서도 학년마다 분위기가 다르고</a:t>
            </a:r>
            <a:r>
              <a:rPr lang="en-US" altLang="ko-KR" dirty="0"/>
              <a:t>,</a:t>
            </a:r>
            <a:br>
              <a:rPr lang="en-US" altLang="ko-KR" dirty="0"/>
            </a:br>
            <a:r>
              <a:rPr lang="ko-KR" altLang="en-US" dirty="0"/>
              <a:t>같은 반에서도 </a:t>
            </a:r>
            <a:r>
              <a:rPr lang="ko-KR" altLang="en-US" dirty="0" err="1"/>
              <a:t>친구들끼리의</a:t>
            </a:r>
            <a:r>
              <a:rPr lang="ko-KR" altLang="en-US" dirty="0"/>
              <a:t> 문화가 있습니다</a:t>
            </a:r>
            <a:r>
              <a:rPr lang="en-US" altLang="ko-KR" dirty="0"/>
              <a:t>. </a:t>
            </a:r>
          </a:p>
          <a:p>
            <a:r>
              <a:rPr lang="ko-KR" altLang="en-US" dirty="0"/>
              <a:t>이처럼 문화는 </a:t>
            </a:r>
            <a:r>
              <a:rPr lang="ko-KR" altLang="en-US" b="1" dirty="0"/>
              <a:t>국가 간에도 있고</a:t>
            </a:r>
            <a:r>
              <a:rPr lang="en-US" altLang="ko-KR" b="1" dirty="0"/>
              <a:t>,</a:t>
            </a:r>
            <a:br>
              <a:rPr lang="en-US" altLang="ko-KR" b="1" dirty="0"/>
            </a:br>
            <a:r>
              <a:rPr lang="ko-KR" altLang="en-US" b="1" dirty="0"/>
              <a:t>세대 간에도 있고</a:t>
            </a:r>
            <a:r>
              <a:rPr lang="en-US" altLang="ko-KR" b="1" dirty="0"/>
              <a:t>,</a:t>
            </a:r>
            <a:br>
              <a:rPr lang="en-US" altLang="ko-KR" b="1" dirty="0"/>
            </a:br>
            <a:r>
              <a:rPr lang="ko-KR" altLang="en-US" b="1" dirty="0"/>
              <a:t>또래 사이에도 있고</a:t>
            </a:r>
            <a:r>
              <a:rPr lang="en-US" altLang="ko-KR" b="1" dirty="0"/>
              <a:t>,</a:t>
            </a:r>
            <a:br>
              <a:rPr lang="en-US" altLang="ko-KR" b="1" dirty="0"/>
            </a:br>
            <a:r>
              <a:rPr lang="ko-KR" altLang="en-US" b="1" dirty="0"/>
              <a:t>가정 안에도 존재합니다</a:t>
            </a:r>
            <a:r>
              <a:rPr lang="en-US" altLang="ko-KR" b="1" dirty="0"/>
              <a:t>.</a:t>
            </a:r>
            <a:endParaRPr lang="ko-KR" altLang="en-US" dirty="0"/>
          </a:p>
          <a:p>
            <a:r>
              <a:rPr lang="ko-KR" altLang="en-US" dirty="0"/>
              <a:t>그래서 문화란 단순히 국적의 차이가 아니라</a:t>
            </a:r>
            <a:r>
              <a:rPr lang="en-US" altLang="ko-KR" dirty="0"/>
              <a:t>,</a:t>
            </a:r>
          </a:p>
          <a:p>
            <a:r>
              <a:rPr lang="en-US" altLang="ko-KR" b="1" dirty="0"/>
              <a:t>'</a:t>
            </a:r>
            <a:r>
              <a:rPr lang="ko-KR" altLang="en-US" b="1" dirty="0"/>
              <a:t>한 집단의 사람들이 자연스럽게 익히고 살아가는 생활방식과 생각하는 방식</a:t>
            </a:r>
            <a:r>
              <a:rPr lang="en-US" altLang="ko-KR" b="1" dirty="0"/>
              <a:t>'</a:t>
            </a:r>
            <a:r>
              <a:rPr lang="ko-KR" altLang="en-US" dirty="0"/>
              <a:t>이라고 할 수 있습니다</a:t>
            </a:r>
            <a:r>
              <a:rPr lang="en-US" altLang="ko-KR" dirty="0"/>
              <a:t>.</a:t>
            </a:r>
          </a:p>
          <a:p>
            <a:endParaRPr lang="ko-KR" altLang="en-US" dirty="0"/>
          </a:p>
        </p:txBody>
      </p:sp>
    </p:spTree>
    <p:extLst>
      <p:ext uri="{BB962C8B-B14F-4D97-AF65-F5344CB8AC3E}">
        <p14:creationId xmlns:p14="http://schemas.microsoft.com/office/powerpoint/2010/main" val="15159516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7031" tIns="53515" rIns="107031" bIns="53515"/>
          <a:lstStyle/>
          <a:p>
            <a:pPr marL="127000" latinLnBrk="1">
              <a:lnSpc>
                <a:spcPct val="125000"/>
              </a:lnSpc>
              <a:spcAft>
                <a:spcPts val="600"/>
              </a:spcAft>
            </a:pPr>
            <a:r>
              <a:rPr lang="ko-KR" altLang="ko-KR" sz="1800" dirty="0">
                <a:solidFill>
                  <a:srgbClr val="262626"/>
                </a:solidFill>
                <a:effectLst/>
                <a:latin typeface="맑은 고딕" panose="020B0503020000020004" pitchFamily="50" charset="-127"/>
                <a:ea typeface="맑은 고딕" panose="020B0503020000020004" pitchFamily="50" charset="-127"/>
                <a:cs typeface="맑은 고딕" panose="020B0503020000020004" pitchFamily="50" charset="-127"/>
              </a:rPr>
              <a:t>두 문화는 아이의 자산입니다</a:t>
            </a:r>
            <a:r>
              <a:rPr lang="en-US" altLang="ko-KR" sz="1800" dirty="0">
                <a:solidFill>
                  <a:srgbClr val="262626"/>
                </a:solidFill>
                <a:effectLst/>
                <a:latin typeface="맑은 고딕" panose="020B0503020000020004" pitchFamily="50" charset="-127"/>
                <a:ea typeface="맑은 고딕" panose="020B0503020000020004" pitchFamily="50" charset="-127"/>
                <a:cs typeface="맑은 고딕" panose="020B0503020000020004" pitchFamily="50" charset="-127"/>
              </a:rPr>
              <a:t>.</a:t>
            </a:r>
            <a:endParaRPr lang="ko-KR" altLang="ko-KR" sz="1800" dirty="0">
              <a:effectLst/>
              <a:latin typeface="맑은 고딕" panose="020B0503020000020004" pitchFamily="50" charset="-127"/>
              <a:ea typeface="맑은 고딕" panose="020B0503020000020004" pitchFamily="50" charset="-127"/>
              <a:cs typeface="맑은 고딕" panose="020B0503020000020004" pitchFamily="50" charset="-127"/>
            </a:endParaRPr>
          </a:p>
          <a:p>
            <a:pPr marL="127000" latinLnBrk="1">
              <a:lnSpc>
                <a:spcPct val="125000"/>
              </a:lnSpc>
              <a:spcAft>
                <a:spcPts val="600"/>
              </a:spcAft>
            </a:pPr>
            <a:r>
              <a:rPr lang="ko-KR" altLang="ko-KR" sz="1800" dirty="0">
                <a:solidFill>
                  <a:srgbClr val="262626"/>
                </a:solidFill>
                <a:effectLst/>
                <a:latin typeface="맑은 고딕" panose="020B0503020000020004" pitchFamily="50" charset="-127"/>
                <a:ea typeface="맑은 고딕" panose="020B0503020000020004" pitchFamily="50" charset="-127"/>
                <a:cs typeface="맑은 고딕" panose="020B0503020000020004" pitchFamily="50" charset="-127"/>
              </a:rPr>
              <a:t>첫째</a:t>
            </a:r>
            <a:r>
              <a:rPr lang="en-US" altLang="ko-KR" sz="1800" dirty="0">
                <a:solidFill>
                  <a:srgbClr val="262626"/>
                </a:solidFill>
                <a:effectLst/>
                <a:latin typeface="맑은 고딕" panose="020B0503020000020004" pitchFamily="50" charset="-127"/>
                <a:ea typeface="맑은 고딕" panose="020B0503020000020004" pitchFamily="50" charset="-127"/>
                <a:cs typeface="맑은 고딕" panose="020B0503020000020004" pitchFamily="50" charset="-127"/>
              </a:rPr>
              <a:t>, </a:t>
            </a:r>
            <a:r>
              <a:rPr lang="ko-KR" altLang="ko-KR" sz="1800" dirty="0">
                <a:solidFill>
                  <a:srgbClr val="262626"/>
                </a:solidFill>
                <a:effectLst/>
                <a:latin typeface="맑은 고딕" panose="020B0503020000020004" pitchFamily="50" charset="-127"/>
                <a:ea typeface="맑은 고딕" panose="020B0503020000020004" pitchFamily="50" charset="-127"/>
                <a:cs typeface="맑은 고딕" panose="020B0503020000020004" pitchFamily="50" charset="-127"/>
              </a:rPr>
              <a:t>두 언어는 능력입니다</a:t>
            </a:r>
            <a:r>
              <a:rPr lang="en-US" altLang="ko-KR" sz="1800" dirty="0">
                <a:solidFill>
                  <a:srgbClr val="262626"/>
                </a:solidFill>
                <a:effectLst/>
                <a:latin typeface="맑은 고딕" panose="020B0503020000020004" pitchFamily="50" charset="-127"/>
                <a:ea typeface="맑은 고딕" panose="020B0503020000020004" pitchFamily="50" charset="-127"/>
                <a:cs typeface="맑은 고딕" panose="020B0503020000020004" pitchFamily="50" charset="-127"/>
              </a:rPr>
              <a:t>. </a:t>
            </a:r>
            <a:r>
              <a:rPr lang="ko-KR" altLang="ko-KR" sz="1800" dirty="0">
                <a:solidFill>
                  <a:srgbClr val="262626"/>
                </a:solidFill>
                <a:effectLst/>
                <a:latin typeface="맑은 고딕" panose="020B0503020000020004" pitchFamily="50" charset="-127"/>
                <a:ea typeface="맑은 고딕" panose="020B0503020000020004" pitchFamily="50" charset="-127"/>
                <a:cs typeface="맑은 고딕" panose="020B0503020000020004" pitchFamily="50" charset="-127"/>
              </a:rPr>
              <a:t>집에서 가족의 언어를 자연스럽게 쓰세요</a:t>
            </a:r>
            <a:r>
              <a:rPr lang="en-US" altLang="ko-KR" sz="1800" dirty="0">
                <a:solidFill>
                  <a:srgbClr val="262626"/>
                </a:solidFill>
                <a:effectLst/>
                <a:latin typeface="맑은 고딕" panose="020B0503020000020004" pitchFamily="50" charset="-127"/>
                <a:ea typeface="맑은 고딕" panose="020B0503020000020004" pitchFamily="50" charset="-127"/>
                <a:cs typeface="맑은 고딕" panose="020B0503020000020004" pitchFamily="50" charset="-127"/>
              </a:rPr>
              <a:t>.</a:t>
            </a:r>
            <a:endParaRPr lang="ko-KR" altLang="ko-KR" sz="1800" dirty="0">
              <a:effectLst/>
              <a:latin typeface="맑은 고딕" panose="020B0503020000020004" pitchFamily="50" charset="-127"/>
              <a:ea typeface="맑은 고딕" panose="020B0503020000020004" pitchFamily="50" charset="-127"/>
              <a:cs typeface="맑은 고딕" panose="020B0503020000020004" pitchFamily="50" charset="-127"/>
            </a:endParaRPr>
          </a:p>
          <a:p>
            <a:pPr marL="127000" latinLnBrk="1">
              <a:lnSpc>
                <a:spcPct val="125000"/>
              </a:lnSpc>
              <a:spcAft>
                <a:spcPts val="600"/>
              </a:spcAft>
            </a:pPr>
            <a:r>
              <a:rPr lang="ko-KR" altLang="ko-KR" sz="1800" dirty="0">
                <a:solidFill>
                  <a:srgbClr val="262626"/>
                </a:solidFill>
                <a:effectLst/>
                <a:latin typeface="맑은 고딕" panose="020B0503020000020004" pitchFamily="50" charset="-127"/>
                <a:ea typeface="맑은 고딕" panose="020B0503020000020004" pitchFamily="50" charset="-127"/>
                <a:cs typeface="맑은 고딕" panose="020B0503020000020004" pitchFamily="50" charset="-127"/>
              </a:rPr>
              <a:t>둘째</a:t>
            </a:r>
            <a:r>
              <a:rPr lang="en-US" altLang="ko-KR" sz="1800" dirty="0">
                <a:solidFill>
                  <a:srgbClr val="262626"/>
                </a:solidFill>
                <a:effectLst/>
                <a:latin typeface="맑은 고딕" panose="020B0503020000020004" pitchFamily="50" charset="-127"/>
                <a:ea typeface="맑은 고딕" panose="020B0503020000020004" pitchFamily="50" charset="-127"/>
                <a:cs typeface="맑은 고딕" panose="020B0503020000020004" pitchFamily="50" charset="-127"/>
              </a:rPr>
              <a:t>, </a:t>
            </a:r>
            <a:r>
              <a:rPr lang="ko-KR" altLang="ko-KR" sz="1800" dirty="0">
                <a:solidFill>
                  <a:srgbClr val="262626"/>
                </a:solidFill>
                <a:effectLst/>
                <a:latin typeface="맑은 고딕" panose="020B0503020000020004" pitchFamily="50" charset="-127"/>
                <a:ea typeface="맑은 고딕" panose="020B0503020000020004" pitchFamily="50" charset="-127"/>
                <a:cs typeface="맑은 고딕" panose="020B0503020000020004" pitchFamily="50" charset="-127"/>
              </a:rPr>
              <a:t>두 문화는 강점입니다</a:t>
            </a:r>
            <a:r>
              <a:rPr lang="en-US" altLang="ko-KR" sz="1800" dirty="0">
                <a:solidFill>
                  <a:srgbClr val="262626"/>
                </a:solidFill>
                <a:effectLst/>
                <a:latin typeface="맑은 고딕" panose="020B0503020000020004" pitchFamily="50" charset="-127"/>
                <a:ea typeface="맑은 고딕" panose="020B0503020000020004" pitchFamily="50" charset="-127"/>
                <a:cs typeface="맑은 고딕" panose="020B0503020000020004" pitchFamily="50" charset="-127"/>
              </a:rPr>
              <a:t>. </a:t>
            </a:r>
            <a:r>
              <a:rPr lang="ko-KR" altLang="ko-KR" sz="1800" dirty="0">
                <a:solidFill>
                  <a:srgbClr val="262626"/>
                </a:solidFill>
                <a:effectLst/>
                <a:latin typeface="맑은 고딕" panose="020B0503020000020004" pitchFamily="50" charset="-127"/>
                <a:ea typeface="맑은 고딕" panose="020B0503020000020004" pitchFamily="50" charset="-127"/>
                <a:cs typeface="맑은 고딕" panose="020B0503020000020004" pitchFamily="50" charset="-127"/>
              </a:rPr>
              <a:t>두 나라의 음식</a:t>
            </a:r>
            <a:r>
              <a:rPr lang="en-US" altLang="ko-KR" sz="1800" dirty="0">
                <a:solidFill>
                  <a:srgbClr val="262626"/>
                </a:solidFill>
                <a:effectLst/>
                <a:latin typeface="맑은 고딕" panose="020B0503020000020004" pitchFamily="50" charset="-127"/>
                <a:ea typeface="맑은 고딕" panose="020B0503020000020004" pitchFamily="50" charset="-127"/>
                <a:cs typeface="맑은 고딕" panose="020B0503020000020004" pitchFamily="50" charset="-127"/>
              </a:rPr>
              <a:t>, </a:t>
            </a:r>
            <a:r>
              <a:rPr lang="ko-KR" altLang="ko-KR" sz="1800" dirty="0">
                <a:solidFill>
                  <a:srgbClr val="262626"/>
                </a:solidFill>
                <a:effectLst/>
                <a:latin typeface="맑은 고딕" panose="020B0503020000020004" pitchFamily="50" charset="-127"/>
                <a:ea typeface="맑은 고딕" panose="020B0503020000020004" pitchFamily="50" charset="-127"/>
                <a:cs typeface="맑은 고딕" panose="020B0503020000020004" pitchFamily="50" charset="-127"/>
              </a:rPr>
              <a:t>명절</a:t>
            </a:r>
            <a:r>
              <a:rPr lang="en-US" altLang="ko-KR" sz="1800" dirty="0">
                <a:solidFill>
                  <a:srgbClr val="262626"/>
                </a:solidFill>
                <a:effectLst/>
                <a:latin typeface="맑은 고딕" panose="020B0503020000020004" pitchFamily="50" charset="-127"/>
                <a:ea typeface="맑은 고딕" panose="020B0503020000020004" pitchFamily="50" charset="-127"/>
                <a:cs typeface="맑은 고딕" panose="020B0503020000020004" pitchFamily="50" charset="-127"/>
              </a:rPr>
              <a:t>, </a:t>
            </a:r>
            <a:r>
              <a:rPr lang="ko-KR" altLang="ko-KR" sz="1800" dirty="0">
                <a:solidFill>
                  <a:srgbClr val="262626"/>
                </a:solidFill>
                <a:effectLst/>
                <a:latin typeface="맑은 고딕" panose="020B0503020000020004" pitchFamily="50" charset="-127"/>
                <a:ea typeface="맑은 고딕" panose="020B0503020000020004" pitchFamily="50" charset="-127"/>
                <a:cs typeface="맑은 고딕" panose="020B0503020000020004" pitchFamily="50" charset="-127"/>
              </a:rPr>
              <a:t>이야기를 함께 나누세요</a:t>
            </a:r>
            <a:r>
              <a:rPr lang="en-US" altLang="ko-KR" sz="1800" dirty="0">
                <a:solidFill>
                  <a:srgbClr val="262626"/>
                </a:solidFill>
                <a:effectLst/>
                <a:latin typeface="맑은 고딕" panose="020B0503020000020004" pitchFamily="50" charset="-127"/>
                <a:ea typeface="맑은 고딕" panose="020B0503020000020004" pitchFamily="50" charset="-127"/>
                <a:cs typeface="맑은 고딕" panose="020B0503020000020004" pitchFamily="50" charset="-127"/>
              </a:rPr>
              <a:t>.</a:t>
            </a:r>
            <a:endParaRPr lang="ko-KR" altLang="ko-KR" sz="1800" dirty="0">
              <a:effectLst/>
              <a:latin typeface="맑은 고딕" panose="020B0503020000020004" pitchFamily="50" charset="-127"/>
              <a:ea typeface="맑은 고딕" panose="020B0503020000020004" pitchFamily="50" charset="-127"/>
              <a:cs typeface="맑은 고딕" panose="020B0503020000020004" pitchFamily="50" charset="-127"/>
            </a:endParaRPr>
          </a:p>
          <a:p>
            <a:pPr marL="127000" latinLnBrk="1">
              <a:lnSpc>
                <a:spcPct val="125000"/>
              </a:lnSpc>
              <a:spcAft>
                <a:spcPts val="600"/>
              </a:spcAft>
            </a:pPr>
            <a:r>
              <a:rPr lang="ko-KR" altLang="ko-KR" sz="1800" dirty="0">
                <a:solidFill>
                  <a:srgbClr val="262626"/>
                </a:solidFill>
                <a:effectLst/>
                <a:latin typeface="맑은 고딕" panose="020B0503020000020004" pitchFamily="50" charset="-127"/>
                <a:ea typeface="맑은 고딕" panose="020B0503020000020004" pitchFamily="50" charset="-127"/>
                <a:cs typeface="맑은 고딕" panose="020B0503020000020004" pitchFamily="50" charset="-127"/>
              </a:rPr>
              <a:t>셋째</a:t>
            </a:r>
            <a:r>
              <a:rPr lang="en-US" altLang="ko-KR" sz="1800" dirty="0">
                <a:solidFill>
                  <a:srgbClr val="262626"/>
                </a:solidFill>
                <a:effectLst/>
                <a:latin typeface="맑은 고딕" panose="020B0503020000020004" pitchFamily="50" charset="-127"/>
                <a:ea typeface="맑은 고딕" panose="020B0503020000020004" pitchFamily="50" charset="-127"/>
                <a:cs typeface="맑은 고딕" panose="020B0503020000020004" pitchFamily="50" charset="-127"/>
              </a:rPr>
              <a:t>, </a:t>
            </a:r>
            <a:r>
              <a:rPr lang="ko-KR" altLang="ko-KR" sz="1800" dirty="0">
                <a:solidFill>
                  <a:srgbClr val="262626"/>
                </a:solidFill>
                <a:effectLst/>
                <a:latin typeface="맑은 고딕" panose="020B0503020000020004" pitchFamily="50" charset="-127"/>
                <a:ea typeface="맑은 고딕" panose="020B0503020000020004" pitchFamily="50" charset="-127"/>
                <a:cs typeface="맑은 고딕" panose="020B0503020000020004" pitchFamily="50" charset="-127"/>
              </a:rPr>
              <a:t>뿌리를 자랑스럽게 여기세요</a:t>
            </a:r>
            <a:r>
              <a:rPr lang="en-US" altLang="ko-KR" sz="1800" dirty="0">
                <a:solidFill>
                  <a:srgbClr val="262626"/>
                </a:solidFill>
                <a:effectLst/>
                <a:latin typeface="맑은 고딕" panose="020B0503020000020004" pitchFamily="50" charset="-127"/>
                <a:ea typeface="맑은 고딕" panose="020B0503020000020004" pitchFamily="50" charset="-127"/>
                <a:cs typeface="맑은 고딕" panose="020B0503020000020004" pitchFamily="50" charset="-127"/>
              </a:rPr>
              <a:t>. </a:t>
            </a:r>
            <a:r>
              <a:rPr lang="ko-KR" altLang="ko-KR" sz="1800" dirty="0">
                <a:solidFill>
                  <a:srgbClr val="262626"/>
                </a:solidFill>
                <a:effectLst/>
                <a:latin typeface="맑은 고딕" panose="020B0503020000020004" pitchFamily="50" charset="-127"/>
                <a:ea typeface="맑은 고딕" panose="020B0503020000020004" pitchFamily="50" charset="-127"/>
                <a:cs typeface="맑은 고딕" panose="020B0503020000020004" pitchFamily="50" charset="-127"/>
              </a:rPr>
              <a:t>엄마</a:t>
            </a:r>
            <a:r>
              <a:rPr lang="en-US" altLang="ko-KR" sz="1800" dirty="0">
                <a:solidFill>
                  <a:srgbClr val="262626"/>
                </a:solidFill>
                <a:effectLst/>
                <a:latin typeface="맑은 고딕" panose="020B0503020000020004" pitchFamily="50" charset="-127"/>
                <a:ea typeface="맑은 고딕" panose="020B0503020000020004" pitchFamily="50" charset="-127"/>
                <a:cs typeface="맑은 고딕" panose="020B0503020000020004" pitchFamily="50" charset="-127"/>
              </a:rPr>
              <a:t>, </a:t>
            </a:r>
            <a:r>
              <a:rPr lang="ko-KR" altLang="ko-KR" sz="1800" dirty="0">
                <a:solidFill>
                  <a:srgbClr val="262626"/>
                </a:solidFill>
                <a:effectLst/>
                <a:latin typeface="맑은 고딕" panose="020B0503020000020004" pitchFamily="50" charset="-127"/>
                <a:ea typeface="맑은 고딕" panose="020B0503020000020004" pitchFamily="50" charset="-127"/>
                <a:cs typeface="맑은 고딕" panose="020B0503020000020004" pitchFamily="50" charset="-127"/>
              </a:rPr>
              <a:t>아빠 나라를 당당하게 말해주세요</a:t>
            </a:r>
            <a:r>
              <a:rPr lang="en-US" altLang="ko-KR" sz="1800" dirty="0">
                <a:solidFill>
                  <a:srgbClr val="262626"/>
                </a:solidFill>
                <a:effectLst/>
                <a:latin typeface="맑은 고딕" panose="020B0503020000020004" pitchFamily="50" charset="-127"/>
                <a:ea typeface="맑은 고딕" panose="020B0503020000020004" pitchFamily="50" charset="-127"/>
                <a:cs typeface="맑은 고딕" panose="020B0503020000020004" pitchFamily="50" charset="-127"/>
              </a:rPr>
              <a:t>.</a:t>
            </a:r>
            <a:endParaRPr lang="ko-KR" altLang="ko-KR" sz="1800" dirty="0">
              <a:effectLst/>
              <a:latin typeface="맑은 고딕" panose="020B0503020000020004" pitchFamily="50" charset="-127"/>
              <a:ea typeface="맑은 고딕" panose="020B0503020000020004" pitchFamily="50" charset="-127"/>
              <a:cs typeface="맑은 고딕" panose="020B0503020000020004" pitchFamily="50" charset="-127"/>
            </a:endParaRPr>
          </a:p>
          <a:p>
            <a:pPr marL="127000" latinLnBrk="1">
              <a:lnSpc>
                <a:spcPct val="125000"/>
              </a:lnSpc>
              <a:spcAft>
                <a:spcPts val="600"/>
              </a:spcAft>
            </a:pPr>
            <a:r>
              <a:rPr lang="ko-KR" altLang="ko-KR" sz="1800" dirty="0">
                <a:solidFill>
                  <a:srgbClr val="262626"/>
                </a:solidFill>
                <a:effectLst/>
                <a:latin typeface="맑은 고딕" panose="020B0503020000020004" pitchFamily="50" charset="-127"/>
                <a:ea typeface="맑은 고딕" panose="020B0503020000020004" pitchFamily="50" charset="-127"/>
                <a:cs typeface="맑은 고딕" panose="020B0503020000020004" pitchFamily="50" charset="-127"/>
              </a:rPr>
              <a:t>아이가 위축될 때 이렇게 말해주세요</a:t>
            </a:r>
            <a:r>
              <a:rPr lang="en-US" altLang="ko-KR" sz="1800" dirty="0">
                <a:solidFill>
                  <a:srgbClr val="262626"/>
                </a:solidFill>
                <a:effectLst/>
                <a:latin typeface="맑은 고딕" panose="020B0503020000020004" pitchFamily="50" charset="-127"/>
                <a:ea typeface="맑은 고딕" panose="020B0503020000020004" pitchFamily="50" charset="-127"/>
                <a:cs typeface="맑은 고딕" panose="020B0503020000020004" pitchFamily="50" charset="-127"/>
              </a:rPr>
              <a:t>.</a:t>
            </a:r>
            <a:endParaRPr lang="ko-KR" altLang="ko-KR" sz="1800" dirty="0">
              <a:effectLst/>
              <a:latin typeface="맑은 고딕" panose="020B0503020000020004" pitchFamily="50" charset="-127"/>
              <a:ea typeface="맑은 고딕" panose="020B0503020000020004" pitchFamily="50" charset="-127"/>
              <a:cs typeface="맑은 고딕" panose="020B0503020000020004" pitchFamily="50" charset="-127"/>
            </a:endParaRPr>
          </a:p>
          <a:p>
            <a:pPr marL="127000" latinLnBrk="1">
              <a:lnSpc>
                <a:spcPct val="125000"/>
              </a:lnSpc>
              <a:spcAft>
                <a:spcPts val="600"/>
              </a:spcAft>
            </a:pPr>
            <a:r>
              <a:rPr lang="en-US" altLang="ko-KR" sz="1800" dirty="0">
                <a:solidFill>
                  <a:srgbClr val="262626"/>
                </a:solidFill>
                <a:effectLst/>
                <a:latin typeface="맑은 고딕" panose="020B0503020000020004" pitchFamily="50" charset="-127"/>
                <a:ea typeface="맑은 고딕" panose="020B0503020000020004" pitchFamily="50" charset="-127"/>
                <a:cs typeface="맑은 고딕" panose="020B0503020000020004" pitchFamily="50" charset="-127"/>
              </a:rPr>
              <a:t>'</a:t>
            </a:r>
            <a:r>
              <a:rPr lang="ko-KR" altLang="ko-KR" sz="1800" dirty="0">
                <a:solidFill>
                  <a:srgbClr val="262626"/>
                </a:solidFill>
                <a:effectLst/>
                <a:latin typeface="맑은 고딕" panose="020B0503020000020004" pitchFamily="50" charset="-127"/>
                <a:ea typeface="맑은 고딕" panose="020B0503020000020004" pitchFamily="50" charset="-127"/>
                <a:cs typeface="맑은 고딕" panose="020B0503020000020004" pitchFamily="50" charset="-127"/>
              </a:rPr>
              <a:t>두 문화 모두 너의 것이고</a:t>
            </a:r>
            <a:r>
              <a:rPr lang="en-US" altLang="ko-KR" sz="1800" dirty="0">
                <a:solidFill>
                  <a:srgbClr val="262626"/>
                </a:solidFill>
                <a:effectLst/>
                <a:latin typeface="맑은 고딕" panose="020B0503020000020004" pitchFamily="50" charset="-127"/>
                <a:ea typeface="맑은 고딕" panose="020B0503020000020004" pitchFamily="50" charset="-127"/>
                <a:cs typeface="맑은 고딕" panose="020B0503020000020004" pitchFamily="50" charset="-127"/>
              </a:rPr>
              <a:t>, </a:t>
            </a:r>
            <a:r>
              <a:rPr lang="ko-KR" altLang="ko-KR" sz="1800" dirty="0">
                <a:solidFill>
                  <a:srgbClr val="262626"/>
                </a:solidFill>
                <a:effectLst/>
                <a:latin typeface="맑은 고딕" panose="020B0503020000020004" pitchFamily="50" charset="-127"/>
                <a:ea typeface="맑은 고딕" panose="020B0503020000020004" pitchFamily="50" charset="-127"/>
                <a:cs typeface="맑은 고딕" panose="020B0503020000020004" pitchFamily="50" charset="-127"/>
              </a:rPr>
              <a:t>둘 다 소중해</a:t>
            </a:r>
            <a:r>
              <a:rPr lang="en-US" altLang="ko-KR" sz="1800" dirty="0">
                <a:solidFill>
                  <a:srgbClr val="262626"/>
                </a:solidFill>
                <a:effectLst/>
                <a:latin typeface="맑은 고딕" panose="020B0503020000020004" pitchFamily="50" charset="-127"/>
                <a:ea typeface="맑은 고딕" panose="020B0503020000020004" pitchFamily="50" charset="-127"/>
                <a:cs typeface="맑은 고딕" panose="020B0503020000020004" pitchFamily="50" charset="-127"/>
              </a:rPr>
              <a:t>.'</a:t>
            </a:r>
            <a:endParaRPr lang="ko-KR" altLang="ko-KR" sz="1800" dirty="0">
              <a:effectLst/>
              <a:latin typeface="맑은 고딕" panose="020B0503020000020004" pitchFamily="50" charset="-127"/>
              <a:ea typeface="맑은 고딕" panose="020B0503020000020004" pitchFamily="50" charset="-127"/>
              <a:cs typeface="맑은 고딕" panose="020B0503020000020004" pitchFamily="50" charset="-127"/>
            </a:endParaRPr>
          </a:p>
        </p:txBody>
      </p:sp>
      <p:sp>
        <p:nvSpPr>
          <p:cNvPr id="4" name="Slide Number Placeholder 3"/>
          <p:cNvSpPr>
            <a:spLocks noGrp="1"/>
          </p:cNvSpPr>
          <p:nvPr>
            <p:ph type="sldNum" sz="quarter" idx="10"/>
          </p:nvPr>
        </p:nvSpPr>
        <p:spPr/>
        <p:txBody>
          <a:bodyPr lIns="107031" tIns="53515" rIns="107031" bIns="53515"/>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925763" y="850900"/>
            <a:ext cx="4075112" cy="2292350"/>
          </a:xfrm>
          <a:prstGeom prst="rect">
            <a:avLst/>
          </a:prstGeom>
          <a:noFill/>
          <a:ln w="12700">
            <a:solidFill>
              <a:prstClr val="black"/>
            </a:solidFill>
          </a:ln>
        </p:spPr>
      </p:sp>
      <p:sp>
        <p:nvSpPr>
          <p:cNvPr id="3" name="슬라이드 노트 개체 틀 2"/>
          <p:cNvSpPr>
            <a:spLocks noGrp="1"/>
          </p:cNvSpPr>
          <p:nvPr>
            <p:ph type="body" idx="1"/>
          </p:nvPr>
        </p:nvSpPr>
        <p:spPr>
          <a:xfrm>
            <a:off x="992201" y="3271103"/>
            <a:ext cx="7942238" cy="2676455"/>
          </a:xfrm>
          <a:prstGeom prst="rect">
            <a:avLst/>
          </a:prstGeom>
        </p:spPr>
        <p:txBody>
          <a:bodyPr/>
          <a:lstStyle/>
          <a:p>
            <a:endParaRPr lang="ko-KR" altLang="en-US" dirty="0"/>
          </a:p>
        </p:txBody>
      </p:sp>
    </p:spTree>
    <p:extLst>
      <p:ext uri="{BB962C8B-B14F-4D97-AF65-F5344CB8AC3E}">
        <p14:creationId xmlns:p14="http://schemas.microsoft.com/office/powerpoint/2010/main" val="375142066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23585680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1813335" y="601724"/>
            <a:ext cx="6477805" cy="1906073"/>
          </a:xfrm>
        </p:spPr>
        <p:txBody>
          <a:bodyPr bIns="0" anchor="b">
            <a:normAutofit/>
          </a:bodyPr>
          <a:lstStyle>
            <a:lvl1pPr algn="l">
              <a:defRPr sz="4950"/>
            </a:lvl1pPr>
          </a:lstStyle>
          <a:p>
            <a:r>
              <a:rPr lang="ko-KR" altLang="en-US"/>
              <a:t>마스터 제목 스타일 편집</a:t>
            </a:r>
            <a:endParaRPr lang="en-US" dirty="0"/>
          </a:p>
        </p:txBody>
      </p:sp>
      <p:sp>
        <p:nvSpPr>
          <p:cNvPr id="3" name="Subtitle 2"/>
          <p:cNvSpPr>
            <a:spLocks noGrp="1"/>
          </p:cNvSpPr>
          <p:nvPr>
            <p:ph type="subTitle" idx="1"/>
          </p:nvPr>
        </p:nvSpPr>
        <p:spPr>
          <a:xfrm>
            <a:off x="1813335" y="2648403"/>
            <a:ext cx="6477804" cy="733216"/>
          </a:xfrm>
        </p:spPr>
        <p:txBody>
          <a:bodyPr tIns="91440" bIns="91440">
            <a:normAutofit/>
          </a:bodyPr>
          <a:lstStyle>
            <a:lvl1pPr marL="0" indent="0" algn="l">
              <a:buNone/>
              <a:defRPr sz="1350" b="0" cap="all" baseline="0">
                <a:solidFill>
                  <a:schemeClr val="tx1"/>
                </a:solidFill>
              </a:defRPr>
            </a:lvl1pPr>
            <a:lvl2pPr marL="342900" indent="0" algn="ctr">
              <a:buNone/>
              <a:defRPr sz="135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8/24/2026</a:t>
            </a:fld>
            <a:endParaRPr lang="en-US" dirty="0"/>
          </a:p>
        </p:txBody>
      </p:sp>
      <p:sp>
        <p:nvSpPr>
          <p:cNvPr id="5" name="Footer Placeholder 4"/>
          <p:cNvSpPr>
            <a:spLocks noGrp="1"/>
          </p:cNvSpPr>
          <p:nvPr>
            <p:ph type="ftr" sz="quarter" idx="11"/>
          </p:nvPr>
        </p:nvSpPr>
        <p:spPr>
          <a:xfrm>
            <a:off x="1812376" y="246981"/>
            <a:ext cx="3730436" cy="231901"/>
          </a:xfrm>
        </p:spPr>
        <p:txBody>
          <a:bodyPr/>
          <a:lstStyle/>
          <a:p>
            <a:endParaRPr lang="en-US" dirty="0"/>
          </a:p>
        </p:txBody>
      </p:sp>
      <p:sp>
        <p:nvSpPr>
          <p:cNvPr id="6" name="Slide Number Placeholder 5"/>
          <p:cNvSpPr>
            <a:spLocks noGrp="1"/>
          </p:cNvSpPr>
          <p:nvPr>
            <p:ph type="sldNum" sz="quarter" idx="12"/>
          </p:nvPr>
        </p:nvSpPr>
        <p:spPr>
          <a:xfrm>
            <a:off x="1078249" y="599230"/>
            <a:ext cx="608264" cy="377684"/>
          </a:xfrm>
        </p:spPr>
        <p:txBody>
          <a:bodyPr/>
          <a:lstStyle/>
          <a:p>
            <a:fld id="{6D22F896-40B5-4ADD-8801-0D06FADFA095}" type="slidenum">
              <a:rPr lang="en-US" dirty="0"/>
              <a:t>‹#›</a:t>
            </a:fld>
            <a:endParaRPr lang="en-US" dirty="0"/>
          </a:p>
        </p:txBody>
      </p:sp>
      <p:cxnSp>
        <p:nvCxnSpPr>
          <p:cNvPr id="15" name="Straight Connector 14"/>
          <p:cNvCxnSpPr/>
          <p:nvPr/>
        </p:nvCxnSpPr>
        <p:spPr>
          <a:xfrm>
            <a:off x="1813335" y="2646407"/>
            <a:ext cx="647780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9835548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ncho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8/24/2026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5689332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1090679" y="1317097"/>
            <a:ext cx="6482366" cy="1415963"/>
          </a:xfrm>
        </p:spPr>
        <p:txBody>
          <a:bodyPr anchor="b">
            <a:normAutofit/>
          </a:bodyPr>
          <a:lstStyle>
            <a:lvl1pPr algn="l">
              <a:defRPr sz="2700"/>
            </a:lvl1pPr>
          </a:lstStyle>
          <a:p>
            <a:r>
              <a:rPr lang="ko-KR" altLang="en-US"/>
              <a:t>마스터 제목 스타일 편집</a:t>
            </a:r>
            <a:endParaRPr lang="en-US" dirty="0"/>
          </a:p>
        </p:txBody>
      </p:sp>
      <p:sp>
        <p:nvSpPr>
          <p:cNvPr id="3" name="Text Placeholder 2"/>
          <p:cNvSpPr>
            <a:spLocks noGrp="1"/>
          </p:cNvSpPr>
          <p:nvPr>
            <p:ph type="body" idx="1"/>
          </p:nvPr>
        </p:nvSpPr>
        <p:spPr>
          <a:xfrm>
            <a:off x="1090679" y="2854647"/>
            <a:ext cx="6472835" cy="759697"/>
          </a:xfrm>
        </p:spPr>
        <p:txBody>
          <a:bodyPr tIns="91440">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fld id="{48A87A34-81AB-432B-8DAE-1953F412C126}" type="datetimeFigureOut">
              <a:rPr lang="en-US" dirty="0"/>
              <a:t>8/24/2026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090679" y="2853739"/>
            <a:ext cx="647283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911435"/>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a:xfrm>
            <a:off x="1086913" y="603667"/>
            <a:ext cx="7204226" cy="794479"/>
          </a:xfrm>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1085498" y="1508159"/>
            <a:ext cx="3483864" cy="2586446"/>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4810328" y="1513007"/>
            <a:ext cx="3483864" cy="258114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8/24/2026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0270252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1085394" y="603123"/>
            <a:ext cx="7205746" cy="792239"/>
          </a:xfr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1085393" y="1514662"/>
            <a:ext cx="3483864" cy="601457"/>
          </a:xfrm>
        </p:spPr>
        <p:txBody>
          <a:bodyPr anchor="b">
            <a:normAutofit/>
          </a:bodyPr>
          <a:lstStyle>
            <a:lvl1pPr marL="0" indent="0">
              <a:lnSpc>
                <a:spcPct val="100000"/>
              </a:lnSpc>
              <a:buNone/>
              <a:defRPr sz="165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1085393" y="2118202"/>
            <a:ext cx="3483864" cy="1983343"/>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4809272" y="1517253"/>
            <a:ext cx="3483864" cy="601678"/>
          </a:xfrm>
        </p:spPr>
        <p:txBody>
          <a:bodyPr anchor="b">
            <a:normAutofit/>
          </a:bodyPr>
          <a:lstStyle>
            <a:lvl1pPr marL="0" indent="0">
              <a:lnSpc>
                <a:spcPct val="100000"/>
              </a:lnSpc>
              <a:buNone/>
              <a:defRPr sz="165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4809272" y="2116119"/>
            <a:ext cx="3483864" cy="197802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8/24/2026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3780967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8/24/2026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0166557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8/24/2026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31526448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1083504" y="599230"/>
            <a:ext cx="2454824" cy="1685338"/>
          </a:xfrm>
        </p:spPr>
        <p:txBody>
          <a:bodyPr anchor="b">
            <a:normAutofit/>
          </a:bodyPr>
          <a:lstStyle>
            <a:lvl1pPr algn="l">
              <a:defRPr sz="1800"/>
            </a:lvl1pPr>
          </a:lstStyle>
          <a:p>
            <a:r>
              <a:rPr lang="ko-KR" altLang="en-US"/>
              <a:t>마스터 제목 스타일 편집</a:t>
            </a:r>
            <a:endParaRPr lang="en-US" dirty="0"/>
          </a:p>
        </p:txBody>
      </p:sp>
      <p:sp>
        <p:nvSpPr>
          <p:cNvPr id="3" name="Content Placeholder 2"/>
          <p:cNvSpPr>
            <a:spLocks noGrp="1"/>
          </p:cNvSpPr>
          <p:nvPr>
            <p:ph idx="1"/>
          </p:nvPr>
        </p:nvSpPr>
        <p:spPr>
          <a:xfrm>
            <a:off x="3782785" y="599230"/>
            <a:ext cx="4509353" cy="3494120"/>
          </a:xfrm>
        </p:spPr>
        <p:txBody>
          <a:bodyPr anchor="ct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1083504" y="2404119"/>
            <a:ext cx="2456260" cy="1686136"/>
          </a:xfrm>
        </p:spPr>
        <p:txBody>
          <a:bodyPr/>
          <a:lstStyle>
            <a:lvl1pPr marL="0" indent="0" algn="l">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48A87A34-81AB-432B-8DAE-1953F412C126}" type="datetimeFigureOut">
              <a:rPr lang="en-US" dirty="0"/>
              <a:t>8/24/2026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086210" y="2404118"/>
            <a:ext cx="2452118"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54506327"/>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grpSp>
        <p:nvGrpSpPr>
          <p:cNvPr id="8" name="Group 7"/>
          <p:cNvGrpSpPr/>
          <p:nvPr/>
        </p:nvGrpSpPr>
        <p:grpSpPr>
          <a:xfrm>
            <a:off x="5608041" y="361628"/>
            <a:ext cx="3055900" cy="3861826"/>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088405" y="847135"/>
            <a:ext cx="4149246" cy="1372938"/>
          </a:xfrm>
        </p:spPr>
        <p:txBody>
          <a:bodyPr anchor="b">
            <a:normAutofit/>
          </a:bodyPr>
          <a:lstStyle>
            <a:lvl1pPr>
              <a:defRPr sz="24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6093292" y="841907"/>
            <a:ext cx="2093378" cy="2899745"/>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1087747" y="2359494"/>
            <a:ext cx="4143303" cy="1502807"/>
          </a:xfrm>
        </p:spPr>
        <p:txBody>
          <a:bodyPr>
            <a:normAutofit/>
          </a:bodyPr>
          <a:lstStyle>
            <a:lvl1pPr marL="0" indent="0" algn="l">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1085537" y="4102393"/>
            <a:ext cx="4145513" cy="240092"/>
          </a:xfrm>
        </p:spPr>
        <p:txBody>
          <a:bodyPr/>
          <a:lstStyle>
            <a:lvl1pPr algn="l">
              <a:defRPr/>
            </a:lvl1pPr>
          </a:lstStyle>
          <a:p>
            <a:fld id="{48A87A34-81AB-432B-8DAE-1953F412C126}" type="datetimeFigureOut">
              <a:rPr lang="en-US" dirty="0"/>
              <a:pPr/>
              <a:t>8/24/2026</a:t>
            </a:fld>
            <a:endParaRPr lang="en-US" dirty="0"/>
          </a:p>
        </p:txBody>
      </p:sp>
      <p:sp>
        <p:nvSpPr>
          <p:cNvPr id="6" name="Footer Placeholder 5"/>
          <p:cNvSpPr>
            <a:spLocks noGrp="1"/>
          </p:cNvSpPr>
          <p:nvPr>
            <p:ph type="ftr" sz="quarter" idx="11"/>
          </p:nvPr>
        </p:nvSpPr>
        <p:spPr>
          <a:xfrm>
            <a:off x="1085537" y="238981"/>
            <a:ext cx="4155753" cy="240698"/>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085537" y="2357704"/>
            <a:ext cx="414551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4130113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8/24/2026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2895227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79333" y="599230"/>
            <a:ext cx="1211807" cy="3494917"/>
          </a:xfrm>
        </p:spPr>
        <p:txBody>
          <a:bodyPr vert="eaVert"/>
          <a:lstStyle>
            <a:lvl1pPr algn="l">
              <a:defRPr/>
            </a:lvl1pPr>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1083504" y="599230"/>
            <a:ext cx="5871623" cy="3494917"/>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8/24/2026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7079333" y="599230"/>
            <a:ext cx="0" cy="3494917"/>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6910433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4505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1514607"/>
            <a:ext cx="9144000" cy="3079456"/>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4">
            <a:extLst>
              <a:ext uri="{28A0092B-C50C-407E-A947-70E740481C1C}">
                <a14:useLocalDpi xmlns:a14="http://schemas.microsoft.com/office/drawing/2010/main" val="0"/>
              </a:ext>
            </a:extLst>
          </a:blip>
          <a:srcRect t="1538" b="-1538"/>
          <a:stretch/>
        </p:blipFill>
        <p:spPr bwMode="black">
          <a:xfrm>
            <a:off x="0" y="4594860"/>
            <a:ext cx="9144000" cy="557213"/>
          </a:xfrm>
          <a:prstGeom prst="rect">
            <a:avLst/>
          </a:prstGeom>
        </p:spPr>
      </p:pic>
      <p:sp>
        <p:nvSpPr>
          <p:cNvPr id="2" name="Title Placeholder 1"/>
          <p:cNvSpPr>
            <a:spLocks noGrp="1"/>
          </p:cNvSpPr>
          <p:nvPr>
            <p:ph type="title"/>
          </p:nvPr>
        </p:nvSpPr>
        <p:spPr>
          <a:xfrm>
            <a:off x="1088685" y="603390"/>
            <a:ext cx="7202456" cy="786926"/>
          </a:xfrm>
          <a:prstGeom prst="rect">
            <a:avLst/>
          </a:prstGeom>
        </p:spPr>
        <p:txBody>
          <a:bodyPr vert="horz" lIns="91440" tIns="45720" rIns="91440" bIns="45720" rtlCol="0" anchor="t">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1088685" y="1511799"/>
            <a:ext cx="7202456" cy="2587960"/>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2"/>
          </p:nvPr>
        </p:nvSpPr>
        <p:spPr>
          <a:xfrm>
            <a:off x="5665604" y="247778"/>
            <a:ext cx="2625536" cy="231901"/>
          </a:xfrm>
          <a:prstGeom prst="rect">
            <a:avLst/>
          </a:prstGeom>
        </p:spPr>
        <p:txBody>
          <a:bodyPr vert="horz" lIns="91440" tIns="45720" rIns="91440" bIns="45720" rtlCol="0" anchor="ctr"/>
          <a:lstStyle>
            <a:lvl1pPr algn="r">
              <a:defRPr sz="750">
                <a:solidFill>
                  <a:schemeClr val="tx1">
                    <a:tint val="75000"/>
                  </a:schemeClr>
                </a:solidFill>
              </a:defRPr>
            </a:lvl1pPr>
          </a:lstStyle>
          <a:p>
            <a:fld id="{48A87A34-81AB-432B-8DAE-1953F412C126}" type="datetimeFigureOut">
              <a:rPr lang="en-US" dirty="0"/>
              <a:pPr/>
              <a:t>8/24/2026</a:t>
            </a:fld>
            <a:endParaRPr lang="en-US" dirty="0"/>
          </a:p>
        </p:txBody>
      </p:sp>
      <p:sp>
        <p:nvSpPr>
          <p:cNvPr id="5" name="Footer Placeholder 4"/>
          <p:cNvSpPr>
            <a:spLocks noGrp="1"/>
          </p:cNvSpPr>
          <p:nvPr>
            <p:ph type="ftr" sz="quarter" idx="3"/>
          </p:nvPr>
        </p:nvSpPr>
        <p:spPr>
          <a:xfrm>
            <a:off x="1088684" y="246981"/>
            <a:ext cx="4454127" cy="231901"/>
          </a:xfrm>
          <a:prstGeom prst="rect">
            <a:avLst/>
          </a:prstGeom>
        </p:spPr>
        <p:txBody>
          <a:bodyPr vert="horz" lIns="91440" tIns="45720" rIns="91440" bIns="45720" rtlCol="0" anchor="ctr"/>
          <a:lstStyle>
            <a:lvl1pPr algn="l">
              <a:defRPr sz="7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360046" y="599230"/>
            <a:ext cx="608264" cy="377684"/>
          </a:xfrm>
          <a:prstGeom prst="rect">
            <a:avLst/>
          </a:prstGeom>
        </p:spPr>
        <p:txBody>
          <a:bodyPr vert="horz" lIns="91440" tIns="45720" rIns="91440" bIns="45720" rtlCol="0" anchor="t"/>
          <a:lstStyle>
            <a:lvl1pPr algn="r">
              <a:defRPr sz="21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4596310"/>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2272531"/>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sldNum="0" hdr="0" ftr="0" dt="0"/>
  <p:txStyles>
    <p:titleStyle>
      <a:lvl1pPr algn="l" defTabSz="685800" rtl="0" eaLnBrk="1" latinLnBrk="1" hangingPunct="1">
        <a:lnSpc>
          <a:spcPct val="90000"/>
        </a:lnSpc>
        <a:spcBef>
          <a:spcPct val="0"/>
        </a:spcBef>
        <a:buNone/>
        <a:defRPr sz="2400" b="0" i="0" kern="1200" cap="all">
          <a:solidFill>
            <a:schemeClr val="tx1"/>
          </a:solidFill>
          <a:effectLst/>
          <a:latin typeface="+mj-lt"/>
          <a:ea typeface="+mj-ea"/>
          <a:cs typeface="+mj-cs"/>
        </a:defRPr>
      </a:lvl1pPr>
    </p:titleStyle>
    <p:bodyStyle>
      <a:lvl1pPr marL="171450" indent="-171450" algn="l" defTabSz="685800" rtl="0" eaLnBrk="1" latinLnBrk="1" hangingPunct="1">
        <a:lnSpc>
          <a:spcPct val="120000"/>
        </a:lnSpc>
        <a:spcBef>
          <a:spcPts val="750"/>
        </a:spcBef>
        <a:buClr>
          <a:schemeClr val="accent1"/>
        </a:buClr>
        <a:buSzPct val="100000"/>
        <a:buFont typeface="Arial" panose="020B0604020202020204" pitchFamily="34" charset="0"/>
        <a:buChar char="•"/>
        <a:defRPr sz="1500" kern="1200">
          <a:solidFill>
            <a:schemeClr val="tx1"/>
          </a:solidFill>
          <a:effectLst/>
          <a:latin typeface="+mn-lt"/>
          <a:ea typeface="+mn-ea"/>
          <a:cs typeface="+mn-cs"/>
        </a:defRPr>
      </a:lvl1pPr>
      <a:lvl2pPr marL="514350" indent="-171450" algn="l" defTabSz="685800" rtl="0" eaLnBrk="1" latinLnBrk="1" hangingPunct="1">
        <a:lnSpc>
          <a:spcPct val="120000"/>
        </a:lnSpc>
        <a:spcBef>
          <a:spcPts val="375"/>
        </a:spcBef>
        <a:buClr>
          <a:schemeClr val="accent1"/>
        </a:buClr>
        <a:buSzPct val="100000"/>
        <a:buFont typeface="Arial" panose="020B0604020202020204" pitchFamily="34" charset="0"/>
        <a:buChar char="•"/>
        <a:defRPr sz="1350" kern="1200" cap="none" baseline="0">
          <a:solidFill>
            <a:schemeClr val="tx1"/>
          </a:solidFill>
          <a:effectLst/>
          <a:latin typeface="+mn-lt"/>
          <a:ea typeface="+mn-ea"/>
          <a:cs typeface="+mn-cs"/>
        </a:defRPr>
      </a:lvl2pPr>
      <a:lvl3pPr marL="857250" indent="-171450" algn="l" defTabSz="685800" rtl="0" eaLnBrk="1" latinLnBrk="1" hangingPunct="1">
        <a:lnSpc>
          <a:spcPct val="120000"/>
        </a:lnSpc>
        <a:spcBef>
          <a:spcPts val="375"/>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3pPr>
      <a:lvl4pPr marL="1200150" indent="-171450" algn="l" defTabSz="685800" rtl="0" eaLnBrk="1" latinLnBrk="1" hangingPunct="1">
        <a:lnSpc>
          <a:spcPct val="120000"/>
        </a:lnSpc>
        <a:spcBef>
          <a:spcPts val="375"/>
        </a:spcBef>
        <a:buClr>
          <a:schemeClr val="accent1"/>
        </a:buClr>
        <a:buSzPct val="100000"/>
        <a:buFont typeface="Arial" panose="020B0604020202020204" pitchFamily="34" charset="0"/>
        <a:buChar char="•"/>
        <a:defRPr sz="1050" kern="1200" cap="none" baseline="0">
          <a:solidFill>
            <a:schemeClr val="tx1"/>
          </a:solidFill>
          <a:effectLst/>
          <a:latin typeface="+mn-lt"/>
          <a:ea typeface="+mn-ea"/>
          <a:cs typeface="+mn-cs"/>
        </a:defRPr>
      </a:lvl4pPr>
      <a:lvl5pPr marL="1543050" indent="-171450" algn="l" defTabSz="685800" rtl="0" eaLnBrk="1" latinLnBrk="1"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5pPr>
      <a:lvl6pPr marL="1885950" indent="-171450" algn="l" defTabSz="685800" rtl="0" eaLnBrk="1" latinLnBrk="1"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6pPr>
      <a:lvl7pPr marL="2228850" indent="-171450" algn="l" defTabSz="685800" rtl="0" eaLnBrk="1" latinLnBrk="1"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7pPr>
      <a:lvl8pPr marL="2571750" indent="-171450" algn="l" defTabSz="685800" rtl="0" eaLnBrk="1" latinLnBrk="1" hangingPunct="1">
        <a:lnSpc>
          <a:spcPct val="120000"/>
        </a:lnSpc>
        <a:spcBef>
          <a:spcPts val="375"/>
        </a:spcBef>
        <a:buClr>
          <a:schemeClr val="accent1"/>
        </a:buClr>
        <a:buSzPct val="100000"/>
        <a:buFont typeface="Arial" panose="020B0604020202020204" pitchFamily="34" charset="0"/>
        <a:buChar char="•"/>
        <a:defRPr sz="900" kern="1200" baseline="0">
          <a:solidFill>
            <a:schemeClr val="tx1"/>
          </a:solidFill>
          <a:effectLst/>
          <a:latin typeface="+mn-lt"/>
          <a:ea typeface="+mn-ea"/>
          <a:cs typeface="+mn-cs"/>
        </a:defRPr>
      </a:lvl8pPr>
      <a:lvl9pPr marL="2914650" indent="-171450" algn="l" defTabSz="685800" rtl="0" eaLnBrk="1" latinLnBrk="1" hangingPunct="1">
        <a:lnSpc>
          <a:spcPct val="120000"/>
        </a:lnSpc>
        <a:spcBef>
          <a:spcPts val="375"/>
        </a:spcBef>
        <a:buClr>
          <a:schemeClr val="accent1"/>
        </a:buClr>
        <a:buSzPct val="100000"/>
        <a:buFont typeface="Arial" panose="020B0604020202020204" pitchFamily="34" charset="0"/>
        <a:buChar char="•"/>
        <a:defRPr sz="900" kern="1200" baseline="0">
          <a:solidFill>
            <a:schemeClr val="tx1"/>
          </a:solidFill>
          <a:effectLst/>
          <a:latin typeface="+mn-lt"/>
          <a:ea typeface="+mn-ea"/>
          <a:cs typeface="+mn-cs"/>
        </a:defRPr>
      </a:lvl9pPr>
    </p:bodyStyle>
    <p:otherStyle>
      <a:defPPr>
        <a:defRPr lang="en-US"/>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F73C398-A277-4E36-88EB-06DACFF26352}"/>
              </a:ext>
            </a:extLst>
          </p:cNvPr>
          <p:cNvSpPr txBox="1"/>
          <p:nvPr/>
        </p:nvSpPr>
        <p:spPr>
          <a:xfrm>
            <a:off x="1979762" y="1733909"/>
            <a:ext cx="5184476" cy="1138773"/>
          </a:xfrm>
          <a:prstGeom prst="rect">
            <a:avLst/>
          </a:prstGeom>
          <a:noFill/>
        </p:spPr>
        <p:txBody>
          <a:bodyPr wrap="square" rtlCol="0">
            <a:spAutoFit/>
          </a:bodyPr>
          <a:lstStyle/>
          <a:p>
            <a:pPr algn="ctr"/>
            <a:r>
              <a:rPr lang="ko-KR" altLang="en-US" sz="3600" b="1" dirty="0">
                <a:solidFill>
                  <a:schemeClr val="accent5">
                    <a:lumMod val="50000"/>
                  </a:schemeClr>
                </a:solidFill>
              </a:rPr>
              <a:t>우리 아이 마음 키우기</a:t>
            </a:r>
          </a:p>
          <a:p>
            <a:pPr algn="ctr"/>
            <a:r>
              <a:rPr lang="en-US" sz="3200" dirty="0">
                <a:solidFill>
                  <a:srgbClr val="6B5F52"/>
                </a:solidFill>
              </a:rPr>
              <a:t>Growing Our Child’s Heart</a:t>
            </a:r>
          </a:p>
        </p:txBody>
      </p:sp>
    </p:spTree>
    <p:extLst>
      <p:ext uri="{BB962C8B-B14F-4D97-AF65-F5344CB8AC3E}">
        <p14:creationId xmlns:p14="http://schemas.microsoft.com/office/powerpoint/2010/main" val="4261558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806190" y="514350"/>
            <a:ext cx="1508760" cy="1508760"/>
          </a:xfrm>
          <a:prstGeom prst="ellipse">
            <a:avLst/>
          </a:prstGeom>
          <a:solidFill>
            <a:srgbClr val="FCE8DE"/>
          </a:solidFill>
          <a:ln/>
        </p:spPr>
      </p:sp>
      <p:sp>
        <p:nvSpPr>
          <p:cNvPr id="3" name="Text 1"/>
          <p:cNvSpPr/>
          <p:nvPr/>
        </p:nvSpPr>
        <p:spPr>
          <a:xfrm>
            <a:off x="3806190" y="514350"/>
            <a:ext cx="1508760" cy="1508760"/>
          </a:xfrm>
          <a:prstGeom prst="rect">
            <a:avLst/>
          </a:prstGeom>
          <a:noFill/>
          <a:ln/>
        </p:spPr>
        <p:txBody>
          <a:bodyPr wrap="square" rtlCol="0" anchor="ctr"/>
          <a:lstStyle/>
          <a:p>
            <a:pPr algn="ctr"/>
            <a:r>
              <a:rPr lang="en-US" sz="4800" dirty="0">
                <a:solidFill>
                  <a:srgbClr val="000000"/>
                </a:solidFill>
                <a:latin typeface="Noto Sans KR" pitchFamily="34" charset="0"/>
                <a:ea typeface="Noto Sans KR" pitchFamily="34" charset="-122"/>
                <a:cs typeface="Noto Sans KR" pitchFamily="34" charset="-120"/>
              </a:rPr>
              <a:t>🧡</a:t>
            </a:r>
            <a:endParaRPr lang="en-US" sz="4800" dirty="0"/>
          </a:p>
        </p:txBody>
      </p:sp>
      <p:sp>
        <p:nvSpPr>
          <p:cNvPr id="4" name="Text 2"/>
          <p:cNvSpPr/>
          <p:nvPr/>
        </p:nvSpPr>
        <p:spPr>
          <a:xfrm>
            <a:off x="342900" y="2160270"/>
            <a:ext cx="8435340" cy="685800"/>
          </a:xfrm>
          <a:prstGeom prst="rect">
            <a:avLst/>
          </a:prstGeom>
          <a:noFill/>
          <a:ln/>
        </p:spPr>
        <p:txBody>
          <a:bodyPr wrap="square" rtlCol="0" anchor="ctr"/>
          <a:lstStyle/>
          <a:p>
            <a:pPr algn="ctr"/>
            <a:r>
              <a:rPr lang="en-US" sz="3000" b="1" dirty="0">
                <a:solidFill>
                  <a:srgbClr val="3A3A3A"/>
                </a:solidFill>
                <a:latin typeface="Noto Sans KR" pitchFamily="34" charset="0"/>
                <a:ea typeface="Noto Sans KR" pitchFamily="34" charset="-122"/>
                <a:cs typeface="Noto Sans KR" pitchFamily="34" charset="-120"/>
              </a:rPr>
              <a:t>아이가 잘 자란다는 것은?</a:t>
            </a:r>
            <a:endParaRPr lang="en-US" sz="3000" dirty="0"/>
          </a:p>
          <a:p>
            <a:pPr algn="ctr"/>
            <a:r>
              <a:rPr lang="en-US" sz="2800" dirty="0">
                <a:solidFill>
                  <a:srgbClr val="6B5F52"/>
                </a:solidFill>
              </a:rPr>
              <a:t>What does it mean for a child to grow well?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42900" y="219456"/>
            <a:ext cx="1028700" cy="1028700"/>
          </a:xfrm>
          <a:prstGeom prst="ellipse">
            <a:avLst/>
          </a:prstGeom>
          <a:solidFill>
            <a:srgbClr val="E6EEE2"/>
          </a:solidFill>
          <a:ln/>
        </p:spPr>
      </p:sp>
      <p:sp>
        <p:nvSpPr>
          <p:cNvPr id="3" name="Text 1"/>
          <p:cNvSpPr/>
          <p:nvPr/>
        </p:nvSpPr>
        <p:spPr>
          <a:xfrm>
            <a:off x="342900" y="219456"/>
            <a:ext cx="1028700" cy="1028700"/>
          </a:xfrm>
          <a:prstGeom prst="rect">
            <a:avLst/>
          </a:prstGeom>
          <a:noFill/>
          <a:ln/>
        </p:spPr>
        <p:txBody>
          <a:bodyPr wrap="square" rtlCol="0" anchor="ctr"/>
          <a:lstStyle/>
          <a:p>
            <a:pPr algn="ctr"/>
            <a:r>
              <a:rPr lang="en-US" sz="3300" dirty="0">
                <a:solidFill>
                  <a:srgbClr val="000000"/>
                </a:solidFill>
                <a:latin typeface="Calibri" pitchFamily="34" charset="0"/>
                <a:ea typeface="Calibri" pitchFamily="34" charset="-122"/>
                <a:cs typeface="Calibri" pitchFamily="34" charset="-120"/>
              </a:rPr>
              <a:t>❓</a:t>
            </a:r>
            <a:endParaRPr lang="en-US" sz="3300" dirty="0"/>
          </a:p>
        </p:txBody>
      </p:sp>
      <p:sp>
        <p:nvSpPr>
          <p:cNvPr id="4" name="Text 2"/>
          <p:cNvSpPr/>
          <p:nvPr/>
        </p:nvSpPr>
        <p:spPr>
          <a:xfrm>
            <a:off x="1591057" y="171450"/>
            <a:ext cx="7209815" cy="1131570"/>
          </a:xfrm>
          <a:prstGeom prst="rect">
            <a:avLst/>
          </a:prstGeom>
          <a:noFill/>
          <a:ln/>
        </p:spPr>
        <p:txBody>
          <a:bodyPr wrap="square" rtlCol="0" anchor="ctr"/>
          <a:lstStyle/>
          <a:p>
            <a:pPr>
              <a:lnSpc>
                <a:spcPct val="102000"/>
              </a:lnSpc>
            </a:pPr>
            <a:r>
              <a:rPr lang="en-US" sz="2400" b="1" i="1" dirty="0" err="1">
                <a:solidFill>
                  <a:srgbClr val="8B4A32"/>
                </a:solidFill>
                <a:latin typeface="+mj-ea"/>
                <a:ea typeface="+mj-ea"/>
                <a:cs typeface="Times New Roman" pitchFamily="34" charset="-120"/>
              </a:rPr>
              <a:t>아이는</a:t>
            </a:r>
            <a:r>
              <a:rPr lang="en-US" sz="2400" b="1" i="1" dirty="0">
                <a:solidFill>
                  <a:srgbClr val="8B4A32"/>
                </a:solidFill>
                <a:latin typeface="+mj-ea"/>
                <a:ea typeface="+mj-ea"/>
                <a:cs typeface="Times New Roman" pitchFamily="34" charset="-120"/>
              </a:rPr>
              <a:t> </a:t>
            </a:r>
            <a:r>
              <a:rPr lang="en-US" sz="2400" b="1" i="1" dirty="0" err="1">
                <a:solidFill>
                  <a:srgbClr val="8B4A32"/>
                </a:solidFill>
                <a:latin typeface="+mj-ea"/>
                <a:ea typeface="+mj-ea"/>
                <a:cs typeface="Times New Roman" pitchFamily="34" charset="-120"/>
              </a:rPr>
              <a:t>언제</a:t>
            </a:r>
            <a:r>
              <a:rPr lang="en-US" sz="2400" b="1" dirty="0">
                <a:latin typeface="+mj-ea"/>
                <a:ea typeface="+mj-ea"/>
              </a:rPr>
              <a:t> </a:t>
            </a:r>
            <a:r>
              <a:rPr lang="en-US" sz="2400" b="1" i="1" dirty="0" err="1">
                <a:solidFill>
                  <a:srgbClr val="8B4A32"/>
                </a:solidFill>
                <a:latin typeface="+mj-ea"/>
                <a:ea typeface="+mj-ea"/>
                <a:cs typeface="Times New Roman" pitchFamily="34" charset="-120"/>
              </a:rPr>
              <a:t>가장</a:t>
            </a:r>
            <a:r>
              <a:rPr lang="en-US" sz="2400" b="1" i="1" dirty="0">
                <a:solidFill>
                  <a:srgbClr val="8B4A32"/>
                </a:solidFill>
                <a:latin typeface="+mj-ea"/>
                <a:ea typeface="+mj-ea"/>
                <a:cs typeface="Times New Roman" pitchFamily="34" charset="-120"/>
              </a:rPr>
              <a:t> 잘 </a:t>
            </a:r>
            <a:r>
              <a:rPr lang="en-US" sz="2400" b="1" i="1" dirty="0" err="1">
                <a:solidFill>
                  <a:srgbClr val="8B4A32"/>
                </a:solidFill>
                <a:latin typeface="+mj-ea"/>
                <a:ea typeface="+mj-ea"/>
                <a:cs typeface="Times New Roman" pitchFamily="34" charset="-120"/>
              </a:rPr>
              <a:t>자랄까요</a:t>
            </a:r>
            <a:r>
              <a:rPr lang="en-US" sz="2400" b="1" i="1" dirty="0">
                <a:solidFill>
                  <a:srgbClr val="8B4A32"/>
                </a:solidFill>
                <a:latin typeface="+mj-ea"/>
                <a:ea typeface="+mj-ea"/>
                <a:cs typeface="Times New Roman" pitchFamily="34" charset="-120"/>
              </a:rPr>
              <a:t>? </a:t>
            </a:r>
          </a:p>
          <a:p>
            <a:pPr>
              <a:lnSpc>
                <a:spcPct val="102000"/>
              </a:lnSpc>
            </a:pPr>
            <a:r>
              <a:rPr lang="en-US" altLang="ko-KR" sz="2400" b="1" i="1" dirty="0">
                <a:solidFill>
                  <a:srgbClr val="8E2626"/>
                </a:solidFill>
                <a:effectLst/>
                <a:latin typeface="Anthropic Sans"/>
              </a:rPr>
              <a:t>When do children grow best?</a:t>
            </a:r>
            <a:endParaRPr lang="en-US" sz="2400" b="1" dirty="0">
              <a:latin typeface="+mj-ea"/>
              <a:ea typeface="+mj-ea"/>
            </a:endParaRPr>
          </a:p>
        </p:txBody>
      </p:sp>
      <p:sp>
        <p:nvSpPr>
          <p:cNvPr id="6" name="Shape 4"/>
          <p:cNvSpPr/>
          <p:nvPr/>
        </p:nvSpPr>
        <p:spPr>
          <a:xfrm>
            <a:off x="342900" y="1371600"/>
            <a:ext cx="8457971" cy="685800"/>
          </a:xfrm>
          <a:prstGeom prst="roundRect">
            <a:avLst>
              <a:gd name="adj" fmla="val 14000"/>
            </a:avLst>
          </a:prstGeom>
          <a:solidFill>
            <a:srgbClr val="E6EEE2"/>
          </a:solidFill>
          <a:ln w="15875">
            <a:solidFill>
              <a:srgbClr val="8FAE93"/>
            </a:solidFill>
            <a:prstDash val="solid"/>
          </a:ln>
        </p:spPr>
      </p:sp>
      <p:sp>
        <p:nvSpPr>
          <p:cNvPr id="7" name="Text 5"/>
          <p:cNvSpPr/>
          <p:nvPr/>
        </p:nvSpPr>
        <p:spPr>
          <a:xfrm>
            <a:off x="445769" y="1371600"/>
            <a:ext cx="683316" cy="685800"/>
          </a:xfrm>
          <a:prstGeom prst="rect">
            <a:avLst/>
          </a:prstGeom>
          <a:noFill/>
          <a:ln/>
        </p:spPr>
        <p:txBody>
          <a:bodyPr wrap="square" rtlCol="0" anchor="ctr"/>
          <a:lstStyle/>
          <a:p>
            <a:pPr algn="ctr"/>
            <a:r>
              <a:rPr lang="en-US" sz="2100" dirty="0">
                <a:solidFill>
                  <a:srgbClr val="000000"/>
                </a:solidFill>
              </a:rPr>
              <a:t>1.</a:t>
            </a:r>
            <a:endParaRPr lang="en-US" sz="2100" dirty="0"/>
          </a:p>
        </p:txBody>
      </p:sp>
      <p:sp>
        <p:nvSpPr>
          <p:cNvPr id="8" name="Text 6"/>
          <p:cNvSpPr/>
          <p:nvPr/>
        </p:nvSpPr>
        <p:spPr>
          <a:xfrm>
            <a:off x="1062990" y="1371600"/>
            <a:ext cx="7600721" cy="685800"/>
          </a:xfrm>
          <a:prstGeom prst="rect">
            <a:avLst/>
          </a:prstGeom>
          <a:noFill/>
          <a:ln/>
        </p:spPr>
        <p:txBody>
          <a:bodyPr wrap="square" rtlCol="0" anchor="ctr"/>
          <a:lstStyle/>
          <a:p>
            <a:r>
              <a:rPr lang="en-US" sz="2100" b="1" dirty="0">
                <a:solidFill>
                  <a:srgbClr val="4A3B2E"/>
                </a:solidFill>
                <a:latin typeface="Calibri" pitchFamily="34" charset="0"/>
                <a:ea typeface="Calibri" pitchFamily="34" charset="-122"/>
                <a:cs typeface="Calibri" pitchFamily="34" charset="-120"/>
              </a:rPr>
              <a:t>공부를 잘할 때? </a:t>
            </a:r>
            <a:r>
              <a:rPr lang="en-US" altLang="ko-KR" sz="2400" b="1" i="0" dirty="0">
                <a:solidFill>
                  <a:srgbClr val="0B0B0B"/>
                </a:solidFill>
                <a:effectLst/>
                <a:latin typeface="Anthropic Sans"/>
              </a:rPr>
              <a:t>When they study well?</a:t>
            </a:r>
            <a:endParaRPr lang="en-US" sz="2100" b="1" dirty="0"/>
          </a:p>
        </p:txBody>
      </p:sp>
      <p:sp>
        <p:nvSpPr>
          <p:cNvPr id="9" name="Shape 7"/>
          <p:cNvSpPr/>
          <p:nvPr/>
        </p:nvSpPr>
        <p:spPr>
          <a:xfrm>
            <a:off x="342900" y="2153412"/>
            <a:ext cx="8457971" cy="685800"/>
          </a:xfrm>
          <a:prstGeom prst="roundRect">
            <a:avLst>
              <a:gd name="adj" fmla="val 14000"/>
            </a:avLst>
          </a:prstGeom>
          <a:solidFill>
            <a:srgbClr val="F7E4CB"/>
          </a:solidFill>
          <a:ln w="15875">
            <a:solidFill>
              <a:srgbClr val="D98C4A"/>
            </a:solidFill>
            <a:prstDash val="solid"/>
          </a:ln>
        </p:spPr>
      </p:sp>
      <p:sp>
        <p:nvSpPr>
          <p:cNvPr id="10" name="Text 8"/>
          <p:cNvSpPr/>
          <p:nvPr/>
        </p:nvSpPr>
        <p:spPr>
          <a:xfrm>
            <a:off x="445769" y="2153412"/>
            <a:ext cx="582930" cy="685800"/>
          </a:xfrm>
          <a:prstGeom prst="rect">
            <a:avLst/>
          </a:prstGeom>
          <a:noFill/>
          <a:ln/>
        </p:spPr>
        <p:txBody>
          <a:bodyPr wrap="square" rtlCol="0" anchor="ctr"/>
          <a:lstStyle/>
          <a:p>
            <a:pPr algn="ctr"/>
            <a:r>
              <a:rPr lang="en-US" sz="2100" dirty="0"/>
              <a:t>2.</a:t>
            </a:r>
          </a:p>
        </p:txBody>
      </p:sp>
      <p:sp>
        <p:nvSpPr>
          <p:cNvPr id="11" name="Text 9"/>
          <p:cNvSpPr/>
          <p:nvPr/>
        </p:nvSpPr>
        <p:spPr>
          <a:xfrm>
            <a:off x="1062990" y="2153412"/>
            <a:ext cx="7600721" cy="685800"/>
          </a:xfrm>
          <a:prstGeom prst="rect">
            <a:avLst/>
          </a:prstGeom>
          <a:noFill/>
          <a:ln/>
        </p:spPr>
        <p:txBody>
          <a:bodyPr wrap="square" rtlCol="0" anchor="ctr"/>
          <a:lstStyle/>
          <a:p>
            <a:r>
              <a:rPr lang="en-US" sz="2100" b="1" dirty="0">
                <a:solidFill>
                  <a:srgbClr val="4A3B2E"/>
                </a:solidFill>
                <a:latin typeface="Calibri" pitchFamily="34" charset="0"/>
                <a:ea typeface="Calibri" pitchFamily="34" charset="-122"/>
                <a:cs typeface="Calibri" pitchFamily="34" charset="-120"/>
              </a:rPr>
              <a:t>말을 잘 들을 때? </a:t>
            </a:r>
            <a:r>
              <a:rPr lang="en-US" altLang="ko-KR" sz="2400" b="1" i="0" dirty="0">
                <a:solidFill>
                  <a:srgbClr val="0B0B0B"/>
                </a:solidFill>
                <a:effectLst/>
                <a:latin typeface="Anthropic Sans"/>
              </a:rPr>
              <a:t>When they listen well?</a:t>
            </a:r>
            <a:endParaRPr lang="en-US" sz="2100" b="1" dirty="0"/>
          </a:p>
        </p:txBody>
      </p:sp>
      <p:sp>
        <p:nvSpPr>
          <p:cNvPr id="12" name="Shape 10"/>
          <p:cNvSpPr/>
          <p:nvPr/>
        </p:nvSpPr>
        <p:spPr>
          <a:xfrm>
            <a:off x="342900" y="2935224"/>
            <a:ext cx="8457971" cy="685800"/>
          </a:xfrm>
          <a:prstGeom prst="roundRect">
            <a:avLst>
              <a:gd name="adj" fmla="val 14000"/>
            </a:avLst>
          </a:prstGeom>
          <a:solidFill>
            <a:srgbClr val="E6EEE2"/>
          </a:solidFill>
          <a:ln w="15875">
            <a:solidFill>
              <a:srgbClr val="8FAE93"/>
            </a:solidFill>
            <a:prstDash val="solid"/>
          </a:ln>
        </p:spPr>
      </p:sp>
      <p:sp>
        <p:nvSpPr>
          <p:cNvPr id="13" name="Text 11"/>
          <p:cNvSpPr/>
          <p:nvPr/>
        </p:nvSpPr>
        <p:spPr>
          <a:xfrm>
            <a:off x="445769" y="2935224"/>
            <a:ext cx="582930" cy="685800"/>
          </a:xfrm>
          <a:prstGeom prst="rect">
            <a:avLst/>
          </a:prstGeom>
          <a:noFill/>
          <a:ln/>
        </p:spPr>
        <p:txBody>
          <a:bodyPr wrap="square" rtlCol="0" anchor="ctr"/>
          <a:lstStyle/>
          <a:p>
            <a:pPr algn="ctr"/>
            <a:r>
              <a:rPr lang="en-US" sz="2100" dirty="0"/>
              <a:t>3.</a:t>
            </a:r>
          </a:p>
        </p:txBody>
      </p:sp>
      <p:sp>
        <p:nvSpPr>
          <p:cNvPr id="14" name="Text 12"/>
          <p:cNvSpPr/>
          <p:nvPr/>
        </p:nvSpPr>
        <p:spPr>
          <a:xfrm>
            <a:off x="1062990" y="2935224"/>
            <a:ext cx="7600721" cy="685800"/>
          </a:xfrm>
          <a:prstGeom prst="rect">
            <a:avLst/>
          </a:prstGeom>
          <a:noFill/>
          <a:ln/>
        </p:spPr>
        <p:txBody>
          <a:bodyPr wrap="square" rtlCol="0" anchor="ctr"/>
          <a:lstStyle/>
          <a:p>
            <a:r>
              <a:rPr lang="en-US" sz="2100" b="1" dirty="0">
                <a:solidFill>
                  <a:srgbClr val="4A3B2E"/>
                </a:solidFill>
                <a:latin typeface="Calibri" pitchFamily="34" charset="0"/>
                <a:ea typeface="Calibri" pitchFamily="34" charset="-122"/>
                <a:cs typeface="Calibri" pitchFamily="34" charset="-120"/>
              </a:rPr>
              <a:t>친구가 많을 때? </a:t>
            </a:r>
            <a:r>
              <a:rPr lang="en-US" altLang="ko-KR" sz="2400" b="1" i="0" dirty="0">
                <a:solidFill>
                  <a:srgbClr val="0B0B0B"/>
                </a:solidFill>
                <a:effectLst/>
                <a:latin typeface="Anthropic Sans"/>
              </a:rPr>
              <a:t>When they have many friends?</a:t>
            </a:r>
            <a:endParaRPr lang="en-US" sz="2100" b="1" dirty="0"/>
          </a:p>
        </p:txBody>
      </p:sp>
      <p:sp>
        <p:nvSpPr>
          <p:cNvPr id="15" name="Shape 13"/>
          <p:cNvSpPr/>
          <p:nvPr/>
        </p:nvSpPr>
        <p:spPr>
          <a:xfrm>
            <a:off x="342900" y="3874770"/>
            <a:ext cx="8457971" cy="651510"/>
          </a:xfrm>
          <a:prstGeom prst="roundRect">
            <a:avLst>
              <a:gd name="adj" fmla="val 16842"/>
            </a:avLst>
          </a:prstGeom>
          <a:solidFill>
            <a:srgbClr val="8B4A32"/>
          </a:solidFill>
          <a:ln/>
        </p:spPr>
      </p:sp>
      <p:sp>
        <p:nvSpPr>
          <p:cNvPr id="16" name="Text 14"/>
          <p:cNvSpPr/>
          <p:nvPr/>
        </p:nvSpPr>
        <p:spPr>
          <a:xfrm>
            <a:off x="548640" y="3874770"/>
            <a:ext cx="8046491" cy="651510"/>
          </a:xfrm>
          <a:prstGeom prst="rect">
            <a:avLst/>
          </a:prstGeom>
          <a:noFill/>
          <a:ln/>
        </p:spPr>
        <p:txBody>
          <a:bodyPr wrap="square" rtlCol="0" anchor="ctr"/>
          <a:lstStyle/>
          <a:p>
            <a:pPr>
              <a:lnSpc>
                <a:spcPct val="105000"/>
              </a:lnSpc>
            </a:pPr>
            <a:r>
              <a:rPr lang="en-US" sz="1125" b="1" i="1" dirty="0">
                <a:solidFill>
                  <a:srgbClr val="F7E4CB"/>
                </a:solidFill>
                <a:latin typeface="Calibri" pitchFamily="34" charset="0"/>
                <a:ea typeface="Calibri" pitchFamily="34" charset="-122"/>
                <a:cs typeface="Calibri" pitchFamily="34" charset="-120"/>
              </a:rPr>
              <a:t>오늘의 한 문장   </a:t>
            </a:r>
            <a:r>
              <a:rPr lang="en-US" sz="1500" b="1" dirty="0">
                <a:solidFill>
                  <a:srgbClr val="FFFFFF"/>
                </a:solidFill>
                <a:latin typeface="Calibri" pitchFamily="34" charset="0"/>
                <a:ea typeface="Calibri" pitchFamily="34" charset="-122"/>
                <a:cs typeface="Calibri" pitchFamily="34" charset="-120"/>
              </a:rPr>
              <a:t>오늘 함께 답을 </a:t>
            </a:r>
            <a:r>
              <a:rPr lang="en-US" sz="1500" b="1" dirty="0" err="1">
                <a:solidFill>
                  <a:srgbClr val="FFFFFF"/>
                </a:solidFill>
                <a:latin typeface="Calibri" pitchFamily="34" charset="0"/>
                <a:ea typeface="Calibri" pitchFamily="34" charset="-122"/>
                <a:cs typeface="Calibri" pitchFamily="34" charset="-120"/>
              </a:rPr>
              <a:t>찾아보겠습니다</a:t>
            </a:r>
            <a:r>
              <a:rPr lang="en-US" sz="1500" b="1" dirty="0">
                <a:solidFill>
                  <a:srgbClr val="FFFFFF"/>
                </a:solidFill>
                <a:latin typeface="Calibri" pitchFamily="34" charset="0"/>
                <a:ea typeface="Calibri" pitchFamily="34" charset="-122"/>
                <a:cs typeface="Calibri" pitchFamily="34" charset="-120"/>
              </a:rPr>
              <a:t>. </a:t>
            </a:r>
          </a:p>
          <a:p>
            <a:pPr>
              <a:lnSpc>
                <a:spcPct val="105000"/>
              </a:lnSpc>
            </a:pPr>
            <a:r>
              <a:rPr lang="en-US" altLang="ko-KR" sz="1600" b="1" i="1" dirty="0">
                <a:solidFill>
                  <a:srgbClr val="FCEBEB"/>
                </a:solidFill>
                <a:effectLst/>
                <a:latin typeface="Anthropic Sans"/>
              </a:rPr>
              <a:t>Today's sentence We'll find the answer together today.</a:t>
            </a:r>
            <a:endParaRPr lang="en-US" sz="1125" b="1" dirty="0"/>
          </a:p>
        </p:txBody>
      </p:sp>
      <p:sp>
        <p:nvSpPr>
          <p:cNvPr id="20" name="ActivityCaption"/>
          <p:cNvSpPr/>
          <p:nvPr/>
        </p:nvSpPr>
        <p:spPr>
          <a:xfrm>
            <a:off x="342900" y="4560000"/>
            <a:ext cx="8457971" cy="500000"/>
          </a:xfrm>
          <a:prstGeom prst="rect">
            <a:avLst/>
          </a:prstGeom>
          <a:noFill/>
          <a:ln/>
        </p:spPr>
        <p:txBody>
          <a:bodyPr wrap="square" rtlCol="0" anchor="t"/>
          <a:lstStyle/>
          <a:p>
            <a:pPr algn="ctr"/>
            <a:r>
              <a:rPr lang="ko-KR" altLang="en-US" sz="1400" b="1" dirty="0">
                <a:solidFill>
                  <a:srgbClr val="6B6480"/>
                </a:solidFill>
              </a:rPr>
              <a:t>✋ 손으로 번호를 표시해 보세요! Point to your answer!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4790D7AA-A3D1-41A4-8475-7F96B5694290}"/>
              </a:ext>
            </a:extLst>
          </p:cNvPr>
          <p:cNvPicPr>
            <a:picLocks noChangeAspect="1"/>
          </p:cNvPicPr>
          <p:nvPr/>
        </p:nvPicPr>
        <p:blipFill>
          <a:blip r:embed="rId3"/>
          <a:stretch>
            <a:fillRect/>
          </a:stretch>
        </p:blipFill>
        <p:spPr>
          <a:xfrm>
            <a:off x="0" y="64437"/>
            <a:ext cx="9144000" cy="5014626"/>
          </a:xfrm>
          <a:prstGeom prst="rect">
            <a:avLst/>
          </a:prstGeom>
        </p:spPr>
      </p:pic>
    </p:spTree>
    <p:extLst>
      <p:ext uri="{BB962C8B-B14F-4D97-AF65-F5344CB8AC3E}">
        <p14:creationId xmlns:p14="http://schemas.microsoft.com/office/powerpoint/2010/main" val="33432065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DE98B44D-3539-4965-B531-6FB385B9CD76}"/>
              </a:ext>
            </a:extLst>
          </p:cNvPr>
          <p:cNvPicPr>
            <a:picLocks noChangeAspect="1"/>
          </p:cNvPicPr>
          <p:nvPr/>
        </p:nvPicPr>
        <p:blipFill>
          <a:blip r:embed="rId3"/>
          <a:stretch>
            <a:fillRect/>
          </a:stretch>
        </p:blipFill>
        <p:spPr>
          <a:xfrm>
            <a:off x="103517" y="111319"/>
            <a:ext cx="8893833" cy="4969564"/>
          </a:xfrm>
          <a:prstGeom prst="rect">
            <a:avLst/>
          </a:prstGeom>
        </p:spPr>
      </p:pic>
    </p:spTree>
    <p:extLst>
      <p:ext uri="{BB962C8B-B14F-4D97-AF65-F5344CB8AC3E}">
        <p14:creationId xmlns:p14="http://schemas.microsoft.com/office/powerpoint/2010/main" val="17155912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그림 16">
            <a:extLst>
              <a:ext uri="{FF2B5EF4-FFF2-40B4-BE49-F238E27FC236}">
                <a16:creationId xmlns:a16="http://schemas.microsoft.com/office/drawing/2014/main" id="{20AC1D3C-1293-4953-862C-5810E3D00BB3}"/>
              </a:ext>
            </a:extLst>
          </p:cNvPr>
          <p:cNvPicPr>
            <a:picLocks noChangeAspect="1"/>
          </p:cNvPicPr>
          <p:nvPr/>
        </p:nvPicPr>
        <p:blipFill rotWithShape="1">
          <a:blip r:embed="rId3"/>
          <a:srcRect l="1665" r="1458"/>
          <a:stretch/>
        </p:blipFill>
        <p:spPr>
          <a:xfrm>
            <a:off x="190830" y="0"/>
            <a:ext cx="8635117" cy="5143500"/>
          </a:xfrm>
          <a:prstGeom prst="rect">
            <a:avLst/>
          </a:prstGeom>
        </p:spPr>
      </p:pic>
    </p:spTree>
    <p:extLst>
      <p:ext uri="{BB962C8B-B14F-4D97-AF65-F5344CB8AC3E}">
        <p14:creationId xmlns:p14="http://schemas.microsoft.com/office/powerpoint/2010/main" val="23751028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a:extLst>
              <a:ext uri="{FF2B5EF4-FFF2-40B4-BE49-F238E27FC236}">
                <a16:creationId xmlns:a16="http://schemas.microsoft.com/office/drawing/2014/main" id="{0B4E6FA5-F961-499A-BBB6-BEA4A702271F}"/>
              </a:ext>
            </a:extLst>
          </p:cNvPr>
          <p:cNvPicPr>
            <a:picLocks noChangeAspect="1"/>
          </p:cNvPicPr>
          <p:nvPr/>
        </p:nvPicPr>
        <p:blipFill>
          <a:blip r:embed="rId3"/>
          <a:stretch>
            <a:fillRect/>
          </a:stretch>
        </p:blipFill>
        <p:spPr>
          <a:xfrm>
            <a:off x="2534354" y="622738"/>
            <a:ext cx="3773461" cy="4298125"/>
          </a:xfrm>
          <a:prstGeom prst="rect">
            <a:avLst/>
          </a:prstGeom>
        </p:spPr>
      </p:pic>
      <p:sp>
        <p:nvSpPr>
          <p:cNvPr id="4" name="TextBox 3">
            <a:extLst>
              <a:ext uri="{FF2B5EF4-FFF2-40B4-BE49-F238E27FC236}">
                <a16:creationId xmlns:a16="http://schemas.microsoft.com/office/drawing/2014/main" id="{529DD0F8-9F5B-41D4-A12A-F6B3A6D84C0A}"/>
              </a:ext>
            </a:extLst>
          </p:cNvPr>
          <p:cNvSpPr txBox="1"/>
          <p:nvPr/>
        </p:nvSpPr>
        <p:spPr>
          <a:xfrm>
            <a:off x="2747189" y="109605"/>
            <a:ext cx="3078170" cy="400110"/>
          </a:xfrm>
          <a:prstGeom prst="rect">
            <a:avLst/>
          </a:prstGeom>
          <a:noFill/>
        </p:spPr>
        <p:txBody>
          <a:bodyPr wrap="square">
            <a:spAutoFit/>
          </a:bodyPr>
          <a:lstStyle/>
          <a:p>
            <a:pPr algn="ctr"/>
            <a:r>
              <a:rPr lang="en-US" altLang="ko-KR" sz="2000" b="1" dirty="0"/>
              <a:t>Virginia Satir</a:t>
            </a:r>
            <a:endParaRPr lang="ko-KR" altLang="en-US" sz="2000" dirty="0"/>
          </a:p>
        </p:txBody>
      </p:sp>
    </p:spTree>
    <p:extLst>
      <p:ext uri="{BB962C8B-B14F-4D97-AF65-F5344CB8AC3E}">
        <p14:creationId xmlns:p14="http://schemas.microsoft.com/office/powerpoint/2010/main" val="25754773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193CCD3-FE28-4426-B194-7D25716DB46C}"/>
              </a:ext>
            </a:extLst>
          </p:cNvPr>
          <p:cNvSpPr txBox="1"/>
          <p:nvPr/>
        </p:nvSpPr>
        <p:spPr>
          <a:xfrm>
            <a:off x="2343150" y="1108106"/>
            <a:ext cx="4575940" cy="2243243"/>
          </a:xfrm>
          <a:prstGeom prst="rect">
            <a:avLst/>
          </a:prstGeom>
          <a:noFill/>
        </p:spPr>
        <p:txBody>
          <a:bodyPr wrap="square">
            <a:spAutoFit/>
          </a:bodyPr>
          <a:lstStyle/>
          <a:p>
            <a:pPr algn="ctr">
              <a:lnSpc>
                <a:spcPct val="150000"/>
              </a:lnSpc>
            </a:pPr>
            <a:r>
              <a:rPr lang="ko-KR" altLang="en-US" sz="2400" b="1" dirty="0"/>
              <a:t>① 자아존중감</a:t>
            </a:r>
            <a:r>
              <a:rPr lang="en-US" altLang="ko-KR" sz="2400" b="1" dirty="0"/>
              <a:t>(Self-esteem)</a:t>
            </a:r>
          </a:p>
          <a:p>
            <a:pPr algn="ctr">
              <a:lnSpc>
                <a:spcPct val="150000"/>
              </a:lnSpc>
            </a:pPr>
            <a:r>
              <a:rPr lang="ko-KR" altLang="en-US" sz="2400" b="1" dirty="0"/>
              <a:t>② 빙산모델</a:t>
            </a:r>
            <a:r>
              <a:rPr lang="en-US" altLang="ko-KR" sz="2400" b="1" dirty="0"/>
              <a:t>(Iceberg Model)</a:t>
            </a:r>
          </a:p>
          <a:p>
            <a:pPr algn="ctr">
              <a:lnSpc>
                <a:spcPct val="150000"/>
              </a:lnSpc>
            </a:pPr>
            <a:r>
              <a:rPr lang="ko-KR" altLang="en-US" sz="2400" b="1" dirty="0"/>
              <a:t>③ 의사소통</a:t>
            </a:r>
            <a:r>
              <a:rPr lang="en-US" altLang="ko-KR" sz="2400" b="1" dirty="0"/>
              <a:t>(Communication)</a:t>
            </a:r>
          </a:p>
          <a:p>
            <a:pPr algn="ctr">
              <a:lnSpc>
                <a:spcPct val="150000"/>
              </a:lnSpc>
            </a:pPr>
            <a:endParaRPr lang="en-US" altLang="ko-KR" sz="2400" b="1" dirty="0"/>
          </a:p>
        </p:txBody>
      </p:sp>
    </p:spTree>
    <p:extLst>
      <p:ext uri="{BB962C8B-B14F-4D97-AF65-F5344CB8AC3E}">
        <p14:creationId xmlns:p14="http://schemas.microsoft.com/office/powerpoint/2010/main" val="998562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EDEF733-A198-4A5E-ABC9-9393801B4138}"/>
              </a:ext>
            </a:extLst>
          </p:cNvPr>
          <p:cNvSpPr txBox="1"/>
          <p:nvPr/>
        </p:nvSpPr>
        <p:spPr>
          <a:xfrm>
            <a:off x="895679" y="1191482"/>
            <a:ext cx="7352642" cy="1200329"/>
          </a:xfrm>
          <a:prstGeom prst="rect">
            <a:avLst/>
          </a:prstGeom>
          <a:noFill/>
        </p:spPr>
        <p:txBody>
          <a:bodyPr wrap="square">
            <a:spAutoFit/>
          </a:bodyPr>
          <a:lstStyle/>
          <a:p>
            <a:pPr algn="ctr"/>
            <a:r>
              <a:rPr lang="ko-KR" altLang="en-US" b="1" dirty="0" err="1"/>
              <a:t>사티어</a:t>
            </a:r>
            <a:r>
              <a:rPr lang="ko-KR" altLang="en-US" b="1" dirty="0"/>
              <a:t> 모델</a:t>
            </a:r>
            <a:r>
              <a:rPr lang="en-US" altLang="ko-KR" b="1" dirty="0"/>
              <a:t>(Satir Growth Model)</a:t>
            </a:r>
            <a:r>
              <a:rPr lang="ko-KR" altLang="en-US" b="1" dirty="0"/>
              <a:t>의 핵심 </a:t>
            </a:r>
            <a:endParaRPr lang="en-US" altLang="ko-KR" b="1" dirty="0"/>
          </a:p>
          <a:p>
            <a:pPr algn="ctr"/>
            <a:endParaRPr lang="en-US" altLang="ko-KR" b="1" dirty="0">
              <a:solidFill>
                <a:srgbClr val="FF0000"/>
              </a:solidFill>
            </a:endParaRPr>
          </a:p>
          <a:p>
            <a:pPr algn="ctr"/>
            <a:r>
              <a:rPr lang="ko-KR" altLang="en-US" sz="3600" b="1" dirty="0">
                <a:solidFill>
                  <a:srgbClr val="FF0000"/>
                </a:solidFill>
              </a:rPr>
              <a:t>① 자아존중감</a:t>
            </a:r>
            <a:r>
              <a:rPr lang="en-US" altLang="ko-KR" sz="3600" b="1" dirty="0">
                <a:solidFill>
                  <a:srgbClr val="FF0000"/>
                </a:solidFill>
              </a:rPr>
              <a:t>(Self-esteem)</a:t>
            </a:r>
          </a:p>
        </p:txBody>
      </p:sp>
    </p:spTree>
    <p:extLst>
      <p:ext uri="{BB962C8B-B14F-4D97-AF65-F5344CB8AC3E}">
        <p14:creationId xmlns:p14="http://schemas.microsoft.com/office/powerpoint/2010/main" val="7183678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a:extLst>
              <a:ext uri="{FF2B5EF4-FFF2-40B4-BE49-F238E27FC236}">
                <a16:creationId xmlns:a16="http://schemas.microsoft.com/office/drawing/2014/main" id="{D3A9683D-48E4-4E21-B318-3B7F9C52C358}"/>
              </a:ext>
            </a:extLst>
          </p:cNvPr>
          <p:cNvPicPr>
            <a:picLocks noChangeAspect="1"/>
          </p:cNvPicPr>
          <p:nvPr/>
        </p:nvPicPr>
        <p:blipFill>
          <a:blip r:embed="rId3"/>
          <a:stretch>
            <a:fillRect/>
          </a:stretch>
        </p:blipFill>
        <p:spPr>
          <a:xfrm>
            <a:off x="198407" y="129396"/>
            <a:ext cx="8643668" cy="4884708"/>
          </a:xfrm>
          <a:prstGeom prst="rect">
            <a:avLst/>
          </a:prstGeom>
        </p:spPr>
      </p:pic>
    </p:spTree>
    <p:extLst>
      <p:ext uri="{BB962C8B-B14F-4D97-AF65-F5344CB8AC3E}">
        <p14:creationId xmlns:p14="http://schemas.microsoft.com/office/powerpoint/2010/main" val="32486192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92B0C3C6-FECC-4A96-8F09-12D8345B6A97}"/>
              </a:ext>
            </a:extLst>
          </p:cNvPr>
          <p:cNvPicPr>
            <a:picLocks noChangeAspect="1"/>
          </p:cNvPicPr>
          <p:nvPr/>
        </p:nvPicPr>
        <p:blipFill>
          <a:blip r:embed="rId3"/>
          <a:stretch>
            <a:fillRect/>
          </a:stretch>
        </p:blipFill>
        <p:spPr>
          <a:xfrm>
            <a:off x="0" y="222420"/>
            <a:ext cx="9144000" cy="4698659"/>
          </a:xfrm>
          <a:prstGeom prst="rect">
            <a:avLst/>
          </a:prstGeom>
        </p:spPr>
      </p:pic>
    </p:spTree>
    <p:extLst>
      <p:ext uri="{BB962C8B-B14F-4D97-AF65-F5344CB8AC3E}">
        <p14:creationId xmlns:p14="http://schemas.microsoft.com/office/powerpoint/2010/main" val="35512414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a:extLst>
              <a:ext uri="{FF2B5EF4-FFF2-40B4-BE49-F238E27FC236}">
                <a16:creationId xmlns:a16="http://schemas.microsoft.com/office/drawing/2014/main" id="{44E337B1-B972-46EF-A53E-ED51EA6BD5DF}"/>
              </a:ext>
            </a:extLst>
          </p:cNvPr>
          <p:cNvPicPr>
            <a:picLocks noChangeAspect="1"/>
          </p:cNvPicPr>
          <p:nvPr/>
        </p:nvPicPr>
        <p:blipFill>
          <a:blip r:embed="rId3"/>
          <a:stretch>
            <a:fillRect/>
          </a:stretch>
        </p:blipFill>
        <p:spPr>
          <a:xfrm>
            <a:off x="120770" y="128571"/>
            <a:ext cx="8755811" cy="4886358"/>
          </a:xfrm>
          <a:prstGeom prst="rect">
            <a:avLst/>
          </a:prstGeom>
        </p:spPr>
      </p:pic>
    </p:spTree>
    <p:extLst>
      <p:ext uri="{BB962C8B-B14F-4D97-AF65-F5344CB8AC3E}">
        <p14:creationId xmlns:p14="http://schemas.microsoft.com/office/powerpoint/2010/main" val="41213999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EDEF733-A198-4A5E-ABC9-9393801B4138}"/>
              </a:ext>
            </a:extLst>
          </p:cNvPr>
          <p:cNvSpPr txBox="1"/>
          <p:nvPr/>
        </p:nvSpPr>
        <p:spPr>
          <a:xfrm>
            <a:off x="895679" y="1191482"/>
            <a:ext cx="7352642" cy="1200329"/>
          </a:xfrm>
          <a:prstGeom prst="rect">
            <a:avLst/>
          </a:prstGeom>
          <a:noFill/>
        </p:spPr>
        <p:txBody>
          <a:bodyPr wrap="square">
            <a:spAutoFit/>
          </a:bodyPr>
          <a:lstStyle/>
          <a:p>
            <a:pPr algn="ctr"/>
            <a:r>
              <a:rPr lang="ko-KR" altLang="en-US" b="1" dirty="0" err="1"/>
              <a:t>사티어</a:t>
            </a:r>
            <a:r>
              <a:rPr lang="ko-KR" altLang="en-US" b="1" dirty="0"/>
              <a:t> 모델</a:t>
            </a:r>
            <a:r>
              <a:rPr lang="en-US" altLang="ko-KR" b="1" dirty="0"/>
              <a:t>(Satir Growth Model)</a:t>
            </a:r>
            <a:r>
              <a:rPr lang="ko-KR" altLang="en-US" b="1" dirty="0"/>
              <a:t>의 핵심 </a:t>
            </a:r>
            <a:endParaRPr lang="en-US" altLang="ko-KR" b="1" dirty="0"/>
          </a:p>
          <a:p>
            <a:pPr algn="ctr"/>
            <a:endParaRPr lang="en-US" altLang="ko-KR" b="1" dirty="0">
              <a:solidFill>
                <a:srgbClr val="FF0000"/>
              </a:solidFill>
            </a:endParaRPr>
          </a:p>
          <a:p>
            <a:pPr algn="ctr"/>
            <a:r>
              <a:rPr lang="ko-KR" altLang="en-US" sz="3600" b="1" dirty="0">
                <a:solidFill>
                  <a:srgbClr val="FF0000"/>
                </a:solidFill>
              </a:rPr>
              <a:t>② 빙산모델</a:t>
            </a:r>
            <a:r>
              <a:rPr lang="en-US" altLang="ko-KR" sz="3600" b="1" dirty="0">
                <a:solidFill>
                  <a:srgbClr val="FF0000"/>
                </a:solidFill>
              </a:rPr>
              <a:t>(Iceberg Model)</a:t>
            </a:r>
          </a:p>
        </p:txBody>
      </p:sp>
    </p:spTree>
    <p:extLst>
      <p:ext uri="{BB962C8B-B14F-4D97-AF65-F5344CB8AC3E}">
        <p14:creationId xmlns:p14="http://schemas.microsoft.com/office/powerpoint/2010/main" val="12440114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BB20C5D7-AC82-45F7-B408-06DEC7D5D577}"/>
              </a:ext>
            </a:extLst>
          </p:cNvPr>
          <p:cNvPicPr>
            <a:picLocks noChangeAspect="1"/>
          </p:cNvPicPr>
          <p:nvPr/>
        </p:nvPicPr>
        <p:blipFill>
          <a:blip r:embed="rId3"/>
          <a:stretch>
            <a:fillRect/>
          </a:stretch>
        </p:blipFill>
        <p:spPr>
          <a:xfrm>
            <a:off x="163905" y="125083"/>
            <a:ext cx="4606504" cy="4893334"/>
          </a:xfrm>
          <a:prstGeom prst="rect">
            <a:avLst/>
          </a:prstGeom>
        </p:spPr>
      </p:pic>
      <p:sp>
        <p:nvSpPr>
          <p:cNvPr id="7" name="TextBox 6">
            <a:extLst>
              <a:ext uri="{FF2B5EF4-FFF2-40B4-BE49-F238E27FC236}">
                <a16:creationId xmlns:a16="http://schemas.microsoft.com/office/drawing/2014/main" id="{2660B9C6-E649-4D55-A76D-276061CF1D40}"/>
              </a:ext>
            </a:extLst>
          </p:cNvPr>
          <p:cNvSpPr txBox="1"/>
          <p:nvPr/>
        </p:nvSpPr>
        <p:spPr>
          <a:xfrm>
            <a:off x="4848045" y="272213"/>
            <a:ext cx="4201064" cy="4255460"/>
          </a:xfrm>
          <a:prstGeom prst="rect">
            <a:avLst/>
          </a:prstGeom>
          <a:solidFill>
            <a:schemeClr val="bg1"/>
          </a:solidFill>
        </p:spPr>
        <p:txBody>
          <a:bodyPr wrap="square">
            <a:spAutoFit/>
          </a:bodyPr>
          <a:lstStyle/>
          <a:p>
            <a:pPr>
              <a:lnSpc>
                <a:spcPct val="150000"/>
              </a:lnSpc>
            </a:pPr>
            <a:r>
              <a:rPr lang="ko-KR" altLang="en-US" sz="1400" b="1" dirty="0"/>
              <a:t>쉽게 이해해요</a:t>
            </a:r>
            <a:r>
              <a:rPr lang="en-US" altLang="ko-KR" sz="1400" b="1" dirty="0"/>
              <a:t>! | Let’s Understand Easily!</a:t>
            </a:r>
          </a:p>
          <a:p>
            <a:pPr>
              <a:lnSpc>
                <a:spcPct val="150000"/>
              </a:lnSpc>
            </a:pPr>
            <a:r>
              <a:rPr lang="ko-KR" altLang="en-US" sz="1400" dirty="0"/>
              <a:t>👀 </a:t>
            </a:r>
            <a:r>
              <a:rPr lang="ko-KR" altLang="en-US" sz="1400" b="1" dirty="0"/>
              <a:t>우리가 보는 것은 ‘</a:t>
            </a:r>
            <a:r>
              <a:rPr lang="ko-KR" altLang="en-US" sz="1400" b="1" dirty="0" err="1"/>
              <a:t>행동’이에요</a:t>
            </a:r>
            <a:r>
              <a:rPr lang="en-US" altLang="ko-KR" sz="1400" b="1" dirty="0"/>
              <a:t>.</a:t>
            </a:r>
            <a:br>
              <a:rPr lang="ko-KR" altLang="en-US" sz="1400" dirty="0"/>
            </a:br>
            <a:r>
              <a:rPr lang="en-US" altLang="ko-KR" sz="1400" dirty="0"/>
              <a:t>What we see is </a:t>
            </a:r>
            <a:r>
              <a:rPr lang="en-US" altLang="ko-KR" sz="1400" b="1" dirty="0"/>
              <a:t>behavior</a:t>
            </a:r>
            <a:r>
              <a:rPr lang="en-US" altLang="ko-KR" sz="1400" dirty="0"/>
              <a:t>.</a:t>
            </a:r>
          </a:p>
          <a:p>
            <a:pPr>
              <a:lnSpc>
                <a:spcPct val="150000"/>
              </a:lnSpc>
            </a:pPr>
            <a:r>
              <a:rPr lang="en-US" altLang="ko-KR" sz="1400" dirty="0"/>
              <a:t>❤️ </a:t>
            </a:r>
            <a:r>
              <a:rPr lang="ko-KR" altLang="en-US" sz="1400" b="1" dirty="0"/>
              <a:t>그 행동 뒤에는 여러 감정이 숨어 있어요</a:t>
            </a:r>
            <a:r>
              <a:rPr lang="en-US" altLang="ko-KR" sz="1400" b="1" dirty="0"/>
              <a:t>.</a:t>
            </a:r>
            <a:br>
              <a:rPr lang="ko-KR" altLang="en-US" sz="1400" dirty="0"/>
            </a:br>
            <a:r>
              <a:rPr lang="en-US" altLang="ko-KR" sz="1400" dirty="0"/>
              <a:t>Behind the behavior are many </a:t>
            </a:r>
            <a:r>
              <a:rPr lang="en-US" altLang="ko-KR" sz="1400" b="1" dirty="0"/>
              <a:t>feelings</a:t>
            </a:r>
            <a:r>
              <a:rPr lang="en-US" altLang="ko-KR" sz="1400" dirty="0"/>
              <a:t>.</a:t>
            </a:r>
          </a:p>
          <a:p>
            <a:pPr>
              <a:lnSpc>
                <a:spcPct val="150000"/>
              </a:lnSpc>
            </a:pPr>
            <a:r>
              <a:rPr lang="ko-KR" altLang="en-US" sz="1400" dirty="0"/>
              <a:t>👓 </a:t>
            </a:r>
            <a:r>
              <a:rPr lang="ko-KR" altLang="en-US" sz="1400" b="1" dirty="0"/>
              <a:t>같은 일도 사람마다 다르게 생각하고 받아들여요</a:t>
            </a:r>
            <a:r>
              <a:rPr lang="en-US" altLang="ko-KR" sz="1400" b="1" dirty="0"/>
              <a:t>.</a:t>
            </a:r>
            <a:br>
              <a:rPr lang="ko-KR" altLang="en-US" sz="1400" dirty="0"/>
            </a:br>
            <a:r>
              <a:rPr lang="en-US" altLang="ko-KR" sz="1400" dirty="0"/>
              <a:t>We may </a:t>
            </a:r>
            <a:r>
              <a:rPr lang="en-US" altLang="ko-KR" sz="1400" b="1" dirty="0"/>
              <a:t>see and understand</a:t>
            </a:r>
            <a:r>
              <a:rPr lang="en-US" altLang="ko-KR" sz="1400" dirty="0"/>
              <a:t> the same situation differently.</a:t>
            </a:r>
          </a:p>
          <a:p>
            <a:pPr>
              <a:lnSpc>
                <a:spcPct val="150000"/>
              </a:lnSpc>
            </a:pPr>
            <a:r>
              <a:rPr lang="ko-KR" altLang="en-US" sz="1400" dirty="0"/>
              <a:t>🎯 </a:t>
            </a:r>
            <a:r>
              <a:rPr lang="ko-KR" altLang="en-US" sz="1400" b="1" dirty="0"/>
              <a:t>마음속에는 바라는 것과 필요한 것이 있어요</a:t>
            </a:r>
            <a:r>
              <a:rPr lang="en-US" altLang="ko-KR" sz="1400" b="1" dirty="0"/>
              <a:t>.</a:t>
            </a:r>
            <a:br>
              <a:rPr lang="ko-KR" altLang="en-US" sz="1400" dirty="0"/>
            </a:br>
            <a:r>
              <a:rPr lang="en-US" altLang="ko-KR" sz="1400" dirty="0"/>
              <a:t>Inside us are </a:t>
            </a:r>
            <a:r>
              <a:rPr lang="en-US" altLang="ko-KR" sz="1400" b="1" dirty="0"/>
              <a:t>expectations and needs</a:t>
            </a:r>
            <a:r>
              <a:rPr lang="en-US" altLang="ko-KR" sz="1400" dirty="0"/>
              <a:t>.</a:t>
            </a:r>
          </a:p>
          <a:p>
            <a:pPr>
              <a:lnSpc>
                <a:spcPct val="150000"/>
              </a:lnSpc>
            </a:pPr>
            <a:r>
              <a:rPr lang="ko-KR" altLang="en-US" sz="1400" dirty="0"/>
              <a:t>🧡 </a:t>
            </a:r>
            <a:r>
              <a:rPr lang="ko-KR" altLang="en-US" sz="1400" b="1" dirty="0"/>
              <a:t>가장 깊은 곳에는 ‘있는 그대로의 </a:t>
            </a:r>
            <a:r>
              <a:rPr lang="ko-KR" altLang="en-US" sz="1400" b="1" dirty="0" err="1"/>
              <a:t>나’가</a:t>
            </a:r>
            <a:r>
              <a:rPr lang="ko-KR" altLang="en-US" sz="1400" b="1" dirty="0"/>
              <a:t> 있어요</a:t>
            </a:r>
            <a:r>
              <a:rPr lang="en-US" altLang="ko-KR" sz="1400" b="1" dirty="0"/>
              <a:t>.</a:t>
            </a:r>
            <a:br>
              <a:rPr lang="ko-KR" altLang="en-US" sz="1400" dirty="0"/>
            </a:br>
            <a:r>
              <a:rPr lang="en-US" altLang="ko-KR" sz="1400" dirty="0"/>
              <a:t>Deep inside is </a:t>
            </a:r>
            <a:r>
              <a:rPr lang="en-US" altLang="ko-KR" sz="1400" b="1" dirty="0"/>
              <a:t>my true self, just as I am</a:t>
            </a:r>
            <a:r>
              <a:rPr lang="en-US" altLang="ko-KR" sz="1400" dirty="0"/>
              <a:t>.</a:t>
            </a:r>
          </a:p>
        </p:txBody>
      </p:sp>
    </p:spTree>
    <p:extLst>
      <p:ext uri="{BB962C8B-B14F-4D97-AF65-F5344CB8AC3E}">
        <p14:creationId xmlns:p14="http://schemas.microsoft.com/office/powerpoint/2010/main" val="35914537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D9B30CF-BAA9-4D92-8227-EF3481A465AC}"/>
              </a:ext>
            </a:extLst>
          </p:cNvPr>
          <p:cNvSpPr txBox="1"/>
          <p:nvPr/>
        </p:nvSpPr>
        <p:spPr>
          <a:xfrm>
            <a:off x="235070" y="147495"/>
            <a:ext cx="4242041" cy="4905382"/>
          </a:xfrm>
          <a:prstGeom prst="rect">
            <a:avLst/>
          </a:prstGeom>
          <a:solidFill>
            <a:schemeClr val="bg1"/>
          </a:solidFill>
        </p:spPr>
        <p:txBody>
          <a:bodyPr wrap="square">
            <a:spAutoFit/>
          </a:bodyPr>
          <a:lstStyle/>
          <a:p>
            <a:pPr>
              <a:lnSpc>
                <a:spcPct val="150000"/>
              </a:lnSpc>
            </a:pPr>
            <a:r>
              <a:rPr lang="ko-KR" altLang="en-US" sz="1400" b="1" dirty="0"/>
              <a:t>쉽게 이해해요</a:t>
            </a:r>
            <a:r>
              <a:rPr lang="en-US" altLang="ko-KR" sz="1400" b="1" dirty="0"/>
              <a:t>! | </a:t>
            </a:r>
            <a:r>
              <a:rPr lang="en-US" altLang="ko-KR" sz="1400" b="1" dirty="0" err="1"/>
              <a:t>Hãy</a:t>
            </a:r>
            <a:r>
              <a:rPr lang="en-US" altLang="ko-KR" sz="1400" b="1" dirty="0"/>
              <a:t> </a:t>
            </a:r>
            <a:r>
              <a:rPr lang="en-US" altLang="ko-KR" sz="1400" b="1" dirty="0" err="1"/>
              <a:t>hiểu</a:t>
            </a:r>
            <a:r>
              <a:rPr lang="en-US" altLang="ko-KR" sz="1400" b="1" dirty="0"/>
              <a:t> </a:t>
            </a:r>
            <a:r>
              <a:rPr lang="en-US" altLang="ko-KR" sz="1400" b="1" dirty="0" err="1"/>
              <a:t>một</a:t>
            </a:r>
            <a:r>
              <a:rPr lang="en-US" altLang="ko-KR" sz="1400" b="1" dirty="0"/>
              <a:t> </a:t>
            </a:r>
            <a:r>
              <a:rPr lang="en-US" altLang="ko-KR" sz="1400" b="1" dirty="0" err="1"/>
              <a:t>cách</a:t>
            </a:r>
            <a:r>
              <a:rPr lang="en-US" altLang="ko-KR" sz="1400" b="1" dirty="0"/>
              <a:t> </a:t>
            </a:r>
            <a:r>
              <a:rPr lang="en-US" altLang="ko-KR" sz="1400" b="1" dirty="0" err="1"/>
              <a:t>dễ</a:t>
            </a:r>
            <a:r>
              <a:rPr lang="en-US" altLang="ko-KR" sz="1400" b="1" dirty="0"/>
              <a:t> </a:t>
            </a:r>
            <a:r>
              <a:rPr lang="en-US" altLang="ko-KR" sz="1400" b="1" dirty="0" err="1"/>
              <a:t>dàng</a:t>
            </a:r>
            <a:r>
              <a:rPr lang="en-US" altLang="ko-KR" sz="1400" b="1" dirty="0"/>
              <a:t>!</a:t>
            </a:r>
          </a:p>
          <a:p>
            <a:pPr>
              <a:lnSpc>
                <a:spcPct val="150000"/>
              </a:lnSpc>
            </a:pPr>
            <a:r>
              <a:rPr lang="ko-KR" altLang="en-US" sz="1400" dirty="0"/>
              <a:t>👀 </a:t>
            </a:r>
            <a:r>
              <a:rPr lang="ko-KR" altLang="en-US" sz="1400" b="1" dirty="0"/>
              <a:t>우리가 보는 것은 ‘</a:t>
            </a:r>
            <a:r>
              <a:rPr lang="ko-KR" altLang="en-US" sz="1400" b="1" dirty="0" err="1"/>
              <a:t>행동’이에요</a:t>
            </a:r>
            <a:r>
              <a:rPr lang="en-US" altLang="ko-KR" sz="1400" b="1" dirty="0"/>
              <a:t>.</a:t>
            </a:r>
            <a:br>
              <a:rPr lang="ko-KR" altLang="en-US" sz="1400" dirty="0"/>
            </a:br>
            <a:r>
              <a:rPr lang="en-US" altLang="ko-KR" sz="1400" dirty="0" err="1"/>
              <a:t>Điều</a:t>
            </a:r>
            <a:r>
              <a:rPr lang="en-US" altLang="ko-KR" sz="1400" dirty="0"/>
              <a:t> </a:t>
            </a:r>
            <a:r>
              <a:rPr lang="en-US" altLang="ko-KR" sz="1400" dirty="0" err="1"/>
              <a:t>chúng</a:t>
            </a:r>
            <a:r>
              <a:rPr lang="en-US" altLang="ko-KR" sz="1400" dirty="0"/>
              <a:t> ta </a:t>
            </a:r>
            <a:r>
              <a:rPr lang="en-US" altLang="ko-KR" sz="1400" dirty="0" err="1"/>
              <a:t>nhìn</a:t>
            </a:r>
            <a:r>
              <a:rPr lang="en-US" altLang="ko-KR" sz="1400" dirty="0"/>
              <a:t> </a:t>
            </a:r>
            <a:r>
              <a:rPr lang="en-US" altLang="ko-KR" sz="1400" dirty="0" err="1"/>
              <a:t>thấy</a:t>
            </a:r>
            <a:r>
              <a:rPr lang="en-US" altLang="ko-KR" sz="1400" dirty="0"/>
              <a:t> </a:t>
            </a:r>
            <a:r>
              <a:rPr lang="en-US" altLang="ko-KR" sz="1400" dirty="0" err="1"/>
              <a:t>là</a:t>
            </a:r>
            <a:r>
              <a:rPr lang="en-US" altLang="ko-KR" sz="1400" dirty="0"/>
              <a:t> </a:t>
            </a:r>
            <a:r>
              <a:rPr lang="en-US" altLang="ko-KR" sz="1400" b="1" dirty="0" err="1"/>
              <a:t>hành</a:t>
            </a:r>
            <a:r>
              <a:rPr lang="en-US" altLang="ko-KR" sz="1400" b="1" dirty="0"/>
              <a:t> vi</a:t>
            </a:r>
            <a:r>
              <a:rPr lang="en-US" altLang="ko-KR" sz="1400" dirty="0"/>
              <a:t>.</a:t>
            </a:r>
          </a:p>
          <a:p>
            <a:pPr>
              <a:lnSpc>
                <a:spcPct val="150000"/>
              </a:lnSpc>
            </a:pPr>
            <a:r>
              <a:rPr lang="en-US" altLang="ko-KR" sz="1400" dirty="0"/>
              <a:t>❤️ </a:t>
            </a:r>
            <a:r>
              <a:rPr lang="ko-KR" altLang="en-US" sz="1400" b="1" dirty="0"/>
              <a:t>그 행동 뒤에는 여러 감정이 숨어 있어요</a:t>
            </a:r>
            <a:r>
              <a:rPr lang="en-US" altLang="ko-KR" sz="1400" b="1" dirty="0"/>
              <a:t>.</a:t>
            </a:r>
            <a:br>
              <a:rPr lang="ko-KR" altLang="en-US" sz="1400" dirty="0"/>
            </a:br>
            <a:r>
              <a:rPr lang="en-US" altLang="ko-KR" sz="1400" dirty="0" err="1"/>
              <a:t>Đằng</a:t>
            </a:r>
            <a:r>
              <a:rPr lang="en-US" altLang="ko-KR" sz="1400" dirty="0"/>
              <a:t> </a:t>
            </a:r>
            <a:r>
              <a:rPr lang="en-US" altLang="ko-KR" sz="1400" dirty="0" err="1"/>
              <a:t>sau</a:t>
            </a:r>
            <a:r>
              <a:rPr lang="en-US" altLang="ko-KR" sz="1400" dirty="0"/>
              <a:t> </a:t>
            </a:r>
            <a:r>
              <a:rPr lang="en-US" altLang="ko-KR" sz="1400" dirty="0" err="1"/>
              <a:t>hành</a:t>
            </a:r>
            <a:r>
              <a:rPr lang="en-US" altLang="ko-KR" sz="1400" dirty="0"/>
              <a:t> vi </a:t>
            </a:r>
            <a:r>
              <a:rPr lang="en-US" altLang="ko-KR" sz="1400" dirty="0" err="1"/>
              <a:t>có</a:t>
            </a:r>
            <a:r>
              <a:rPr lang="en-US" altLang="ko-KR" sz="1400" dirty="0"/>
              <a:t> </a:t>
            </a:r>
            <a:r>
              <a:rPr lang="en-US" altLang="ko-KR" sz="1400" dirty="0" err="1"/>
              <a:t>nhiều</a:t>
            </a:r>
            <a:r>
              <a:rPr lang="en-US" altLang="ko-KR" sz="1400" dirty="0"/>
              <a:t> </a:t>
            </a:r>
            <a:r>
              <a:rPr lang="en-US" altLang="ko-KR" sz="1400" b="1" dirty="0" err="1"/>
              <a:t>cảm</a:t>
            </a:r>
            <a:r>
              <a:rPr lang="en-US" altLang="ko-KR" sz="1400" b="1" dirty="0"/>
              <a:t> </a:t>
            </a:r>
            <a:r>
              <a:rPr lang="en-US" altLang="ko-KR" sz="1400" b="1" dirty="0" err="1"/>
              <a:t>xúc</a:t>
            </a:r>
            <a:r>
              <a:rPr lang="en-US" altLang="ko-KR" sz="1400" dirty="0"/>
              <a:t>.</a:t>
            </a:r>
          </a:p>
          <a:p>
            <a:pPr>
              <a:lnSpc>
                <a:spcPct val="150000"/>
              </a:lnSpc>
            </a:pPr>
            <a:r>
              <a:rPr lang="ko-KR" altLang="en-US" sz="1400" dirty="0"/>
              <a:t>👓 </a:t>
            </a:r>
            <a:r>
              <a:rPr lang="ko-KR" altLang="en-US" sz="1400" b="1" dirty="0"/>
              <a:t>같은 일도 사람마다 다르게 생각하고 받아들여요</a:t>
            </a:r>
            <a:r>
              <a:rPr lang="en-US" altLang="ko-KR" sz="1400" b="1" dirty="0"/>
              <a:t>.</a:t>
            </a:r>
            <a:br>
              <a:rPr lang="ko-KR" altLang="en-US" sz="1400" dirty="0"/>
            </a:br>
            <a:r>
              <a:rPr lang="en-US" altLang="ko-KR" sz="1400" dirty="0" err="1"/>
              <a:t>Mỗi</a:t>
            </a:r>
            <a:r>
              <a:rPr lang="en-US" altLang="ko-KR" sz="1400" dirty="0"/>
              <a:t> </a:t>
            </a:r>
            <a:r>
              <a:rPr lang="en-US" altLang="ko-KR" sz="1400" dirty="0" err="1"/>
              <a:t>người</a:t>
            </a:r>
            <a:r>
              <a:rPr lang="en-US" altLang="ko-KR" sz="1400" dirty="0"/>
              <a:t> </a:t>
            </a:r>
            <a:r>
              <a:rPr lang="en-US" altLang="ko-KR" sz="1400" dirty="0" err="1"/>
              <a:t>có</a:t>
            </a:r>
            <a:r>
              <a:rPr lang="en-US" altLang="ko-KR" sz="1400" dirty="0"/>
              <a:t> </a:t>
            </a:r>
            <a:r>
              <a:rPr lang="en-US" altLang="ko-KR" sz="1400" dirty="0" err="1"/>
              <a:t>thể</a:t>
            </a:r>
            <a:r>
              <a:rPr lang="en-US" altLang="ko-KR" sz="1400" dirty="0"/>
              <a:t> </a:t>
            </a:r>
            <a:r>
              <a:rPr lang="en-US" altLang="ko-KR" sz="1400" b="1" dirty="0" err="1"/>
              <a:t>suy</a:t>
            </a:r>
            <a:r>
              <a:rPr lang="en-US" altLang="ko-KR" sz="1400" b="1" dirty="0"/>
              <a:t> </a:t>
            </a:r>
            <a:r>
              <a:rPr lang="en-US" altLang="ko-KR" sz="1400" b="1" dirty="0" err="1"/>
              <a:t>nghĩ</a:t>
            </a:r>
            <a:r>
              <a:rPr lang="en-US" altLang="ko-KR" sz="1400" b="1" dirty="0"/>
              <a:t> </a:t>
            </a:r>
            <a:r>
              <a:rPr lang="en-US" altLang="ko-KR" sz="1400" b="1" dirty="0" err="1"/>
              <a:t>và</a:t>
            </a:r>
            <a:r>
              <a:rPr lang="en-US" altLang="ko-KR" sz="1400" b="1" dirty="0"/>
              <a:t> </a:t>
            </a:r>
            <a:r>
              <a:rPr lang="en-US" altLang="ko-KR" sz="1400" b="1" dirty="0" err="1"/>
              <a:t>nhìn</a:t>
            </a:r>
            <a:r>
              <a:rPr lang="en-US" altLang="ko-KR" sz="1400" b="1" dirty="0"/>
              <a:t> </a:t>
            </a:r>
            <a:r>
              <a:rPr lang="en-US" altLang="ko-KR" sz="1400" b="1" dirty="0" err="1"/>
              <a:t>nhận</a:t>
            </a:r>
            <a:r>
              <a:rPr lang="ko-KR" altLang="en-US" sz="1400" dirty="0"/>
              <a:t> </a:t>
            </a:r>
            <a:r>
              <a:rPr lang="en-US" altLang="ko-KR" sz="1400" dirty="0" err="1"/>
              <a:t>cùng</a:t>
            </a:r>
            <a:r>
              <a:rPr lang="en-US" altLang="ko-KR" sz="1400" dirty="0"/>
              <a:t> </a:t>
            </a:r>
            <a:r>
              <a:rPr lang="en-US" altLang="ko-KR" sz="1400" dirty="0" err="1"/>
              <a:t>một</a:t>
            </a:r>
            <a:r>
              <a:rPr lang="en-US" altLang="ko-KR" sz="1400" dirty="0"/>
              <a:t> </a:t>
            </a:r>
            <a:r>
              <a:rPr lang="en-US" altLang="ko-KR" sz="1400" dirty="0" err="1"/>
              <a:t>sự</a:t>
            </a:r>
            <a:r>
              <a:rPr lang="en-US" altLang="ko-KR" sz="1400" dirty="0"/>
              <a:t> </a:t>
            </a:r>
            <a:r>
              <a:rPr lang="en-US" altLang="ko-KR" sz="1400" dirty="0" err="1"/>
              <a:t>việc</a:t>
            </a:r>
            <a:r>
              <a:rPr lang="en-US" altLang="ko-KR" sz="1400" dirty="0"/>
              <a:t> </a:t>
            </a:r>
            <a:r>
              <a:rPr lang="en-US" altLang="ko-KR" sz="1400" dirty="0" err="1"/>
              <a:t>theo</a:t>
            </a:r>
            <a:r>
              <a:rPr lang="en-US" altLang="ko-KR" sz="1400" dirty="0"/>
              <a:t> </a:t>
            </a:r>
            <a:r>
              <a:rPr lang="en-US" altLang="ko-KR" sz="1400" dirty="0" err="1"/>
              <a:t>cách</a:t>
            </a:r>
            <a:r>
              <a:rPr lang="en-US" altLang="ko-KR" sz="1400" dirty="0"/>
              <a:t> </a:t>
            </a:r>
            <a:r>
              <a:rPr lang="en-US" altLang="ko-KR" sz="1400" dirty="0" err="1"/>
              <a:t>khác</a:t>
            </a:r>
            <a:r>
              <a:rPr lang="en-US" altLang="ko-KR" sz="1400" dirty="0"/>
              <a:t> </a:t>
            </a:r>
            <a:r>
              <a:rPr lang="en-US" altLang="ko-KR" sz="1400" dirty="0" err="1"/>
              <a:t>nhau</a:t>
            </a:r>
            <a:r>
              <a:rPr lang="en-US" altLang="ko-KR" sz="1400" dirty="0"/>
              <a:t>.</a:t>
            </a:r>
          </a:p>
          <a:p>
            <a:pPr>
              <a:lnSpc>
                <a:spcPct val="150000"/>
              </a:lnSpc>
            </a:pPr>
            <a:r>
              <a:rPr lang="ko-KR" altLang="en-US" sz="1400" dirty="0"/>
              <a:t>🎯 </a:t>
            </a:r>
            <a:r>
              <a:rPr lang="ko-KR" altLang="en-US" sz="1400" b="1" dirty="0"/>
              <a:t>마음속에는 바라는 것과 필요한 것이 있어요</a:t>
            </a:r>
            <a:r>
              <a:rPr lang="en-US" altLang="ko-KR" sz="1400" b="1" dirty="0"/>
              <a:t>.</a:t>
            </a:r>
            <a:br>
              <a:rPr lang="ko-KR" altLang="en-US" sz="1400" dirty="0"/>
            </a:br>
            <a:r>
              <a:rPr lang="en-US" altLang="ko-KR" sz="1400" dirty="0" err="1"/>
              <a:t>Trong</a:t>
            </a:r>
            <a:r>
              <a:rPr lang="en-US" altLang="ko-KR" sz="1400" dirty="0"/>
              <a:t> </a:t>
            </a:r>
            <a:r>
              <a:rPr lang="en-US" altLang="ko-KR" sz="1400" dirty="0" err="1"/>
              <a:t>lòng</a:t>
            </a:r>
            <a:r>
              <a:rPr lang="en-US" altLang="ko-KR" sz="1400" dirty="0"/>
              <a:t> </a:t>
            </a:r>
            <a:r>
              <a:rPr lang="en-US" altLang="ko-KR" sz="1400" dirty="0" err="1"/>
              <a:t>chúng</a:t>
            </a:r>
            <a:r>
              <a:rPr lang="en-US" altLang="ko-KR" sz="1400" dirty="0"/>
              <a:t> ta </a:t>
            </a:r>
            <a:r>
              <a:rPr lang="en-US" altLang="ko-KR" sz="1400" dirty="0" err="1"/>
              <a:t>có</a:t>
            </a:r>
            <a:r>
              <a:rPr lang="en-US" altLang="ko-KR" sz="1400" dirty="0"/>
              <a:t> </a:t>
            </a:r>
            <a:r>
              <a:rPr lang="en-US" altLang="ko-KR" sz="1400" dirty="0" err="1"/>
              <a:t>những</a:t>
            </a:r>
            <a:r>
              <a:rPr lang="en-US" altLang="ko-KR" sz="1400" dirty="0"/>
              <a:t> </a:t>
            </a:r>
            <a:r>
              <a:rPr lang="en-US" altLang="ko-KR" sz="1400" dirty="0" err="1"/>
              <a:t>điều</a:t>
            </a:r>
            <a:r>
              <a:rPr lang="en-US" altLang="ko-KR" sz="1400" dirty="0"/>
              <a:t> </a:t>
            </a:r>
            <a:r>
              <a:rPr lang="en-US" altLang="ko-KR" sz="1400" b="1" dirty="0" err="1"/>
              <a:t>mong</a:t>
            </a:r>
            <a:r>
              <a:rPr lang="en-US" altLang="ko-KR" sz="1400" b="1" dirty="0"/>
              <a:t> </a:t>
            </a:r>
            <a:r>
              <a:rPr lang="en-US" altLang="ko-KR" sz="1400" b="1" dirty="0" err="1"/>
              <a:t>đợi</a:t>
            </a:r>
            <a:r>
              <a:rPr lang="en-US" altLang="ko-KR" sz="1400" b="1" dirty="0"/>
              <a:t> </a:t>
            </a:r>
            <a:r>
              <a:rPr lang="en-US" altLang="ko-KR" sz="1400" b="1" dirty="0" err="1"/>
              <a:t>và</a:t>
            </a:r>
            <a:r>
              <a:rPr lang="en-US" altLang="ko-KR" sz="1400" b="1" dirty="0"/>
              <a:t> </a:t>
            </a:r>
            <a:r>
              <a:rPr lang="en-US" altLang="ko-KR" sz="1400" b="1" dirty="0" err="1"/>
              <a:t>cần</a:t>
            </a:r>
            <a:r>
              <a:rPr lang="en-US" altLang="ko-KR" sz="1400" b="1" dirty="0"/>
              <a:t> </a:t>
            </a:r>
            <a:r>
              <a:rPr lang="en-US" altLang="ko-KR" sz="1400" b="1" dirty="0" err="1"/>
              <a:t>thiết</a:t>
            </a:r>
            <a:r>
              <a:rPr lang="en-US" altLang="ko-KR" sz="1400" dirty="0"/>
              <a:t>.</a:t>
            </a:r>
          </a:p>
          <a:p>
            <a:pPr>
              <a:lnSpc>
                <a:spcPct val="150000"/>
              </a:lnSpc>
            </a:pPr>
            <a:r>
              <a:rPr lang="ko-KR" altLang="en-US" sz="1400" dirty="0"/>
              <a:t>🧡 </a:t>
            </a:r>
            <a:r>
              <a:rPr lang="ko-KR" altLang="en-US" sz="1400" b="1" dirty="0"/>
              <a:t>가장 깊은 곳에는 ‘있는 그대로의 </a:t>
            </a:r>
            <a:r>
              <a:rPr lang="ko-KR" altLang="en-US" sz="1400" b="1" dirty="0" err="1"/>
              <a:t>나’가</a:t>
            </a:r>
            <a:r>
              <a:rPr lang="ko-KR" altLang="en-US" sz="1400" b="1" dirty="0"/>
              <a:t> 있어요</a:t>
            </a:r>
            <a:r>
              <a:rPr lang="en-US" altLang="ko-KR" sz="1400" b="1" dirty="0"/>
              <a:t>.</a:t>
            </a:r>
            <a:br>
              <a:rPr lang="ko-KR" altLang="en-US" sz="1400" dirty="0"/>
            </a:br>
            <a:r>
              <a:rPr lang="en-US" altLang="ko-KR" sz="1400" dirty="0"/>
              <a:t>Ở </a:t>
            </a:r>
            <a:r>
              <a:rPr lang="en-US" altLang="ko-KR" sz="1400" dirty="0" err="1"/>
              <a:t>nơi</a:t>
            </a:r>
            <a:r>
              <a:rPr lang="en-US" altLang="ko-KR" sz="1400" dirty="0"/>
              <a:t> </a:t>
            </a:r>
            <a:r>
              <a:rPr lang="en-US" altLang="ko-KR" sz="1400" dirty="0" err="1"/>
              <a:t>sâu</a:t>
            </a:r>
            <a:r>
              <a:rPr lang="en-US" altLang="ko-KR" sz="1400" dirty="0"/>
              <a:t> </a:t>
            </a:r>
            <a:r>
              <a:rPr lang="en-US" altLang="ko-KR" sz="1400" dirty="0" err="1"/>
              <a:t>nhất</a:t>
            </a:r>
            <a:r>
              <a:rPr lang="en-US" altLang="ko-KR" sz="1400" dirty="0"/>
              <a:t> </a:t>
            </a:r>
            <a:r>
              <a:rPr lang="en-US" altLang="ko-KR" sz="1400" dirty="0" err="1"/>
              <a:t>là</a:t>
            </a:r>
            <a:r>
              <a:rPr lang="en-US" altLang="ko-KR" sz="1400" dirty="0"/>
              <a:t> </a:t>
            </a:r>
            <a:r>
              <a:rPr lang="en-US" altLang="ko-KR" sz="1400" b="1" dirty="0"/>
              <a:t>con </a:t>
            </a:r>
            <a:r>
              <a:rPr lang="en-US" altLang="ko-KR" sz="1400" b="1" dirty="0" err="1"/>
              <a:t>người</a:t>
            </a:r>
            <a:r>
              <a:rPr lang="en-US" altLang="ko-KR" sz="1400" b="1" dirty="0"/>
              <a:t> </a:t>
            </a:r>
            <a:r>
              <a:rPr lang="en-US" altLang="ko-KR" sz="1400" b="1" dirty="0" err="1"/>
              <a:t>thật</a:t>
            </a:r>
            <a:r>
              <a:rPr lang="en-US" altLang="ko-KR" sz="1400" b="1" dirty="0"/>
              <a:t> </a:t>
            </a:r>
            <a:r>
              <a:rPr lang="en-US" altLang="ko-KR" sz="1400" b="1" dirty="0" err="1"/>
              <a:t>của</a:t>
            </a:r>
            <a:r>
              <a:rPr lang="en-US" altLang="ko-KR" sz="1400" b="1" dirty="0"/>
              <a:t> </a:t>
            </a:r>
            <a:r>
              <a:rPr lang="en-US" altLang="ko-KR" sz="1400" b="1" dirty="0" err="1"/>
              <a:t>tôi</a:t>
            </a:r>
            <a:r>
              <a:rPr lang="en-US" altLang="ko-KR" sz="1400" b="1" dirty="0"/>
              <a:t>, </a:t>
            </a:r>
            <a:r>
              <a:rPr lang="en-US" altLang="ko-KR" sz="1400" b="1" dirty="0" err="1"/>
              <a:t>đúng</a:t>
            </a:r>
            <a:r>
              <a:rPr lang="en-US" altLang="ko-KR" sz="1400" b="1" dirty="0"/>
              <a:t> </a:t>
            </a:r>
            <a:r>
              <a:rPr lang="en-US" altLang="ko-KR" sz="1400" b="1" dirty="0" err="1"/>
              <a:t>như</a:t>
            </a:r>
            <a:r>
              <a:rPr lang="en-US" altLang="ko-KR" sz="1400" b="1" dirty="0"/>
              <a:t> </a:t>
            </a:r>
            <a:r>
              <a:rPr lang="en-US" altLang="ko-KR" sz="1400" b="1" dirty="0" err="1"/>
              <a:t>tôi</a:t>
            </a:r>
            <a:r>
              <a:rPr lang="en-US" altLang="ko-KR" sz="1400" b="1" dirty="0"/>
              <a:t> </a:t>
            </a:r>
            <a:r>
              <a:rPr lang="en-US" altLang="ko-KR" sz="1400" b="1" dirty="0" err="1"/>
              <a:t>vốn</a:t>
            </a:r>
            <a:r>
              <a:rPr lang="en-US" altLang="ko-KR" sz="1400" b="1" dirty="0"/>
              <a:t> </a:t>
            </a:r>
            <a:r>
              <a:rPr lang="en-US" altLang="ko-KR" sz="1400" b="1" dirty="0" err="1"/>
              <a:t>có</a:t>
            </a:r>
            <a:r>
              <a:rPr lang="en-US" altLang="ko-KR" sz="1400" dirty="0"/>
              <a:t>.</a:t>
            </a:r>
          </a:p>
        </p:txBody>
      </p:sp>
      <p:sp>
        <p:nvSpPr>
          <p:cNvPr id="8" name="TextBox 7">
            <a:extLst>
              <a:ext uri="{FF2B5EF4-FFF2-40B4-BE49-F238E27FC236}">
                <a16:creationId xmlns:a16="http://schemas.microsoft.com/office/drawing/2014/main" id="{08600CDB-95F0-4DFF-BBC8-A2272CD7CB78}"/>
              </a:ext>
            </a:extLst>
          </p:cNvPr>
          <p:cNvSpPr txBox="1"/>
          <p:nvPr/>
        </p:nvSpPr>
        <p:spPr>
          <a:xfrm>
            <a:off x="4572000" y="157738"/>
            <a:ext cx="4336930" cy="4901406"/>
          </a:xfrm>
          <a:prstGeom prst="rect">
            <a:avLst/>
          </a:prstGeom>
          <a:solidFill>
            <a:schemeClr val="bg1"/>
          </a:solidFill>
        </p:spPr>
        <p:txBody>
          <a:bodyPr wrap="square">
            <a:spAutoFit/>
          </a:bodyPr>
          <a:lstStyle/>
          <a:p>
            <a:pPr>
              <a:lnSpc>
                <a:spcPct val="150000"/>
              </a:lnSpc>
            </a:pPr>
            <a:r>
              <a:rPr lang="ko-KR" altLang="en-US" sz="1400" b="1" dirty="0"/>
              <a:t>쉽게 이해해요</a:t>
            </a:r>
            <a:r>
              <a:rPr lang="en-US" altLang="ko-KR" sz="1400" b="1" dirty="0"/>
              <a:t>! | </a:t>
            </a:r>
            <a:r>
              <a:rPr lang="en-US" altLang="ko-KR" sz="1400" b="1" dirty="0" err="1"/>
              <a:t>យើងយល់ឱ្យងាយ</a:t>
            </a:r>
            <a:r>
              <a:rPr lang="en-US" altLang="ko-KR" sz="1400" b="1" dirty="0"/>
              <a:t>ៗ!</a:t>
            </a:r>
          </a:p>
          <a:p>
            <a:pPr>
              <a:lnSpc>
                <a:spcPct val="150000"/>
              </a:lnSpc>
            </a:pPr>
            <a:r>
              <a:rPr lang="ko-KR" altLang="en-US" sz="1400" dirty="0"/>
              <a:t>👀 </a:t>
            </a:r>
            <a:r>
              <a:rPr lang="ko-KR" altLang="en-US" sz="1400" b="1" dirty="0"/>
              <a:t>우리가 보는 것은 ‘</a:t>
            </a:r>
            <a:r>
              <a:rPr lang="ko-KR" altLang="en-US" sz="1400" b="1" dirty="0" err="1"/>
              <a:t>행동’이에요</a:t>
            </a:r>
            <a:r>
              <a:rPr lang="en-US" altLang="ko-KR" sz="1400" b="1" dirty="0"/>
              <a:t>.</a:t>
            </a:r>
            <a:br>
              <a:rPr lang="ko-KR" altLang="en-US" sz="1400" dirty="0"/>
            </a:br>
            <a:r>
              <a:rPr lang="en-US" altLang="ko-KR" sz="1400" dirty="0" err="1"/>
              <a:t>អ្វីដែលយើងមើលឃើញ</a:t>
            </a:r>
            <a:r>
              <a:rPr lang="en-US" altLang="ko-KR" sz="1400" dirty="0"/>
              <a:t> </a:t>
            </a:r>
            <a:r>
              <a:rPr lang="en-US" altLang="ko-KR" sz="1400" dirty="0" err="1"/>
              <a:t>គឺជា</a:t>
            </a:r>
            <a:r>
              <a:rPr lang="en-US" altLang="ko-KR" sz="1400" dirty="0"/>
              <a:t> </a:t>
            </a:r>
            <a:r>
              <a:rPr lang="en-US" altLang="ko-KR" sz="1400" b="1" dirty="0" err="1"/>
              <a:t>អាកប្បកិរិយា</a:t>
            </a:r>
            <a:r>
              <a:rPr lang="en-US" altLang="ko-KR" sz="1400" dirty="0"/>
              <a:t>។</a:t>
            </a:r>
          </a:p>
          <a:p>
            <a:pPr>
              <a:lnSpc>
                <a:spcPct val="150000"/>
              </a:lnSpc>
            </a:pPr>
            <a:r>
              <a:rPr lang="en-US" altLang="ko-KR" sz="1400" dirty="0"/>
              <a:t>❤️ </a:t>
            </a:r>
            <a:r>
              <a:rPr lang="ko-KR" altLang="en-US" sz="1400" b="1" dirty="0"/>
              <a:t>그 행동 뒤에는 여러 감정이 숨어 있어요</a:t>
            </a:r>
            <a:r>
              <a:rPr lang="en-US" altLang="ko-KR" sz="1400" b="1" dirty="0"/>
              <a:t>.</a:t>
            </a:r>
            <a:br>
              <a:rPr lang="ko-KR" altLang="en-US" sz="1400" dirty="0"/>
            </a:br>
            <a:r>
              <a:rPr lang="en-US" altLang="ko-KR" sz="1400" dirty="0" err="1"/>
              <a:t>នៅពីក្រោយអាកប្បកិរិយា</a:t>
            </a:r>
            <a:r>
              <a:rPr lang="en-US" altLang="ko-KR" sz="1400" dirty="0"/>
              <a:t> </a:t>
            </a:r>
            <a:r>
              <a:rPr lang="en-US" altLang="ko-KR" sz="1400" dirty="0" err="1"/>
              <a:t>មាន</a:t>
            </a:r>
            <a:r>
              <a:rPr lang="en-US" altLang="ko-KR" sz="1400" dirty="0"/>
              <a:t> </a:t>
            </a:r>
            <a:r>
              <a:rPr lang="en-US" altLang="ko-KR" sz="1400" b="1" dirty="0" err="1"/>
              <a:t>អារម្មណ៍ជាច្រើន</a:t>
            </a:r>
            <a:r>
              <a:rPr lang="ko-KR" altLang="en-US" sz="1400" dirty="0"/>
              <a:t> </a:t>
            </a:r>
            <a:r>
              <a:rPr lang="en-US" altLang="ko-KR" sz="1400" dirty="0" err="1"/>
              <a:t>លាក់នៅខាងក្នុង</a:t>
            </a:r>
            <a:r>
              <a:rPr lang="en-US" altLang="ko-KR" sz="1400" dirty="0"/>
              <a:t>។</a:t>
            </a:r>
          </a:p>
          <a:p>
            <a:pPr>
              <a:lnSpc>
                <a:spcPct val="150000"/>
              </a:lnSpc>
            </a:pPr>
            <a:r>
              <a:rPr lang="ko-KR" altLang="en-US" sz="1400" dirty="0"/>
              <a:t>👓 </a:t>
            </a:r>
            <a:r>
              <a:rPr lang="ko-KR" altLang="en-US" sz="1400" b="1" dirty="0"/>
              <a:t>같은 일도 사람마다 다르게 생각하고 받아들여요</a:t>
            </a:r>
            <a:r>
              <a:rPr lang="en-US" altLang="ko-KR" sz="1400" b="1" dirty="0"/>
              <a:t>.</a:t>
            </a:r>
            <a:br>
              <a:rPr lang="ko-KR" altLang="en-US" sz="1400" dirty="0"/>
            </a:br>
            <a:r>
              <a:rPr lang="en-US" altLang="ko-KR" sz="1400" dirty="0" err="1"/>
              <a:t>មនុស្សម្នាក</a:t>
            </a:r>
            <a:r>
              <a:rPr lang="en-US" altLang="ko-KR" sz="1400" dirty="0"/>
              <a:t>់ៗ</a:t>
            </a:r>
            <a:r>
              <a:rPr lang="en-US" altLang="ko-KR" sz="1400" dirty="0" err="1"/>
              <a:t>អាច</a:t>
            </a:r>
            <a:r>
              <a:rPr lang="en-US" altLang="ko-KR" sz="1400" dirty="0"/>
              <a:t> </a:t>
            </a:r>
            <a:r>
              <a:rPr lang="en-US" altLang="ko-KR" sz="1400" b="1" dirty="0" err="1"/>
              <a:t>គិត</a:t>
            </a:r>
            <a:r>
              <a:rPr lang="en-US" altLang="ko-KR" sz="1400" b="1" dirty="0"/>
              <a:t> </a:t>
            </a:r>
            <a:r>
              <a:rPr lang="en-US" altLang="ko-KR" sz="1400" b="1" dirty="0" err="1"/>
              <a:t>និងយល់ឃើញ</a:t>
            </a:r>
            <a:r>
              <a:rPr lang="ko-KR" altLang="en-US" sz="1400" dirty="0"/>
              <a:t> </a:t>
            </a:r>
            <a:r>
              <a:rPr lang="en-US" altLang="ko-KR" sz="1400" dirty="0" err="1"/>
              <a:t>រឿងដូចគ្នាខុសៗគ្នា</a:t>
            </a:r>
            <a:r>
              <a:rPr lang="en-US" altLang="ko-KR" sz="1400" dirty="0"/>
              <a:t>។</a:t>
            </a:r>
          </a:p>
          <a:p>
            <a:pPr>
              <a:lnSpc>
                <a:spcPct val="150000"/>
              </a:lnSpc>
            </a:pPr>
            <a:r>
              <a:rPr lang="ko-KR" altLang="en-US" sz="1400" dirty="0"/>
              <a:t>🎯 </a:t>
            </a:r>
            <a:r>
              <a:rPr lang="ko-KR" altLang="en-US" sz="1400" b="1" dirty="0"/>
              <a:t>마음속에는 바라는 것과 필요한 것이 있어요</a:t>
            </a:r>
            <a:r>
              <a:rPr lang="en-US" altLang="ko-KR" sz="1400" b="1" dirty="0"/>
              <a:t>.</a:t>
            </a:r>
            <a:br>
              <a:rPr lang="ko-KR" altLang="en-US" sz="1400" dirty="0"/>
            </a:br>
            <a:r>
              <a:rPr lang="en-US" altLang="ko-KR" sz="1400" dirty="0" err="1"/>
              <a:t>នៅក្នុងចិត្តរបស់យើង</a:t>
            </a:r>
            <a:r>
              <a:rPr lang="en-US" altLang="ko-KR" sz="1400" dirty="0"/>
              <a:t> </a:t>
            </a:r>
            <a:r>
              <a:rPr lang="en-US" altLang="ko-KR" sz="1400" dirty="0" err="1"/>
              <a:t>មានអ្វីដែលយើង</a:t>
            </a:r>
            <a:r>
              <a:rPr lang="en-US" altLang="ko-KR" sz="1400" dirty="0"/>
              <a:t> </a:t>
            </a:r>
            <a:r>
              <a:rPr lang="en-US" altLang="ko-KR" sz="1400" b="1" dirty="0" err="1"/>
              <a:t>រំពឹង</a:t>
            </a:r>
            <a:r>
              <a:rPr lang="en-US" altLang="ko-KR" sz="1400" b="1" dirty="0"/>
              <a:t> </a:t>
            </a:r>
            <a:r>
              <a:rPr lang="en-US" altLang="ko-KR" sz="1400" b="1" dirty="0" err="1"/>
              <a:t>និងត្រូវការ</a:t>
            </a:r>
            <a:r>
              <a:rPr lang="en-US" altLang="ko-KR" sz="1400" dirty="0"/>
              <a:t>។</a:t>
            </a:r>
          </a:p>
          <a:p>
            <a:pPr>
              <a:lnSpc>
                <a:spcPct val="150000"/>
              </a:lnSpc>
            </a:pPr>
            <a:r>
              <a:rPr lang="ko-KR" altLang="en-US" sz="1400" dirty="0"/>
              <a:t>🧡 </a:t>
            </a:r>
            <a:r>
              <a:rPr lang="ko-KR" altLang="en-US" sz="1400" b="1" dirty="0"/>
              <a:t>가장 깊은 곳에는 ‘있는 그대로의 </a:t>
            </a:r>
            <a:r>
              <a:rPr lang="ko-KR" altLang="en-US" sz="1400" b="1" dirty="0" err="1"/>
              <a:t>나’가</a:t>
            </a:r>
            <a:r>
              <a:rPr lang="ko-KR" altLang="en-US" sz="1400" b="1" dirty="0"/>
              <a:t> 있어요</a:t>
            </a:r>
            <a:r>
              <a:rPr lang="en-US" altLang="ko-KR" sz="1400" b="1" dirty="0"/>
              <a:t>.</a:t>
            </a:r>
            <a:br>
              <a:rPr lang="ko-KR" altLang="en-US" sz="1400" dirty="0"/>
            </a:br>
            <a:r>
              <a:rPr lang="en-US" altLang="ko-KR" sz="1400" dirty="0" err="1"/>
              <a:t>នៅកន្លែងជ្រៅបំផុតក្នុងចិត្ត</a:t>
            </a:r>
            <a:r>
              <a:rPr lang="en-US" altLang="ko-KR" sz="1400" dirty="0"/>
              <a:t> </a:t>
            </a:r>
            <a:r>
              <a:rPr lang="en-US" altLang="ko-KR" sz="1400" dirty="0" err="1"/>
              <a:t>គឺជា</a:t>
            </a:r>
            <a:r>
              <a:rPr lang="en-US" altLang="ko-KR" sz="1400" dirty="0"/>
              <a:t> </a:t>
            </a:r>
            <a:r>
              <a:rPr lang="en-US" altLang="ko-KR" sz="1400" b="1" dirty="0" err="1"/>
              <a:t>ខ្លួនខ្ញុំពិតប្រាកដ</a:t>
            </a:r>
            <a:r>
              <a:rPr lang="en-US" altLang="ko-KR" sz="1400" b="1" dirty="0"/>
              <a:t> </a:t>
            </a:r>
            <a:r>
              <a:rPr lang="en-US" altLang="ko-KR" sz="1400" b="1" dirty="0" err="1"/>
              <a:t>ដូចដែលខ្ញុំជា</a:t>
            </a:r>
            <a:r>
              <a:rPr lang="en-US" altLang="ko-KR" sz="1400" dirty="0"/>
              <a:t>។</a:t>
            </a:r>
          </a:p>
        </p:txBody>
      </p:sp>
    </p:spTree>
    <p:extLst>
      <p:ext uri="{BB962C8B-B14F-4D97-AF65-F5344CB8AC3E}">
        <p14:creationId xmlns:p14="http://schemas.microsoft.com/office/powerpoint/2010/main" val="31970591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EDEF733-A198-4A5E-ABC9-9393801B4138}"/>
              </a:ext>
            </a:extLst>
          </p:cNvPr>
          <p:cNvSpPr txBox="1"/>
          <p:nvPr/>
        </p:nvSpPr>
        <p:spPr>
          <a:xfrm>
            <a:off x="895679" y="1191482"/>
            <a:ext cx="7352642" cy="1200329"/>
          </a:xfrm>
          <a:prstGeom prst="rect">
            <a:avLst/>
          </a:prstGeom>
          <a:noFill/>
        </p:spPr>
        <p:txBody>
          <a:bodyPr wrap="square">
            <a:spAutoFit/>
          </a:bodyPr>
          <a:lstStyle/>
          <a:p>
            <a:pPr algn="ctr"/>
            <a:r>
              <a:rPr lang="ko-KR" altLang="en-US" b="1" dirty="0" err="1"/>
              <a:t>사티어</a:t>
            </a:r>
            <a:r>
              <a:rPr lang="ko-KR" altLang="en-US" b="1" dirty="0"/>
              <a:t> 모델</a:t>
            </a:r>
            <a:r>
              <a:rPr lang="en-US" altLang="ko-KR" b="1" dirty="0"/>
              <a:t>(Satir Growth Model)</a:t>
            </a:r>
            <a:r>
              <a:rPr lang="ko-KR" altLang="en-US" b="1" dirty="0"/>
              <a:t>의 핵심 </a:t>
            </a:r>
            <a:endParaRPr lang="en-US" altLang="ko-KR" b="1" dirty="0"/>
          </a:p>
          <a:p>
            <a:pPr algn="ctr"/>
            <a:endParaRPr lang="en-US" altLang="ko-KR" b="1" dirty="0">
              <a:solidFill>
                <a:srgbClr val="FF0000"/>
              </a:solidFill>
            </a:endParaRPr>
          </a:p>
          <a:p>
            <a:pPr algn="ctr"/>
            <a:r>
              <a:rPr lang="ko-KR" altLang="en-US" sz="3600" b="1" dirty="0">
                <a:solidFill>
                  <a:srgbClr val="FF0000"/>
                </a:solidFill>
              </a:rPr>
              <a:t>③ 의사소통</a:t>
            </a:r>
            <a:r>
              <a:rPr lang="en-US" altLang="ko-KR" sz="3600" b="1" dirty="0">
                <a:solidFill>
                  <a:srgbClr val="FF0000"/>
                </a:solidFill>
              </a:rPr>
              <a:t>(Communication)</a:t>
            </a:r>
          </a:p>
        </p:txBody>
      </p:sp>
    </p:spTree>
    <p:extLst>
      <p:ext uri="{BB962C8B-B14F-4D97-AF65-F5344CB8AC3E}">
        <p14:creationId xmlns:p14="http://schemas.microsoft.com/office/powerpoint/2010/main" val="10192742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별: 꼭짓점 5개 1">
            <a:extLst>
              <a:ext uri="{FF2B5EF4-FFF2-40B4-BE49-F238E27FC236}">
                <a16:creationId xmlns:a16="http://schemas.microsoft.com/office/drawing/2014/main" id="{18A58F56-2CFD-493A-9227-A067BA6FBA9E}"/>
              </a:ext>
            </a:extLst>
          </p:cNvPr>
          <p:cNvSpPr/>
          <p:nvPr/>
        </p:nvSpPr>
        <p:spPr>
          <a:xfrm>
            <a:off x="3844457" y="504265"/>
            <a:ext cx="822959" cy="694211"/>
          </a:xfrm>
          <a:prstGeom prst="star5">
            <a:avLst/>
          </a:prstGeom>
          <a:solidFill>
            <a:srgbClr val="FF0066"/>
          </a:solid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TextBox 3">
            <a:extLst>
              <a:ext uri="{FF2B5EF4-FFF2-40B4-BE49-F238E27FC236}">
                <a16:creationId xmlns:a16="http://schemas.microsoft.com/office/drawing/2014/main" id="{2B9604E5-3BDE-482C-8F31-CAEB30D886D8}"/>
              </a:ext>
            </a:extLst>
          </p:cNvPr>
          <p:cNvSpPr txBox="1"/>
          <p:nvPr/>
        </p:nvSpPr>
        <p:spPr>
          <a:xfrm>
            <a:off x="1649895" y="1875556"/>
            <a:ext cx="868680" cy="2554545"/>
          </a:xfrm>
          <a:prstGeom prst="rect">
            <a:avLst/>
          </a:prstGeom>
          <a:noFill/>
        </p:spPr>
        <p:txBody>
          <a:bodyPr wrap="square">
            <a:spAutoFit/>
          </a:bodyPr>
          <a:lstStyle/>
          <a:p>
            <a:r>
              <a:rPr lang="ko-KR" altLang="en-US" sz="8000" b="1" dirty="0">
                <a:effectLst>
                  <a:outerShdw blurRad="38100" dist="38100" dir="2700000" algn="tl">
                    <a:srgbClr val="000000">
                      <a:alpha val="43137"/>
                    </a:srgbClr>
                  </a:outerShdw>
                </a:effectLst>
              </a:rPr>
              <a:t>상</a:t>
            </a:r>
            <a:br>
              <a:rPr lang="ko-KR" altLang="en-US" sz="8000" b="1" dirty="0">
                <a:effectLst>
                  <a:outerShdw blurRad="38100" dist="38100" dir="2700000" algn="tl">
                    <a:srgbClr val="000000">
                      <a:alpha val="43137"/>
                    </a:srgbClr>
                  </a:outerShdw>
                </a:effectLst>
              </a:rPr>
            </a:br>
            <a:endParaRPr lang="ko-KR" altLang="en-US" sz="8000" b="1" dirty="0">
              <a:effectLst>
                <a:outerShdw blurRad="38100" dist="38100" dir="2700000" algn="tl">
                  <a:srgbClr val="000000">
                    <a:alpha val="43137"/>
                  </a:srgbClr>
                </a:outerShdw>
              </a:effectLst>
            </a:endParaRPr>
          </a:p>
        </p:txBody>
      </p:sp>
      <p:sp>
        <p:nvSpPr>
          <p:cNvPr id="5" name="TextBox 4">
            <a:extLst>
              <a:ext uri="{FF2B5EF4-FFF2-40B4-BE49-F238E27FC236}">
                <a16:creationId xmlns:a16="http://schemas.microsoft.com/office/drawing/2014/main" id="{F5003D15-8E83-4E2E-A1B7-19D2EC5B550E}"/>
              </a:ext>
            </a:extLst>
          </p:cNvPr>
          <p:cNvSpPr txBox="1"/>
          <p:nvPr/>
        </p:nvSpPr>
        <p:spPr>
          <a:xfrm>
            <a:off x="3703320" y="1879345"/>
            <a:ext cx="868680" cy="2554545"/>
          </a:xfrm>
          <a:prstGeom prst="rect">
            <a:avLst/>
          </a:prstGeom>
          <a:noFill/>
        </p:spPr>
        <p:txBody>
          <a:bodyPr wrap="square">
            <a:spAutoFit/>
          </a:bodyPr>
          <a:lstStyle/>
          <a:p>
            <a:r>
              <a:rPr lang="ko-KR" altLang="en-US" sz="8000" b="1" dirty="0">
                <a:effectLst>
                  <a:outerShdw blurRad="38100" dist="38100" dir="2700000" algn="tl">
                    <a:srgbClr val="000000">
                      <a:alpha val="43137"/>
                    </a:srgbClr>
                  </a:outerShdw>
                </a:effectLst>
              </a:rPr>
              <a:t>감</a:t>
            </a:r>
            <a:br>
              <a:rPr lang="ko-KR" altLang="en-US" sz="8000" b="1" dirty="0">
                <a:effectLst>
                  <a:outerShdw blurRad="38100" dist="38100" dir="2700000" algn="tl">
                    <a:srgbClr val="000000">
                      <a:alpha val="43137"/>
                    </a:srgbClr>
                  </a:outerShdw>
                </a:effectLst>
              </a:rPr>
            </a:br>
            <a:endParaRPr lang="ko-KR" altLang="en-US" sz="8000" b="1"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EDC980C5-7BF7-4241-AE3B-91DE2890AE58}"/>
              </a:ext>
            </a:extLst>
          </p:cNvPr>
          <p:cNvSpPr txBox="1"/>
          <p:nvPr/>
        </p:nvSpPr>
        <p:spPr>
          <a:xfrm>
            <a:off x="5905169" y="1875557"/>
            <a:ext cx="868680" cy="2554545"/>
          </a:xfrm>
          <a:prstGeom prst="rect">
            <a:avLst/>
          </a:prstGeom>
          <a:noFill/>
        </p:spPr>
        <p:txBody>
          <a:bodyPr wrap="square">
            <a:spAutoFit/>
          </a:bodyPr>
          <a:lstStyle/>
          <a:p>
            <a:r>
              <a:rPr lang="ko-KR" altLang="en-US" sz="8000" b="1" dirty="0">
                <a:effectLst>
                  <a:outerShdw blurRad="38100" dist="38100" dir="2700000" algn="tl">
                    <a:srgbClr val="000000">
                      <a:alpha val="43137"/>
                    </a:srgbClr>
                  </a:outerShdw>
                </a:effectLst>
              </a:rPr>
              <a:t>바</a:t>
            </a:r>
            <a:br>
              <a:rPr lang="ko-KR" altLang="en-US" sz="8000" b="1" dirty="0">
                <a:effectLst>
                  <a:outerShdw blurRad="38100" dist="38100" dir="2700000" algn="tl">
                    <a:srgbClr val="000000">
                      <a:alpha val="43137"/>
                    </a:srgbClr>
                  </a:outerShdw>
                </a:effectLst>
              </a:rPr>
            </a:br>
            <a:endParaRPr lang="ko-KR" altLang="en-US" sz="8000" b="1" dirty="0">
              <a:effectLst>
                <a:outerShdw blurRad="38100" dist="38100" dir="2700000" algn="tl">
                  <a:srgbClr val="000000">
                    <a:alpha val="43137"/>
                  </a:srgbClr>
                </a:outerShdw>
              </a:effectLst>
            </a:endParaRPr>
          </a:p>
        </p:txBody>
      </p:sp>
      <p:sp>
        <p:nvSpPr>
          <p:cNvPr id="918" name="ENCaption918"/>
          <p:cNvSpPr txBox="1"/>
          <p:nvPr/>
        </p:nvSpPr>
        <p:spPr>
          <a:xfrm>
            <a:off x="342900" y="1290000"/>
            <a:ext cx="8458200" cy="320000"/>
          </a:xfrm>
          <a:prstGeom prst="rect">
            <a:avLst/>
          </a:prstGeom>
          <a:noFill/>
        </p:spPr>
        <p:txBody>
          <a:bodyPr wrap="square" lIns="0" tIns="0" rIns="0" bIns="0" rtlCol="0" anchor="t"/>
          <a:lstStyle/>
          <a:p>
            <a:pPr algn="ctr"/>
            <a:r>
              <a:rPr lang="en-US" sz="2400" i="1" dirty="0">
                <a:solidFill>
                  <a:srgbClr val="6B5F52"/>
                </a:solidFill>
              </a:rPr>
              <a:t>Sang · Gam · Ba  =  Situation · Emotion · Need</a:t>
            </a:r>
          </a:p>
        </p:txBody>
      </p:sp>
    </p:spTree>
    <p:extLst>
      <p:ext uri="{BB962C8B-B14F-4D97-AF65-F5344CB8AC3E}">
        <p14:creationId xmlns:p14="http://schemas.microsoft.com/office/powerpoint/2010/main" val="28703185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별: 꼭짓점 5개 1">
            <a:extLst>
              <a:ext uri="{FF2B5EF4-FFF2-40B4-BE49-F238E27FC236}">
                <a16:creationId xmlns:a16="http://schemas.microsoft.com/office/drawing/2014/main" id="{18A58F56-2CFD-493A-9227-A067BA6FBA9E}"/>
              </a:ext>
            </a:extLst>
          </p:cNvPr>
          <p:cNvSpPr/>
          <p:nvPr/>
        </p:nvSpPr>
        <p:spPr>
          <a:xfrm>
            <a:off x="3844457" y="323110"/>
            <a:ext cx="822959" cy="694211"/>
          </a:xfrm>
          <a:prstGeom prst="star5">
            <a:avLst/>
          </a:prstGeom>
          <a:solidFill>
            <a:srgbClr val="FF0066"/>
          </a:solid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TextBox 3">
            <a:extLst>
              <a:ext uri="{FF2B5EF4-FFF2-40B4-BE49-F238E27FC236}">
                <a16:creationId xmlns:a16="http://schemas.microsoft.com/office/drawing/2014/main" id="{2B9604E5-3BDE-482C-8F31-CAEB30D886D8}"/>
              </a:ext>
            </a:extLst>
          </p:cNvPr>
          <p:cNvSpPr txBox="1"/>
          <p:nvPr/>
        </p:nvSpPr>
        <p:spPr>
          <a:xfrm>
            <a:off x="1227200" y="1598465"/>
            <a:ext cx="2255421" cy="1938992"/>
          </a:xfrm>
          <a:prstGeom prst="rect">
            <a:avLst/>
          </a:prstGeom>
          <a:noFill/>
        </p:spPr>
        <p:txBody>
          <a:bodyPr wrap="square">
            <a:spAutoFit/>
          </a:bodyPr>
          <a:lstStyle/>
          <a:p>
            <a:pPr algn="ctr"/>
            <a:r>
              <a:rPr lang="ko-KR" altLang="en-US" sz="6000" b="1" dirty="0">
                <a:effectLst>
                  <a:outerShdw blurRad="38100" dist="38100" dir="2700000" algn="tl">
                    <a:srgbClr val="000000">
                      <a:alpha val="43137"/>
                    </a:srgbClr>
                  </a:outerShdw>
                </a:effectLst>
              </a:rPr>
              <a:t>상황</a:t>
            </a:r>
            <a:br>
              <a:rPr lang="ko-KR" altLang="en-US" sz="6000" b="1" dirty="0">
                <a:effectLst>
                  <a:outerShdw blurRad="38100" dist="38100" dir="2700000" algn="tl">
                    <a:srgbClr val="000000">
                      <a:alpha val="43137"/>
                    </a:srgbClr>
                  </a:outerShdw>
                </a:effectLst>
              </a:rPr>
            </a:br>
            <a:endParaRPr lang="ko-KR" altLang="en-US" sz="6000" b="1" dirty="0">
              <a:effectLst>
                <a:outerShdw blurRad="38100" dist="38100" dir="2700000" algn="tl">
                  <a:srgbClr val="000000">
                    <a:alpha val="43137"/>
                  </a:srgbClr>
                </a:outerShdw>
              </a:effectLst>
            </a:endParaRPr>
          </a:p>
        </p:txBody>
      </p:sp>
      <p:sp>
        <p:nvSpPr>
          <p:cNvPr id="5" name="TextBox 4">
            <a:extLst>
              <a:ext uri="{FF2B5EF4-FFF2-40B4-BE49-F238E27FC236}">
                <a16:creationId xmlns:a16="http://schemas.microsoft.com/office/drawing/2014/main" id="{F5003D15-8E83-4E2E-A1B7-19D2EC5B550E}"/>
              </a:ext>
            </a:extLst>
          </p:cNvPr>
          <p:cNvSpPr txBox="1"/>
          <p:nvPr/>
        </p:nvSpPr>
        <p:spPr>
          <a:xfrm>
            <a:off x="3280625" y="1602254"/>
            <a:ext cx="2255421" cy="1938992"/>
          </a:xfrm>
          <a:prstGeom prst="rect">
            <a:avLst/>
          </a:prstGeom>
          <a:noFill/>
        </p:spPr>
        <p:txBody>
          <a:bodyPr wrap="square">
            <a:spAutoFit/>
          </a:bodyPr>
          <a:lstStyle/>
          <a:p>
            <a:pPr algn="ctr"/>
            <a:r>
              <a:rPr lang="ko-KR" altLang="en-US" sz="6000" b="1" dirty="0">
                <a:effectLst>
                  <a:outerShdw blurRad="38100" dist="38100" dir="2700000" algn="tl">
                    <a:srgbClr val="000000">
                      <a:alpha val="43137"/>
                    </a:srgbClr>
                  </a:outerShdw>
                </a:effectLst>
              </a:rPr>
              <a:t>감정</a:t>
            </a:r>
            <a:br>
              <a:rPr lang="ko-KR" altLang="en-US" sz="6000" b="1" dirty="0">
                <a:effectLst>
                  <a:outerShdw blurRad="38100" dist="38100" dir="2700000" algn="tl">
                    <a:srgbClr val="000000">
                      <a:alpha val="43137"/>
                    </a:srgbClr>
                  </a:outerShdw>
                </a:effectLst>
              </a:rPr>
            </a:br>
            <a:endParaRPr lang="ko-KR" altLang="en-US" sz="6000" b="1"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EDC980C5-7BF7-4241-AE3B-91DE2890AE58}"/>
              </a:ext>
            </a:extLst>
          </p:cNvPr>
          <p:cNvSpPr txBox="1"/>
          <p:nvPr/>
        </p:nvSpPr>
        <p:spPr>
          <a:xfrm>
            <a:off x="5482474" y="1598466"/>
            <a:ext cx="2255421" cy="1938992"/>
          </a:xfrm>
          <a:prstGeom prst="rect">
            <a:avLst/>
          </a:prstGeom>
          <a:noFill/>
        </p:spPr>
        <p:txBody>
          <a:bodyPr wrap="square">
            <a:spAutoFit/>
          </a:bodyPr>
          <a:lstStyle/>
          <a:p>
            <a:pPr algn="ctr"/>
            <a:r>
              <a:rPr lang="ko-KR" altLang="en-US" sz="6000" b="1" dirty="0">
                <a:effectLst>
                  <a:outerShdw blurRad="38100" dist="38100" dir="2700000" algn="tl">
                    <a:srgbClr val="000000">
                      <a:alpha val="43137"/>
                    </a:srgbClr>
                  </a:outerShdw>
                </a:effectLst>
              </a:rPr>
              <a:t>바람</a:t>
            </a:r>
            <a:br>
              <a:rPr lang="ko-KR" altLang="en-US" sz="6000" b="1" dirty="0">
                <a:effectLst>
                  <a:outerShdw blurRad="38100" dist="38100" dir="2700000" algn="tl">
                    <a:srgbClr val="000000">
                      <a:alpha val="43137"/>
                    </a:srgbClr>
                  </a:outerShdw>
                </a:effectLst>
              </a:rPr>
            </a:br>
            <a:endParaRPr lang="ko-KR" altLang="en-US" sz="6000" b="1" dirty="0">
              <a:effectLst>
                <a:outerShdw blurRad="38100" dist="38100" dir="2700000" algn="tl">
                  <a:srgbClr val="000000">
                    <a:alpha val="43137"/>
                  </a:srgbClr>
                </a:outerShdw>
              </a:effectLst>
            </a:endParaRPr>
          </a:p>
        </p:txBody>
      </p:sp>
      <p:sp>
        <p:nvSpPr>
          <p:cNvPr id="920" name="ENCaption920"/>
          <p:cNvSpPr txBox="1"/>
          <p:nvPr/>
        </p:nvSpPr>
        <p:spPr>
          <a:xfrm>
            <a:off x="1227200" y="3650000"/>
            <a:ext cx="2255421" cy="400000"/>
          </a:xfrm>
          <a:prstGeom prst="rect">
            <a:avLst/>
          </a:prstGeom>
          <a:noFill/>
        </p:spPr>
        <p:txBody>
          <a:bodyPr wrap="square" lIns="0" tIns="0" rIns="0" bIns="0" rtlCol="0" anchor="t"/>
          <a:lstStyle/>
          <a:p>
            <a:pPr algn="ctr"/>
            <a:r>
              <a:rPr lang="en-US" sz="1800" b="1" dirty="0">
                <a:solidFill>
                  <a:srgbClr val="6B5F52"/>
                </a:solidFill>
              </a:rPr>
              <a:t>Situation</a:t>
            </a:r>
          </a:p>
        </p:txBody>
      </p:sp>
      <p:sp>
        <p:nvSpPr>
          <p:cNvPr id="921" name="ENCaption921"/>
          <p:cNvSpPr txBox="1"/>
          <p:nvPr/>
        </p:nvSpPr>
        <p:spPr>
          <a:xfrm>
            <a:off x="3280625" y="3650000"/>
            <a:ext cx="2255421" cy="400000"/>
          </a:xfrm>
          <a:prstGeom prst="rect">
            <a:avLst/>
          </a:prstGeom>
          <a:noFill/>
        </p:spPr>
        <p:txBody>
          <a:bodyPr wrap="square" lIns="0" tIns="0" rIns="0" bIns="0" rtlCol="0" anchor="t"/>
          <a:lstStyle/>
          <a:p>
            <a:pPr algn="ctr"/>
            <a:r>
              <a:rPr lang="en-US" sz="1800" b="1" dirty="0">
                <a:solidFill>
                  <a:srgbClr val="6B5F52"/>
                </a:solidFill>
              </a:rPr>
              <a:t>Emotion</a:t>
            </a:r>
          </a:p>
        </p:txBody>
      </p:sp>
      <p:sp>
        <p:nvSpPr>
          <p:cNvPr id="922" name="ENCaption922"/>
          <p:cNvSpPr txBox="1"/>
          <p:nvPr/>
        </p:nvSpPr>
        <p:spPr>
          <a:xfrm>
            <a:off x="5482474" y="3650000"/>
            <a:ext cx="2255421" cy="400000"/>
          </a:xfrm>
          <a:prstGeom prst="rect">
            <a:avLst/>
          </a:prstGeom>
          <a:noFill/>
        </p:spPr>
        <p:txBody>
          <a:bodyPr wrap="square" lIns="0" tIns="0" rIns="0" bIns="0" rtlCol="0" anchor="t"/>
          <a:lstStyle/>
          <a:p>
            <a:pPr algn="ctr"/>
            <a:r>
              <a:rPr lang="en-US" sz="1800" b="1" dirty="0">
                <a:solidFill>
                  <a:srgbClr val="6B5F52"/>
                </a:solidFill>
              </a:rPr>
              <a:t>Need (Wish)</a:t>
            </a:r>
          </a:p>
        </p:txBody>
      </p:sp>
    </p:spTree>
    <p:extLst>
      <p:ext uri="{BB962C8B-B14F-4D97-AF65-F5344CB8AC3E}">
        <p14:creationId xmlns:p14="http://schemas.microsoft.com/office/powerpoint/2010/main" val="22576557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a:extLst>
              <a:ext uri="{FF2B5EF4-FFF2-40B4-BE49-F238E27FC236}">
                <a16:creationId xmlns:a16="http://schemas.microsoft.com/office/drawing/2014/main" id="{4BD02682-F9E9-4B2D-8351-F75205C32344}"/>
              </a:ext>
            </a:extLst>
          </p:cNvPr>
          <p:cNvPicPr>
            <a:picLocks noChangeAspect="1"/>
          </p:cNvPicPr>
          <p:nvPr/>
        </p:nvPicPr>
        <p:blipFill rotWithShape="1">
          <a:blip r:embed="rId2"/>
          <a:srcRect b="50000"/>
          <a:stretch/>
        </p:blipFill>
        <p:spPr>
          <a:xfrm>
            <a:off x="1268385" y="164980"/>
            <a:ext cx="6789420" cy="2117958"/>
          </a:xfrm>
          <a:prstGeom prst="rect">
            <a:avLst/>
          </a:prstGeom>
        </p:spPr>
      </p:pic>
      <p:pic>
        <p:nvPicPr>
          <p:cNvPr id="3" name="그림 2">
            <a:extLst>
              <a:ext uri="{FF2B5EF4-FFF2-40B4-BE49-F238E27FC236}">
                <a16:creationId xmlns:a16="http://schemas.microsoft.com/office/drawing/2014/main" id="{366BD7DB-F88C-4B43-A3CB-0E5BB8A6D73E}"/>
              </a:ext>
            </a:extLst>
          </p:cNvPr>
          <p:cNvPicPr>
            <a:picLocks noChangeAspect="1"/>
          </p:cNvPicPr>
          <p:nvPr/>
        </p:nvPicPr>
        <p:blipFill rotWithShape="1">
          <a:blip r:embed="rId2"/>
          <a:srcRect t="50000"/>
          <a:stretch/>
        </p:blipFill>
        <p:spPr>
          <a:xfrm>
            <a:off x="1283568" y="2282938"/>
            <a:ext cx="6789420" cy="1919636"/>
          </a:xfrm>
          <a:prstGeom prst="rect">
            <a:avLst/>
          </a:prstGeom>
        </p:spPr>
      </p:pic>
      <p:sp>
        <p:nvSpPr>
          <p:cNvPr id="907" name="ENCaption907"/>
          <p:cNvSpPr txBox="1"/>
          <p:nvPr/>
        </p:nvSpPr>
        <p:spPr>
          <a:xfrm>
            <a:off x="342900" y="4262574"/>
            <a:ext cx="8458200" cy="320000"/>
          </a:xfrm>
          <a:prstGeom prst="rect">
            <a:avLst/>
          </a:prstGeom>
          <a:noFill/>
        </p:spPr>
        <p:txBody>
          <a:bodyPr wrap="square" lIns="0" tIns="0" rIns="0" bIns="0" rtlCol="0" anchor="t"/>
          <a:lstStyle/>
          <a:p>
            <a:pPr algn="ctr"/>
            <a:r>
              <a:rPr lang="en-US" sz="1000" i="1" dirty="0">
                <a:solidFill>
                  <a:srgbClr val="6B5F52"/>
                </a:solidFill>
              </a:rPr>
              <a:t>The toy broke — what happened, how does the child feel, and what does the child really want?</a:t>
            </a:r>
          </a:p>
        </p:txBody>
      </p:sp>
    </p:spTree>
    <p:extLst>
      <p:ext uri="{BB962C8B-B14F-4D97-AF65-F5344CB8AC3E}">
        <p14:creationId xmlns:p14="http://schemas.microsoft.com/office/powerpoint/2010/main" val="16677149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3">
            <a:extLst>
              <a:ext uri="{FF2B5EF4-FFF2-40B4-BE49-F238E27FC236}">
                <a16:creationId xmlns:a16="http://schemas.microsoft.com/office/drawing/2014/main" id="{5B38A4CA-497E-4AAA-B1BA-004CE306216E}"/>
              </a:ext>
            </a:extLst>
          </p:cNvPr>
          <p:cNvPicPr>
            <a:picLocks noChangeAspect="1"/>
          </p:cNvPicPr>
          <p:nvPr/>
        </p:nvPicPr>
        <p:blipFill>
          <a:blip r:embed="rId3"/>
          <a:stretch>
            <a:fillRect/>
          </a:stretch>
        </p:blipFill>
        <p:spPr>
          <a:xfrm>
            <a:off x="284672" y="0"/>
            <a:ext cx="8531524" cy="5143500"/>
          </a:xfrm>
          <a:prstGeom prst="rect">
            <a:avLst/>
          </a:prstGeom>
        </p:spPr>
      </p:pic>
    </p:spTree>
    <p:extLst>
      <p:ext uri="{BB962C8B-B14F-4D97-AF65-F5344CB8AC3E}">
        <p14:creationId xmlns:p14="http://schemas.microsoft.com/office/powerpoint/2010/main" val="5207033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a:extLst>
              <a:ext uri="{FF2B5EF4-FFF2-40B4-BE49-F238E27FC236}">
                <a16:creationId xmlns:a16="http://schemas.microsoft.com/office/drawing/2014/main" id="{4BD02682-F9E9-4B2D-8351-F75205C32344}"/>
              </a:ext>
            </a:extLst>
          </p:cNvPr>
          <p:cNvPicPr>
            <a:picLocks noChangeAspect="1"/>
          </p:cNvPicPr>
          <p:nvPr/>
        </p:nvPicPr>
        <p:blipFill rotWithShape="1">
          <a:blip r:embed="rId2"/>
          <a:srcRect b="50000"/>
          <a:stretch/>
        </p:blipFill>
        <p:spPr>
          <a:xfrm>
            <a:off x="1268385" y="164980"/>
            <a:ext cx="6789420" cy="2117958"/>
          </a:xfrm>
          <a:prstGeom prst="rect">
            <a:avLst/>
          </a:prstGeom>
        </p:spPr>
      </p:pic>
      <p:pic>
        <p:nvPicPr>
          <p:cNvPr id="3" name="그림 2">
            <a:extLst>
              <a:ext uri="{FF2B5EF4-FFF2-40B4-BE49-F238E27FC236}">
                <a16:creationId xmlns:a16="http://schemas.microsoft.com/office/drawing/2014/main" id="{366BD7DB-F88C-4B43-A3CB-0E5BB8A6D73E}"/>
              </a:ext>
            </a:extLst>
          </p:cNvPr>
          <p:cNvPicPr>
            <a:picLocks noChangeAspect="1"/>
          </p:cNvPicPr>
          <p:nvPr/>
        </p:nvPicPr>
        <p:blipFill rotWithShape="1">
          <a:blip r:embed="rId2"/>
          <a:srcRect t="50000"/>
          <a:stretch/>
        </p:blipFill>
        <p:spPr>
          <a:xfrm>
            <a:off x="1283568" y="2282938"/>
            <a:ext cx="6789420" cy="1919636"/>
          </a:xfrm>
          <a:prstGeom prst="rect">
            <a:avLst/>
          </a:prstGeom>
        </p:spPr>
      </p:pic>
      <p:sp>
        <p:nvSpPr>
          <p:cNvPr id="4" name="직사각형 3">
            <a:extLst>
              <a:ext uri="{FF2B5EF4-FFF2-40B4-BE49-F238E27FC236}">
                <a16:creationId xmlns:a16="http://schemas.microsoft.com/office/drawing/2014/main" id="{242CC000-68D8-4271-9EEC-7E930DA582FB}"/>
              </a:ext>
            </a:extLst>
          </p:cNvPr>
          <p:cNvSpPr/>
          <p:nvPr/>
        </p:nvSpPr>
        <p:spPr>
          <a:xfrm>
            <a:off x="5756235" y="164981"/>
            <a:ext cx="2301570" cy="2117958"/>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8" name="ENCaption908"/>
          <p:cNvSpPr txBox="1"/>
          <p:nvPr/>
        </p:nvSpPr>
        <p:spPr>
          <a:xfrm>
            <a:off x="342900" y="4262574"/>
            <a:ext cx="8458200" cy="320000"/>
          </a:xfrm>
          <a:prstGeom prst="rect">
            <a:avLst/>
          </a:prstGeom>
          <a:noFill/>
        </p:spPr>
        <p:txBody>
          <a:bodyPr wrap="square" lIns="0" tIns="0" rIns="0" bIns="0" rtlCol="0" anchor="t"/>
          <a:lstStyle/>
          <a:p>
            <a:pPr algn="ctr"/>
            <a:r>
              <a:rPr lang="en-US" sz="1000" i="1" dirty="0">
                <a:solidFill>
                  <a:srgbClr val="6B5F52"/>
                </a:solidFill>
              </a:rPr>
              <a:t>Which face shows how the child is feeling right now?</a:t>
            </a:r>
          </a:p>
        </p:txBody>
      </p:sp>
    </p:spTree>
    <p:extLst>
      <p:ext uri="{BB962C8B-B14F-4D97-AF65-F5344CB8AC3E}">
        <p14:creationId xmlns:p14="http://schemas.microsoft.com/office/powerpoint/2010/main" val="1215560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75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73D3130A-E314-402F-8A6B-0F84C50F6BEE}"/>
              </a:ext>
            </a:extLst>
          </p:cNvPr>
          <p:cNvPicPr>
            <a:picLocks noChangeAspect="1"/>
          </p:cNvPicPr>
          <p:nvPr/>
        </p:nvPicPr>
        <p:blipFill>
          <a:blip r:embed="rId3"/>
          <a:stretch>
            <a:fillRect/>
          </a:stretch>
        </p:blipFill>
        <p:spPr>
          <a:xfrm>
            <a:off x="353682" y="0"/>
            <a:ext cx="8548777" cy="5143500"/>
          </a:xfrm>
          <a:prstGeom prst="rect">
            <a:avLst/>
          </a:prstGeom>
        </p:spPr>
      </p:pic>
    </p:spTree>
    <p:extLst>
      <p:ext uri="{BB962C8B-B14F-4D97-AF65-F5344CB8AC3E}">
        <p14:creationId xmlns:p14="http://schemas.microsoft.com/office/powerpoint/2010/main" val="25338911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그림 10">
            <a:extLst>
              <a:ext uri="{FF2B5EF4-FFF2-40B4-BE49-F238E27FC236}">
                <a16:creationId xmlns:a16="http://schemas.microsoft.com/office/drawing/2014/main" id="{4AA389B2-D770-4FE9-A59B-7A619EFEB577}"/>
              </a:ext>
            </a:extLst>
          </p:cNvPr>
          <p:cNvPicPr>
            <a:picLocks noChangeAspect="1"/>
          </p:cNvPicPr>
          <p:nvPr/>
        </p:nvPicPr>
        <p:blipFill>
          <a:blip r:embed="rId2"/>
          <a:stretch>
            <a:fillRect/>
          </a:stretch>
        </p:blipFill>
        <p:spPr>
          <a:xfrm>
            <a:off x="135172" y="71976"/>
            <a:ext cx="8921363" cy="4999548"/>
          </a:xfrm>
          <a:prstGeom prst="rect">
            <a:avLst/>
          </a:prstGeom>
        </p:spPr>
      </p:pic>
    </p:spTree>
    <p:extLst>
      <p:ext uri="{BB962C8B-B14F-4D97-AF65-F5344CB8AC3E}">
        <p14:creationId xmlns:p14="http://schemas.microsoft.com/office/powerpoint/2010/main" val="31666370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C212859F-9E17-45D6-B42C-54F057716190}"/>
              </a:ext>
            </a:extLst>
          </p:cNvPr>
          <p:cNvPicPr>
            <a:picLocks noChangeAspect="1"/>
          </p:cNvPicPr>
          <p:nvPr/>
        </p:nvPicPr>
        <p:blipFill>
          <a:blip r:embed="rId2"/>
          <a:stretch>
            <a:fillRect/>
          </a:stretch>
        </p:blipFill>
        <p:spPr>
          <a:xfrm>
            <a:off x="190831" y="48122"/>
            <a:ext cx="8802094" cy="5047256"/>
          </a:xfrm>
          <a:prstGeom prst="rect">
            <a:avLst/>
          </a:prstGeom>
        </p:spPr>
      </p:pic>
    </p:spTree>
    <p:extLst>
      <p:ext uri="{BB962C8B-B14F-4D97-AF65-F5344CB8AC3E}">
        <p14:creationId xmlns:p14="http://schemas.microsoft.com/office/powerpoint/2010/main" val="30641608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492F1531-F1A1-461F-92A4-9AEE0A7459C5}"/>
              </a:ext>
            </a:extLst>
          </p:cNvPr>
          <p:cNvPicPr>
            <a:picLocks noChangeAspect="1"/>
          </p:cNvPicPr>
          <p:nvPr/>
        </p:nvPicPr>
        <p:blipFill>
          <a:blip r:embed="rId3"/>
          <a:stretch>
            <a:fillRect/>
          </a:stretch>
        </p:blipFill>
        <p:spPr>
          <a:xfrm>
            <a:off x="94891" y="138022"/>
            <a:ext cx="8850701" cy="4867455"/>
          </a:xfrm>
          <a:prstGeom prst="rect">
            <a:avLst/>
          </a:prstGeom>
        </p:spPr>
      </p:pic>
    </p:spTree>
    <p:extLst>
      <p:ext uri="{BB962C8B-B14F-4D97-AF65-F5344CB8AC3E}">
        <p14:creationId xmlns:p14="http://schemas.microsoft.com/office/powerpoint/2010/main" val="18065017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D489B70C-3732-471E-8150-8B6676608148}"/>
              </a:ext>
            </a:extLst>
          </p:cNvPr>
          <p:cNvPicPr>
            <a:picLocks noChangeAspect="1"/>
          </p:cNvPicPr>
          <p:nvPr/>
        </p:nvPicPr>
        <p:blipFill>
          <a:blip r:embed="rId3"/>
          <a:stretch>
            <a:fillRect/>
          </a:stretch>
        </p:blipFill>
        <p:spPr>
          <a:xfrm>
            <a:off x="250165" y="181154"/>
            <a:ext cx="8712679" cy="4962345"/>
          </a:xfrm>
          <a:prstGeom prst="rect">
            <a:avLst/>
          </a:prstGeom>
        </p:spPr>
      </p:pic>
    </p:spTree>
    <p:extLst>
      <p:ext uri="{BB962C8B-B14F-4D97-AF65-F5344CB8AC3E}">
        <p14:creationId xmlns:p14="http://schemas.microsoft.com/office/powerpoint/2010/main" val="11434904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B7855B49-D7C0-4124-B0CE-59C4B7F29B86}"/>
              </a:ext>
            </a:extLst>
          </p:cNvPr>
          <p:cNvPicPr>
            <a:picLocks noChangeAspect="1"/>
          </p:cNvPicPr>
          <p:nvPr/>
        </p:nvPicPr>
        <p:blipFill>
          <a:blip r:embed="rId3"/>
          <a:stretch>
            <a:fillRect/>
          </a:stretch>
        </p:blipFill>
        <p:spPr>
          <a:xfrm>
            <a:off x="293298" y="0"/>
            <a:ext cx="8531525" cy="5143500"/>
          </a:xfrm>
          <a:prstGeom prst="rect">
            <a:avLst/>
          </a:prstGeom>
        </p:spPr>
      </p:pic>
    </p:spTree>
    <p:extLst>
      <p:ext uri="{BB962C8B-B14F-4D97-AF65-F5344CB8AC3E}">
        <p14:creationId xmlns:p14="http://schemas.microsoft.com/office/powerpoint/2010/main" val="722197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9576ED-5F8E-42D3-84E8-324D6D6F7C95}"/>
              </a:ext>
            </a:extLst>
          </p:cNvPr>
          <p:cNvSpPr txBox="1"/>
          <p:nvPr/>
        </p:nvSpPr>
        <p:spPr>
          <a:xfrm>
            <a:off x="826936" y="1277711"/>
            <a:ext cx="7927449" cy="2816156"/>
          </a:xfrm>
          <a:prstGeom prst="rect">
            <a:avLst/>
          </a:prstGeom>
          <a:noFill/>
        </p:spPr>
        <p:txBody>
          <a:bodyPr wrap="square">
            <a:spAutoFit/>
          </a:bodyPr>
          <a:lstStyle/>
          <a:p>
            <a:pPr>
              <a:lnSpc>
                <a:spcPct val="150000"/>
              </a:lnSpc>
            </a:pPr>
            <a:r>
              <a:rPr lang="ko-KR" altLang="en-US" sz="2000" b="1" dirty="0">
                <a:solidFill>
                  <a:srgbClr val="6B6480"/>
                </a:solidFill>
              </a:rPr>
              <a:t>⏱  30초 활동</a:t>
            </a:r>
          </a:p>
          <a:p>
            <a:pPr>
              <a:lnSpc>
                <a:spcPct val="150000"/>
              </a:lnSpc>
            </a:pPr>
            <a:r>
              <a:rPr lang="ko-KR" altLang="en-US" sz="2400" b="1" dirty="0">
                <a:solidFill>
                  <a:srgbClr val="2C2A55"/>
                </a:solidFill>
              </a:rPr>
              <a:t>감정 포스터에서 지금 내 감정과 가장 비슷한 표정을 하나 골라보세요.</a:t>
            </a:r>
          </a:p>
          <a:p>
            <a:pPr>
              <a:lnSpc>
                <a:spcPct val="150000"/>
              </a:lnSpc>
            </a:pPr>
            <a:r>
              <a:rPr lang="ko-KR" altLang="en-US" sz="2400" b="1" dirty="0">
                <a:solidFill>
                  <a:srgbClr val="6B6480"/>
                </a:solidFill>
              </a:rPr>
              <a:t>Choose the face on the emotion poster that matches how you feel now.</a:t>
            </a:r>
          </a:p>
        </p:txBody>
      </p:sp>
      <p:sp>
        <p:nvSpPr>
          <p:cNvPr id="4" name="별: 꼭짓점 5개 3">
            <a:extLst>
              <a:ext uri="{FF2B5EF4-FFF2-40B4-BE49-F238E27FC236}">
                <a16:creationId xmlns:a16="http://schemas.microsoft.com/office/drawing/2014/main" id="{5CDEF2BA-6429-4EFB-AAC2-F578DAB82994}"/>
              </a:ext>
            </a:extLst>
          </p:cNvPr>
          <p:cNvSpPr/>
          <p:nvPr/>
        </p:nvSpPr>
        <p:spPr>
          <a:xfrm>
            <a:off x="3967702" y="479890"/>
            <a:ext cx="822959" cy="694211"/>
          </a:xfrm>
          <a:prstGeom prst="star5">
            <a:avLst/>
          </a:prstGeom>
          <a:solidFill>
            <a:srgbClr val="4472C4"/>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710657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그림 16">
            <a:extLst>
              <a:ext uri="{FF2B5EF4-FFF2-40B4-BE49-F238E27FC236}">
                <a16:creationId xmlns:a16="http://schemas.microsoft.com/office/drawing/2014/main" id="{2BD78AB0-6367-4071-8F8F-FF3AFEDCA12F}"/>
              </a:ext>
            </a:extLst>
          </p:cNvPr>
          <p:cNvPicPr>
            <a:picLocks noChangeAspect="1"/>
          </p:cNvPicPr>
          <p:nvPr/>
        </p:nvPicPr>
        <p:blipFill rotWithShape="1">
          <a:blip r:embed="rId3"/>
          <a:srcRect l="2282" t="2769" r="2078" b="8175"/>
          <a:stretch/>
        </p:blipFill>
        <p:spPr>
          <a:xfrm>
            <a:off x="544664" y="151074"/>
            <a:ext cx="8054672" cy="4858247"/>
          </a:xfrm>
          <a:prstGeom prst="rect">
            <a:avLst/>
          </a:prstGeom>
        </p:spPr>
      </p:pic>
    </p:spTree>
    <p:extLst>
      <p:ext uri="{BB962C8B-B14F-4D97-AF65-F5344CB8AC3E}">
        <p14:creationId xmlns:p14="http://schemas.microsoft.com/office/powerpoint/2010/main" val="29953996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그림 1">
            <a:extLst>
              <a:ext uri="{FF2B5EF4-FFF2-40B4-BE49-F238E27FC236}">
                <a16:creationId xmlns:a16="http://schemas.microsoft.com/office/drawing/2014/main" id="{292599C4-7247-4321-9735-F69498FB1337}"/>
              </a:ext>
            </a:extLst>
          </p:cNvPr>
          <p:cNvPicPr>
            <a:picLocks noChangeAspect="1"/>
          </p:cNvPicPr>
          <p:nvPr/>
        </p:nvPicPr>
        <p:blipFill rotWithShape="1">
          <a:blip r:embed="rId3"/>
          <a:srcRect l="3089" t="-289" r="2903" b="89734"/>
          <a:stretch/>
        </p:blipFill>
        <p:spPr>
          <a:xfrm>
            <a:off x="573244" y="1358677"/>
            <a:ext cx="8118281" cy="1479413"/>
          </a:xfrm>
          <a:prstGeom prst="rect">
            <a:avLst/>
          </a:prstGeom>
        </p:spPr>
      </p:pic>
    </p:spTree>
    <p:extLst>
      <p:ext uri="{BB962C8B-B14F-4D97-AF65-F5344CB8AC3E}">
        <p14:creationId xmlns:p14="http://schemas.microsoft.com/office/powerpoint/2010/main" val="42824923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3">
            <a:extLst>
              <a:ext uri="{FF2B5EF4-FFF2-40B4-BE49-F238E27FC236}">
                <a16:creationId xmlns:a16="http://schemas.microsoft.com/office/drawing/2014/main" id="{58FCD137-D5CF-4316-AE4F-87CE5B6B6835}"/>
              </a:ext>
            </a:extLst>
          </p:cNvPr>
          <p:cNvPicPr>
            <a:picLocks noChangeAspect="1"/>
          </p:cNvPicPr>
          <p:nvPr/>
        </p:nvPicPr>
        <p:blipFill>
          <a:blip r:embed="rId3"/>
          <a:stretch>
            <a:fillRect/>
          </a:stretch>
        </p:blipFill>
        <p:spPr>
          <a:xfrm>
            <a:off x="23029" y="0"/>
            <a:ext cx="9097941" cy="5143500"/>
          </a:xfrm>
          <a:prstGeom prst="rect">
            <a:avLst/>
          </a:prstGeom>
        </p:spPr>
      </p:pic>
    </p:spTree>
    <p:extLst>
      <p:ext uri="{BB962C8B-B14F-4D97-AF65-F5344CB8AC3E}">
        <p14:creationId xmlns:p14="http://schemas.microsoft.com/office/powerpoint/2010/main" val="11525243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63445655-3845-4832-B642-567E43C17F88}"/>
              </a:ext>
            </a:extLst>
          </p:cNvPr>
          <p:cNvPicPr>
            <a:picLocks noChangeAspect="1"/>
          </p:cNvPicPr>
          <p:nvPr/>
        </p:nvPicPr>
        <p:blipFill>
          <a:blip r:embed="rId3"/>
          <a:stretch>
            <a:fillRect/>
          </a:stretch>
        </p:blipFill>
        <p:spPr>
          <a:xfrm>
            <a:off x="492981" y="206733"/>
            <a:ext cx="8317064" cy="4881107"/>
          </a:xfrm>
          <a:prstGeom prst="rect">
            <a:avLst/>
          </a:prstGeom>
        </p:spPr>
      </p:pic>
    </p:spTree>
    <p:extLst>
      <p:ext uri="{BB962C8B-B14F-4D97-AF65-F5344CB8AC3E}">
        <p14:creationId xmlns:p14="http://schemas.microsoft.com/office/powerpoint/2010/main" val="7545726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34B491BD-5B8F-47AA-96E1-FF95A032F039}"/>
              </a:ext>
            </a:extLst>
          </p:cNvPr>
          <p:cNvPicPr>
            <a:picLocks noChangeAspect="1"/>
          </p:cNvPicPr>
          <p:nvPr/>
        </p:nvPicPr>
        <p:blipFill rotWithShape="1">
          <a:blip r:embed="rId3"/>
          <a:srcRect l="1651" r="737"/>
          <a:stretch/>
        </p:blipFill>
        <p:spPr>
          <a:xfrm>
            <a:off x="841596" y="123245"/>
            <a:ext cx="7721959" cy="4897010"/>
          </a:xfrm>
          <a:prstGeom prst="rect">
            <a:avLst/>
          </a:prstGeom>
        </p:spPr>
      </p:pic>
    </p:spTree>
    <p:extLst>
      <p:ext uri="{BB962C8B-B14F-4D97-AF65-F5344CB8AC3E}">
        <p14:creationId xmlns:p14="http://schemas.microsoft.com/office/powerpoint/2010/main" val="35631896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별: 꼭짓점 5개 1">
            <a:extLst>
              <a:ext uri="{FF2B5EF4-FFF2-40B4-BE49-F238E27FC236}">
                <a16:creationId xmlns:a16="http://schemas.microsoft.com/office/drawing/2014/main" id="{18A58F56-2CFD-493A-9227-A067BA6FBA9E}"/>
              </a:ext>
            </a:extLst>
          </p:cNvPr>
          <p:cNvSpPr/>
          <p:nvPr/>
        </p:nvSpPr>
        <p:spPr>
          <a:xfrm>
            <a:off x="3844457" y="504265"/>
            <a:ext cx="822959" cy="694211"/>
          </a:xfrm>
          <a:prstGeom prst="star5">
            <a:avLst/>
          </a:prstGeom>
          <a:solidFill>
            <a:srgbClr val="FF0066"/>
          </a:solid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TextBox 3">
            <a:extLst>
              <a:ext uri="{FF2B5EF4-FFF2-40B4-BE49-F238E27FC236}">
                <a16:creationId xmlns:a16="http://schemas.microsoft.com/office/drawing/2014/main" id="{2B9604E5-3BDE-482C-8F31-CAEB30D886D8}"/>
              </a:ext>
            </a:extLst>
          </p:cNvPr>
          <p:cNvSpPr txBox="1"/>
          <p:nvPr/>
        </p:nvSpPr>
        <p:spPr>
          <a:xfrm>
            <a:off x="1649895" y="1875556"/>
            <a:ext cx="868680" cy="2554545"/>
          </a:xfrm>
          <a:prstGeom prst="rect">
            <a:avLst/>
          </a:prstGeom>
          <a:noFill/>
        </p:spPr>
        <p:txBody>
          <a:bodyPr wrap="square">
            <a:spAutoFit/>
          </a:bodyPr>
          <a:lstStyle/>
          <a:p>
            <a:r>
              <a:rPr lang="ko-KR" altLang="en-US" sz="8000" b="1" dirty="0">
                <a:effectLst>
                  <a:outerShdw blurRad="38100" dist="38100" dir="2700000" algn="tl">
                    <a:srgbClr val="000000">
                      <a:alpha val="43137"/>
                    </a:srgbClr>
                  </a:outerShdw>
                </a:effectLst>
              </a:rPr>
              <a:t>상</a:t>
            </a:r>
            <a:br>
              <a:rPr lang="ko-KR" altLang="en-US" sz="8000" b="1" dirty="0">
                <a:effectLst>
                  <a:outerShdw blurRad="38100" dist="38100" dir="2700000" algn="tl">
                    <a:srgbClr val="000000">
                      <a:alpha val="43137"/>
                    </a:srgbClr>
                  </a:outerShdw>
                </a:effectLst>
              </a:rPr>
            </a:br>
            <a:endParaRPr lang="ko-KR" altLang="en-US" sz="8000" b="1" dirty="0">
              <a:effectLst>
                <a:outerShdw blurRad="38100" dist="38100" dir="2700000" algn="tl">
                  <a:srgbClr val="000000">
                    <a:alpha val="43137"/>
                  </a:srgbClr>
                </a:outerShdw>
              </a:effectLst>
            </a:endParaRPr>
          </a:p>
        </p:txBody>
      </p:sp>
      <p:sp>
        <p:nvSpPr>
          <p:cNvPr id="5" name="TextBox 4">
            <a:extLst>
              <a:ext uri="{FF2B5EF4-FFF2-40B4-BE49-F238E27FC236}">
                <a16:creationId xmlns:a16="http://schemas.microsoft.com/office/drawing/2014/main" id="{F5003D15-8E83-4E2E-A1B7-19D2EC5B550E}"/>
              </a:ext>
            </a:extLst>
          </p:cNvPr>
          <p:cNvSpPr txBox="1"/>
          <p:nvPr/>
        </p:nvSpPr>
        <p:spPr>
          <a:xfrm>
            <a:off x="3703320" y="1879345"/>
            <a:ext cx="868680" cy="2554545"/>
          </a:xfrm>
          <a:prstGeom prst="rect">
            <a:avLst/>
          </a:prstGeom>
          <a:noFill/>
        </p:spPr>
        <p:txBody>
          <a:bodyPr wrap="square">
            <a:spAutoFit/>
          </a:bodyPr>
          <a:lstStyle/>
          <a:p>
            <a:r>
              <a:rPr lang="ko-KR" altLang="en-US" sz="8000" b="1" dirty="0">
                <a:effectLst>
                  <a:outerShdw blurRad="38100" dist="38100" dir="2700000" algn="tl">
                    <a:srgbClr val="000000">
                      <a:alpha val="43137"/>
                    </a:srgbClr>
                  </a:outerShdw>
                </a:effectLst>
              </a:rPr>
              <a:t>감</a:t>
            </a:r>
            <a:br>
              <a:rPr lang="ko-KR" altLang="en-US" sz="8000" b="1" dirty="0">
                <a:effectLst>
                  <a:outerShdw blurRad="38100" dist="38100" dir="2700000" algn="tl">
                    <a:srgbClr val="000000">
                      <a:alpha val="43137"/>
                    </a:srgbClr>
                  </a:outerShdw>
                </a:effectLst>
              </a:rPr>
            </a:br>
            <a:endParaRPr lang="ko-KR" altLang="en-US" sz="8000" b="1"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EDC980C5-7BF7-4241-AE3B-91DE2890AE58}"/>
              </a:ext>
            </a:extLst>
          </p:cNvPr>
          <p:cNvSpPr txBox="1"/>
          <p:nvPr/>
        </p:nvSpPr>
        <p:spPr>
          <a:xfrm>
            <a:off x="5905169" y="1875557"/>
            <a:ext cx="868680" cy="2554545"/>
          </a:xfrm>
          <a:prstGeom prst="rect">
            <a:avLst/>
          </a:prstGeom>
          <a:noFill/>
        </p:spPr>
        <p:txBody>
          <a:bodyPr wrap="square">
            <a:spAutoFit/>
          </a:bodyPr>
          <a:lstStyle/>
          <a:p>
            <a:r>
              <a:rPr lang="ko-KR" altLang="en-US" sz="8000" b="1" dirty="0">
                <a:solidFill>
                  <a:srgbClr val="FF0000"/>
                </a:solidFill>
                <a:effectLst>
                  <a:outerShdw blurRad="38100" dist="38100" dir="2700000" algn="tl">
                    <a:srgbClr val="000000">
                      <a:alpha val="43137"/>
                    </a:srgbClr>
                  </a:outerShdw>
                </a:effectLst>
              </a:rPr>
              <a:t>바</a:t>
            </a:r>
            <a:br>
              <a:rPr lang="ko-KR" altLang="en-US" sz="8000" b="1" dirty="0">
                <a:solidFill>
                  <a:srgbClr val="FF0000"/>
                </a:solidFill>
                <a:effectLst>
                  <a:outerShdw blurRad="38100" dist="38100" dir="2700000" algn="tl">
                    <a:srgbClr val="000000">
                      <a:alpha val="43137"/>
                    </a:srgbClr>
                  </a:outerShdw>
                </a:effectLst>
              </a:rPr>
            </a:br>
            <a:endParaRPr lang="ko-KR" altLang="en-US" sz="8000" b="1" dirty="0">
              <a:solidFill>
                <a:srgbClr val="FF0000"/>
              </a:solidFill>
              <a:effectLst>
                <a:outerShdw blurRad="38100" dist="38100" dir="2700000" algn="tl">
                  <a:srgbClr val="000000">
                    <a:alpha val="43137"/>
                  </a:srgbClr>
                </a:outerShdw>
              </a:effectLst>
            </a:endParaRPr>
          </a:p>
        </p:txBody>
      </p:sp>
      <p:sp>
        <p:nvSpPr>
          <p:cNvPr id="919" name="ENCaption919"/>
          <p:cNvSpPr txBox="1"/>
          <p:nvPr/>
        </p:nvSpPr>
        <p:spPr>
          <a:xfrm>
            <a:off x="342900" y="1290000"/>
            <a:ext cx="8458200" cy="320000"/>
          </a:xfrm>
          <a:prstGeom prst="rect">
            <a:avLst/>
          </a:prstGeom>
          <a:noFill/>
        </p:spPr>
        <p:txBody>
          <a:bodyPr wrap="square" lIns="0" tIns="0" rIns="0" bIns="0" rtlCol="0" anchor="t"/>
          <a:lstStyle/>
          <a:p>
            <a:pPr algn="ctr"/>
            <a:r>
              <a:rPr lang="en-US" sz="1300" i="1" dirty="0">
                <a:solidFill>
                  <a:srgbClr val="6B5F52"/>
                </a:solidFill>
              </a:rPr>
              <a:t>Sang · Gam · Ba  =  Situation · Emotion · Need</a:t>
            </a:r>
          </a:p>
        </p:txBody>
      </p:sp>
    </p:spTree>
    <p:extLst>
      <p:ext uri="{BB962C8B-B14F-4D97-AF65-F5344CB8AC3E}">
        <p14:creationId xmlns:p14="http://schemas.microsoft.com/office/powerpoint/2010/main" val="15932136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그림 7">
            <a:extLst>
              <a:ext uri="{FF2B5EF4-FFF2-40B4-BE49-F238E27FC236}">
                <a16:creationId xmlns:a16="http://schemas.microsoft.com/office/drawing/2014/main" id="{189A4B12-FB0A-4A99-A0B2-CEAC9B767F22}"/>
              </a:ext>
            </a:extLst>
          </p:cNvPr>
          <p:cNvPicPr>
            <a:picLocks noChangeAspect="1"/>
          </p:cNvPicPr>
          <p:nvPr/>
        </p:nvPicPr>
        <p:blipFill>
          <a:blip r:embed="rId3"/>
          <a:stretch>
            <a:fillRect/>
          </a:stretch>
        </p:blipFill>
        <p:spPr>
          <a:xfrm>
            <a:off x="78890" y="241539"/>
            <a:ext cx="8986220" cy="4781191"/>
          </a:xfrm>
          <a:prstGeom prst="rect">
            <a:avLst/>
          </a:prstGeom>
        </p:spPr>
      </p:pic>
      <p:sp>
        <p:nvSpPr>
          <p:cNvPr id="9" name="직사각형 8">
            <a:extLst>
              <a:ext uri="{FF2B5EF4-FFF2-40B4-BE49-F238E27FC236}">
                <a16:creationId xmlns:a16="http://schemas.microsoft.com/office/drawing/2014/main" id="{100B2959-8F6A-42DA-8E3F-24480ECB4874}"/>
              </a:ext>
            </a:extLst>
          </p:cNvPr>
          <p:cNvSpPr/>
          <p:nvPr/>
        </p:nvSpPr>
        <p:spPr>
          <a:xfrm>
            <a:off x="6150634" y="1173192"/>
            <a:ext cx="2794957" cy="3728769"/>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833606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75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a:extLst>
              <a:ext uri="{FF2B5EF4-FFF2-40B4-BE49-F238E27FC236}">
                <a16:creationId xmlns:a16="http://schemas.microsoft.com/office/drawing/2014/main" id="{322490D7-907D-4562-8323-5060554639DD}"/>
              </a:ext>
            </a:extLst>
          </p:cNvPr>
          <p:cNvPicPr>
            <a:picLocks noChangeAspect="1"/>
          </p:cNvPicPr>
          <p:nvPr/>
        </p:nvPicPr>
        <p:blipFill rotWithShape="1">
          <a:blip r:embed="rId2"/>
          <a:srcRect b="57505"/>
          <a:stretch/>
        </p:blipFill>
        <p:spPr>
          <a:xfrm>
            <a:off x="483079" y="150963"/>
            <a:ext cx="8384876" cy="4308894"/>
          </a:xfrm>
          <a:prstGeom prst="rect">
            <a:avLst/>
          </a:prstGeom>
        </p:spPr>
      </p:pic>
    </p:spTree>
    <p:extLst>
      <p:ext uri="{BB962C8B-B14F-4D97-AF65-F5344CB8AC3E}">
        <p14:creationId xmlns:p14="http://schemas.microsoft.com/office/powerpoint/2010/main" val="28797519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a:extLst>
              <a:ext uri="{FF2B5EF4-FFF2-40B4-BE49-F238E27FC236}">
                <a16:creationId xmlns:a16="http://schemas.microsoft.com/office/drawing/2014/main" id="{322490D7-907D-4562-8323-5060554639DD}"/>
              </a:ext>
            </a:extLst>
          </p:cNvPr>
          <p:cNvPicPr>
            <a:picLocks noChangeAspect="1"/>
          </p:cNvPicPr>
          <p:nvPr/>
        </p:nvPicPr>
        <p:blipFill rotWithShape="1">
          <a:blip r:embed="rId2"/>
          <a:srcRect t="41782"/>
          <a:stretch/>
        </p:blipFill>
        <p:spPr>
          <a:xfrm>
            <a:off x="508958" y="224287"/>
            <a:ext cx="8065699" cy="4768250"/>
          </a:xfrm>
          <a:prstGeom prst="rect">
            <a:avLst/>
          </a:prstGeom>
        </p:spPr>
      </p:pic>
    </p:spTree>
    <p:extLst>
      <p:ext uri="{BB962C8B-B14F-4D97-AF65-F5344CB8AC3E}">
        <p14:creationId xmlns:p14="http://schemas.microsoft.com/office/powerpoint/2010/main" val="24807664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3">
            <a:extLst>
              <a:ext uri="{FF2B5EF4-FFF2-40B4-BE49-F238E27FC236}">
                <a16:creationId xmlns:a16="http://schemas.microsoft.com/office/drawing/2014/main" id="{2BF9D59D-8908-4A3F-A0FA-71D717BE5696}"/>
              </a:ext>
            </a:extLst>
          </p:cNvPr>
          <p:cNvPicPr>
            <a:picLocks noChangeAspect="1"/>
          </p:cNvPicPr>
          <p:nvPr/>
        </p:nvPicPr>
        <p:blipFill>
          <a:blip r:embed="rId3"/>
          <a:stretch>
            <a:fillRect/>
          </a:stretch>
        </p:blipFill>
        <p:spPr>
          <a:xfrm>
            <a:off x="0" y="0"/>
            <a:ext cx="9023229" cy="5143500"/>
          </a:xfrm>
          <a:prstGeom prst="rect">
            <a:avLst/>
          </a:prstGeom>
        </p:spPr>
      </p:pic>
    </p:spTree>
    <p:extLst>
      <p:ext uri="{BB962C8B-B14F-4D97-AF65-F5344CB8AC3E}">
        <p14:creationId xmlns:p14="http://schemas.microsoft.com/office/powerpoint/2010/main" val="35350092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EFB06115-F96E-4D55-9C81-628CB1A662E9}"/>
              </a:ext>
            </a:extLst>
          </p:cNvPr>
          <p:cNvPicPr>
            <a:picLocks noChangeAspect="1"/>
          </p:cNvPicPr>
          <p:nvPr/>
        </p:nvPicPr>
        <p:blipFill>
          <a:blip r:embed="rId2"/>
          <a:stretch>
            <a:fillRect/>
          </a:stretch>
        </p:blipFill>
        <p:spPr>
          <a:xfrm>
            <a:off x="78506" y="61463"/>
            <a:ext cx="9021493" cy="5020574"/>
          </a:xfrm>
          <a:prstGeom prst="rect">
            <a:avLst/>
          </a:prstGeom>
        </p:spPr>
      </p:pic>
    </p:spTree>
    <p:extLst>
      <p:ext uri="{BB962C8B-B14F-4D97-AF65-F5344CB8AC3E}">
        <p14:creationId xmlns:p14="http://schemas.microsoft.com/office/powerpoint/2010/main" val="28164721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08F4E3D7-87D1-480B-B29F-5D69D5D2F98B}"/>
              </a:ext>
            </a:extLst>
          </p:cNvPr>
          <p:cNvPicPr>
            <a:picLocks noChangeAspect="1"/>
          </p:cNvPicPr>
          <p:nvPr/>
        </p:nvPicPr>
        <p:blipFill>
          <a:blip r:embed="rId3"/>
          <a:stretch>
            <a:fillRect/>
          </a:stretch>
        </p:blipFill>
        <p:spPr>
          <a:xfrm>
            <a:off x="189782" y="0"/>
            <a:ext cx="8833448" cy="5143500"/>
          </a:xfrm>
          <a:prstGeom prst="rect">
            <a:avLst/>
          </a:prstGeom>
        </p:spPr>
      </p:pic>
    </p:spTree>
    <p:extLst>
      <p:ext uri="{BB962C8B-B14F-4D97-AF65-F5344CB8AC3E}">
        <p14:creationId xmlns:p14="http://schemas.microsoft.com/office/powerpoint/2010/main" val="27727197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6D3958BF-57D6-4F82-881F-ACDB6ED50C41}"/>
              </a:ext>
            </a:extLst>
          </p:cNvPr>
          <p:cNvPicPr>
            <a:picLocks noChangeAspect="1"/>
          </p:cNvPicPr>
          <p:nvPr/>
        </p:nvPicPr>
        <p:blipFill>
          <a:blip r:embed="rId2"/>
          <a:stretch>
            <a:fillRect/>
          </a:stretch>
        </p:blipFill>
        <p:spPr>
          <a:xfrm>
            <a:off x="138022" y="56071"/>
            <a:ext cx="8867955" cy="5031357"/>
          </a:xfrm>
          <a:prstGeom prst="rect">
            <a:avLst/>
          </a:prstGeom>
        </p:spPr>
      </p:pic>
    </p:spTree>
    <p:extLst>
      <p:ext uri="{BB962C8B-B14F-4D97-AF65-F5344CB8AC3E}">
        <p14:creationId xmlns:p14="http://schemas.microsoft.com/office/powerpoint/2010/main" val="15251282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그림 5">
            <a:extLst>
              <a:ext uri="{FF2B5EF4-FFF2-40B4-BE49-F238E27FC236}">
                <a16:creationId xmlns:a16="http://schemas.microsoft.com/office/drawing/2014/main" id="{E0B376E4-1C6A-4221-B334-9291393DAD7D}"/>
              </a:ext>
            </a:extLst>
          </p:cNvPr>
          <p:cNvPicPr>
            <a:picLocks noChangeAspect="1"/>
          </p:cNvPicPr>
          <p:nvPr/>
        </p:nvPicPr>
        <p:blipFill rotWithShape="1">
          <a:blip r:embed="rId3"/>
          <a:srcRect t="52830"/>
          <a:stretch/>
        </p:blipFill>
        <p:spPr>
          <a:xfrm>
            <a:off x="414068" y="503263"/>
            <a:ext cx="8393502" cy="3956594"/>
          </a:xfrm>
          <a:prstGeom prst="rect">
            <a:avLst/>
          </a:prstGeom>
        </p:spPr>
      </p:pic>
    </p:spTree>
    <p:extLst>
      <p:ext uri="{BB962C8B-B14F-4D97-AF65-F5344CB8AC3E}">
        <p14:creationId xmlns:p14="http://schemas.microsoft.com/office/powerpoint/2010/main" val="6512812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9576ED-5F8E-42D3-84E8-324D6D6F7C95}"/>
              </a:ext>
            </a:extLst>
          </p:cNvPr>
          <p:cNvSpPr txBox="1"/>
          <p:nvPr/>
        </p:nvSpPr>
        <p:spPr>
          <a:xfrm>
            <a:off x="683813" y="1302221"/>
            <a:ext cx="7927449" cy="742576"/>
          </a:xfrm>
          <a:prstGeom prst="rect">
            <a:avLst/>
          </a:prstGeom>
          <a:noFill/>
        </p:spPr>
        <p:txBody>
          <a:bodyPr wrap="square">
            <a:spAutoFit/>
          </a:bodyPr>
          <a:lstStyle/>
          <a:p>
            <a:pPr algn="ctr">
              <a:lnSpc>
                <a:spcPct val="150000"/>
              </a:lnSpc>
            </a:pPr>
            <a:r>
              <a:rPr lang="ko-KR" altLang="en-US" sz="3200" b="1" dirty="0">
                <a:solidFill>
                  <a:srgbClr val="6B6480"/>
                </a:solidFill>
              </a:rPr>
              <a:t>⏱실제 상황에서 </a:t>
            </a:r>
            <a:r>
              <a:rPr lang="ko-KR" altLang="en-US" sz="3200" b="1" dirty="0" err="1">
                <a:solidFill>
                  <a:srgbClr val="6B6480"/>
                </a:solidFill>
              </a:rPr>
              <a:t>상감바</a:t>
            </a:r>
            <a:r>
              <a:rPr lang="ko-KR" altLang="en-US" sz="3200" b="1" dirty="0">
                <a:solidFill>
                  <a:srgbClr val="6B6480"/>
                </a:solidFill>
              </a:rPr>
              <a:t> 연습</a:t>
            </a:r>
            <a:endParaRPr lang="ko-KR" altLang="en-US" sz="3600" b="1" dirty="0">
              <a:solidFill>
                <a:srgbClr val="6B6480"/>
              </a:solidFill>
            </a:endParaRPr>
          </a:p>
          <a:p>
            <a:pPr algn="ctr"/>
            <a:r>
              <a:rPr lang="en-US" sz="1400" dirty="0">
                <a:solidFill>
                  <a:srgbClr val="6B5F52"/>
                </a:solidFill>
              </a:rPr>
              <a:t>Practice Situation · Emotion · Need in real situations</a:t>
            </a:r>
          </a:p>
        </p:txBody>
      </p:sp>
      <p:sp>
        <p:nvSpPr>
          <p:cNvPr id="4" name="별: 꼭짓점 5개 3">
            <a:extLst>
              <a:ext uri="{FF2B5EF4-FFF2-40B4-BE49-F238E27FC236}">
                <a16:creationId xmlns:a16="http://schemas.microsoft.com/office/drawing/2014/main" id="{5CDEF2BA-6429-4EFB-AAC2-F578DAB82994}"/>
              </a:ext>
            </a:extLst>
          </p:cNvPr>
          <p:cNvSpPr/>
          <p:nvPr/>
        </p:nvSpPr>
        <p:spPr>
          <a:xfrm>
            <a:off x="3967702" y="479890"/>
            <a:ext cx="822959" cy="694211"/>
          </a:xfrm>
          <a:prstGeom prst="star5">
            <a:avLst/>
          </a:prstGeom>
          <a:solidFill>
            <a:srgbClr val="4472C4"/>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081653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D40423EE-0818-4C7C-8489-449CAB6C29C9}"/>
              </a:ext>
            </a:extLst>
          </p:cNvPr>
          <p:cNvPicPr>
            <a:picLocks noChangeAspect="1"/>
          </p:cNvPicPr>
          <p:nvPr/>
        </p:nvPicPr>
        <p:blipFill>
          <a:blip r:embed="rId2"/>
          <a:stretch>
            <a:fillRect/>
          </a:stretch>
        </p:blipFill>
        <p:spPr>
          <a:xfrm>
            <a:off x="1001068" y="603598"/>
            <a:ext cx="7263518" cy="3736634"/>
          </a:xfrm>
          <a:prstGeom prst="rect">
            <a:avLst/>
          </a:prstGeom>
        </p:spPr>
      </p:pic>
      <p:sp>
        <p:nvSpPr>
          <p:cNvPr id="915" name="ENCaption915"/>
          <p:cNvSpPr txBox="1"/>
          <p:nvPr/>
        </p:nvSpPr>
        <p:spPr>
          <a:xfrm>
            <a:off x="144493" y="268135"/>
            <a:ext cx="8458200" cy="320000"/>
          </a:xfrm>
          <a:prstGeom prst="rect">
            <a:avLst/>
          </a:prstGeom>
          <a:noFill/>
        </p:spPr>
        <p:txBody>
          <a:bodyPr wrap="square" lIns="0" tIns="0" rIns="0" bIns="0" rtlCol="0" anchor="t"/>
          <a:lstStyle/>
          <a:p>
            <a:pPr algn="ctr"/>
            <a:r>
              <a:rPr lang="en-US" sz="2000" b="1" i="1" dirty="0">
                <a:solidFill>
                  <a:srgbClr val="6B5F52"/>
                </a:solidFill>
              </a:rPr>
              <a:t>Case 2.  I called the teacher several times, but she couldn’t hear me</a:t>
            </a:r>
          </a:p>
        </p:txBody>
      </p:sp>
    </p:spTree>
    <p:extLst>
      <p:ext uri="{BB962C8B-B14F-4D97-AF65-F5344CB8AC3E}">
        <p14:creationId xmlns:p14="http://schemas.microsoft.com/office/powerpoint/2010/main" val="34134403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3">
            <a:extLst>
              <a:ext uri="{FF2B5EF4-FFF2-40B4-BE49-F238E27FC236}">
                <a16:creationId xmlns:a16="http://schemas.microsoft.com/office/drawing/2014/main" id="{25E3E9EC-FEDA-40E9-93C5-675D0B561D28}"/>
              </a:ext>
            </a:extLst>
          </p:cNvPr>
          <p:cNvPicPr>
            <a:picLocks noChangeAspect="1"/>
          </p:cNvPicPr>
          <p:nvPr/>
        </p:nvPicPr>
        <p:blipFill>
          <a:blip r:embed="rId3"/>
          <a:stretch>
            <a:fillRect/>
          </a:stretch>
        </p:blipFill>
        <p:spPr>
          <a:xfrm>
            <a:off x="613895" y="0"/>
            <a:ext cx="8003893" cy="5143500"/>
          </a:xfrm>
          <a:prstGeom prst="rect">
            <a:avLst/>
          </a:prstGeom>
        </p:spPr>
      </p:pic>
    </p:spTree>
    <p:extLst>
      <p:ext uri="{BB962C8B-B14F-4D97-AF65-F5344CB8AC3E}">
        <p14:creationId xmlns:p14="http://schemas.microsoft.com/office/powerpoint/2010/main" val="40343938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9A42E0F8-20BE-4678-87F4-94BE73D5DE1B}"/>
              </a:ext>
            </a:extLst>
          </p:cNvPr>
          <p:cNvPicPr>
            <a:picLocks noChangeAspect="1"/>
          </p:cNvPicPr>
          <p:nvPr/>
        </p:nvPicPr>
        <p:blipFill>
          <a:blip r:embed="rId2"/>
          <a:stretch>
            <a:fillRect/>
          </a:stretch>
        </p:blipFill>
        <p:spPr>
          <a:xfrm>
            <a:off x="704088" y="763720"/>
            <a:ext cx="7735824" cy="3616059"/>
          </a:xfrm>
          <a:prstGeom prst="rect">
            <a:avLst/>
          </a:prstGeom>
        </p:spPr>
      </p:pic>
      <p:sp>
        <p:nvSpPr>
          <p:cNvPr id="916" name="ENCaption916"/>
          <p:cNvSpPr txBox="1"/>
          <p:nvPr/>
        </p:nvSpPr>
        <p:spPr>
          <a:xfrm>
            <a:off x="267760" y="133344"/>
            <a:ext cx="8458200" cy="320000"/>
          </a:xfrm>
          <a:prstGeom prst="rect">
            <a:avLst/>
          </a:prstGeom>
          <a:noFill/>
        </p:spPr>
        <p:txBody>
          <a:bodyPr wrap="square" lIns="0" tIns="0" rIns="0" bIns="0" rtlCol="0" anchor="t"/>
          <a:lstStyle/>
          <a:p>
            <a:pPr algn="ctr"/>
            <a:r>
              <a:rPr lang="en-US" sz="2000" b="1" i="1" dirty="0">
                <a:solidFill>
                  <a:srgbClr val="6B5F52"/>
                </a:solidFill>
              </a:rPr>
              <a:t>Case 6.  My friend used my things without asking</a:t>
            </a:r>
          </a:p>
        </p:txBody>
      </p:sp>
    </p:spTree>
    <p:extLst>
      <p:ext uri="{BB962C8B-B14F-4D97-AF65-F5344CB8AC3E}">
        <p14:creationId xmlns:p14="http://schemas.microsoft.com/office/powerpoint/2010/main" val="9645225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0EE08555-6533-408E-B79F-02E886A0DD0A}"/>
              </a:ext>
            </a:extLst>
          </p:cNvPr>
          <p:cNvPicPr>
            <a:picLocks noChangeAspect="1"/>
          </p:cNvPicPr>
          <p:nvPr/>
        </p:nvPicPr>
        <p:blipFill>
          <a:blip r:embed="rId3"/>
          <a:stretch>
            <a:fillRect/>
          </a:stretch>
        </p:blipFill>
        <p:spPr>
          <a:xfrm>
            <a:off x="2429" y="0"/>
            <a:ext cx="9139141" cy="5143500"/>
          </a:xfrm>
          <a:prstGeom prst="rect">
            <a:avLst/>
          </a:prstGeom>
        </p:spPr>
      </p:pic>
    </p:spTree>
    <p:extLst>
      <p:ext uri="{BB962C8B-B14F-4D97-AF65-F5344CB8AC3E}">
        <p14:creationId xmlns:p14="http://schemas.microsoft.com/office/powerpoint/2010/main" val="14374430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A42419BC-BBE8-4823-A48E-68379D0BE67E}"/>
              </a:ext>
            </a:extLst>
          </p:cNvPr>
          <p:cNvPicPr>
            <a:picLocks noChangeAspect="1"/>
          </p:cNvPicPr>
          <p:nvPr/>
        </p:nvPicPr>
        <p:blipFill>
          <a:blip r:embed="rId2"/>
          <a:stretch>
            <a:fillRect/>
          </a:stretch>
        </p:blipFill>
        <p:spPr>
          <a:xfrm>
            <a:off x="706391" y="644045"/>
            <a:ext cx="7651405" cy="3855409"/>
          </a:xfrm>
          <a:prstGeom prst="rect">
            <a:avLst/>
          </a:prstGeom>
        </p:spPr>
      </p:pic>
      <p:sp>
        <p:nvSpPr>
          <p:cNvPr id="917" name="ENCaption917"/>
          <p:cNvSpPr txBox="1"/>
          <p:nvPr/>
        </p:nvSpPr>
        <p:spPr>
          <a:xfrm>
            <a:off x="342900" y="189799"/>
            <a:ext cx="8458200" cy="320000"/>
          </a:xfrm>
          <a:prstGeom prst="rect">
            <a:avLst/>
          </a:prstGeom>
          <a:noFill/>
        </p:spPr>
        <p:txBody>
          <a:bodyPr wrap="square" lIns="0" tIns="0" rIns="0" bIns="0" rtlCol="0" anchor="t"/>
          <a:lstStyle/>
          <a:p>
            <a:pPr algn="ctr"/>
            <a:r>
              <a:rPr lang="en-US" sz="2000" b="1" i="1" dirty="0">
                <a:solidFill>
                  <a:srgbClr val="6B5F52"/>
                </a:solidFill>
              </a:rPr>
              <a:t>Case 12.  I presented my drawing in front of many people</a:t>
            </a:r>
          </a:p>
        </p:txBody>
      </p:sp>
    </p:spTree>
    <p:extLst>
      <p:ext uri="{BB962C8B-B14F-4D97-AF65-F5344CB8AC3E}">
        <p14:creationId xmlns:p14="http://schemas.microsoft.com/office/powerpoint/2010/main" val="8603336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그림 6">
            <a:extLst>
              <a:ext uri="{FF2B5EF4-FFF2-40B4-BE49-F238E27FC236}">
                <a16:creationId xmlns:a16="http://schemas.microsoft.com/office/drawing/2014/main" id="{544A9284-8341-446F-BEDC-943974B6D44A}"/>
              </a:ext>
            </a:extLst>
          </p:cNvPr>
          <p:cNvPicPr>
            <a:picLocks noChangeAspect="1"/>
          </p:cNvPicPr>
          <p:nvPr/>
        </p:nvPicPr>
        <p:blipFill rotWithShape="1">
          <a:blip r:embed="rId3"/>
          <a:srcRect l="703" r="896" b="17140"/>
          <a:stretch/>
        </p:blipFill>
        <p:spPr>
          <a:xfrm>
            <a:off x="612250" y="106845"/>
            <a:ext cx="8110331" cy="4929809"/>
          </a:xfrm>
          <a:prstGeom prst="rect">
            <a:avLst/>
          </a:prstGeom>
        </p:spPr>
      </p:pic>
    </p:spTree>
    <p:extLst>
      <p:ext uri="{BB962C8B-B14F-4D97-AF65-F5344CB8AC3E}">
        <p14:creationId xmlns:p14="http://schemas.microsoft.com/office/powerpoint/2010/main" val="8466429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87060F7-D661-494D-9A79-44EEBBD49AA9}"/>
              </a:ext>
            </a:extLst>
          </p:cNvPr>
          <p:cNvSpPr txBox="1"/>
          <p:nvPr/>
        </p:nvSpPr>
        <p:spPr>
          <a:xfrm>
            <a:off x="2284030" y="190344"/>
            <a:ext cx="4575940" cy="369332"/>
          </a:xfrm>
          <a:prstGeom prst="rect">
            <a:avLst/>
          </a:prstGeom>
          <a:noFill/>
        </p:spPr>
        <p:txBody>
          <a:bodyPr wrap="square">
            <a:spAutoFit/>
          </a:bodyPr>
          <a:lstStyle/>
          <a:p>
            <a:pPr algn="ctr"/>
            <a:r>
              <a:rPr lang="ko-KR" altLang="en-US" b="1" dirty="0"/>
              <a:t>사람이 변화할 때 거치는 과정</a:t>
            </a:r>
            <a:endParaRPr lang="ko-KR" altLang="en-US" dirty="0"/>
          </a:p>
        </p:txBody>
      </p:sp>
      <p:pic>
        <p:nvPicPr>
          <p:cNvPr id="3" name="그림 2">
            <a:extLst>
              <a:ext uri="{FF2B5EF4-FFF2-40B4-BE49-F238E27FC236}">
                <a16:creationId xmlns:a16="http://schemas.microsoft.com/office/drawing/2014/main" id="{D0EDAAB6-8CAB-4D14-BE30-FC5E87FCBD35}"/>
              </a:ext>
            </a:extLst>
          </p:cNvPr>
          <p:cNvPicPr>
            <a:picLocks noChangeAspect="1"/>
          </p:cNvPicPr>
          <p:nvPr/>
        </p:nvPicPr>
        <p:blipFill>
          <a:blip r:embed="rId3"/>
          <a:stretch>
            <a:fillRect/>
          </a:stretch>
        </p:blipFill>
        <p:spPr>
          <a:xfrm>
            <a:off x="1434611" y="559676"/>
            <a:ext cx="6403658" cy="3646588"/>
          </a:xfrm>
          <a:prstGeom prst="rect">
            <a:avLst/>
          </a:prstGeom>
        </p:spPr>
      </p:pic>
      <p:sp>
        <p:nvSpPr>
          <p:cNvPr id="914" name="ENCaption914"/>
          <p:cNvSpPr txBox="1"/>
          <p:nvPr/>
        </p:nvSpPr>
        <p:spPr>
          <a:xfrm>
            <a:off x="342900" y="4266264"/>
            <a:ext cx="8458200" cy="320000"/>
          </a:xfrm>
          <a:prstGeom prst="rect">
            <a:avLst/>
          </a:prstGeom>
          <a:noFill/>
        </p:spPr>
        <p:txBody>
          <a:bodyPr wrap="square" lIns="0" tIns="0" rIns="0" bIns="0" rtlCol="0" anchor="t"/>
          <a:lstStyle/>
          <a:p>
            <a:pPr algn="ctr"/>
            <a:r>
              <a:rPr lang="en-US" sz="1000" i="1" dirty="0">
                <a:solidFill>
                  <a:srgbClr val="6B5F52"/>
                </a:solidFill>
              </a:rPr>
              <a:t>How people change: with practice, new ways of talking become natural</a:t>
            </a:r>
          </a:p>
        </p:txBody>
      </p:sp>
    </p:spTree>
    <p:extLst>
      <p:ext uri="{BB962C8B-B14F-4D97-AF65-F5344CB8AC3E}">
        <p14:creationId xmlns:p14="http://schemas.microsoft.com/office/powerpoint/2010/main" val="37130578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17820" y="685800"/>
            <a:ext cx="3429000" cy="3429000"/>
          </a:xfrm>
          <a:prstGeom prst="ellipse">
            <a:avLst/>
          </a:prstGeom>
          <a:solidFill>
            <a:srgbClr val="F7E4CB"/>
          </a:solidFill>
          <a:ln/>
        </p:spPr>
      </p:sp>
      <p:sp>
        <p:nvSpPr>
          <p:cNvPr id="3" name="Shape 1"/>
          <p:cNvSpPr/>
          <p:nvPr/>
        </p:nvSpPr>
        <p:spPr>
          <a:xfrm>
            <a:off x="6000750" y="1268730"/>
            <a:ext cx="2331720" cy="2331720"/>
          </a:xfrm>
          <a:prstGeom prst="ellipse">
            <a:avLst/>
          </a:prstGeom>
          <a:solidFill>
            <a:srgbClr val="D98C4A"/>
          </a:solidFill>
          <a:ln/>
        </p:spPr>
      </p:sp>
      <p:sp>
        <p:nvSpPr>
          <p:cNvPr id="4" name="Shape 2"/>
          <p:cNvSpPr/>
          <p:nvPr/>
        </p:nvSpPr>
        <p:spPr>
          <a:xfrm>
            <a:off x="6549390" y="1817370"/>
            <a:ext cx="1234440" cy="1234440"/>
          </a:xfrm>
          <a:prstGeom prst="ellipse">
            <a:avLst/>
          </a:prstGeom>
          <a:solidFill>
            <a:srgbClr val="FFFFFF"/>
          </a:solidFill>
          <a:ln/>
        </p:spPr>
      </p:sp>
      <p:sp>
        <p:nvSpPr>
          <p:cNvPr id="5" name="Text 3"/>
          <p:cNvSpPr/>
          <p:nvPr/>
        </p:nvSpPr>
        <p:spPr>
          <a:xfrm>
            <a:off x="6549390" y="1817370"/>
            <a:ext cx="1234440" cy="1234440"/>
          </a:xfrm>
          <a:prstGeom prst="rect">
            <a:avLst/>
          </a:prstGeom>
          <a:noFill/>
          <a:ln/>
        </p:spPr>
        <p:txBody>
          <a:bodyPr wrap="square" rtlCol="0" anchor="ctr"/>
          <a:lstStyle/>
          <a:p>
            <a:pPr algn="ctr"/>
            <a:r>
              <a:rPr lang="en-US" sz="4200" dirty="0">
                <a:solidFill>
                  <a:srgbClr val="000000"/>
                </a:solidFill>
                <a:latin typeface="Calibri" pitchFamily="34" charset="0"/>
                <a:ea typeface="Calibri" pitchFamily="34" charset="-122"/>
                <a:cs typeface="Calibri" pitchFamily="34" charset="-120"/>
              </a:rPr>
              <a:t>💬</a:t>
            </a:r>
            <a:endParaRPr lang="en-US" sz="4200" dirty="0"/>
          </a:p>
        </p:txBody>
      </p:sp>
      <p:sp>
        <p:nvSpPr>
          <p:cNvPr id="6" name="Shape 4"/>
          <p:cNvSpPr/>
          <p:nvPr/>
        </p:nvSpPr>
        <p:spPr>
          <a:xfrm>
            <a:off x="7955280" y="4457700"/>
            <a:ext cx="788670" cy="109728"/>
          </a:xfrm>
          <a:prstGeom prst="roundRect">
            <a:avLst>
              <a:gd name="adj" fmla="val 12500"/>
            </a:avLst>
          </a:prstGeom>
          <a:solidFill>
            <a:srgbClr val="8FAE93"/>
          </a:solidFill>
          <a:ln/>
        </p:spPr>
      </p:sp>
      <p:sp>
        <p:nvSpPr>
          <p:cNvPr id="7" name="Shape 5"/>
          <p:cNvSpPr/>
          <p:nvPr/>
        </p:nvSpPr>
        <p:spPr>
          <a:xfrm>
            <a:off x="7968996" y="4334256"/>
            <a:ext cx="788670" cy="109728"/>
          </a:xfrm>
          <a:prstGeom prst="roundRect">
            <a:avLst>
              <a:gd name="adj" fmla="val 12500"/>
            </a:avLst>
          </a:prstGeom>
          <a:solidFill>
            <a:srgbClr val="D98C4A"/>
          </a:solidFill>
          <a:ln/>
        </p:spPr>
      </p:sp>
      <p:sp>
        <p:nvSpPr>
          <p:cNvPr id="8" name="Shape 6"/>
          <p:cNvSpPr/>
          <p:nvPr/>
        </p:nvSpPr>
        <p:spPr>
          <a:xfrm>
            <a:off x="7982712" y="4210812"/>
            <a:ext cx="788670" cy="109728"/>
          </a:xfrm>
          <a:prstGeom prst="roundRect">
            <a:avLst>
              <a:gd name="adj" fmla="val 12500"/>
            </a:avLst>
          </a:prstGeom>
          <a:solidFill>
            <a:srgbClr val="8B4A32"/>
          </a:solidFill>
          <a:ln/>
        </p:spPr>
      </p:sp>
      <p:sp>
        <p:nvSpPr>
          <p:cNvPr id="11" name="Text 9"/>
          <p:cNvSpPr/>
          <p:nvPr/>
        </p:nvSpPr>
        <p:spPr>
          <a:xfrm>
            <a:off x="480060" y="1337310"/>
            <a:ext cx="5006340" cy="2057400"/>
          </a:xfrm>
          <a:prstGeom prst="rect">
            <a:avLst/>
          </a:prstGeom>
          <a:noFill/>
          <a:ln/>
        </p:spPr>
        <p:txBody>
          <a:bodyPr wrap="square" rtlCol="0" anchor="t"/>
          <a:lstStyle/>
          <a:p>
            <a:pPr marL="0" indent="0">
              <a:lnSpc>
                <a:spcPct val="105000"/>
              </a:lnSpc>
              <a:buNone/>
            </a:pPr>
            <a:r>
              <a:rPr lang="en-US" altLang="ko-KR" sz="3600" b="1" dirty="0">
                <a:solidFill>
                  <a:srgbClr val="3D2E24"/>
                </a:solidFill>
                <a:latin typeface="NanumSquare" pitchFamily="34" charset="0"/>
                <a:ea typeface="NanumSquare" pitchFamily="34" charset="-122"/>
                <a:cs typeface="NanumSquare" pitchFamily="34" charset="-120"/>
              </a:rPr>
              <a:t>두 </a:t>
            </a:r>
            <a:r>
              <a:rPr lang="en-US" altLang="ko-KR" sz="3600" b="1" dirty="0" err="1">
                <a:solidFill>
                  <a:srgbClr val="3D2E24"/>
                </a:solidFill>
                <a:latin typeface="NanumSquare" pitchFamily="34" charset="0"/>
                <a:ea typeface="NanumSquare" pitchFamily="34" charset="-122"/>
                <a:cs typeface="NanumSquare" pitchFamily="34" charset="-120"/>
              </a:rPr>
              <a:t>문화를</a:t>
            </a:r>
            <a:r>
              <a:rPr lang="en-US" altLang="ko-KR" sz="3600" b="1" dirty="0">
                <a:solidFill>
                  <a:srgbClr val="3D2E24"/>
                </a:solidFill>
                <a:latin typeface="NanumSquare" pitchFamily="34" charset="0"/>
                <a:ea typeface="NanumSquare" pitchFamily="34" charset="-122"/>
                <a:cs typeface="NanumSquare" pitchFamily="34" charset="-120"/>
              </a:rPr>
              <a:t> </a:t>
            </a:r>
            <a:r>
              <a:rPr lang="en-US" altLang="ko-KR" sz="3600" b="1" dirty="0" err="1">
                <a:solidFill>
                  <a:srgbClr val="3D2E24"/>
                </a:solidFill>
                <a:latin typeface="NanumSquare" pitchFamily="34" charset="0"/>
                <a:ea typeface="NanumSquare" pitchFamily="34" charset="-122"/>
                <a:cs typeface="NanumSquare" pitchFamily="34" charset="-120"/>
              </a:rPr>
              <a:t>사는</a:t>
            </a:r>
            <a:r>
              <a:rPr lang="en-US" altLang="ko-KR" sz="3600" b="1" dirty="0">
                <a:solidFill>
                  <a:srgbClr val="3D2E24"/>
                </a:solidFill>
                <a:latin typeface="NanumSquare" pitchFamily="34" charset="0"/>
                <a:ea typeface="NanumSquare" pitchFamily="34" charset="-122"/>
                <a:cs typeface="NanumSquare" pitchFamily="34" charset="-120"/>
              </a:rPr>
              <a:t> </a:t>
            </a:r>
            <a:r>
              <a:rPr lang="en-US" altLang="ko-KR" sz="3600" b="1" dirty="0" err="1">
                <a:solidFill>
                  <a:srgbClr val="3D2E24"/>
                </a:solidFill>
                <a:latin typeface="NanumSquare" pitchFamily="34" charset="0"/>
                <a:ea typeface="NanumSquare" pitchFamily="34" charset="-122"/>
                <a:cs typeface="NanumSquare" pitchFamily="34" charset="-120"/>
              </a:rPr>
              <a:t>아이</a:t>
            </a:r>
            <a:endParaRPr lang="en-US" altLang="ko-KR" sz="3600" b="1" dirty="0">
              <a:solidFill>
                <a:srgbClr val="3D2E24"/>
              </a:solidFill>
              <a:latin typeface="NanumSquare" pitchFamily="34" charset="0"/>
              <a:ea typeface="NanumSquare" pitchFamily="34" charset="-122"/>
              <a:cs typeface="NanumSquare" pitchFamily="34" charset="-120"/>
            </a:endParaRPr>
          </a:p>
          <a:p>
            <a:pPr marL="0" indent="0">
              <a:lnSpc>
                <a:spcPct val="105000"/>
              </a:lnSpc>
              <a:buNone/>
            </a:pPr>
            <a:r>
              <a:rPr lang="en-US" altLang="ko-KR" sz="3600" b="1" dirty="0"/>
              <a:t>Two culture, My strength</a:t>
            </a:r>
          </a:p>
        </p:txBody>
      </p:sp>
      <p:sp>
        <p:nvSpPr>
          <p:cNvPr id="12" name="Text 10"/>
          <p:cNvSpPr/>
          <p:nvPr/>
        </p:nvSpPr>
        <p:spPr>
          <a:xfrm>
            <a:off x="514350" y="4560570"/>
            <a:ext cx="5486400" cy="308610"/>
          </a:xfrm>
          <a:prstGeom prst="rect">
            <a:avLst/>
          </a:prstGeom>
          <a:noFill/>
          <a:ln/>
        </p:spPr>
        <p:txBody>
          <a:bodyPr wrap="square" rtlCol="0" anchor="ctr"/>
          <a:lstStyle/>
          <a:p>
            <a:r>
              <a:rPr lang="en-US" sz="1125" dirty="0">
                <a:solidFill>
                  <a:srgbClr val="8A7A68"/>
                </a:solidFill>
                <a:latin typeface="Calibri" pitchFamily="34" charset="0"/>
                <a:ea typeface="Calibri" pitchFamily="34" charset="-122"/>
                <a:cs typeface="Calibri" pitchFamily="34" charset="-120"/>
              </a:rPr>
              <a:t>사상구보건소 · 다문화가정 부모교육</a:t>
            </a:r>
            <a:endParaRPr lang="en-US" sz="1125" dirty="0"/>
          </a:p>
        </p:txBody>
      </p:sp>
    </p:spTree>
    <p:extLst>
      <p:ext uri="{BB962C8B-B14F-4D97-AF65-F5344CB8AC3E}">
        <p14:creationId xmlns:p14="http://schemas.microsoft.com/office/powerpoint/2010/main" val="13132447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17220" y="1028700"/>
            <a:ext cx="7543800" cy="411480"/>
          </a:xfrm>
          <a:prstGeom prst="rect">
            <a:avLst/>
          </a:prstGeom>
          <a:noFill/>
          <a:ln/>
        </p:spPr>
        <p:txBody>
          <a:bodyPr wrap="square" rtlCol="0" anchor="ctr"/>
          <a:lstStyle/>
          <a:p>
            <a:r>
              <a:rPr lang="en-US" sz="1500" dirty="0" err="1">
                <a:latin typeface="Malgun Gothic" pitchFamily="34" charset="0"/>
                <a:ea typeface="Malgun Gothic" pitchFamily="34" charset="-122"/>
                <a:cs typeface="Malgun Gothic" pitchFamily="34" charset="-120"/>
              </a:rPr>
              <a:t>살아가다</a:t>
            </a:r>
            <a:r>
              <a:rPr lang="en-US" sz="1500" dirty="0">
                <a:latin typeface="Malgun Gothic" pitchFamily="34" charset="0"/>
                <a:ea typeface="Malgun Gothic" pitchFamily="34" charset="-122"/>
                <a:cs typeface="Malgun Gothic" pitchFamily="34" charset="-120"/>
              </a:rPr>
              <a:t> 보면</a:t>
            </a:r>
            <a:endParaRPr lang="en-US" sz="1500" dirty="0"/>
          </a:p>
        </p:txBody>
      </p:sp>
      <p:sp>
        <p:nvSpPr>
          <p:cNvPr id="3" name="Text 1"/>
          <p:cNvSpPr/>
          <p:nvPr/>
        </p:nvSpPr>
        <p:spPr>
          <a:xfrm>
            <a:off x="617220" y="1474470"/>
            <a:ext cx="7749540" cy="685800"/>
          </a:xfrm>
          <a:prstGeom prst="rect">
            <a:avLst/>
          </a:prstGeom>
          <a:noFill/>
          <a:ln/>
        </p:spPr>
        <p:txBody>
          <a:bodyPr wrap="square" rtlCol="0" anchor="ctr"/>
          <a:lstStyle/>
          <a:p>
            <a:r>
              <a:rPr lang="en-US" sz="2400" b="1" dirty="0">
                <a:latin typeface="Malgun Gothic" pitchFamily="34" charset="0"/>
                <a:ea typeface="Malgun Gothic" pitchFamily="34" charset="-122"/>
                <a:cs typeface="Malgun Gothic" pitchFamily="34" charset="-120"/>
              </a:rPr>
              <a:t>취향보다 더 큰 '다름'을 만납니다</a:t>
            </a:r>
            <a:endParaRPr lang="en-US" sz="2400" dirty="0"/>
          </a:p>
          <a:p>
            <a:r>
              <a:rPr lang="en-US" sz="1300" dirty="0">
                <a:solidFill>
                  <a:srgbClr val="6B5F52"/>
                </a:solidFill>
              </a:rPr>
              <a:t>As we live, we meet a “difference” bigger than taste</a:t>
            </a:r>
          </a:p>
        </p:txBody>
      </p:sp>
      <p:sp>
        <p:nvSpPr>
          <p:cNvPr id="4" name="Shape 2"/>
          <p:cNvSpPr/>
          <p:nvPr/>
        </p:nvSpPr>
        <p:spPr>
          <a:xfrm>
            <a:off x="617220" y="2400300"/>
            <a:ext cx="3703320" cy="1180000"/>
          </a:xfrm>
          <a:prstGeom prst="roundRect">
            <a:avLst>
              <a:gd name="adj" fmla="val 8000"/>
            </a:avLst>
          </a:prstGeom>
          <a:solidFill>
            <a:srgbClr val="D9622B"/>
          </a:solidFill>
          <a:ln/>
        </p:spPr>
      </p:sp>
      <p:sp>
        <p:nvSpPr>
          <p:cNvPr id="5" name="Text 3"/>
          <p:cNvSpPr/>
          <p:nvPr/>
        </p:nvSpPr>
        <p:spPr>
          <a:xfrm>
            <a:off x="617220" y="2400300"/>
            <a:ext cx="3703320" cy="1180000"/>
          </a:xfrm>
          <a:prstGeom prst="rect">
            <a:avLst/>
          </a:prstGeom>
          <a:noFill/>
          <a:ln/>
        </p:spPr>
        <p:txBody>
          <a:bodyPr wrap="square" rtlCol="0" anchor="ctr"/>
          <a:lstStyle/>
          <a:p>
            <a:pPr algn="ctr">
              <a:lnSpc>
                <a:spcPct val="120000"/>
              </a:lnSpc>
            </a:pPr>
            <a:r>
              <a:rPr lang="en-US" sz="2100" b="1" dirty="0">
                <a:latin typeface="Malgun Gothic" pitchFamily="34" charset="0"/>
                <a:ea typeface="Malgun Gothic" pitchFamily="34" charset="-122"/>
                <a:cs typeface="Malgun Gothic" pitchFamily="34" charset="-120"/>
              </a:rPr>
              <a:t>바로,</a:t>
            </a:r>
            <a:endParaRPr lang="en-US" sz="2100" dirty="0"/>
          </a:p>
          <a:p>
            <a:pPr algn="ctr">
              <a:lnSpc>
                <a:spcPct val="120000"/>
              </a:lnSpc>
            </a:pPr>
            <a:r>
              <a:rPr lang="en-US" sz="2100" b="1" dirty="0">
                <a:latin typeface="Malgun Gothic" pitchFamily="34" charset="0"/>
                <a:ea typeface="Malgun Gothic" pitchFamily="34" charset="-122"/>
                <a:cs typeface="Malgun Gothic" pitchFamily="34" charset="-120"/>
              </a:rPr>
              <a:t>문화입니다</a:t>
            </a:r>
            <a:endParaRPr lang="en-US" sz="2100" dirty="0"/>
          </a:p>
          <a:p>
            <a:pPr algn="ctr"/>
            <a:r>
              <a:rPr lang="en-US" sz="1300" dirty="0">
                <a:solidFill>
                  <a:srgbClr val="FFFFFF"/>
                </a:solidFill>
              </a:rPr>
              <a:t>It is culture</a:t>
            </a:r>
          </a:p>
        </p:txBody>
      </p:sp>
    </p:spTree>
    <p:extLst>
      <p:ext uri="{BB962C8B-B14F-4D97-AF65-F5344CB8AC3E}">
        <p14:creationId xmlns:p14="http://schemas.microsoft.com/office/powerpoint/2010/main" val="28970130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17220" y="1165860"/>
            <a:ext cx="7886700" cy="2468880"/>
          </a:xfrm>
          <a:prstGeom prst="roundRect">
            <a:avLst>
              <a:gd name="adj" fmla="val 3889"/>
            </a:avLst>
          </a:prstGeom>
          <a:solidFill>
            <a:srgbClr val="DCE9E8"/>
          </a:solidFill>
          <a:ln/>
        </p:spPr>
      </p:sp>
      <p:sp>
        <p:nvSpPr>
          <p:cNvPr id="3" name="Text 1"/>
          <p:cNvSpPr/>
          <p:nvPr/>
        </p:nvSpPr>
        <p:spPr>
          <a:xfrm>
            <a:off x="891540" y="1405890"/>
            <a:ext cx="7338060" cy="411480"/>
          </a:xfrm>
          <a:prstGeom prst="rect">
            <a:avLst/>
          </a:prstGeom>
          <a:noFill/>
          <a:ln/>
        </p:spPr>
        <p:txBody>
          <a:bodyPr wrap="square" rtlCol="0" anchor="ctr"/>
          <a:lstStyle/>
          <a:p>
            <a:r>
              <a:rPr lang="en-US" sz="1500" b="1" dirty="0">
                <a:solidFill>
                  <a:srgbClr val="3C6E71"/>
                </a:solidFill>
                <a:latin typeface="Malgun Gothic" pitchFamily="34" charset="0"/>
                <a:ea typeface="Malgun Gothic" pitchFamily="34" charset="-122"/>
                <a:cs typeface="Malgun Gothic" pitchFamily="34" charset="-120"/>
              </a:rPr>
              <a:t>문화란,</a:t>
            </a:r>
            <a:endParaRPr lang="en-US" sz="1500" dirty="0"/>
          </a:p>
        </p:txBody>
      </p:sp>
      <p:sp>
        <p:nvSpPr>
          <p:cNvPr id="4" name="Text 2"/>
          <p:cNvSpPr/>
          <p:nvPr/>
        </p:nvSpPr>
        <p:spPr>
          <a:xfrm>
            <a:off x="891540" y="1817370"/>
            <a:ext cx="7338060" cy="1577340"/>
          </a:xfrm>
          <a:prstGeom prst="rect">
            <a:avLst/>
          </a:prstGeom>
          <a:noFill/>
          <a:ln/>
        </p:spPr>
        <p:txBody>
          <a:bodyPr wrap="square" rtlCol="0" anchor="ctr"/>
          <a:lstStyle/>
          <a:p>
            <a:pPr>
              <a:lnSpc>
                <a:spcPct val="130000"/>
              </a:lnSpc>
            </a:pPr>
            <a:r>
              <a:rPr lang="en-US" sz="2250" b="1" dirty="0">
                <a:solidFill>
                  <a:srgbClr val="2D2A26"/>
                </a:solidFill>
                <a:latin typeface="Malgun Gothic" pitchFamily="34" charset="0"/>
                <a:ea typeface="Malgun Gothic" pitchFamily="34" charset="-122"/>
                <a:cs typeface="Malgun Gothic" pitchFamily="34" charset="-120"/>
              </a:rPr>
              <a:t>한 집단의 사람들이 자연스럽게 익히고</a:t>
            </a:r>
            <a:endParaRPr lang="en-US" sz="2250" dirty="0"/>
          </a:p>
          <a:p>
            <a:pPr>
              <a:lnSpc>
                <a:spcPct val="130000"/>
              </a:lnSpc>
            </a:pPr>
            <a:r>
              <a:rPr lang="en-US" sz="2250" b="1" dirty="0">
                <a:solidFill>
                  <a:srgbClr val="2D2A26"/>
                </a:solidFill>
                <a:latin typeface="Malgun Gothic" pitchFamily="34" charset="0"/>
                <a:ea typeface="Malgun Gothic" pitchFamily="34" charset="-122"/>
                <a:cs typeface="Malgun Gothic" pitchFamily="34" charset="-120"/>
              </a:rPr>
              <a:t>살아가는 생활방식과 생각하는 방식</a:t>
            </a:r>
            <a:endParaRPr lang="en-US" sz="2250" dirty="0"/>
          </a:p>
          <a:p>
            <a:r>
              <a:rPr lang="en-US" sz="1300" dirty="0">
                <a:solidFill>
                  <a:srgbClr val="6B5F52"/>
                </a:solidFill>
              </a:rPr>
              <a:t>The way of life and thinking that a group of people naturally learns and lives by</a:t>
            </a:r>
          </a:p>
        </p:txBody>
      </p:sp>
      <p:sp>
        <p:nvSpPr>
          <p:cNvPr id="5" name="Text 3"/>
          <p:cNvSpPr/>
          <p:nvPr/>
        </p:nvSpPr>
        <p:spPr>
          <a:xfrm>
            <a:off x="617220" y="3806190"/>
            <a:ext cx="7886700" cy="480060"/>
          </a:xfrm>
          <a:prstGeom prst="rect">
            <a:avLst/>
          </a:prstGeom>
          <a:noFill/>
          <a:ln/>
        </p:spPr>
        <p:txBody>
          <a:bodyPr wrap="square" rtlCol="0" anchor="ctr"/>
          <a:lstStyle/>
          <a:p>
            <a:r>
              <a:rPr lang="en-US" sz="1200" i="1" dirty="0">
                <a:solidFill>
                  <a:srgbClr val="6B6B6B"/>
                </a:solidFill>
                <a:latin typeface="Malgun Gothic" pitchFamily="34" charset="0"/>
                <a:ea typeface="Malgun Gothic" pitchFamily="34" charset="-122"/>
                <a:cs typeface="Malgun Gothic" pitchFamily="34" charset="-120"/>
              </a:rPr>
              <a:t>국적의 차이만이 아니라, 함께 살아가며 몸에 밴 모든 것 — 그것이 문화입니다.</a:t>
            </a:r>
            <a:endParaRPr lang="en-US" sz="1200" dirty="0"/>
          </a:p>
          <a:p>
            <a:r>
              <a:rPr lang="en-US" sz="1000" i="1" dirty="0">
                <a:solidFill>
                  <a:srgbClr val="6B5F52"/>
                </a:solidFill>
              </a:rPr>
              <a:t>Not only nationality — everything that becomes part of us as we live together is culture</a:t>
            </a:r>
          </a:p>
        </p:txBody>
      </p:sp>
    </p:spTree>
    <p:extLst>
      <p:ext uri="{BB962C8B-B14F-4D97-AF65-F5344CB8AC3E}">
        <p14:creationId xmlns:p14="http://schemas.microsoft.com/office/powerpoint/2010/main" val="87099618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3">
            <a:extLst>
              <a:ext uri="{FF2B5EF4-FFF2-40B4-BE49-F238E27FC236}">
                <a16:creationId xmlns:a16="http://schemas.microsoft.com/office/drawing/2014/main" id="{EA776D76-02E0-40AF-A9A6-15C775BB5685}"/>
              </a:ext>
            </a:extLst>
          </p:cNvPr>
          <p:cNvPicPr>
            <a:picLocks noChangeAspect="1"/>
          </p:cNvPicPr>
          <p:nvPr/>
        </p:nvPicPr>
        <p:blipFill rotWithShape="1">
          <a:blip r:embed="rId3"/>
          <a:srcRect t="4174" b="6010"/>
          <a:stretch/>
        </p:blipFill>
        <p:spPr>
          <a:xfrm>
            <a:off x="1045438" y="63609"/>
            <a:ext cx="7099878" cy="4187794"/>
          </a:xfrm>
          <a:prstGeom prst="rect">
            <a:avLst/>
          </a:prstGeom>
        </p:spPr>
      </p:pic>
      <p:sp>
        <p:nvSpPr>
          <p:cNvPr id="913" name="ENCaption913"/>
          <p:cNvSpPr txBox="1"/>
          <p:nvPr/>
        </p:nvSpPr>
        <p:spPr>
          <a:xfrm>
            <a:off x="342900" y="4311403"/>
            <a:ext cx="8458200" cy="320000"/>
          </a:xfrm>
          <a:prstGeom prst="rect">
            <a:avLst/>
          </a:prstGeom>
          <a:noFill/>
        </p:spPr>
        <p:txBody>
          <a:bodyPr wrap="square" lIns="0" tIns="0" rIns="0" bIns="0" rtlCol="0" anchor="t"/>
          <a:lstStyle/>
          <a:p>
            <a:pPr algn="ctr"/>
            <a:r>
              <a:rPr lang="en-US" sz="1000" i="1" dirty="0">
                <a:solidFill>
                  <a:srgbClr val="6B5F52"/>
                </a:solidFill>
              </a:rPr>
              <a:t>Culture lives not only between countries — but between generations, peers, families, and schools</a:t>
            </a:r>
          </a:p>
        </p:txBody>
      </p:sp>
    </p:spTree>
    <p:extLst>
      <p:ext uri="{BB962C8B-B14F-4D97-AF65-F5344CB8AC3E}">
        <p14:creationId xmlns:p14="http://schemas.microsoft.com/office/powerpoint/2010/main" val="254011243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44">
    <p:bg>
      <p:bgPr>
        <a:solidFill>
          <a:srgbClr val="FFF9F2"/>
        </a:solidFill>
        <a:effectLst/>
      </p:bgPr>
    </p:bg>
    <p:spTree>
      <p:nvGrpSpPr>
        <p:cNvPr id="1" name=""/>
        <p:cNvGrpSpPr/>
        <p:nvPr/>
      </p:nvGrpSpPr>
      <p:grpSpPr>
        <a:xfrm>
          <a:off x="0" y="0"/>
          <a:ext cx="0" cy="0"/>
          <a:chOff x="0" y="0"/>
          <a:chExt cx="0" cy="0"/>
        </a:xfrm>
      </p:grpSpPr>
      <p:pic>
        <p:nvPicPr>
          <p:cNvPr id="21" name="그림 20">
            <a:extLst>
              <a:ext uri="{FF2B5EF4-FFF2-40B4-BE49-F238E27FC236}">
                <a16:creationId xmlns:a16="http://schemas.microsoft.com/office/drawing/2014/main" id="{1B02423C-7B14-484A-9643-9FE978289F4B}"/>
              </a:ext>
            </a:extLst>
          </p:cNvPr>
          <p:cNvPicPr>
            <a:picLocks noChangeAspect="1"/>
          </p:cNvPicPr>
          <p:nvPr/>
        </p:nvPicPr>
        <p:blipFill>
          <a:blip r:embed="rId3"/>
          <a:stretch>
            <a:fillRect/>
          </a:stretch>
        </p:blipFill>
        <p:spPr>
          <a:xfrm>
            <a:off x="1143000" y="119270"/>
            <a:ext cx="6858000" cy="502423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824122" y="296523"/>
            <a:ext cx="7384436" cy="330015"/>
          </a:xfrm>
          <a:prstGeom prst="rect">
            <a:avLst/>
          </a:prstGeom>
          <a:noFill/>
          <a:ln/>
        </p:spPr>
        <p:txBody>
          <a:bodyPr wrap="square" lIns="0" tIns="0" rIns="0" bIns="0" rtlCol="0" anchor="ctr"/>
          <a:lstStyle/>
          <a:p>
            <a:pPr algn="ctr"/>
            <a:r>
              <a:rPr lang="en-US" sz="2800" b="1" dirty="0">
                <a:solidFill>
                  <a:srgbClr val="2C2A55"/>
                </a:solidFill>
                <a:latin typeface="양재튼튼체B" panose="02020603020101020101" pitchFamily="18" charset="-127"/>
                <a:ea typeface="양재튼튼체B" panose="02020603020101020101" pitchFamily="18" charset="-127"/>
                <a:cs typeface="Cambria" pitchFamily="34" charset="-120"/>
              </a:rPr>
              <a:t>두 문화를 잇는 부모입니다</a:t>
            </a:r>
            <a:endParaRPr lang="en-US" sz="2800" b="1" dirty="0">
              <a:latin typeface="양재튼튼체B" panose="02020603020101020101" pitchFamily="18" charset="-127"/>
              <a:ea typeface="양재튼튼체B" panose="02020603020101020101" pitchFamily="18" charset="-127"/>
            </a:endParaRPr>
          </a:p>
        </p:txBody>
      </p:sp>
      <p:sp>
        <p:nvSpPr>
          <p:cNvPr id="5" name="Text 3"/>
          <p:cNvSpPr/>
          <p:nvPr/>
        </p:nvSpPr>
        <p:spPr>
          <a:xfrm>
            <a:off x="824122" y="754096"/>
            <a:ext cx="7384436" cy="176008"/>
          </a:xfrm>
          <a:prstGeom prst="rect">
            <a:avLst/>
          </a:prstGeom>
          <a:noFill/>
          <a:ln/>
        </p:spPr>
        <p:txBody>
          <a:bodyPr wrap="square" lIns="0" tIns="0" rIns="0" bIns="0" rtlCol="0" anchor="ctr"/>
          <a:lstStyle/>
          <a:p>
            <a:pPr algn="ctr"/>
            <a:r>
              <a:rPr lang="en-US" sz="1400" b="1" dirty="0">
                <a:solidFill>
                  <a:srgbClr val="6B6480"/>
                </a:solidFill>
                <a:latin typeface="+mj-ea"/>
                <a:ea typeface="+mj-ea"/>
                <a:cs typeface="Arial" pitchFamily="34" charset="-120"/>
              </a:rPr>
              <a:t>다문화 부모 일곱 가지 다짐</a:t>
            </a:r>
            <a:endParaRPr lang="en-US" sz="1400" b="1" dirty="0">
              <a:latin typeface="+mj-ea"/>
              <a:ea typeface="+mj-ea"/>
            </a:endParaRPr>
          </a:p>
          <a:p>
            <a:pPr algn="ctr"/>
            <a:r>
              <a:rPr lang="en-US" sz="850" dirty="0">
                <a:solidFill>
                  <a:srgbClr val="6B6480"/>
                </a:solidFill>
              </a:rPr>
              <a:t>Seven Promises of Multicultural Parents</a:t>
            </a:r>
          </a:p>
        </p:txBody>
      </p:sp>
      <p:sp>
        <p:nvSpPr>
          <p:cNvPr id="6" name="Shape 4"/>
          <p:cNvSpPr/>
          <p:nvPr/>
        </p:nvSpPr>
        <p:spPr>
          <a:xfrm>
            <a:off x="879782" y="1080000"/>
            <a:ext cx="7834848" cy="420000"/>
          </a:xfrm>
          <a:prstGeom prst="roundRect">
            <a:avLst>
              <a:gd name="adj" fmla="val 11538"/>
            </a:avLst>
          </a:prstGeom>
          <a:solidFill>
            <a:srgbClr val="FFFFFF"/>
          </a:solidFill>
          <a:ln/>
          <a:effectLst>
            <a:outerShdw blurRad="63500" dist="25400" dir="5400000" algn="bl" rotWithShape="0">
              <a:srgbClr val="3A2E66">
                <a:alpha val="10000"/>
              </a:srgbClr>
            </a:outerShdw>
          </a:effectLst>
        </p:spPr>
      </p:sp>
      <p:sp>
        <p:nvSpPr>
          <p:cNvPr id="7" name="Shape 5"/>
          <p:cNvSpPr/>
          <p:nvPr/>
        </p:nvSpPr>
        <p:spPr>
          <a:xfrm>
            <a:off x="958985" y="1180000"/>
            <a:ext cx="514954" cy="220010"/>
          </a:xfrm>
          <a:prstGeom prst="ellipse">
            <a:avLst/>
          </a:prstGeom>
          <a:solidFill>
            <a:srgbClr val="2C2A55"/>
          </a:solidFill>
          <a:ln/>
        </p:spPr>
      </p:sp>
      <p:sp>
        <p:nvSpPr>
          <p:cNvPr id="8" name="Text 6"/>
          <p:cNvSpPr/>
          <p:nvPr/>
        </p:nvSpPr>
        <p:spPr>
          <a:xfrm>
            <a:off x="958985" y="1180000"/>
            <a:ext cx="514954" cy="220010"/>
          </a:xfrm>
          <a:prstGeom prst="rect">
            <a:avLst/>
          </a:prstGeom>
          <a:noFill/>
          <a:ln/>
        </p:spPr>
        <p:txBody>
          <a:bodyPr wrap="square" lIns="0" tIns="0" rIns="0" bIns="0" rtlCol="0" anchor="ctr"/>
          <a:lstStyle/>
          <a:p>
            <a:pPr algn="ctr"/>
            <a:r>
              <a:rPr lang="en-US" b="1" dirty="0">
                <a:solidFill>
                  <a:srgbClr val="FFFFFF"/>
                </a:solidFill>
                <a:latin typeface="+mj-ea"/>
                <a:ea typeface="+mj-ea"/>
                <a:cs typeface="Arial" pitchFamily="34" charset="-120"/>
              </a:rPr>
              <a:t>1</a:t>
            </a:r>
            <a:endParaRPr lang="en-US" b="1" dirty="0">
              <a:latin typeface="+mj-ea"/>
              <a:ea typeface="+mj-ea"/>
            </a:endParaRPr>
          </a:p>
        </p:txBody>
      </p:sp>
      <p:sp>
        <p:nvSpPr>
          <p:cNvPr id="9" name="Text 7"/>
          <p:cNvSpPr/>
          <p:nvPr/>
        </p:nvSpPr>
        <p:spPr>
          <a:xfrm>
            <a:off x="1617005" y="1080000"/>
            <a:ext cx="6303034" cy="420000"/>
          </a:xfrm>
          <a:prstGeom prst="rect">
            <a:avLst/>
          </a:prstGeom>
          <a:noFill/>
          <a:ln/>
        </p:spPr>
        <p:txBody>
          <a:bodyPr wrap="square" lIns="0" tIns="0" rIns="0" bIns="0" rtlCol="0" anchor="ctr"/>
          <a:lstStyle/>
          <a:p>
            <a:r>
              <a:rPr lang="en-US" sz="1150" b="1" dirty="0">
                <a:solidFill>
                  <a:srgbClr val="2B2740"/>
                </a:solidFill>
                <a:latin typeface="양재튼튼체B" panose="02020603020101020101" pitchFamily="18" charset="-127"/>
                <a:ea typeface="양재튼튼체B" panose="02020603020101020101" pitchFamily="18" charset="-127"/>
                <a:cs typeface="Century Schoolbook" pitchFamily="34" charset="-120"/>
              </a:rPr>
              <a:t>나는 아이에게 엄마 나라와 아빠 나라를 모두 소중히 여기도록 가르치겠습니다</a:t>
            </a:r>
            <a:endParaRPr lang="en-US" sz="1150" b="1" dirty="0">
              <a:latin typeface="양재튼튼체B" panose="02020603020101020101" pitchFamily="18" charset="-127"/>
              <a:ea typeface="양재튼튼체B" panose="02020603020101020101" pitchFamily="18" charset="-127"/>
            </a:endParaRPr>
          </a:p>
          <a:p>
            <a:r>
              <a:rPr lang="en-US" sz="800" dirty="0">
                <a:solidFill>
                  <a:srgbClr val="6B6480"/>
                </a:solidFill>
              </a:rPr>
              <a:t>I will teach my child to cherish both Mom’s country and Dad’s country.</a:t>
            </a:r>
          </a:p>
        </p:txBody>
      </p:sp>
      <p:sp>
        <p:nvSpPr>
          <p:cNvPr id="10" name="Shape 8"/>
          <p:cNvSpPr/>
          <p:nvPr/>
        </p:nvSpPr>
        <p:spPr>
          <a:xfrm>
            <a:off x="879782" y="1532000"/>
            <a:ext cx="7834848" cy="420000"/>
          </a:xfrm>
          <a:prstGeom prst="roundRect">
            <a:avLst>
              <a:gd name="adj" fmla="val 11538"/>
            </a:avLst>
          </a:prstGeom>
          <a:solidFill>
            <a:srgbClr val="FFFFFF"/>
          </a:solidFill>
          <a:ln/>
          <a:effectLst>
            <a:outerShdw blurRad="63500" dist="25400" dir="5400000" algn="bl" rotWithShape="0">
              <a:srgbClr val="3A2E66">
                <a:alpha val="10000"/>
              </a:srgbClr>
            </a:outerShdw>
          </a:effectLst>
        </p:spPr>
      </p:sp>
      <p:sp>
        <p:nvSpPr>
          <p:cNvPr id="11" name="Shape 9"/>
          <p:cNvSpPr/>
          <p:nvPr/>
        </p:nvSpPr>
        <p:spPr>
          <a:xfrm>
            <a:off x="958985" y="1632000"/>
            <a:ext cx="514954" cy="220010"/>
          </a:xfrm>
          <a:prstGeom prst="ellipse">
            <a:avLst/>
          </a:prstGeom>
          <a:solidFill>
            <a:srgbClr val="2C2A55"/>
          </a:solidFill>
          <a:ln/>
        </p:spPr>
      </p:sp>
      <p:sp>
        <p:nvSpPr>
          <p:cNvPr id="12" name="Text 10"/>
          <p:cNvSpPr/>
          <p:nvPr/>
        </p:nvSpPr>
        <p:spPr>
          <a:xfrm>
            <a:off x="958985" y="1632000"/>
            <a:ext cx="514954" cy="220010"/>
          </a:xfrm>
          <a:prstGeom prst="rect">
            <a:avLst/>
          </a:prstGeom>
          <a:noFill/>
          <a:ln/>
        </p:spPr>
        <p:txBody>
          <a:bodyPr wrap="square" lIns="0" tIns="0" rIns="0" bIns="0" rtlCol="0" anchor="ctr"/>
          <a:lstStyle/>
          <a:p>
            <a:pPr algn="ctr"/>
            <a:r>
              <a:rPr lang="en-US" b="1" dirty="0">
                <a:solidFill>
                  <a:srgbClr val="FFFFFF"/>
                </a:solidFill>
                <a:latin typeface="+mj-ea"/>
                <a:ea typeface="+mj-ea"/>
                <a:cs typeface="Arial" pitchFamily="34" charset="-120"/>
              </a:rPr>
              <a:t>2</a:t>
            </a:r>
            <a:endParaRPr lang="en-US" b="1" dirty="0">
              <a:latin typeface="+mj-ea"/>
              <a:ea typeface="+mj-ea"/>
            </a:endParaRPr>
          </a:p>
        </p:txBody>
      </p:sp>
      <p:sp>
        <p:nvSpPr>
          <p:cNvPr id="13" name="Text 11"/>
          <p:cNvSpPr/>
          <p:nvPr/>
        </p:nvSpPr>
        <p:spPr>
          <a:xfrm>
            <a:off x="1617005" y="1532000"/>
            <a:ext cx="6303034" cy="420000"/>
          </a:xfrm>
          <a:prstGeom prst="rect">
            <a:avLst/>
          </a:prstGeom>
          <a:noFill/>
          <a:ln/>
        </p:spPr>
        <p:txBody>
          <a:bodyPr wrap="square" lIns="0" tIns="0" rIns="0" bIns="0" rtlCol="0" anchor="ctr"/>
          <a:lstStyle/>
          <a:p>
            <a:r>
              <a:rPr lang="en-US" sz="1150" b="1" dirty="0">
                <a:solidFill>
                  <a:srgbClr val="2B2740"/>
                </a:solidFill>
                <a:latin typeface="양재튼튼체B" panose="02020603020101020101" pitchFamily="18" charset="-127"/>
                <a:ea typeface="양재튼튼체B" panose="02020603020101020101" pitchFamily="18" charset="-127"/>
                <a:cs typeface="Century Schoolbook" pitchFamily="34" charset="-120"/>
              </a:rPr>
              <a:t>나는 아이가 두 나라 말을 즐겁게 배우도록 돕겠습니다</a:t>
            </a:r>
            <a:endParaRPr lang="en-US" sz="1150" b="1" dirty="0">
              <a:latin typeface="양재튼튼체B" panose="02020603020101020101" pitchFamily="18" charset="-127"/>
              <a:ea typeface="양재튼튼체B" panose="02020603020101020101" pitchFamily="18" charset="-127"/>
            </a:endParaRPr>
          </a:p>
          <a:p>
            <a:r>
              <a:rPr lang="en-US" sz="800" dirty="0">
                <a:solidFill>
                  <a:srgbClr val="6B6480"/>
                </a:solidFill>
              </a:rPr>
              <a:t>I will help my child enjoy learning both languages.</a:t>
            </a:r>
          </a:p>
        </p:txBody>
      </p:sp>
      <p:sp>
        <p:nvSpPr>
          <p:cNvPr id="14" name="Shape 12"/>
          <p:cNvSpPr/>
          <p:nvPr/>
        </p:nvSpPr>
        <p:spPr>
          <a:xfrm>
            <a:off x="879782" y="1984000"/>
            <a:ext cx="7834848" cy="420000"/>
          </a:xfrm>
          <a:prstGeom prst="roundRect">
            <a:avLst>
              <a:gd name="adj" fmla="val 11538"/>
            </a:avLst>
          </a:prstGeom>
          <a:solidFill>
            <a:srgbClr val="FFFFFF"/>
          </a:solidFill>
          <a:ln/>
          <a:effectLst>
            <a:outerShdw blurRad="63500" dist="25400" dir="5400000" algn="bl" rotWithShape="0">
              <a:srgbClr val="3A2E66">
                <a:alpha val="10000"/>
              </a:srgbClr>
            </a:outerShdw>
          </a:effectLst>
        </p:spPr>
      </p:sp>
      <p:sp>
        <p:nvSpPr>
          <p:cNvPr id="15" name="Shape 13"/>
          <p:cNvSpPr/>
          <p:nvPr/>
        </p:nvSpPr>
        <p:spPr>
          <a:xfrm>
            <a:off x="958985" y="2084000"/>
            <a:ext cx="514954" cy="220010"/>
          </a:xfrm>
          <a:prstGeom prst="ellipse">
            <a:avLst/>
          </a:prstGeom>
          <a:solidFill>
            <a:srgbClr val="2C2A55"/>
          </a:solidFill>
          <a:ln/>
        </p:spPr>
      </p:sp>
      <p:sp>
        <p:nvSpPr>
          <p:cNvPr id="16" name="Text 14"/>
          <p:cNvSpPr/>
          <p:nvPr/>
        </p:nvSpPr>
        <p:spPr>
          <a:xfrm>
            <a:off x="958985" y="2084000"/>
            <a:ext cx="514954" cy="220010"/>
          </a:xfrm>
          <a:prstGeom prst="rect">
            <a:avLst/>
          </a:prstGeom>
          <a:noFill/>
          <a:ln/>
        </p:spPr>
        <p:txBody>
          <a:bodyPr wrap="square" lIns="0" tIns="0" rIns="0" bIns="0" rtlCol="0" anchor="ctr"/>
          <a:lstStyle/>
          <a:p>
            <a:pPr algn="ctr"/>
            <a:r>
              <a:rPr lang="en-US" b="1" dirty="0">
                <a:solidFill>
                  <a:srgbClr val="FFFFFF"/>
                </a:solidFill>
                <a:latin typeface="+mj-ea"/>
                <a:ea typeface="+mj-ea"/>
                <a:cs typeface="Arial" pitchFamily="34" charset="-120"/>
              </a:rPr>
              <a:t>3</a:t>
            </a:r>
            <a:endParaRPr lang="en-US" b="1" dirty="0">
              <a:latin typeface="+mj-ea"/>
              <a:ea typeface="+mj-ea"/>
            </a:endParaRPr>
          </a:p>
        </p:txBody>
      </p:sp>
      <p:sp>
        <p:nvSpPr>
          <p:cNvPr id="17" name="Text 15"/>
          <p:cNvSpPr/>
          <p:nvPr/>
        </p:nvSpPr>
        <p:spPr>
          <a:xfrm>
            <a:off x="1617005" y="1984000"/>
            <a:ext cx="6303034" cy="420000"/>
          </a:xfrm>
          <a:prstGeom prst="rect">
            <a:avLst/>
          </a:prstGeom>
          <a:noFill/>
          <a:ln/>
        </p:spPr>
        <p:txBody>
          <a:bodyPr wrap="square" lIns="0" tIns="0" rIns="0" bIns="0" rtlCol="0" anchor="ctr"/>
          <a:lstStyle/>
          <a:p>
            <a:r>
              <a:rPr lang="en-US" sz="1150" b="1" dirty="0">
                <a:solidFill>
                  <a:srgbClr val="2B2740"/>
                </a:solidFill>
                <a:latin typeface="양재튼튼체B" panose="02020603020101020101" pitchFamily="18" charset="-127"/>
                <a:ea typeface="양재튼튼체B" panose="02020603020101020101" pitchFamily="18" charset="-127"/>
                <a:cs typeface="Century Schoolbook" pitchFamily="34" charset="-120"/>
              </a:rPr>
              <a:t>나는 아이를 있는 모습 그대로 사랑하겠습니다</a:t>
            </a:r>
            <a:endParaRPr lang="en-US" sz="1150" b="1" dirty="0">
              <a:latin typeface="양재튼튼체B" panose="02020603020101020101" pitchFamily="18" charset="-127"/>
              <a:ea typeface="양재튼튼체B" panose="02020603020101020101" pitchFamily="18" charset="-127"/>
            </a:endParaRPr>
          </a:p>
          <a:p>
            <a:r>
              <a:rPr lang="en-US" sz="800" dirty="0">
                <a:solidFill>
                  <a:srgbClr val="6B6480"/>
                </a:solidFill>
              </a:rPr>
              <a:t>I will love my child just as they are.</a:t>
            </a:r>
          </a:p>
        </p:txBody>
      </p:sp>
      <p:sp>
        <p:nvSpPr>
          <p:cNvPr id="18" name="Shape 16"/>
          <p:cNvSpPr/>
          <p:nvPr/>
        </p:nvSpPr>
        <p:spPr>
          <a:xfrm>
            <a:off x="879782" y="2436000"/>
            <a:ext cx="7834848" cy="420000"/>
          </a:xfrm>
          <a:prstGeom prst="roundRect">
            <a:avLst>
              <a:gd name="adj" fmla="val 11538"/>
            </a:avLst>
          </a:prstGeom>
          <a:solidFill>
            <a:srgbClr val="FFFFFF"/>
          </a:solidFill>
          <a:ln/>
          <a:effectLst>
            <a:outerShdw blurRad="63500" dist="25400" dir="5400000" algn="bl" rotWithShape="0">
              <a:srgbClr val="3A2E66">
                <a:alpha val="10000"/>
              </a:srgbClr>
            </a:outerShdw>
          </a:effectLst>
        </p:spPr>
      </p:sp>
      <p:sp>
        <p:nvSpPr>
          <p:cNvPr id="19" name="Shape 17"/>
          <p:cNvSpPr/>
          <p:nvPr/>
        </p:nvSpPr>
        <p:spPr>
          <a:xfrm>
            <a:off x="958985" y="2536000"/>
            <a:ext cx="514954" cy="220010"/>
          </a:xfrm>
          <a:prstGeom prst="ellipse">
            <a:avLst/>
          </a:prstGeom>
          <a:solidFill>
            <a:srgbClr val="2C2A55"/>
          </a:solidFill>
          <a:ln/>
        </p:spPr>
      </p:sp>
      <p:sp>
        <p:nvSpPr>
          <p:cNvPr id="20" name="Text 18"/>
          <p:cNvSpPr/>
          <p:nvPr/>
        </p:nvSpPr>
        <p:spPr>
          <a:xfrm>
            <a:off x="958985" y="2536000"/>
            <a:ext cx="514954" cy="220010"/>
          </a:xfrm>
          <a:prstGeom prst="rect">
            <a:avLst/>
          </a:prstGeom>
          <a:noFill/>
          <a:ln/>
        </p:spPr>
        <p:txBody>
          <a:bodyPr wrap="square" lIns="0" tIns="0" rIns="0" bIns="0" rtlCol="0" anchor="ctr"/>
          <a:lstStyle/>
          <a:p>
            <a:pPr algn="ctr"/>
            <a:r>
              <a:rPr lang="en-US" b="1" dirty="0">
                <a:solidFill>
                  <a:srgbClr val="FFFFFF"/>
                </a:solidFill>
                <a:latin typeface="+mj-ea"/>
                <a:ea typeface="+mj-ea"/>
                <a:cs typeface="Arial" pitchFamily="34" charset="-120"/>
              </a:rPr>
              <a:t>4</a:t>
            </a:r>
            <a:endParaRPr lang="en-US" b="1" dirty="0">
              <a:latin typeface="+mj-ea"/>
              <a:ea typeface="+mj-ea"/>
            </a:endParaRPr>
          </a:p>
        </p:txBody>
      </p:sp>
      <p:sp>
        <p:nvSpPr>
          <p:cNvPr id="21" name="Text 19"/>
          <p:cNvSpPr/>
          <p:nvPr/>
        </p:nvSpPr>
        <p:spPr>
          <a:xfrm>
            <a:off x="1617004" y="2436000"/>
            <a:ext cx="6303034" cy="420000"/>
          </a:xfrm>
          <a:prstGeom prst="rect">
            <a:avLst/>
          </a:prstGeom>
          <a:noFill/>
          <a:ln/>
        </p:spPr>
        <p:txBody>
          <a:bodyPr wrap="square" lIns="0" tIns="0" rIns="0" bIns="0" rtlCol="0" anchor="ctr"/>
          <a:lstStyle/>
          <a:p>
            <a:r>
              <a:rPr lang="en-US" sz="1150" b="1" dirty="0">
                <a:solidFill>
                  <a:srgbClr val="2B2740"/>
                </a:solidFill>
                <a:latin typeface="양재튼튼체B" panose="02020603020101020101" pitchFamily="18" charset="-127"/>
                <a:ea typeface="양재튼튼체B" panose="02020603020101020101" pitchFamily="18" charset="-127"/>
                <a:cs typeface="Century Schoolbook" pitchFamily="34" charset="-120"/>
              </a:rPr>
              <a:t>나는 아이가 힘들 때 언제나 함께하겠습니다</a:t>
            </a:r>
            <a:endParaRPr lang="en-US" sz="1150" b="1" dirty="0">
              <a:latin typeface="양재튼튼체B" panose="02020603020101020101" pitchFamily="18" charset="-127"/>
              <a:ea typeface="양재튼튼체B" panose="02020603020101020101" pitchFamily="18" charset="-127"/>
            </a:endParaRPr>
          </a:p>
          <a:p>
            <a:r>
              <a:rPr lang="en-US" sz="800" dirty="0">
                <a:solidFill>
                  <a:srgbClr val="6B6480"/>
                </a:solidFill>
              </a:rPr>
              <a:t>I will always be with my child in hard times.</a:t>
            </a:r>
          </a:p>
        </p:txBody>
      </p:sp>
      <p:sp>
        <p:nvSpPr>
          <p:cNvPr id="22" name="Shape 20"/>
          <p:cNvSpPr/>
          <p:nvPr/>
        </p:nvSpPr>
        <p:spPr>
          <a:xfrm>
            <a:off x="879782" y="2888000"/>
            <a:ext cx="7834848" cy="420000"/>
          </a:xfrm>
          <a:prstGeom prst="roundRect">
            <a:avLst>
              <a:gd name="adj" fmla="val 11538"/>
            </a:avLst>
          </a:prstGeom>
          <a:solidFill>
            <a:srgbClr val="FFFFFF"/>
          </a:solidFill>
          <a:ln/>
          <a:effectLst>
            <a:outerShdw blurRad="63500" dist="25400" dir="5400000" algn="bl" rotWithShape="0">
              <a:srgbClr val="3A2E66">
                <a:alpha val="10000"/>
              </a:srgbClr>
            </a:outerShdw>
          </a:effectLst>
        </p:spPr>
      </p:sp>
      <p:sp>
        <p:nvSpPr>
          <p:cNvPr id="23" name="Shape 21"/>
          <p:cNvSpPr/>
          <p:nvPr/>
        </p:nvSpPr>
        <p:spPr>
          <a:xfrm>
            <a:off x="958985" y="2988000"/>
            <a:ext cx="514954" cy="220010"/>
          </a:xfrm>
          <a:prstGeom prst="ellipse">
            <a:avLst/>
          </a:prstGeom>
          <a:solidFill>
            <a:srgbClr val="2C2A55"/>
          </a:solidFill>
          <a:ln/>
        </p:spPr>
      </p:sp>
      <p:sp>
        <p:nvSpPr>
          <p:cNvPr id="24" name="Text 22"/>
          <p:cNvSpPr/>
          <p:nvPr/>
        </p:nvSpPr>
        <p:spPr>
          <a:xfrm>
            <a:off x="958985" y="2988000"/>
            <a:ext cx="514954" cy="220010"/>
          </a:xfrm>
          <a:prstGeom prst="rect">
            <a:avLst/>
          </a:prstGeom>
          <a:noFill/>
          <a:ln/>
        </p:spPr>
        <p:txBody>
          <a:bodyPr wrap="square" lIns="0" tIns="0" rIns="0" bIns="0" rtlCol="0" anchor="ctr"/>
          <a:lstStyle/>
          <a:p>
            <a:pPr algn="ctr"/>
            <a:r>
              <a:rPr lang="en-US" b="1" dirty="0">
                <a:solidFill>
                  <a:srgbClr val="FFFFFF"/>
                </a:solidFill>
                <a:latin typeface="+mj-ea"/>
                <a:ea typeface="+mj-ea"/>
                <a:cs typeface="Arial" pitchFamily="34" charset="-120"/>
              </a:rPr>
              <a:t>5</a:t>
            </a:r>
            <a:endParaRPr lang="en-US" b="1" dirty="0">
              <a:latin typeface="+mj-ea"/>
              <a:ea typeface="+mj-ea"/>
            </a:endParaRPr>
          </a:p>
        </p:txBody>
      </p:sp>
      <p:sp>
        <p:nvSpPr>
          <p:cNvPr id="25" name="Text 23"/>
          <p:cNvSpPr/>
          <p:nvPr/>
        </p:nvSpPr>
        <p:spPr>
          <a:xfrm>
            <a:off x="1617003" y="2888000"/>
            <a:ext cx="6303034" cy="420000"/>
          </a:xfrm>
          <a:prstGeom prst="rect">
            <a:avLst/>
          </a:prstGeom>
          <a:noFill/>
          <a:ln/>
        </p:spPr>
        <p:txBody>
          <a:bodyPr wrap="square" lIns="0" tIns="0" rIns="0" bIns="0" rtlCol="0" anchor="ctr"/>
          <a:lstStyle/>
          <a:p>
            <a:r>
              <a:rPr lang="en-US" sz="1150" b="1" dirty="0">
                <a:solidFill>
                  <a:srgbClr val="2B2740"/>
                </a:solidFill>
                <a:latin typeface="양재튼튼체B" panose="02020603020101020101" pitchFamily="18" charset="-127"/>
                <a:ea typeface="양재튼튼체B" panose="02020603020101020101" pitchFamily="18" charset="-127"/>
                <a:cs typeface="Century Schoolbook" pitchFamily="34" charset="-120"/>
              </a:rPr>
              <a:t>나는 아이의 이야기를 끝까지 잘 들어주겠습니다</a:t>
            </a:r>
            <a:endParaRPr lang="en-US" sz="1150" b="1" dirty="0">
              <a:latin typeface="양재튼튼체B" panose="02020603020101020101" pitchFamily="18" charset="-127"/>
              <a:ea typeface="양재튼튼체B" panose="02020603020101020101" pitchFamily="18" charset="-127"/>
            </a:endParaRPr>
          </a:p>
          <a:p>
            <a:r>
              <a:rPr lang="en-US" sz="800" dirty="0">
                <a:solidFill>
                  <a:srgbClr val="6B6480"/>
                </a:solidFill>
              </a:rPr>
              <a:t>I will listen to my child’s story to the very end.</a:t>
            </a:r>
          </a:p>
        </p:txBody>
      </p:sp>
      <p:sp>
        <p:nvSpPr>
          <p:cNvPr id="26" name="Shape 24"/>
          <p:cNvSpPr/>
          <p:nvPr/>
        </p:nvSpPr>
        <p:spPr>
          <a:xfrm>
            <a:off x="879782" y="3340000"/>
            <a:ext cx="7834848" cy="420000"/>
          </a:xfrm>
          <a:prstGeom prst="roundRect">
            <a:avLst>
              <a:gd name="adj" fmla="val 11538"/>
            </a:avLst>
          </a:prstGeom>
          <a:solidFill>
            <a:srgbClr val="FFFFFF"/>
          </a:solidFill>
          <a:ln/>
          <a:effectLst>
            <a:outerShdw blurRad="63500" dist="25400" dir="5400000" algn="bl" rotWithShape="0">
              <a:srgbClr val="3A2E66">
                <a:alpha val="10000"/>
              </a:srgbClr>
            </a:outerShdw>
          </a:effectLst>
        </p:spPr>
      </p:sp>
      <p:sp>
        <p:nvSpPr>
          <p:cNvPr id="27" name="Shape 25"/>
          <p:cNvSpPr/>
          <p:nvPr/>
        </p:nvSpPr>
        <p:spPr>
          <a:xfrm>
            <a:off x="958985" y="3440000"/>
            <a:ext cx="514954" cy="220010"/>
          </a:xfrm>
          <a:prstGeom prst="ellipse">
            <a:avLst/>
          </a:prstGeom>
          <a:solidFill>
            <a:srgbClr val="2C2A55"/>
          </a:solidFill>
          <a:ln/>
        </p:spPr>
      </p:sp>
      <p:sp>
        <p:nvSpPr>
          <p:cNvPr id="28" name="Text 26"/>
          <p:cNvSpPr/>
          <p:nvPr/>
        </p:nvSpPr>
        <p:spPr>
          <a:xfrm>
            <a:off x="958985" y="3440000"/>
            <a:ext cx="514954" cy="220010"/>
          </a:xfrm>
          <a:prstGeom prst="rect">
            <a:avLst/>
          </a:prstGeom>
          <a:noFill/>
          <a:ln/>
        </p:spPr>
        <p:txBody>
          <a:bodyPr wrap="square" lIns="0" tIns="0" rIns="0" bIns="0" rtlCol="0" anchor="ctr"/>
          <a:lstStyle/>
          <a:p>
            <a:pPr algn="ctr"/>
            <a:r>
              <a:rPr lang="en-US" b="1" dirty="0">
                <a:solidFill>
                  <a:srgbClr val="FFFFFF"/>
                </a:solidFill>
                <a:latin typeface="+mj-ea"/>
                <a:ea typeface="+mj-ea"/>
                <a:cs typeface="Arial" pitchFamily="34" charset="-120"/>
              </a:rPr>
              <a:t>6</a:t>
            </a:r>
            <a:endParaRPr lang="en-US" b="1" dirty="0">
              <a:latin typeface="+mj-ea"/>
              <a:ea typeface="+mj-ea"/>
            </a:endParaRPr>
          </a:p>
        </p:txBody>
      </p:sp>
      <p:sp>
        <p:nvSpPr>
          <p:cNvPr id="29" name="Text 27"/>
          <p:cNvSpPr/>
          <p:nvPr/>
        </p:nvSpPr>
        <p:spPr>
          <a:xfrm>
            <a:off x="1617002" y="3340000"/>
            <a:ext cx="6303034" cy="420000"/>
          </a:xfrm>
          <a:prstGeom prst="rect">
            <a:avLst/>
          </a:prstGeom>
          <a:noFill/>
          <a:ln/>
        </p:spPr>
        <p:txBody>
          <a:bodyPr wrap="square" lIns="0" tIns="0" rIns="0" bIns="0" rtlCol="0" anchor="ctr"/>
          <a:lstStyle/>
          <a:p>
            <a:r>
              <a:rPr lang="en-US" sz="1150" b="1" dirty="0">
                <a:solidFill>
                  <a:srgbClr val="2B2740"/>
                </a:solidFill>
                <a:latin typeface="양재튼튼체B" panose="02020603020101020101" pitchFamily="18" charset="-127"/>
                <a:ea typeface="양재튼튼체B" panose="02020603020101020101" pitchFamily="18" charset="-127"/>
                <a:cs typeface="Century Schoolbook" pitchFamily="34" charset="-120"/>
              </a:rPr>
              <a:t>나는 서로 다른 문화를 존중하는 모습을 먼저 보여주겠습니다</a:t>
            </a:r>
            <a:endParaRPr lang="en-US" sz="1150" b="1" dirty="0">
              <a:latin typeface="양재튼튼체B" panose="02020603020101020101" pitchFamily="18" charset="-127"/>
              <a:ea typeface="양재튼튼체B" panose="02020603020101020101" pitchFamily="18" charset="-127"/>
            </a:endParaRPr>
          </a:p>
          <a:p>
            <a:r>
              <a:rPr lang="en-US" sz="800" dirty="0">
                <a:solidFill>
                  <a:srgbClr val="6B6480"/>
                </a:solidFill>
              </a:rPr>
              <a:t>I will first show respect for different cultures myself.</a:t>
            </a:r>
          </a:p>
        </p:txBody>
      </p:sp>
      <p:sp>
        <p:nvSpPr>
          <p:cNvPr id="30" name="Shape 28"/>
          <p:cNvSpPr/>
          <p:nvPr/>
        </p:nvSpPr>
        <p:spPr>
          <a:xfrm>
            <a:off x="879782" y="3792000"/>
            <a:ext cx="7834848" cy="420000"/>
          </a:xfrm>
          <a:prstGeom prst="roundRect">
            <a:avLst>
              <a:gd name="adj" fmla="val 11538"/>
            </a:avLst>
          </a:prstGeom>
          <a:solidFill>
            <a:srgbClr val="FFFFFF"/>
          </a:solidFill>
          <a:ln/>
          <a:effectLst>
            <a:outerShdw blurRad="63500" dist="25400" dir="5400000" algn="bl" rotWithShape="0">
              <a:srgbClr val="3A2E66">
                <a:alpha val="10000"/>
              </a:srgbClr>
            </a:outerShdw>
          </a:effectLst>
        </p:spPr>
      </p:sp>
      <p:sp>
        <p:nvSpPr>
          <p:cNvPr id="31" name="Shape 29"/>
          <p:cNvSpPr/>
          <p:nvPr/>
        </p:nvSpPr>
        <p:spPr>
          <a:xfrm>
            <a:off x="958985" y="3892000"/>
            <a:ext cx="514954" cy="220010"/>
          </a:xfrm>
          <a:prstGeom prst="ellipse">
            <a:avLst/>
          </a:prstGeom>
          <a:solidFill>
            <a:srgbClr val="2C2A55"/>
          </a:solidFill>
          <a:ln/>
        </p:spPr>
      </p:sp>
      <p:sp>
        <p:nvSpPr>
          <p:cNvPr id="32" name="Text 30"/>
          <p:cNvSpPr/>
          <p:nvPr/>
        </p:nvSpPr>
        <p:spPr>
          <a:xfrm>
            <a:off x="958985" y="3892000"/>
            <a:ext cx="514954" cy="220010"/>
          </a:xfrm>
          <a:prstGeom prst="rect">
            <a:avLst/>
          </a:prstGeom>
          <a:noFill/>
          <a:ln/>
        </p:spPr>
        <p:txBody>
          <a:bodyPr wrap="square" lIns="0" tIns="0" rIns="0" bIns="0" rtlCol="0" anchor="ctr"/>
          <a:lstStyle/>
          <a:p>
            <a:pPr algn="ctr"/>
            <a:r>
              <a:rPr lang="en-US" b="1" dirty="0">
                <a:solidFill>
                  <a:srgbClr val="FFFFFF"/>
                </a:solidFill>
                <a:latin typeface="+mj-ea"/>
                <a:ea typeface="+mj-ea"/>
                <a:cs typeface="Arial" pitchFamily="34" charset="-120"/>
              </a:rPr>
              <a:t>7</a:t>
            </a:r>
            <a:endParaRPr lang="en-US" b="1" dirty="0">
              <a:latin typeface="+mj-ea"/>
              <a:ea typeface="+mj-ea"/>
            </a:endParaRPr>
          </a:p>
        </p:txBody>
      </p:sp>
      <p:sp>
        <p:nvSpPr>
          <p:cNvPr id="33" name="Text 31"/>
          <p:cNvSpPr/>
          <p:nvPr/>
        </p:nvSpPr>
        <p:spPr>
          <a:xfrm>
            <a:off x="1617004" y="3792000"/>
            <a:ext cx="6986307" cy="420000"/>
          </a:xfrm>
          <a:prstGeom prst="rect">
            <a:avLst/>
          </a:prstGeom>
          <a:noFill/>
          <a:ln/>
        </p:spPr>
        <p:txBody>
          <a:bodyPr wrap="square" lIns="0" tIns="0" rIns="0" bIns="0" rtlCol="0" anchor="ctr"/>
          <a:lstStyle/>
          <a:p>
            <a:r>
              <a:rPr lang="en-US" sz="1150" b="1" dirty="0">
                <a:solidFill>
                  <a:srgbClr val="2B2740"/>
                </a:solidFill>
                <a:latin typeface="양재튼튼체B" panose="02020603020101020101" pitchFamily="18" charset="-127"/>
                <a:ea typeface="양재튼튼체B" panose="02020603020101020101" pitchFamily="18" charset="-127"/>
                <a:cs typeface="Century Schoolbook" pitchFamily="34" charset="-120"/>
              </a:rPr>
              <a:t>나는 우리 아이가 두 나라를 이어 주는 멋진 사람으로 자랄 것을 믿고 응원하겠습니다</a:t>
            </a:r>
            <a:endParaRPr lang="en-US" sz="1150" b="1" dirty="0">
              <a:latin typeface="양재튼튼체B" panose="02020603020101020101" pitchFamily="18" charset="-127"/>
              <a:ea typeface="양재튼튼체B" panose="02020603020101020101" pitchFamily="18" charset="-127"/>
            </a:endParaRPr>
          </a:p>
          <a:p>
            <a:r>
              <a:rPr lang="en-US" sz="800" dirty="0">
                <a:solidFill>
                  <a:srgbClr val="6B6480"/>
                </a:solidFill>
              </a:rPr>
              <a:t>I trust and cheer that my child will grow into a wonderful person who connects two countries.</a:t>
            </a:r>
          </a:p>
        </p:txBody>
      </p:sp>
      <p:sp>
        <p:nvSpPr>
          <p:cNvPr id="34" name="Shape 32"/>
          <p:cNvSpPr/>
          <p:nvPr/>
        </p:nvSpPr>
        <p:spPr>
          <a:xfrm>
            <a:off x="879782" y="4260000"/>
            <a:ext cx="7384436" cy="400000"/>
          </a:xfrm>
          <a:prstGeom prst="roundRect">
            <a:avLst>
              <a:gd name="adj" fmla="val 10588"/>
            </a:avLst>
          </a:prstGeom>
          <a:solidFill>
            <a:srgbClr val="FBF3E1"/>
          </a:solidFill>
          <a:ln w="12700">
            <a:solidFill>
              <a:srgbClr val="C99A3E"/>
            </a:solidFill>
            <a:prstDash val="solid"/>
          </a:ln>
        </p:spPr>
      </p:sp>
      <p:sp>
        <p:nvSpPr>
          <p:cNvPr id="35" name="Text 33"/>
          <p:cNvSpPr/>
          <p:nvPr/>
        </p:nvSpPr>
        <p:spPr>
          <a:xfrm>
            <a:off x="967787" y="4260000"/>
            <a:ext cx="6972472" cy="400000"/>
          </a:xfrm>
          <a:prstGeom prst="rect">
            <a:avLst/>
          </a:prstGeom>
          <a:noFill/>
          <a:ln/>
        </p:spPr>
        <p:txBody>
          <a:bodyPr wrap="square" lIns="0" tIns="0" rIns="0" bIns="0" rtlCol="0" anchor="ctr"/>
          <a:lstStyle/>
          <a:p>
            <a:pPr algn="ctr"/>
            <a:r>
              <a:rPr lang="en-US" sz="1300" b="1" i="1" dirty="0">
                <a:solidFill>
                  <a:srgbClr val="2C2A55"/>
                </a:solidFill>
                <a:effectLst>
                  <a:outerShdw blurRad="38100" dist="38100" dir="2700000" algn="tl">
                    <a:srgbClr val="000000">
                      <a:alpha val="43137"/>
                    </a:srgbClr>
                  </a:outerShdw>
                </a:effectLst>
                <a:latin typeface="양재튼튼체B" panose="02020603020101020101" pitchFamily="18" charset="-127"/>
                <a:ea typeface="양재튼튼체B" panose="02020603020101020101" pitchFamily="18" charset="-127"/>
                <a:cs typeface="Cambria" pitchFamily="34" charset="-120"/>
              </a:rPr>
              <a:t>“우리 아이의 두 문화는 우리 가족의 힘입니다.”</a:t>
            </a:r>
            <a:endParaRPr lang="en-US" b="1" dirty="0">
              <a:effectLst>
                <a:outerShdw blurRad="38100" dist="38100" dir="2700000" algn="tl">
                  <a:srgbClr val="000000">
                    <a:alpha val="43137"/>
                  </a:srgbClr>
                </a:outerShdw>
              </a:effectLst>
              <a:latin typeface="양재튼튼체B" panose="02020603020101020101" pitchFamily="18" charset="-127"/>
              <a:ea typeface="양재튼튼체B" panose="02020603020101020101" pitchFamily="18" charset="-127"/>
            </a:endParaRPr>
          </a:p>
          <a:p>
            <a:pPr algn="ctr"/>
            <a:r>
              <a:rPr lang="en-US" sz="950" b="1" i="1" dirty="0">
                <a:solidFill>
                  <a:srgbClr val="2C2A55"/>
                </a:solidFill>
              </a:rPr>
              <a:t>Our child’s two cultures are our family’s strength.</a:t>
            </a:r>
          </a:p>
        </p:txBody>
      </p:sp>
      <p:sp>
        <p:nvSpPr>
          <p:cNvPr id="36" name="Shape 34"/>
          <p:cNvSpPr/>
          <p:nvPr/>
        </p:nvSpPr>
        <p:spPr>
          <a:xfrm>
            <a:off x="879782" y="4660000"/>
            <a:ext cx="7384436" cy="0"/>
          </a:xfrm>
          <a:prstGeom prst="line">
            <a:avLst/>
          </a:prstGeom>
          <a:noFill/>
          <a:ln w="9525">
            <a:solidFill>
              <a:srgbClr val="DDD3EE"/>
            </a:solidFill>
            <a:prstDash val="solid"/>
          </a:ln>
        </p:spPr>
      </p:sp>
      <p:sp>
        <p:nvSpPr>
          <p:cNvPr id="38" name="Text 36"/>
          <p:cNvSpPr/>
          <p:nvPr/>
        </p:nvSpPr>
        <p:spPr>
          <a:xfrm>
            <a:off x="879782" y="4879037"/>
            <a:ext cx="7384436" cy="110005"/>
          </a:xfrm>
          <a:prstGeom prst="rect">
            <a:avLst/>
          </a:prstGeom>
          <a:noFill/>
          <a:ln/>
        </p:spPr>
        <p:txBody>
          <a:bodyPr wrap="square" lIns="0" tIns="0" rIns="0" bIns="0" rtlCol="0" anchor="ctr"/>
          <a:lstStyle/>
          <a:p>
            <a:pPr algn="r"/>
            <a:r>
              <a:rPr lang="en-US" sz="1200" b="1" i="1" dirty="0">
                <a:solidFill>
                  <a:srgbClr val="6B6480"/>
                </a:solidFill>
                <a:latin typeface="+mj-ea"/>
                <a:ea typeface="+mj-ea"/>
                <a:cs typeface="Cambria" pitchFamily="34" charset="-120"/>
              </a:rPr>
              <a:t>레위기 19:34 · Leviticus 19:34</a:t>
            </a:r>
            <a:endParaRPr lang="en-US" sz="1200" b="1" dirty="0">
              <a:latin typeface="+mj-ea"/>
              <a:ea typeface="+mj-ea"/>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755589" y="250812"/>
            <a:ext cx="5845858" cy="330015"/>
          </a:xfrm>
          <a:prstGeom prst="rect">
            <a:avLst/>
          </a:prstGeom>
          <a:noFill/>
          <a:ln/>
        </p:spPr>
        <p:txBody>
          <a:bodyPr wrap="square" lIns="0" tIns="0" rIns="0" bIns="0" rtlCol="0" anchor="ctr"/>
          <a:lstStyle/>
          <a:p>
            <a:pPr algn="ctr"/>
            <a:r>
              <a:rPr lang="en-US" sz="2800" b="1" dirty="0">
                <a:solidFill>
                  <a:srgbClr val="2C2A55"/>
                </a:solidFill>
                <a:latin typeface="양재튼튼체B" panose="02020603020101020101" pitchFamily="18" charset="-127"/>
                <a:ea typeface="양재튼튼체B" panose="02020603020101020101" pitchFamily="18" charset="-127"/>
                <a:cs typeface="Cambria" pitchFamily="34" charset="-120"/>
              </a:rPr>
              <a:t>두 문화는 나의 힘</a:t>
            </a:r>
            <a:endParaRPr lang="en-US" sz="2800" dirty="0">
              <a:latin typeface="양재튼튼체B" panose="02020603020101020101" pitchFamily="18" charset="-127"/>
              <a:ea typeface="양재튼튼체B" panose="02020603020101020101" pitchFamily="18" charset="-127"/>
            </a:endParaRPr>
          </a:p>
        </p:txBody>
      </p:sp>
      <p:sp>
        <p:nvSpPr>
          <p:cNvPr id="5" name="Text 3"/>
          <p:cNvSpPr/>
          <p:nvPr/>
        </p:nvSpPr>
        <p:spPr>
          <a:xfrm>
            <a:off x="1755589" y="661028"/>
            <a:ext cx="5845858" cy="176008"/>
          </a:xfrm>
          <a:prstGeom prst="rect">
            <a:avLst/>
          </a:prstGeom>
          <a:noFill/>
          <a:ln/>
        </p:spPr>
        <p:txBody>
          <a:bodyPr wrap="square" lIns="0" tIns="0" rIns="0" bIns="0" rtlCol="0" anchor="ctr"/>
          <a:lstStyle/>
          <a:p>
            <a:pPr algn="ctr"/>
            <a:r>
              <a:rPr lang="en-US" sz="1200" dirty="0">
                <a:solidFill>
                  <a:srgbClr val="6B6480"/>
                </a:solidFill>
                <a:latin typeface="Arial" pitchFamily="34" charset="0"/>
                <a:ea typeface="Arial" pitchFamily="34" charset="-122"/>
                <a:cs typeface="Arial" pitchFamily="34" charset="-120"/>
              </a:rPr>
              <a:t>다문화 아이 일곱 가지 다짐</a:t>
            </a:r>
            <a:endParaRPr lang="en-US" sz="1200" dirty="0"/>
          </a:p>
          <a:p>
            <a:pPr algn="ctr"/>
            <a:r>
              <a:rPr lang="en-US" sz="850" dirty="0">
                <a:solidFill>
                  <a:srgbClr val="6B6480"/>
                </a:solidFill>
              </a:rPr>
              <a:t>Seven Promises of Multicultural Children</a:t>
            </a:r>
          </a:p>
        </p:txBody>
      </p:sp>
      <p:sp>
        <p:nvSpPr>
          <p:cNvPr id="6" name="Shape 4"/>
          <p:cNvSpPr/>
          <p:nvPr/>
        </p:nvSpPr>
        <p:spPr>
          <a:xfrm>
            <a:off x="1460775" y="1080000"/>
            <a:ext cx="6815917" cy="420000"/>
          </a:xfrm>
          <a:prstGeom prst="roundRect">
            <a:avLst>
              <a:gd name="adj" fmla="val 11538"/>
            </a:avLst>
          </a:prstGeom>
          <a:solidFill>
            <a:srgbClr val="FFFFFF"/>
          </a:solidFill>
          <a:ln/>
          <a:effectLst>
            <a:outerShdw blurRad="63500" dist="25400" dir="5400000" algn="bl" rotWithShape="0">
              <a:srgbClr val="3A2E66">
                <a:alpha val="10000"/>
              </a:srgbClr>
            </a:outerShdw>
          </a:effectLst>
        </p:spPr>
      </p:sp>
      <p:sp>
        <p:nvSpPr>
          <p:cNvPr id="7" name="Shape 5"/>
          <p:cNvSpPr/>
          <p:nvPr/>
        </p:nvSpPr>
        <p:spPr>
          <a:xfrm>
            <a:off x="1539979" y="1180000"/>
            <a:ext cx="475308" cy="220010"/>
          </a:xfrm>
          <a:prstGeom prst="ellipse">
            <a:avLst/>
          </a:prstGeom>
          <a:solidFill>
            <a:srgbClr val="2C2A55"/>
          </a:solidFill>
          <a:ln/>
        </p:spPr>
      </p:sp>
      <p:sp>
        <p:nvSpPr>
          <p:cNvPr id="8" name="Text 6"/>
          <p:cNvSpPr/>
          <p:nvPr/>
        </p:nvSpPr>
        <p:spPr>
          <a:xfrm>
            <a:off x="1539979" y="1180000"/>
            <a:ext cx="475308" cy="220010"/>
          </a:xfrm>
          <a:prstGeom prst="rect">
            <a:avLst/>
          </a:prstGeom>
          <a:noFill/>
          <a:ln/>
        </p:spPr>
        <p:txBody>
          <a:bodyPr wrap="square" lIns="0" tIns="0" rIns="0" bIns="0" rtlCol="0" anchor="ctr"/>
          <a:lstStyle/>
          <a:p>
            <a:pPr algn="ct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9" name="Text 7"/>
          <p:cNvSpPr/>
          <p:nvPr/>
        </p:nvSpPr>
        <p:spPr>
          <a:xfrm>
            <a:off x="2237104" y="1080000"/>
            <a:ext cx="5817770" cy="420000"/>
          </a:xfrm>
          <a:prstGeom prst="rect">
            <a:avLst/>
          </a:prstGeom>
          <a:noFill/>
          <a:ln/>
        </p:spPr>
        <p:txBody>
          <a:bodyPr wrap="square" lIns="0" tIns="0" rIns="0" bIns="0" rtlCol="0" anchor="ctr"/>
          <a:lstStyle/>
          <a:p>
            <a:r>
              <a:rPr lang="en-US" sz="1150" b="1" dirty="0">
                <a:solidFill>
                  <a:srgbClr val="2B2740"/>
                </a:solidFill>
                <a:latin typeface="양재튼튼체B" panose="02020603020101020101" pitchFamily="18" charset="-127"/>
                <a:ea typeface="양재튼튼체B" panose="02020603020101020101" pitchFamily="18" charset="-127"/>
                <a:cs typeface="Century Schoolbook" pitchFamily="34" charset="-120"/>
              </a:rPr>
              <a:t>나는 엄마 나라와 아빠 나라를 모두 사랑해요</a:t>
            </a:r>
            <a:endParaRPr lang="en-US" sz="1150" dirty="0">
              <a:latin typeface="양재튼튼체B" panose="02020603020101020101" pitchFamily="18" charset="-127"/>
              <a:ea typeface="양재튼튼체B" panose="02020603020101020101" pitchFamily="18" charset="-127"/>
            </a:endParaRPr>
          </a:p>
          <a:p>
            <a:r>
              <a:rPr lang="en-US" sz="800" dirty="0">
                <a:solidFill>
                  <a:srgbClr val="6B6480"/>
                </a:solidFill>
              </a:rPr>
              <a:t>I love both Mom’s country and Dad’s country.</a:t>
            </a:r>
          </a:p>
        </p:txBody>
      </p:sp>
      <p:sp>
        <p:nvSpPr>
          <p:cNvPr id="10" name="Shape 8"/>
          <p:cNvSpPr/>
          <p:nvPr/>
        </p:nvSpPr>
        <p:spPr>
          <a:xfrm>
            <a:off x="1460775" y="1532000"/>
            <a:ext cx="6815917" cy="420000"/>
          </a:xfrm>
          <a:prstGeom prst="roundRect">
            <a:avLst>
              <a:gd name="adj" fmla="val 11538"/>
            </a:avLst>
          </a:prstGeom>
          <a:solidFill>
            <a:srgbClr val="FFFFFF"/>
          </a:solidFill>
          <a:ln/>
          <a:effectLst>
            <a:outerShdw blurRad="63500" dist="25400" dir="5400000" algn="bl" rotWithShape="0">
              <a:srgbClr val="3A2E66">
                <a:alpha val="10000"/>
              </a:srgbClr>
            </a:outerShdw>
          </a:effectLst>
        </p:spPr>
      </p:sp>
      <p:sp>
        <p:nvSpPr>
          <p:cNvPr id="11" name="Shape 9"/>
          <p:cNvSpPr/>
          <p:nvPr/>
        </p:nvSpPr>
        <p:spPr>
          <a:xfrm>
            <a:off x="1539979" y="1632000"/>
            <a:ext cx="475308" cy="220010"/>
          </a:xfrm>
          <a:prstGeom prst="ellipse">
            <a:avLst/>
          </a:prstGeom>
          <a:solidFill>
            <a:srgbClr val="2C2A55"/>
          </a:solidFill>
          <a:ln/>
        </p:spPr>
      </p:sp>
      <p:sp>
        <p:nvSpPr>
          <p:cNvPr id="12" name="Text 10"/>
          <p:cNvSpPr/>
          <p:nvPr/>
        </p:nvSpPr>
        <p:spPr>
          <a:xfrm>
            <a:off x="1539979" y="1632000"/>
            <a:ext cx="475308" cy="220010"/>
          </a:xfrm>
          <a:prstGeom prst="rect">
            <a:avLst/>
          </a:prstGeom>
          <a:noFill/>
          <a:ln/>
        </p:spPr>
        <p:txBody>
          <a:bodyPr wrap="square" lIns="0" tIns="0" rIns="0" bIns="0" rtlCol="0" anchor="ctr"/>
          <a:lstStyle/>
          <a:p>
            <a:pPr algn="ct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3" name="Text 11"/>
          <p:cNvSpPr/>
          <p:nvPr/>
        </p:nvSpPr>
        <p:spPr>
          <a:xfrm>
            <a:off x="2237104" y="1532000"/>
            <a:ext cx="5817770" cy="420000"/>
          </a:xfrm>
          <a:prstGeom prst="rect">
            <a:avLst/>
          </a:prstGeom>
          <a:noFill/>
          <a:ln/>
        </p:spPr>
        <p:txBody>
          <a:bodyPr wrap="square" lIns="0" tIns="0" rIns="0" bIns="0" rtlCol="0" anchor="ctr"/>
          <a:lstStyle/>
          <a:p>
            <a:r>
              <a:rPr lang="en-US" sz="1150" b="1" dirty="0">
                <a:solidFill>
                  <a:srgbClr val="2B2740"/>
                </a:solidFill>
                <a:latin typeface="양재튼튼체B" panose="02020603020101020101" pitchFamily="18" charset="-127"/>
                <a:ea typeface="양재튼튼체B" panose="02020603020101020101" pitchFamily="18" charset="-127"/>
                <a:cs typeface="Century Schoolbook" pitchFamily="34" charset="-120"/>
              </a:rPr>
              <a:t>나는 두 나라 말을 할 수 있어서 참 자랑스러워요</a:t>
            </a:r>
            <a:endParaRPr lang="en-US" sz="1150" dirty="0">
              <a:latin typeface="양재튼튼체B" panose="02020603020101020101" pitchFamily="18" charset="-127"/>
              <a:ea typeface="양재튼튼체B" panose="02020603020101020101" pitchFamily="18" charset="-127"/>
            </a:endParaRPr>
          </a:p>
          <a:p>
            <a:r>
              <a:rPr lang="en-US" sz="800" dirty="0">
                <a:solidFill>
                  <a:srgbClr val="6B6480"/>
                </a:solidFill>
              </a:rPr>
              <a:t>I am proud that I can speak two languages.</a:t>
            </a:r>
          </a:p>
        </p:txBody>
      </p:sp>
      <p:sp>
        <p:nvSpPr>
          <p:cNvPr id="14" name="Shape 12"/>
          <p:cNvSpPr/>
          <p:nvPr/>
        </p:nvSpPr>
        <p:spPr>
          <a:xfrm>
            <a:off x="1460775" y="1984000"/>
            <a:ext cx="6815917" cy="420000"/>
          </a:xfrm>
          <a:prstGeom prst="roundRect">
            <a:avLst>
              <a:gd name="adj" fmla="val 11538"/>
            </a:avLst>
          </a:prstGeom>
          <a:solidFill>
            <a:srgbClr val="FFFFFF"/>
          </a:solidFill>
          <a:ln/>
          <a:effectLst>
            <a:outerShdw blurRad="63500" dist="25400" dir="5400000" algn="bl" rotWithShape="0">
              <a:srgbClr val="3A2E66">
                <a:alpha val="10000"/>
              </a:srgbClr>
            </a:outerShdw>
          </a:effectLst>
        </p:spPr>
      </p:sp>
      <p:sp>
        <p:nvSpPr>
          <p:cNvPr id="15" name="Shape 13"/>
          <p:cNvSpPr/>
          <p:nvPr/>
        </p:nvSpPr>
        <p:spPr>
          <a:xfrm>
            <a:off x="1539979" y="2084000"/>
            <a:ext cx="475308" cy="220010"/>
          </a:xfrm>
          <a:prstGeom prst="ellipse">
            <a:avLst/>
          </a:prstGeom>
          <a:solidFill>
            <a:srgbClr val="2C2A55"/>
          </a:solidFill>
          <a:ln/>
        </p:spPr>
      </p:sp>
      <p:sp>
        <p:nvSpPr>
          <p:cNvPr id="16" name="Text 14"/>
          <p:cNvSpPr/>
          <p:nvPr/>
        </p:nvSpPr>
        <p:spPr>
          <a:xfrm>
            <a:off x="1539979" y="2084000"/>
            <a:ext cx="475308" cy="220010"/>
          </a:xfrm>
          <a:prstGeom prst="rect">
            <a:avLst/>
          </a:prstGeom>
          <a:noFill/>
          <a:ln/>
        </p:spPr>
        <p:txBody>
          <a:bodyPr wrap="square" lIns="0" tIns="0" rIns="0" bIns="0" rtlCol="0" anchor="ctr"/>
          <a:lstStyle/>
          <a:p>
            <a:pPr algn="ct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7" name="Text 15"/>
          <p:cNvSpPr/>
          <p:nvPr/>
        </p:nvSpPr>
        <p:spPr>
          <a:xfrm>
            <a:off x="2237104" y="1984000"/>
            <a:ext cx="5817770" cy="420000"/>
          </a:xfrm>
          <a:prstGeom prst="rect">
            <a:avLst/>
          </a:prstGeom>
          <a:noFill/>
          <a:ln/>
        </p:spPr>
        <p:txBody>
          <a:bodyPr wrap="square" lIns="0" tIns="0" rIns="0" bIns="0" rtlCol="0" anchor="ctr"/>
          <a:lstStyle/>
          <a:p>
            <a:r>
              <a:rPr lang="en-US" sz="1150" b="1" dirty="0">
                <a:solidFill>
                  <a:srgbClr val="2B2740"/>
                </a:solidFill>
                <a:latin typeface="양재튼튼체B" panose="02020603020101020101" pitchFamily="18" charset="-127"/>
                <a:ea typeface="양재튼튼체B" panose="02020603020101020101" pitchFamily="18" charset="-127"/>
                <a:cs typeface="Century Schoolbook" pitchFamily="34" charset="-120"/>
              </a:rPr>
              <a:t>나는 지금 이 모습 그대로 소중한 아이예요</a:t>
            </a:r>
            <a:endParaRPr lang="en-US" sz="1150" dirty="0">
              <a:latin typeface="양재튼튼체B" panose="02020603020101020101" pitchFamily="18" charset="-127"/>
              <a:ea typeface="양재튼튼체B" panose="02020603020101020101" pitchFamily="18" charset="-127"/>
            </a:endParaRPr>
          </a:p>
          <a:p>
            <a:r>
              <a:rPr lang="en-US" sz="800" dirty="0">
                <a:solidFill>
                  <a:srgbClr val="6B6480"/>
                </a:solidFill>
              </a:rPr>
              <a:t>I am precious just as I am.</a:t>
            </a:r>
          </a:p>
        </p:txBody>
      </p:sp>
      <p:sp>
        <p:nvSpPr>
          <p:cNvPr id="18" name="Shape 16"/>
          <p:cNvSpPr/>
          <p:nvPr/>
        </p:nvSpPr>
        <p:spPr>
          <a:xfrm>
            <a:off x="1460775" y="2436000"/>
            <a:ext cx="6815917" cy="420000"/>
          </a:xfrm>
          <a:prstGeom prst="roundRect">
            <a:avLst>
              <a:gd name="adj" fmla="val 11538"/>
            </a:avLst>
          </a:prstGeom>
          <a:solidFill>
            <a:srgbClr val="FFFFFF"/>
          </a:solidFill>
          <a:ln/>
          <a:effectLst>
            <a:outerShdw blurRad="63500" dist="25400" dir="5400000" algn="bl" rotWithShape="0">
              <a:srgbClr val="3A2E66">
                <a:alpha val="10000"/>
              </a:srgbClr>
            </a:outerShdw>
          </a:effectLst>
        </p:spPr>
      </p:sp>
      <p:sp>
        <p:nvSpPr>
          <p:cNvPr id="19" name="Shape 17"/>
          <p:cNvSpPr/>
          <p:nvPr/>
        </p:nvSpPr>
        <p:spPr>
          <a:xfrm>
            <a:off x="1539979" y="2536000"/>
            <a:ext cx="475308" cy="220010"/>
          </a:xfrm>
          <a:prstGeom prst="ellipse">
            <a:avLst/>
          </a:prstGeom>
          <a:solidFill>
            <a:srgbClr val="2C2A55"/>
          </a:solidFill>
          <a:ln/>
        </p:spPr>
      </p:sp>
      <p:sp>
        <p:nvSpPr>
          <p:cNvPr id="20" name="Text 18"/>
          <p:cNvSpPr/>
          <p:nvPr/>
        </p:nvSpPr>
        <p:spPr>
          <a:xfrm>
            <a:off x="1539979" y="2536000"/>
            <a:ext cx="475308" cy="220010"/>
          </a:xfrm>
          <a:prstGeom prst="rect">
            <a:avLst/>
          </a:prstGeom>
          <a:noFill/>
          <a:ln/>
        </p:spPr>
        <p:txBody>
          <a:bodyPr wrap="square" lIns="0" tIns="0" rIns="0" bIns="0" rtlCol="0" anchor="ctr"/>
          <a:lstStyle/>
          <a:p>
            <a:pPr algn="ct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1" name="Text 19"/>
          <p:cNvSpPr/>
          <p:nvPr/>
        </p:nvSpPr>
        <p:spPr>
          <a:xfrm>
            <a:off x="2237104" y="2436000"/>
            <a:ext cx="5817770" cy="420000"/>
          </a:xfrm>
          <a:prstGeom prst="rect">
            <a:avLst/>
          </a:prstGeom>
          <a:noFill/>
          <a:ln/>
        </p:spPr>
        <p:txBody>
          <a:bodyPr wrap="square" lIns="0" tIns="0" rIns="0" bIns="0" rtlCol="0" anchor="ctr"/>
          <a:lstStyle/>
          <a:p>
            <a:r>
              <a:rPr lang="en-US" sz="1150" b="1" dirty="0">
                <a:solidFill>
                  <a:srgbClr val="2B2740"/>
                </a:solidFill>
                <a:latin typeface="양재튼튼체B" panose="02020603020101020101" pitchFamily="18" charset="-127"/>
                <a:ea typeface="양재튼튼체B" panose="02020603020101020101" pitchFamily="18" charset="-127"/>
                <a:cs typeface="Century Schoolbook" pitchFamily="34" charset="-120"/>
              </a:rPr>
              <a:t>나는 나와 다른 친구도 존중해요</a:t>
            </a:r>
            <a:endParaRPr lang="en-US" sz="1150" dirty="0">
              <a:latin typeface="양재튼튼체B" panose="02020603020101020101" pitchFamily="18" charset="-127"/>
              <a:ea typeface="양재튼튼체B" panose="02020603020101020101" pitchFamily="18" charset="-127"/>
            </a:endParaRPr>
          </a:p>
          <a:p>
            <a:r>
              <a:rPr lang="en-US" sz="800" dirty="0">
                <a:solidFill>
                  <a:srgbClr val="6B6480"/>
                </a:solidFill>
              </a:rPr>
              <a:t>I respect friends who are different from me.</a:t>
            </a:r>
          </a:p>
        </p:txBody>
      </p:sp>
      <p:sp>
        <p:nvSpPr>
          <p:cNvPr id="22" name="Shape 20"/>
          <p:cNvSpPr/>
          <p:nvPr/>
        </p:nvSpPr>
        <p:spPr>
          <a:xfrm>
            <a:off x="1460775" y="2888000"/>
            <a:ext cx="6815917" cy="420000"/>
          </a:xfrm>
          <a:prstGeom prst="roundRect">
            <a:avLst>
              <a:gd name="adj" fmla="val 11538"/>
            </a:avLst>
          </a:prstGeom>
          <a:solidFill>
            <a:srgbClr val="FFFFFF"/>
          </a:solidFill>
          <a:ln/>
          <a:effectLst>
            <a:outerShdw blurRad="63500" dist="25400" dir="5400000" algn="bl" rotWithShape="0">
              <a:srgbClr val="3A2E66">
                <a:alpha val="10000"/>
              </a:srgbClr>
            </a:outerShdw>
          </a:effectLst>
        </p:spPr>
      </p:sp>
      <p:sp>
        <p:nvSpPr>
          <p:cNvPr id="23" name="Shape 21"/>
          <p:cNvSpPr/>
          <p:nvPr/>
        </p:nvSpPr>
        <p:spPr>
          <a:xfrm>
            <a:off x="1539979" y="2988000"/>
            <a:ext cx="475308" cy="220010"/>
          </a:xfrm>
          <a:prstGeom prst="ellipse">
            <a:avLst/>
          </a:prstGeom>
          <a:solidFill>
            <a:srgbClr val="2C2A55"/>
          </a:solidFill>
          <a:ln/>
        </p:spPr>
      </p:sp>
      <p:sp>
        <p:nvSpPr>
          <p:cNvPr id="24" name="Text 22"/>
          <p:cNvSpPr/>
          <p:nvPr/>
        </p:nvSpPr>
        <p:spPr>
          <a:xfrm>
            <a:off x="1539979" y="2988000"/>
            <a:ext cx="475308" cy="220010"/>
          </a:xfrm>
          <a:prstGeom prst="rect">
            <a:avLst/>
          </a:prstGeom>
          <a:noFill/>
          <a:ln/>
        </p:spPr>
        <p:txBody>
          <a:bodyPr wrap="square" lIns="0" tIns="0" rIns="0" bIns="0" rtlCol="0" anchor="ctr"/>
          <a:lstStyle/>
          <a:p>
            <a:pPr algn="ct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5" name="Text 23"/>
          <p:cNvSpPr/>
          <p:nvPr/>
        </p:nvSpPr>
        <p:spPr>
          <a:xfrm>
            <a:off x="2237104" y="2888000"/>
            <a:ext cx="5817770" cy="420000"/>
          </a:xfrm>
          <a:prstGeom prst="rect">
            <a:avLst/>
          </a:prstGeom>
          <a:noFill/>
          <a:ln/>
        </p:spPr>
        <p:txBody>
          <a:bodyPr wrap="square" lIns="0" tIns="0" rIns="0" bIns="0" rtlCol="0" anchor="ctr"/>
          <a:lstStyle/>
          <a:p>
            <a:r>
              <a:rPr lang="en-US" sz="1150" b="1" dirty="0">
                <a:solidFill>
                  <a:srgbClr val="2B2740"/>
                </a:solidFill>
                <a:latin typeface="양재튼튼체B" panose="02020603020101020101" pitchFamily="18" charset="-127"/>
                <a:ea typeface="양재튼튼체B" panose="02020603020101020101" pitchFamily="18" charset="-127"/>
                <a:cs typeface="Century Schoolbook" pitchFamily="34" charset="-120"/>
              </a:rPr>
              <a:t>누가 뭐라고 해도 나는 씩씩하고 자신 있어요</a:t>
            </a:r>
            <a:endParaRPr lang="en-US" sz="1150" dirty="0">
              <a:latin typeface="양재튼튼체B" panose="02020603020101020101" pitchFamily="18" charset="-127"/>
              <a:ea typeface="양재튼튼체B" panose="02020603020101020101" pitchFamily="18" charset="-127"/>
            </a:endParaRPr>
          </a:p>
          <a:p>
            <a:r>
              <a:rPr lang="en-US" sz="800" dirty="0">
                <a:solidFill>
                  <a:srgbClr val="6B6480"/>
                </a:solidFill>
              </a:rPr>
              <a:t>No matter what anyone says, I am brave and confident.</a:t>
            </a:r>
          </a:p>
        </p:txBody>
      </p:sp>
      <p:sp>
        <p:nvSpPr>
          <p:cNvPr id="26" name="Shape 24"/>
          <p:cNvSpPr/>
          <p:nvPr/>
        </p:nvSpPr>
        <p:spPr>
          <a:xfrm>
            <a:off x="1460775" y="3340000"/>
            <a:ext cx="6815917" cy="420000"/>
          </a:xfrm>
          <a:prstGeom prst="roundRect">
            <a:avLst>
              <a:gd name="adj" fmla="val 11538"/>
            </a:avLst>
          </a:prstGeom>
          <a:solidFill>
            <a:srgbClr val="FFFFFF"/>
          </a:solidFill>
          <a:ln/>
          <a:effectLst>
            <a:outerShdw blurRad="63500" dist="25400" dir="5400000" algn="bl" rotWithShape="0">
              <a:srgbClr val="3A2E66">
                <a:alpha val="10000"/>
              </a:srgbClr>
            </a:outerShdw>
          </a:effectLst>
        </p:spPr>
      </p:sp>
      <p:sp>
        <p:nvSpPr>
          <p:cNvPr id="27" name="Shape 25"/>
          <p:cNvSpPr/>
          <p:nvPr/>
        </p:nvSpPr>
        <p:spPr>
          <a:xfrm>
            <a:off x="1539979" y="3440000"/>
            <a:ext cx="475308" cy="220010"/>
          </a:xfrm>
          <a:prstGeom prst="ellipse">
            <a:avLst/>
          </a:prstGeom>
          <a:solidFill>
            <a:srgbClr val="2C2A55"/>
          </a:solidFill>
          <a:ln/>
        </p:spPr>
      </p:sp>
      <p:sp>
        <p:nvSpPr>
          <p:cNvPr id="28" name="Text 26"/>
          <p:cNvSpPr/>
          <p:nvPr/>
        </p:nvSpPr>
        <p:spPr>
          <a:xfrm>
            <a:off x="1539979" y="3440000"/>
            <a:ext cx="475308" cy="220010"/>
          </a:xfrm>
          <a:prstGeom prst="rect">
            <a:avLst/>
          </a:prstGeom>
          <a:noFill/>
          <a:ln/>
        </p:spPr>
        <p:txBody>
          <a:bodyPr wrap="square" lIns="0" tIns="0" rIns="0" bIns="0" rtlCol="0" anchor="ctr"/>
          <a:lstStyle/>
          <a:p>
            <a:pPr algn="ct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9" name="Text 27"/>
          <p:cNvSpPr/>
          <p:nvPr/>
        </p:nvSpPr>
        <p:spPr>
          <a:xfrm>
            <a:off x="2199882" y="3340000"/>
            <a:ext cx="5817770" cy="420000"/>
          </a:xfrm>
          <a:prstGeom prst="rect">
            <a:avLst/>
          </a:prstGeom>
          <a:noFill/>
          <a:ln/>
        </p:spPr>
        <p:txBody>
          <a:bodyPr wrap="square" lIns="0" tIns="0" rIns="0" bIns="0" rtlCol="0" anchor="ctr"/>
          <a:lstStyle/>
          <a:p>
            <a:r>
              <a:rPr lang="en-US" sz="1150" b="1" dirty="0">
                <a:solidFill>
                  <a:srgbClr val="2B2740"/>
                </a:solidFill>
                <a:latin typeface="양재튼튼체B" panose="02020603020101020101" pitchFamily="18" charset="-127"/>
                <a:ea typeface="양재튼튼체B" panose="02020603020101020101" pitchFamily="18" charset="-127"/>
                <a:cs typeface="Century Schoolbook" pitchFamily="34" charset="-120"/>
              </a:rPr>
              <a:t>힘들거나 속상하면 엄마, 아빠, 선생님께 이야기해요</a:t>
            </a:r>
            <a:endParaRPr lang="en-US" sz="1150" dirty="0">
              <a:latin typeface="양재튼튼체B" panose="02020603020101020101" pitchFamily="18" charset="-127"/>
              <a:ea typeface="양재튼튼체B" panose="02020603020101020101" pitchFamily="18" charset="-127"/>
            </a:endParaRPr>
          </a:p>
          <a:p>
            <a:r>
              <a:rPr lang="en-US" sz="800" dirty="0">
                <a:solidFill>
                  <a:srgbClr val="6B6480"/>
                </a:solidFill>
              </a:rPr>
              <a:t>When I feel sad or upset, I talk to Mom, Dad, or my teacher.</a:t>
            </a:r>
          </a:p>
        </p:txBody>
      </p:sp>
      <p:sp>
        <p:nvSpPr>
          <p:cNvPr id="30" name="Shape 28"/>
          <p:cNvSpPr/>
          <p:nvPr/>
        </p:nvSpPr>
        <p:spPr>
          <a:xfrm>
            <a:off x="1460775" y="3792000"/>
            <a:ext cx="6815917" cy="420000"/>
          </a:xfrm>
          <a:prstGeom prst="roundRect">
            <a:avLst>
              <a:gd name="adj" fmla="val 11538"/>
            </a:avLst>
          </a:prstGeom>
          <a:solidFill>
            <a:srgbClr val="FFFFFF"/>
          </a:solidFill>
          <a:ln/>
          <a:effectLst>
            <a:outerShdw blurRad="63500" dist="25400" dir="5400000" algn="bl" rotWithShape="0">
              <a:srgbClr val="3A2E66">
                <a:alpha val="10000"/>
              </a:srgbClr>
            </a:outerShdw>
          </a:effectLst>
        </p:spPr>
      </p:sp>
      <p:sp>
        <p:nvSpPr>
          <p:cNvPr id="31" name="Shape 29"/>
          <p:cNvSpPr/>
          <p:nvPr/>
        </p:nvSpPr>
        <p:spPr>
          <a:xfrm>
            <a:off x="1539979" y="3892000"/>
            <a:ext cx="475308" cy="220010"/>
          </a:xfrm>
          <a:prstGeom prst="ellipse">
            <a:avLst/>
          </a:prstGeom>
          <a:solidFill>
            <a:srgbClr val="2C2A55"/>
          </a:solidFill>
          <a:ln/>
        </p:spPr>
      </p:sp>
      <p:sp>
        <p:nvSpPr>
          <p:cNvPr id="32" name="Text 30"/>
          <p:cNvSpPr/>
          <p:nvPr/>
        </p:nvSpPr>
        <p:spPr>
          <a:xfrm>
            <a:off x="1539979" y="3892000"/>
            <a:ext cx="475308" cy="220010"/>
          </a:xfrm>
          <a:prstGeom prst="rect">
            <a:avLst/>
          </a:prstGeom>
          <a:noFill/>
          <a:ln/>
        </p:spPr>
        <p:txBody>
          <a:bodyPr wrap="square" lIns="0" tIns="0" rIns="0" bIns="0" rtlCol="0" anchor="ctr"/>
          <a:lstStyle/>
          <a:p>
            <a:pPr algn="ctr"/>
            <a:r>
              <a:rPr lang="en-US" sz="1400" b="1" dirty="0">
                <a:solidFill>
                  <a:srgbClr val="FFFFFF"/>
                </a:solidFill>
                <a:latin typeface="Arial" pitchFamily="34" charset="0"/>
                <a:ea typeface="Arial" pitchFamily="34" charset="-122"/>
                <a:cs typeface="Arial" pitchFamily="34" charset="-120"/>
              </a:rPr>
              <a:t>7</a:t>
            </a:r>
            <a:endParaRPr lang="en-US" sz="1400" dirty="0"/>
          </a:p>
        </p:txBody>
      </p:sp>
      <p:sp>
        <p:nvSpPr>
          <p:cNvPr id="33" name="Text 31"/>
          <p:cNvSpPr/>
          <p:nvPr/>
        </p:nvSpPr>
        <p:spPr>
          <a:xfrm>
            <a:off x="2237104" y="3792000"/>
            <a:ext cx="5817770" cy="420000"/>
          </a:xfrm>
          <a:prstGeom prst="rect">
            <a:avLst/>
          </a:prstGeom>
          <a:noFill/>
          <a:ln/>
        </p:spPr>
        <p:txBody>
          <a:bodyPr wrap="square" lIns="0" tIns="0" rIns="0" bIns="0" rtlCol="0" anchor="ctr"/>
          <a:lstStyle/>
          <a:p>
            <a:r>
              <a:rPr lang="en-US" sz="1150" b="1" dirty="0">
                <a:solidFill>
                  <a:srgbClr val="2B2740"/>
                </a:solidFill>
                <a:latin typeface="양재튼튼체B" panose="02020603020101020101" pitchFamily="18" charset="-127"/>
                <a:ea typeface="양재튼튼체B" panose="02020603020101020101" pitchFamily="18" charset="-127"/>
                <a:cs typeface="Century Schoolbook" pitchFamily="34" charset="-120"/>
              </a:rPr>
              <a:t>나는 두 나라를 이어 주는 멋진 사람이 될 거예요</a:t>
            </a:r>
            <a:endParaRPr lang="en-US" sz="1150" dirty="0">
              <a:latin typeface="양재튼튼체B" panose="02020603020101020101" pitchFamily="18" charset="-127"/>
              <a:ea typeface="양재튼튼체B" panose="02020603020101020101" pitchFamily="18" charset="-127"/>
            </a:endParaRPr>
          </a:p>
          <a:p>
            <a:r>
              <a:rPr lang="en-US" sz="800" dirty="0">
                <a:solidFill>
                  <a:srgbClr val="6B6480"/>
                </a:solidFill>
              </a:rPr>
              <a:t>I will become a wonderful person who connects two countries.</a:t>
            </a:r>
          </a:p>
        </p:txBody>
      </p:sp>
      <p:sp>
        <p:nvSpPr>
          <p:cNvPr id="34" name="Shape 32"/>
          <p:cNvSpPr/>
          <p:nvPr/>
        </p:nvSpPr>
        <p:spPr>
          <a:xfrm>
            <a:off x="1460775" y="4260000"/>
            <a:ext cx="6815917" cy="400000"/>
          </a:xfrm>
          <a:prstGeom prst="roundRect">
            <a:avLst>
              <a:gd name="adj" fmla="val 10588"/>
            </a:avLst>
          </a:prstGeom>
          <a:solidFill>
            <a:srgbClr val="FBF3E1"/>
          </a:solidFill>
          <a:ln w="12700">
            <a:solidFill>
              <a:srgbClr val="C99A3E"/>
            </a:solidFill>
            <a:prstDash val="solid"/>
          </a:ln>
        </p:spPr>
      </p:sp>
      <p:sp>
        <p:nvSpPr>
          <p:cNvPr id="35" name="Text 33"/>
          <p:cNvSpPr/>
          <p:nvPr/>
        </p:nvSpPr>
        <p:spPr>
          <a:xfrm>
            <a:off x="1548780" y="4260000"/>
            <a:ext cx="6435670" cy="400000"/>
          </a:xfrm>
          <a:prstGeom prst="rect">
            <a:avLst/>
          </a:prstGeom>
          <a:noFill/>
          <a:ln/>
        </p:spPr>
        <p:txBody>
          <a:bodyPr wrap="square" lIns="0" tIns="0" rIns="0" bIns="0" rtlCol="0" anchor="ctr"/>
          <a:lstStyle/>
          <a:p>
            <a:pPr algn="ctr"/>
            <a:r>
              <a:rPr lang="en-US" sz="1300" b="1" i="1" dirty="0">
                <a:solidFill>
                  <a:srgbClr val="2C2A55"/>
                </a:solidFill>
                <a:effectLst>
                  <a:outerShdw blurRad="38100" dist="38100" dir="2700000" algn="tl">
                    <a:srgbClr val="000000">
                      <a:alpha val="43137"/>
                    </a:srgbClr>
                  </a:outerShdw>
                </a:effectLst>
                <a:latin typeface="양재튼튼체B" panose="02020603020101020101" pitchFamily="18" charset="-127"/>
                <a:ea typeface="양재튼튼체B" panose="02020603020101020101" pitchFamily="18" charset="-127"/>
                <a:cs typeface="Cambria" pitchFamily="34" charset="-120"/>
              </a:rPr>
              <a:t>“두 문화 모두 내 것이고, 둘 다 소중해요.”</a:t>
            </a:r>
            <a:endParaRPr lang="en-US" dirty="0">
              <a:effectLst>
                <a:outerShdw blurRad="38100" dist="38100" dir="2700000" algn="tl">
                  <a:srgbClr val="000000">
                    <a:alpha val="43137"/>
                  </a:srgbClr>
                </a:outerShdw>
              </a:effectLst>
              <a:latin typeface="양재튼튼체B" panose="02020603020101020101" pitchFamily="18" charset="-127"/>
              <a:ea typeface="양재튼튼체B" panose="02020603020101020101" pitchFamily="18" charset="-127"/>
            </a:endParaRPr>
          </a:p>
          <a:p>
            <a:pPr algn="ctr"/>
            <a:r>
              <a:rPr lang="en-US" sz="950" b="1" i="1" dirty="0">
                <a:solidFill>
                  <a:srgbClr val="2C2A55"/>
                </a:solidFill>
              </a:rPr>
              <a:t>Both cultures are mine, and both are precious.</a:t>
            </a:r>
          </a:p>
        </p:txBody>
      </p:sp>
      <p:sp>
        <p:nvSpPr>
          <p:cNvPr id="36" name="Shape 34"/>
          <p:cNvSpPr/>
          <p:nvPr/>
        </p:nvSpPr>
        <p:spPr>
          <a:xfrm>
            <a:off x="1460775" y="4660000"/>
            <a:ext cx="6815917" cy="0"/>
          </a:xfrm>
          <a:prstGeom prst="line">
            <a:avLst/>
          </a:prstGeom>
          <a:noFill/>
          <a:ln w="9525">
            <a:solidFill>
              <a:srgbClr val="DDD3EE"/>
            </a:solidFill>
            <a:prstDash val="solid"/>
          </a:ln>
        </p:spPr>
      </p:sp>
      <p:sp>
        <p:nvSpPr>
          <p:cNvPr id="38" name="Text 36"/>
          <p:cNvSpPr/>
          <p:nvPr/>
        </p:nvSpPr>
        <p:spPr>
          <a:xfrm>
            <a:off x="1460775" y="4810418"/>
            <a:ext cx="6815917" cy="110005"/>
          </a:xfrm>
          <a:prstGeom prst="rect">
            <a:avLst/>
          </a:prstGeom>
          <a:noFill/>
          <a:ln/>
        </p:spPr>
        <p:txBody>
          <a:bodyPr wrap="square" lIns="0" tIns="0" rIns="0" bIns="0" rtlCol="0" anchor="ctr"/>
          <a:lstStyle/>
          <a:p>
            <a:pPr algn="r"/>
            <a:r>
              <a:rPr lang="en-US" sz="1050" i="1" dirty="0">
                <a:solidFill>
                  <a:srgbClr val="6B6480"/>
                </a:solidFill>
                <a:latin typeface="Cambria" pitchFamily="34" charset="0"/>
                <a:ea typeface="Cambria" pitchFamily="34" charset="-122"/>
                <a:cs typeface="Cambria" pitchFamily="34" charset="-120"/>
              </a:rPr>
              <a:t>레위기 19:34 · Leviticus 19:34</a:t>
            </a:r>
            <a:endParaRPr lang="en-US" sz="10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5989D4F0-A385-4098-BF8F-FE2F8C1ADFCB}"/>
              </a:ext>
            </a:extLst>
          </p:cNvPr>
          <p:cNvPicPr>
            <a:picLocks noChangeAspect="1"/>
          </p:cNvPicPr>
          <p:nvPr/>
        </p:nvPicPr>
        <p:blipFill rotWithShape="1">
          <a:blip r:embed="rId3"/>
          <a:srcRect l="52164" t="5256" r="3528" b="10364"/>
          <a:stretch/>
        </p:blipFill>
        <p:spPr>
          <a:xfrm>
            <a:off x="437322" y="0"/>
            <a:ext cx="4023360" cy="5143500"/>
          </a:xfrm>
          <a:prstGeom prst="rect">
            <a:avLst/>
          </a:prstGeom>
        </p:spPr>
      </p:pic>
      <p:pic>
        <p:nvPicPr>
          <p:cNvPr id="4" name="그림 3">
            <a:extLst>
              <a:ext uri="{FF2B5EF4-FFF2-40B4-BE49-F238E27FC236}">
                <a16:creationId xmlns:a16="http://schemas.microsoft.com/office/drawing/2014/main" id="{FB86D61C-6BC4-4F06-80C3-FEB8936EB6ED}"/>
              </a:ext>
            </a:extLst>
          </p:cNvPr>
          <p:cNvPicPr>
            <a:picLocks noChangeAspect="1"/>
          </p:cNvPicPr>
          <p:nvPr/>
        </p:nvPicPr>
        <p:blipFill rotWithShape="1">
          <a:blip r:embed="rId3"/>
          <a:srcRect l="5009" t="4638" r="50742" b="8415"/>
          <a:stretch/>
        </p:blipFill>
        <p:spPr>
          <a:xfrm>
            <a:off x="4397071" y="0"/>
            <a:ext cx="4412974" cy="5143500"/>
          </a:xfrm>
          <a:prstGeom prst="rect">
            <a:avLst/>
          </a:prstGeom>
        </p:spPr>
      </p:pic>
    </p:spTree>
    <p:extLst>
      <p:ext uri="{BB962C8B-B14F-4D97-AF65-F5344CB8AC3E}">
        <p14:creationId xmlns:p14="http://schemas.microsoft.com/office/powerpoint/2010/main" val="191090205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3">
            <a:extLst>
              <a:ext uri="{FF2B5EF4-FFF2-40B4-BE49-F238E27FC236}">
                <a16:creationId xmlns:a16="http://schemas.microsoft.com/office/drawing/2014/main" id="{6F305522-C4B1-47F6-994E-DDED13E1988A}"/>
              </a:ext>
            </a:extLst>
          </p:cNvPr>
          <p:cNvPicPr>
            <a:picLocks noChangeAspect="1"/>
          </p:cNvPicPr>
          <p:nvPr/>
        </p:nvPicPr>
        <p:blipFill>
          <a:blip r:embed="rId2"/>
          <a:stretch>
            <a:fillRect/>
          </a:stretch>
        </p:blipFill>
        <p:spPr>
          <a:xfrm>
            <a:off x="353684" y="129395"/>
            <a:ext cx="4145256" cy="4945093"/>
          </a:xfrm>
          <a:prstGeom prst="rect">
            <a:avLst/>
          </a:prstGeom>
        </p:spPr>
      </p:pic>
      <p:pic>
        <p:nvPicPr>
          <p:cNvPr id="7" name="그림 6">
            <a:extLst>
              <a:ext uri="{FF2B5EF4-FFF2-40B4-BE49-F238E27FC236}">
                <a16:creationId xmlns:a16="http://schemas.microsoft.com/office/drawing/2014/main" id="{A3349E91-33AB-4BCC-AE86-44207B63074C}"/>
              </a:ext>
            </a:extLst>
          </p:cNvPr>
          <p:cNvPicPr>
            <a:picLocks noChangeAspect="1"/>
          </p:cNvPicPr>
          <p:nvPr/>
        </p:nvPicPr>
        <p:blipFill>
          <a:blip r:embed="rId3"/>
          <a:stretch>
            <a:fillRect/>
          </a:stretch>
        </p:blipFill>
        <p:spPr>
          <a:xfrm>
            <a:off x="4498941" y="198407"/>
            <a:ext cx="4145256" cy="4876081"/>
          </a:xfrm>
          <a:prstGeom prst="rect">
            <a:avLst/>
          </a:prstGeom>
        </p:spPr>
      </p:pic>
    </p:spTree>
    <p:extLst>
      <p:ext uri="{BB962C8B-B14F-4D97-AF65-F5344CB8AC3E}">
        <p14:creationId xmlns:p14="http://schemas.microsoft.com/office/powerpoint/2010/main" val="395489006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3B84D9EE-27E0-457C-93AC-BBD601D20BCB}"/>
              </a:ext>
            </a:extLst>
          </p:cNvPr>
          <p:cNvPicPr>
            <a:picLocks noChangeAspect="1"/>
          </p:cNvPicPr>
          <p:nvPr/>
        </p:nvPicPr>
        <p:blipFill>
          <a:blip r:embed="rId2"/>
          <a:stretch>
            <a:fillRect/>
          </a:stretch>
        </p:blipFill>
        <p:spPr>
          <a:xfrm>
            <a:off x="366526" y="94890"/>
            <a:ext cx="4119210" cy="5048609"/>
          </a:xfrm>
          <a:prstGeom prst="rect">
            <a:avLst/>
          </a:prstGeom>
        </p:spPr>
      </p:pic>
      <p:pic>
        <p:nvPicPr>
          <p:cNvPr id="5" name="그림 4">
            <a:extLst>
              <a:ext uri="{FF2B5EF4-FFF2-40B4-BE49-F238E27FC236}">
                <a16:creationId xmlns:a16="http://schemas.microsoft.com/office/drawing/2014/main" id="{A92FD7FB-1FFA-4331-847D-06D29DB882CC}"/>
              </a:ext>
            </a:extLst>
          </p:cNvPr>
          <p:cNvPicPr>
            <a:picLocks noChangeAspect="1"/>
          </p:cNvPicPr>
          <p:nvPr/>
        </p:nvPicPr>
        <p:blipFill>
          <a:blip r:embed="rId3"/>
          <a:stretch>
            <a:fillRect/>
          </a:stretch>
        </p:blipFill>
        <p:spPr>
          <a:xfrm>
            <a:off x="4572000" y="-1"/>
            <a:ext cx="4205474" cy="5143500"/>
          </a:xfrm>
          <a:prstGeom prst="rect">
            <a:avLst/>
          </a:prstGeom>
        </p:spPr>
      </p:pic>
    </p:spTree>
    <p:extLst>
      <p:ext uri="{BB962C8B-B14F-4D97-AF65-F5344CB8AC3E}">
        <p14:creationId xmlns:p14="http://schemas.microsoft.com/office/powerpoint/2010/main" val="351035015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
          <p:cNvSpPr/>
          <p:nvPr/>
        </p:nvSpPr>
        <p:spPr>
          <a:xfrm>
            <a:off x="754380" y="699516"/>
            <a:ext cx="150876" cy="150876"/>
          </a:xfrm>
          <a:prstGeom prst="ellipse">
            <a:avLst/>
          </a:prstGeom>
          <a:solidFill>
            <a:srgbClr val="AFC9E0"/>
          </a:solidFill>
          <a:ln/>
        </p:spPr>
      </p:sp>
      <p:sp>
        <p:nvSpPr>
          <p:cNvPr id="5" name="Shape 3"/>
          <p:cNvSpPr/>
          <p:nvPr/>
        </p:nvSpPr>
        <p:spPr>
          <a:xfrm>
            <a:off x="864108" y="761238"/>
            <a:ext cx="150876" cy="150876"/>
          </a:xfrm>
          <a:prstGeom prst="ellipse">
            <a:avLst/>
          </a:prstGeom>
          <a:solidFill>
            <a:srgbClr val="AFC9E0"/>
          </a:solidFill>
          <a:ln/>
        </p:spPr>
      </p:sp>
      <p:sp>
        <p:nvSpPr>
          <p:cNvPr id="6" name="Shape 4"/>
          <p:cNvSpPr/>
          <p:nvPr/>
        </p:nvSpPr>
        <p:spPr>
          <a:xfrm>
            <a:off x="864108" y="884682"/>
            <a:ext cx="150876" cy="150876"/>
          </a:xfrm>
          <a:prstGeom prst="ellipse">
            <a:avLst/>
          </a:prstGeom>
          <a:solidFill>
            <a:srgbClr val="AFC9E0"/>
          </a:solidFill>
          <a:ln/>
        </p:spPr>
      </p:sp>
      <p:sp>
        <p:nvSpPr>
          <p:cNvPr id="7" name="Shape 5"/>
          <p:cNvSpPr/>
          <p:nvPr/>
        </p:nvSpPr>
        <p:spPr>
          <a:xfrm>
            <a:off x="754380" y="946404"/>
            <a:ext cx="150876" cy="150876"/>
          </a:xfrm>
          <a:prstGeom prst="ellipse">
            <a:avLst/>
          </a:prstGeom>
          <a:solidFill>
            <a:srgbClr val="AFC9E0"/>
          </a:solidFill>
          <a:ln/>
        </p:spPr>
      </p:sp>
      <p:sp>
        <p:nvSpPr>
          <p:cNvPr id="8" name="Shape 6"/>
          <p:cNvSpPr/>
          <p:nvPr/>
        </p:nvSpPr>
        <p:spPr>
          <a:xfrm>
            <a:off x="644652" y="884682"/>
            <a:ext cx="150876" cy="150876"/>
          </a:xfrm>
          <a:prstGeom prst="ellipse">
            <a:avLst/>
          </a:prstGeom>
          <a:solidFill>
            <a:srgbClr val="AFC9E0"/>
          </a:solidFill>
          <a:ln/>
        </p:spPr>
      </p:sp>
      <p:sp>
        <p:nvSpPr>
          <p:cNvPr id="9" name="Shape 7"/>
          <p:cNvSpPr/>
          <p:nvPr/>
        </p:nvSpPr>
        <p:spPr>
          <a:xfrm>
            <a:off x="644652" y="761238"/>
            <a:ext cx="150876" cy="150876"/>
          </a:xfrm>
          <a:prstGeom prst="ellipse">
            <a:avLst/>
          </a:prstGeom>
          <a:solidFill>
            <a:srgbClr val="AFC9E0"/>
          </a:solidFill>
          <a:ln/>
        </p:spPr>
      </p:sp>
      <p:sp>
        <p:nvSpPr>
          <p:cNvPr id="10" name="Shape 8"/>
          <p:cNvSpPr/>
          <p:nvPr/>
        </p:nvSpPr>
        <p:spPr>
          <a:xfrm>
            <a:off x="754380" y="822960"/>
            <a:ext cx="109728" cy="109728"/>
          </a:xfrm>
          <a:prstGeom prst="ellipse">
            <a:avLst/>
          </a:prstGeom>
          <a:solidFill>
            <a:srgbClr val="D98C4A"/>
          </a:solidFill>
          <a:ln/>
        </p:spPr>
      </p:sp>
      <p:sp>
        <p:nvSpPr>
          <p:cNvPr id="11" name="Shape 9"/>
          <p:cNvSpPr/>
          <p:nvPr/>
        </p:nvSpPr>
        <p:spPr>
          <a:xfrm>
            <a:off x="795528" y="960120"/>
            <a:ext cx="34290" cy="377190"/>
          </a:xfrm>
          <a:prstGeom prst="rect">
            <a:avLst/>
          </a:prstGeom>
          <a:solidFill>
            <a:srgbClr val="5E7F64"/>
          </a:solidFill>
          <a:ln/>
        </p:spPr>
      </p:sp>
      <p:sp>
        <p:nvSpPr>
          <p:cNvPr id="15" name="Shape 13"/>
          <p:cNvSpPr/>
          <p:nvPr/>
        </p:nvSpPr>
        <p:spPr>
          <a:xfrm>
            <a:off x="4023246" y="308610"/>
            <a:ext cx="1097280" cy="1097280"/>
          </a:xfrm>
          <a:prstGeom prst="ellipse">
            <a:avLst/>
          </a:prstGeom>
          <a:solidFill>
            <a:srgbClr val="F7E4CB"/>
          </a:solidFill>
          <a:ln/>
        </p:spPr>
      </p:sp>
      <p:sp>
        <p:nvSpPr>
          <p:cNvPr id="16" name="Text 14"/>
          <p:cNvSpPr/>
          <p:nvPr/>
        </p:nvSpPr>
        <p:spPr>
          <a:xfrm>
            <a:off x="4023246" y="308610"/>
            <a:ext cx="1097280" cy="1097280"/>
          </a:xfrm>
          <a:prstGeom prst="rect">
            <a:avLst/>
          </a:prstGeom>
          <a:noFill/>
          <a:ln/>
        </p:spPr>
        <p:txBody>
          <a:bodyPr wrap="square" rtlCol="0" anchor="ctr"/>
          <a:lstStyle/>
          <a:p>
            <a:pPr algn="ctr"/>
            <a:r>
              <a:rPr lang="en-US" sz="3600" dirty="0">
                <a:latin typeface="Calibri" pitchFamily="34" charset="0"/>
                <a:ea typeface="Calibri" pitchFamily="34" charset="-122"/>
                <a:cs typeface="Calibri" pitchFamily="34" charset="-120"/>
              </a:rPr>
              <a:t>🌈</a:t>
            </a:r>
            <a:endParaRPr lang="en-US" sz="3600" dirty="0"/>
          </a:p>
        </p:txBody>
      </p:sp>
      <p:sp>
        <p:nvSpPr>
          <p:cNvPr id="17" name="Text 15"/>
          <p:cNvSpPr/>
          <p:nvPr/>
        </p:nvSpPr>
        <p:spPr>
          <a:xfrm>
            <a:off x="480061" y="1508760"/>
            <a:ext cx="8183651" cy="754380"/>
          </a:xfrm>
          <a:prstGeom prst="rect">
            <a:avLst/>
          </a:prstGeom>
          <a:noFill/>
          <a:ln/>
        </p:spPr>
        <p:txBody>
          <a:bodyPr wrap="square" rtlCol="0" anchor="ctr"/>
          <a:lstStyle/>
          <a:p>
            <a:pPr algn="ctr"/>
            <a:r>
              <a:rPr lang="en-US" sz="4050" b="1" i="1" dirty="0">
                <a:latin typeface="Times New Roman" pitchFamily="34" charset="0"/>
                <a:ea typeface="Times New Roman" pitchFamily="34" charset="-122"/>
                <a:cs typeface="Times New Roman" pitchFamily="34" charset="-120"/>
              </a:rPr>
              <a:t>감사합니다</a:t>
            </a:r>
            <a:endParaRPr lang="en-US" sz="4050" dirty="0"/>
          </a:p>
          <a:p>
            <a:pPr algn="ctr"/>
            <a:r>
              <a:rPr lang="en-US" sz="2000" dirty="0">
                <a:solidFill>
                  <a:srgbClr val="6B5F52"/>
                </a:solidFill>
              </a:rPr>
              <a:t>Thank You</a:t>
            </a:r>
          </a:p>
        </p:txBody>
      </p:sp>
      <p:sp>
        <p:nvSpPr>
          <p:cNvPr id="18" name="Text 16"/>
          <p:cNvSpPr/>
          <p:nvPr/>
        </p:nvSpPr>
        <p:spPr>
          <a:xfrm>
            <a:off x="480061" y="2650000"/>
            <a:ext cx="8183651" cy="445770"/>
          </a:xfrm>
          <a:prstGeom prst="rect">
            <a:avLst/>
          </a:prstGeom>
          <a:noFill/>
          <a:ln/>
        </p:spPr>
        <p:txBody>
          <a:bodyPr wrap="square" rtlCol="0" anchor="ctr"/>
          <a:lstStyle/>
          <a:p>
            <a:pPr algn="ctr"/>
            <a:r>
              <a:rPr lang="en-US" sz="1650" dirty="0">
                <a:latin typeface="Calibri" pitchFamily="34" charset="0"/>
                <a:ea typeface="Calibri" pitchFamily="34" charset="-122"/>
                <a:cs typeface="Calibri" pitchFamily="34" charset="-120"/>
              </a:rPr>
              <a:t>오늘부터 우리 가족의 행복을 함께 시작해요.</a:t>
            </a:r>
            <a:endParaRPr lang="en-US" sz="1650" dirty="0"/>
          </a:p>
          <a:p>
            <a:pPr algn="ctr"/>
            <a:r>
              <a:rPr lang="en-US" sz="1200" dirty="0">
                <a:solidFill>
                  <a:srgbClr val="6B5F52"/>
                </a:solidFill>
              </a:rPr>
              <a:t>Let’s begin our family’s happiness together, starting today</a:t>
            </a:r>
          </a:p>
        </p:txBody>
      </p:sp>
    </p:spTree>
    <p:extLst>
      <p:ext uri="{BB962C8B-B14F-4D97-AF65-F5344CB8AC3E}">
        <p14:creationId xmlns:p14="http://schemas.microsoft.com/office/powerpoint/2010/main" val="540038323"/>
      </p:ext>
    </p:extLst>
  </p:cSld>
  <p:clrMapOvr>
    <a:masterClrMapping/>
  </p:clrMapOvr>
</p:sld>
</file>

<file path=ppt/theme/theme1.xml><?xml version="1.0" encoding="utf-8"?>
<a:theme xmlns:a="http://schemas.openxmlformats.org/drawingml/2006/main" name="갤러리">
  <a:themeElements>
    <a:clrScheme name="갤러리">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갤러리">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갤러리">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1518</TotalTime>
  <Words>4097</Words>
  <Application>Microsoft Office PowerPoint</Application>
  <PresentationFormat>화면 슬라이드 쇼(16:9)</PresentationFormat>
  <Paragraphs>331</Paragraphs>
  <Slides>61</Slides>
  <Notes>45</Notes>
  <HiddenSlides>0</HiddenSlides>
  <MMClips>0</MMClips>
  <ScaleCrop>false</ScaleCrop>
  <HeadingPairs>
    <vt:vector size="6" baseType="variant">
      <vt:variant>
        <vt:lpstr>사용한 글꼴</vt:lpstr>
      </vt:variant>
      <vt:variant>
        <vt:i4>11</vt:i4>
      </vt:variant>
      <vt:variant>
        <vt:lpstr>테마</vt:lpstr>
      </vt:variant>
      <vt:variant>
        <vt:i4>1</vt:i4>
      </vt:variant>
      <vt:variant>
        <vt:lpstr>슬라이드 제목</vt:lpstr>
      </vt:variant>
      <vt:variant>
        <vt:i4>61</vt:i4>
      </vt:variant>
    </vt:vector>
  </HeadingPairs>
  <TitlesOfParts>
    <vt:vector size="73" baseType="lpstr">
      <vt:lpstr>Anthropic Sans</vt:lpstr>
      <vt:lpstr>NanumSquare</vt:lpstr>
      <vt:lpstr>Noto Sans KR</vt:lpstr>
      <vt:lpstr>Malgun Gothic</vt:lpstr>
      <vt:lpstr>Malgun Gothic</vt:lpstr>
      <vt:lpstr>양재튼튼체B</vt:lpstr>
      <vt:lpstr>Arial</vt:lpstr>
      <vt:lpstr>Calibri</vt:lpstr>
      <vt:lpstr>Cambria</vt:lpstr>
      <vt:lpstr>Gill Sans MT</vt:lpstr>
      <vt:lpstr>Times New Roman</vt:lpstr>
      <vt:lpstr>갤러리</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우리 아이 마음 키우기 - 기질 이해와 정서적 돌봄</dc:title>
  <dc:subject>PptxGenJS Presentation</dc:subject>
  <dc:creator>부산 사상구보건소</dc:creator>
  <cp:lastModifiedBy>USER_</cp:lastModifiedBy>
  <cp:revision>607</cp:revision>
  <cp:lastPrinted>2026-08-03T07:48:32Z</cp:lastPrinted>
  <dcterms:created xsi:type="dcterms:W3CDTF">2026-06-18T02:41:05Z</dcterms:created>
  <dcterms:modified xsi:type="dcterms:W3CDTF">2026-08-24T04:34:39Z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name="Fasoo_Trace_ID" pid="2">
    <vt:lpwstr>eyJub2RlMSI6eyJkc2QiOiIwMDAwMDAwMDAwMDAwMDAwIiwibG9nVGltZSI6IjIwMjYtMDgtMjRUMDQ6Mzk6MjhaIiwicElEIjoyMDQ4LCJwcm9jZXNzSWQiOjMwNDMyLCJwcm9jZXNzTmFtZSI6IlBPV0VSUE5ULkVYRSIsInRyYWNlSWQiOiJCNUNBODU5RTEzNkE0RDVEOTA4NjdEOTM3MEQxNTczMSIsInVzZXJDb2RlIjoibWFyaWEwMCJ9LCJub2RlMiI6eyJkc2QiOiIwMTAwMDAwMDAwMDAxNDMzIiwibG9nVGltZSI6IjIwMjYtMDktMDdUMDg6MTA6MThaIiwicElEIjoxLCJwcm9jZXNzSWQiOjMwNDMyLCJwcm9jZXNzTmFtZSI6ImZfYmF0bWdyLmV4ZSIsInRyYWNlSWQiOiJEMzVDRjZGRUUwRkY0QzA2OTQxNEU2ODc0QjIzMkZEOCIsInVzZXJDb2RlIjoibWFyaWEwMCJ9LCJub2RlMyI6eyJkc2QiOiIwMDAwMDAwMDAwMDAwMDAwIiwibG9nVGltZSI6IjIwMjYtMDktMDdUMDg6MTM6NDZaIiwicElEIjoyMDQ4LCJwcm9jZXNzSWQiOjMwNDMyLCJwcm9jZXNzTmFtZSI6ImZfYmF0bWdyLmV4ZSIsInRyYWNlSWQiOiJGRjA1NzlFNjc1NUQ0NTE3ODhDOEQ0RkE4OTdFM0Y3NSIsInVzZXJDb2RlIjoibWFyaWEwMCJ9LCJub2RlNCI6eyJkc2QiOiIwMTAwMDAwMDAwMDAxNDMzIiwibG9nVGltZSI6IjIwMjYtMTAtMzBUMDU6NDY6MDNaIiwicElEIjoxLCJwcm9jZXNzSWQiOjMwNDMyLCJwcm9jZXNzTmFtZSI6ImZfYmF0bWdyLmV4ZSIsInRyYWNlSWQiOiI1NEJDMEY3MDY1RDk0MUU1QTczNTNFREU2NEIyNjE5MyIsInVzZXJDb2RlIjoibWFyaWEwMCJ9LCJub2RlNSI6eyJkc2QiOiIwMDAwMDAwMDAwMDAwMDAwIiwibG9nVGltZSI6IjIwMjYtMTAtMzBUMDU6NDc6MzNaIiwicElEIjoyMDQ4LCJwcm9jZXNzSWQiOjIwNDAwLCJwcm9jZXNzTmFtZSI6ImZfYmF0bWdyLmV4ZSIsInRyYWNlSWQiOiIyOEU5OUI3OUY2NDk0RjhGOTA1REY0QTdBQTA0MjBDRSIsInVzZXJDb2RlIjoibWFyaWEwMCJ9LCJub2RlQ291bnQiOjYyLCJyb290VHJhY2VJZCI6Ijg4NkFDQUJGODFGQzQ0MDlCRjA4MzEwREQ4NzdGRjU5In0=</vt:lpwstr>
  </property>
</Properties>
</file>