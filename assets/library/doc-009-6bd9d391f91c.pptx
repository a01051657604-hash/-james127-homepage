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5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4"/>
  </p:sldMasterIdLst>
  <p:notesMasterIdLst>
    <p:notesMasterId r:id="rId49"/>
  </p:notesMasterIdLst>
  <p:handoutMasterIdLst>
    <p:handoutMasterId r:id="rId50"/>
  </p:handoutMasterIdLst>
  <p:sldIdLst>
    <p:sldId id="313" r:id="rId5"/>
    <p:sldId id="524" r:id="rId6"/>
    <p:sldId id="418" r:id="rId7"/>
    <p:sldId id="523" r:id="rId8"/>
    <p:sldId id="427" r:id="rId9"/>
    <p:sldId id="525" r:id="rId10"/>
    <p:sldId id="526" r:id="rId11"/>
    <p:sldId id="428" r:id="rId12"/>
    <p:sldId id="489" r:id="rId13"/>
    <p:sldId id="527" r:id="rId14"/>
    <p:sldId id="532" r:id="rId15"/>
    <p:sldId id="430" r:id="rId16"/>
    <p:sldId id="434" r:id="rId17"/>
    <p:sldId id="433" r:id="rId18"/>
    <p:sldId id="435" r:id="rId19"/>
    <p:sldId id="436" r:id="rId20"/>
    <p:sldId id="437" r:id="rId21"/>
    <p:sldId id="438" r:id="rId22"/>
    <p:sldId id="439" r:id="rId23"/>
    <p:sldId id="533" r:id="rId24"/>
    <p:sldId id="534" r:id="rId25"/>
    <p:sldId id="535" r:id="rId26"/>
    <p:sldId id="513" r:id="rId27"/>
    <p:sldId id="503" r:id="rId28"/>
    <p:sldId id="493" r:id="rId29"/>
    <p:sldId id="440" r:id="rId30"/>
    <p:sldId id="442" r:id="rId31"/>
    <p:sldId id="501" r:id="rId32"/>
    <p:sldId id="443" r:id="rId33"/>
    <p:sldId id="445" r:id="rId34"/>
    <p:sldId id="447" r:id="rId35"/>
    <p:sldId id="529" r:id="rId36"/>
    <p:sldId id="539" r:id="rId37"/>
    <p:sldId id="459" r:id="rId38"/>
    <p:sldId id="454" r:id="rId39"/>
    <p:sldId id="538" r:id="rId40"/>
    <p:sldId id="537" r:id="rId41"/>
    <p:sldId id="498" r:id="rId42"/>
    <p:sldId id="463" r:id="rId43"/>
    <p:sldId id="536" r:id="rId44"/>
    <p:sldId id="541" r:id="rId45"/>
    <p:sldId id="542" r:id="rId46"/>
    <p:sldId id="496" r:id="rId47"/>
    <p:sldId id="324" r:id="rId48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92C1A24-81B3-480C-8D1C-BD431353747E}">
          <p14:sldIdLst>
            <p14:sldId id="313"/>
            <p14:sldId id="524"/>
            <p14:sldId id="418"/>
            <p14:sldId id="523"/>
            <p14:sldId id="427"/>
            <p14:sldId id="525"/>
            <p14:sldId id="526"/>
            <p14:sldId id="428"/>
            <p14:sldId id="489"/>
            <p14:sldId id="527"/>
            <p14:sldId id="532"/>
            <p14:sldId id="430"/>
            <p14:sldId id="434"/>
            <p14:sldId id="433"/>
            <p14:sldId id="435"/>
            <p14:sldId id="436"/>
            <p14:sldId id="437"/>
            <p14:sldId id="438"/>
            <p14:sldId id="439"/>
            <p14:sldId id="533"/>
            <p14:sldId id="534"/>
            <p14:sldId id="535"/>
            <p14:sldId id="513"/>
            <p14:sldId id="503"/>
            <p14:sldId id="493"/>
            <p14:sldId id="440"/>
            <p14:sldId id="442"/>
            <p14:sldId id="501"/>
            <p14:sldId id="443"/>
            <p14:sldId id="445"/>
            <p14:sldId id="447"/>
            <p14:sldId id="529"/>
            <p14:sldId id="539"/>
            <p14:sldId id="459"/>
            <p14:sldId id="454"/>
            <p14:sldId id="538"/>
            <p14:sldId id="537"/>
            <p14:sldId id="498"/>
            <p14:sldId id="463"/>
            <p14:sldId id="536"/>
            <p14:sldId id="541"/>
            <p14:sldId id="542"/>
            <p14:sldId id="496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DeLeon-Foote, Rose" initials="DR" lastIdx="7" clrIdx="6"/>
  <p:cmAuthor id="1" name="Jeff Owczarzak" initials="JO" lastIdx="12" clrIdx="0"/>
  <p:cmAuthor id="2" name="Catherine Carter" initials="CC" lastIdx="15" clrIdx="1"/>
  <p:cmAuthor id="3" name="DeLuca, Nick (CDC/DDID/NCHHSTP/DTE)" initials="DN(" lastIdx="46" clrIdx="2"/>
  <p:cmAuthor id="4" name="Sessions, Maria Fraire (CDC/DDID/NCHHSTP/DTE)" initials="SMF(" lastIdx="11" clrIdx="3"/>
  <p:cmAuthor id="5" name="Allen, Leeanna (CDC/DDID/NCHHSTP/DTE)" initials="A(" lastIdx="11" clrIdx="4"/>
  <p:cmAuthor id="6" name="Bouwkamp, Beth (CDC/DDID/NCHHSTP/DTE)" initials="BB(" lastIdx="102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4082"/>
    <a:srgbClr val="95458D"/>
    <a:srgbClr val="FF0000"/>
    <a:srgbClr val="00A38C"/>
    <a:srgbClr val="E3201B"/>
    <a:srgbClr val="04737E"/>
    <a:srgbClr val="008089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6250" autoAdjust="0"/>
  </p:normalViewPr>
  <p:slideViewPr>
    <p:cSldViewPr snapToGrid="0">
      <p:cViewPr varScale="1">
        <p:scale>
          <a:sx n="101" d="100"/>
          <a:sy n="101" d="100"/>
        </p:scale>
        <p:origin x="109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269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22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986181791755261E-2"/>
          <c:y val="0.11297724668844726"/>
          <c:w val="0.92568959505967474"/>
          <c:h val="0.777646547112621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'일반 중환자 병상 통계'!$J$1</c:f>
              <c:strCache>
                <c:ptCount val="1"/>
                <c:pt idx="0">
                  <c:v>일별 확진자수(명)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cat>
            <c:numRef>
              <c:f>'일반 중환자 병상 통계'!$I$2:$I$384</c:f>
              <c:numCache>
                <c:formatCode>yy"-"m"-"d;@</c:formatCode>
                <c:ptCount val="383"/>
                <c:pt idx="0">
                  <c:v>43976</c:v>
                </c:pt>
                <c:pt idx="1">
                  <c:v>43981</c:v>
                </c:pt>
                <c:pt idx="2">
                  <c:v>43987</c:v>
                </c:pt>
                <c:pt idx="3">
                  <c:v>43992</c:v>
                </c:pt>
                <c:pt idx="4">
                  <c:v>43997</c:v>
                </c:pt>
                <c:pt idx="5">
                  <c:v>44002</c:v>
                </c:pt>
                <c:pt idx="6">
                  <c:v>44007</c:v>
                </c:pt>
                <c:pt idx="7">
                  <c:v>44012</c:v>
                </c:pt>
                <c:pt idx="8">
                  <c:v>44017</c:v>
                </c:pt>
                <c:pt idx="9">
                  <c:v>44022</c:v>
                </c:pt>
                <c:pt idx="10">
                  <c:v>44027</c:v>
                </c:pt>
                <c:pt idx="11">
                  <c:v>44032</c:v>
                </c:pt>
                <c:pt idx="12">
                  <c:v>44037</c:v>
                </c:pt>
                <c:pt idx="13">
                  <c:v>44043</c:v>
                </c:pt>
                <c:pt idx="14">
                  <c:v>44048</c:v>
                </c:pt>
                <c:pt idx="15">
                  <c:v>44053</c:v>
                </c:pt>
                <c:pt idx="16">
                  <c:v>44058</c:v>
                </c:pt>
                <c:pt idx="17">
                  <c:v>44063</c:v>
                </c:pt>
                <c:pt idx="18">
                  <c:v>44068</c:v>
                </c:pt>
                <c:pt idx="19">
                  <c:v>44073</c:v>
                </c:pt>
                <c:pt idx="20">
                  <c:v>44079</c:v>
                </c:pt>
                <c:pt idx="21">
                  <c:v>44084</c:v>
                </c:pt>
                <c:pt idx="22">
                  <c:v>44089</c:v>
                </c:pt>
                <c:pt idx="23">
                  <c:v>44094</c:v>
                </c:pt>
                <c:pt idx="24">
                  <c:v>44099</c:v>
                </c:pt>
                <c:pt idx="25">
                  <c:v>44104</c:v>
                </c:pt>
                <c:pt idx="26">
                  <c:v>44109</c:v>
                </c:pt>
                <c:pt idx="27">
                  <c:v>44115</c:v>
                </c:pt>
                <c:pt idx="28">
                  <c:v>44119</c:v>
                </c:pt>
                <c:pt idx="29">
                  <c:v>44123</c:v>
                </c:pt>
                <c:pt idx="30">
                  <c:v>44128</c:v>
                </c:pt>
                <c:pt idx="31">
                  <c:v>44134</c:v>
                </c:pt>
                <c:pt idx="32">
                  <c:v>44139</c:v>
                </c:pt>
                <c:pt idx="33">
                  <c:v>44145</c:v>
                </c:pt>
                <c:pt idx="34">
                  <c:v>44151</c:v>
                </c:pt>
                <c:pt idx="35">
                  <c:v>44155</c:v>
                </c:pt>
                <c:pt idx="36">
                  <c:v>44160</c:v>
                </c:pt>
                <c:pt idx="37">
                  <c:v>44165</c:v>
                </c:pt>
                <c:pt idx="38">
                  <c:v>44167</c:v>
                </c:pt>
                <c:pt idx="39">
                  <c:v>44168</c:v>
                </c:pt>
                <c:pt idx="40">
                  <c:v>44172</c:v>
                </c:pt>
                <c:pt idx="41">
                  <c:v>44173</c:v>
                </c:pt>
                <c:pt idx="42">
                  <c:v>44174</c:v>
                </c:pt>
                <c:pt idx="43">
                  <c:v>44175</c:v>
                </c:pt>
                <c:pt idx="44">
                  <c:v>44176</c:v>
                </c:pt>
                <c:pt idx="45">
                  <c:v>44179</c:v>
                </c:pt>
                <c:pt idx="46">
                  <c:v>44180</c:v>
                </c:pt>
                <c:pt idx="47">
                  <c:v>44181</c:v>
                </c:pt>
                <c:pt idx="48">
                  <c:v>44183</c:v>
                </c:pt>
                <c:pt idx="49">
                  <c:v>44186</c:v>
                </c:pt>
                <c:pt idx="50">
                  <c:v>44187</c:v>
                </c:pt>
                <c:pt idx="51">
                  <c:v>44188</c:v>
                </c:pt>
                <c:pt idx="52">
                  <c:v>44189</c:v>
                </c:pt>
                <c:pt idx="53">
                  <c:v>44193</c:v>
                </c:pt>
                <c:pt idx="54">
                  <c:v>44194</c:v>
                </c:pt>
                <c:pt idx="55">
                  <c:v>44195</c:v>
                </c:pt>
                <c:pt idx="56">
                  <c:v>44196</c:v>
                </c:pt>
                <c:pt idx="57">
                  <c:v>44201</c:v>
                </c:pt>
                <c:pt idx="58">
                  <c:v>44202</c:v>
                </c:pt>
                <c:pt idx="59">
                  <c:v>44203</c:v>
                </c:pt>
                <c:pt idx="60">
                  <c:v>44204</c:v>
                </c:pt>
                <c:pt idx="61">
                  <c:v>44207</c:v>
                </c:pt>
                <c:pt idx="62">
                  <c:v>44208</c:v>
                </c:pt>
                <c:pt idx="63">
                  <c:v>44209</c:v>
                </c:pt>
                <c:pt idx="64">
                  <c:v>44211</c:v>
                </c:pt>
                <c:pt idx="65">
                  <c:v>44215</c:v>
                </c:pt>
                <c:pt idx="66">
                  <c:v>44216</c:v>
                </c:pt>
                <c:pt idx="67">
                  <c:v>44217</c:v>
                </c:pt>
                <c:pt idx="68">
                  <c:v>44218</c:v>
                </c:pt>
                <c:pt idx="69">
                  <c:v>44221</c:v>
                </c:pt>
                <c:pt idx="70">
                  <c:v>44223</c:v>
                </c:pt>
                <c:pt idx="71">
                  <c:v>44224</c:v>
                </c:pt>
                <c:pt idx="72">
                  <c:v>44228</c:v>
                </c:pt>
                <c:pt idx="73">
                  <c:v>44229</c:v>
                </c:pt>
                <c:pt idx="74">
                  <c:v>44230</c:v>
                </c:pt>
                <c:pt idx="75">
                  <c:v>44231</c:v>
                </c:pt>
                <c:pt idx="76">
                  <c:v>44232</c:v>
                </c:pt>
                <c:pt idx="77">
                  <c:v>44233</c:v>
                </c:pt>
                <c:pt idx="78">
                  <c:v>44234</c:v>
                </c:pt>
                <c:pt idx="79">
                  <c:v>44236</c:v>
                </c:pt>
                <c:pt idx="80">
                  <c:v>44237</c:v>
                </c:pt>
                <c:pt idx="81">
                  <c:v>44238</c:v>
                </c:pt>
                <c:pt idx="82">
                  <c:v>44241</c:v>
                </c:pt>
                <c:pt idx="83">
                  <c:v>44242</c:v>
                </c:pt>
                <c:pt idx="84">
                  <c:v>44243</c:v>
                </c:pt>
                <c:pt idx="85">
                  <c:v>44244</c:v>
                </c:pt>
                <c:pt idx="86">
                  <c:v>44245</c:v>
                </c:pt>
                <c:pt idx="87">
                  <c:v>44246</c:v>
                </c:pt>
                <c:pt idx="88">
                  <c:v>44247</c:v>
                </c:pt>
                <c:pt idx="89">
                  <c:v>44248</c:v>
                </c:pt>
                <c:pt idx="90">
                  <c:v>44249</c:v>
                </c:pt>
                <c:pt idx="91">
                  <c:v>44250</c:v>
                </c:pt>
                <c:pt idx="92">
                  <c:v>44251</c:v>
                </c:pt>
                <c:pt idx="93">
                  <c:v>44252</c:v>
                </c:pt>
                <c:pt idx="94">
                  <c:v>44253</c:v>
                </c:pt>
                <c:pt idx="95">
                  <c:v>44254</c:v>
                </c:pt>
                <c:pt idx="96">
                  <c:v>44255</c:v>
                </c:pt>
                <c:pt idx="97">
                  <c:v>44256</c:v>
                </c:pt>
                <c:pt idx="98">
                  <c:v>44257</c:v>
                </c:pt>
                <c:pt idx="99">
                  <c:v>44258</c:v>
                </c:pt>
                <c:pt idx="100">
                  <c:v>44259</c:v>
                </c:pt>
                <c:pt idx="101">
                  <c:v>44262</c:v>
                </c:pt>
                <c:pt idx="102">
                  <c:v>44263</c:v>
                </c:pt>
                <c:pt idx="103">
                  <c:v>44265</c:v>
                </c:pt>
                <c:pt idx="104">
                  <c:v>44266</c:v>
                </c:pt>
                <c:pt idx="105">
                  <c:v>44267</c:v>
                </c:pt>
                <c:pt idx="106">
                  <c:v>44268</c:v>
                </c:pt>
                <c:pt idx="107">
                  <c:v>44269</c:v>
                </c:pt>
                <c:pt idx="108">
                  <c:v>44270</c:v>
                </c:pt>
                <c:pt idx="109">
                  <c:v>44271</c:v>
                </c:pt>
                <c:pt idx="110">
                  <c:v>44272</c:v>
                </c:pt>
                <c:pt idx="111">
                  <c:v>44273</c:v>
                </c:pt>
                <c:pt idx="112">
                  <c:v>44274</c:v>
                </c:pt>
                <c:pt idx="113">
                  <c:v>44276</c:v>
                </c:pt>
                <c:pt idx="114">
                  <c:v>44277</c:v>
                </c:pt>
                <c:pt idx="115">
                  <c:v>44278</c:v>
                </c:pt>
                <c:pt idx="116">
                  <c:v>44279</c:v>
                </c:pt>
                <c:pt idx="117">
                  <c:v>44280</c:v>
                </c:pt>
                <c:pt idx="118">
                  <c:v>44281</c:v>
                </c:pt>
                <c:pt idx="119">
                  <c:v>44282</c:v>
                </c:pt>
                <c:pt idx="120">
                  <c:v>44283</c:v>
                </c:pt>
                <c:pt idx="121">
                  <c:v>44284</c:v>
                </c:pt>
                <c:pt idx="122">
                  <c:v>44285</c:v>
                </c:pt>
                <c:pt idx="123">
                  <c:v>44286</c:v>
                </c:pt>
                <c:pt idx="124">
                  <c:v>44287</c:v>
                </c:pt>
                <c:pt idx="125">
                  <c:v>44288</c:v>
                </c:pt>
                <c:pt idx="126">
                  <c:v>44289</c:v>
                </c:pt>
                <c:pt idx="127">
                  <c:v>44290</c:v>
                </c:pt>
                <c:pt idx="128">
                  <c:v>44291</c:v>
                </c:pt>
                <c:pt idx="129">
                  <c:v>44292</c:v>
                </c:pt>
                <c:pt idx="130">
                  <c:v>44293</c:v>
                </c:pt>
                <c:pt idx="131">
                  <c:v>44294</c:v>
                </c:pt>
                <c:pt idx="132">
                  <c:v>44297</c:v>
                </c:pt>
                <c:pt idx="133">
                  <c:v>44298</c:v>
                </c:pt>
                <c:pt idx="134">
                  <c:v>44299</c:v>
                </c:pt>
                <c:pt idx="135">
                  <c:v>44300</c:v>
                </c:pt>
                <c:pt idx="136">
                  <c:v>44301</c:v>
                </c:pt>
                <c:pt idx="137">
                  <c:v>44302</c:v>
                </c:pt>
                <c:pt idx="138">
                  <c:v>44304</c:v>
                </c:pt>
                <c:pt idx="139">
                  <c:v>44307</c:v>
                </c:pt>
                <c:pt idx="140">
                  <c:v>44308</c:v>
                </c:pt>
                <c:pt idx="141">
                  <c:v>44309</c:v>
                </c:pt>
                <c:pt idx="142">
                  <c:v>44310</c:v>
                </c:pt>
                <c:pt idx="143">
                  <c:v>44311</c:v>
                </c:pt>
                <c:pt idx="144">
                  <c:v>44312</c:v>
                </c:pt>
                <c:pt idx="145">
                  <c:v>44313</c:v>
                </c:pt>
                <c:pt idx="146">
                  <c:v>44315</c:v>
                </c:pt>
                <c:pt idx="147">
                  <c:v>44316</c:v>
                </c:pt>
                <c:pt idx="148">
                  <c:v>44317</c:v>
                </c:pt>
                <c:pt idx="149">
                  <c:v>44318</c:v>
                </c:pt>
                <c:pt idx="150">
                  <c:v>44319</c:v>
                </c:pt>
                <c:pt idx="151">
                  <c:v>44320</c:v>
                </c:pt>
                <c:pt idx="152">
                  <c:v>44322</c:v>
                </c:pt>
                <c:pt idx="153">
                  <c:v>44323</c:v>
                </c:pt>
                <c:pt idx="154">
                  <c:v>44324</c:v>
                </c:pt>
                <c:pt idx="155">
                  <c:v>44325</c:v>
                </c:pt>
                <c:pt idx="156">
                  <c:v>44326</c:v>
                </c:pt>
                <c:pt idx="157">
                  <c:v>44327</c:v>
                </c:pt>
                <c:pt idx="158">
                  <c:v>44328</c:v>
                </c:pt>
                <c:pt idx="159">
                  <c:v>44329</c:v>
                </c:pt>
                <c:pt idx="160">
                  <c:v>44332</c:v>
                </c:pt>
                <c:pt idx="161">
                  <c:v>44333</c:v>
                </c:pt>
                <c:pt idx="162">
                  <c:v>44334</c:v>
                </c:pt>
                <c:pt idx="163">
                  <c:v>44335</c:v>
                </c:pt>
                <c:pt idx="164">
                  <c:v>44336</c:v>
                </c:pt>
                <c:pt idx="165">
                  <c:v>44337</c:v>
                </c:pt>
                <c:pt idx="166">
                  <c:v>44338</c:v>
                </c:pt>
                <c:pt idx="167">
                  <c:v>44339</c:v>
                </c:pt>
                <c:pt idx="168">
                  <c:v>44340</c:v>
                </c:pt>
                <c:pt idx="169">
                  <c:v>44341</c:v>
                </c:pt>
                <c:pt idx="170">
                  <c:v>44342</c:v>
                </c:pt>
                <c:pt idx="171">
                  <c:v>44343</c:v>
                </c:pt>
                <c:pt idx="172">
                  <c:v>44344</c:v>
                </c:pt>
                <c:pt idx="173">
                  <c:v>44345</c:v>
                </c:pt>
                <c:pt idx="174">
                  <c:v>44346</c:v>
                </c:pt>
                <c:pt idx="175">
                  <c:v>44347</c:v>
                </c:pt>
                <c:pt idx="176">
                  <c:v>44349</c:v>
                </c:pt>
                <c:pt idx="177">
                  <c:v>44350</c:v>
                </c:pt>
                <c:pt idx="178">
                  <c:v>44355</c:v>
                </c:pt>
                <c:pt idx="179">
                  <c:v>44356</c:v>
                </c:pt>
                <c:pt idx="180">
                  <c:v>44357</c:v>
                </c:pt>
                <c:pt idx="181">
                  <c:v>44358</c:v>
                </c:pt>
                <c:pt idx="182">
                  <c:v>44359</c:v>
                </c:pt>
                <c:pt idx="183">
                  <c:v>44360</c:v>
                </c:pt>
                <c:pt idx="184">
                  <c:v>44361</c:v>
                </c:pt>
                <c:pt idx="185">
                  <c:v>44371</c:v>
                </c:pt>
                <c:pt idx="186">
                  <c:v>44372</c:v>
                </c:pt>
                <c:pt idx="187">
                  <c:v>44373</c:v>
                </c:pt>
                <c:pt idx="188">
                  <c:v>44376</c:v>
                </c:pt>
                <c:pt idx="189">
                  <c:v>44377</c:v>
                </c:pt>
                <c:pt idx="190">
                  <c:v>44378</c:v>
                </c:pt>
                <c:pt idx="191">
                  <c:v>44379</c:v>
                </c:pt>
                <c:pt idx="192">
                  <c:v>44380</c:v>
                </c:pt>
                <c:pt idx="193">
                  <c:v>44381</c:v>
                </c:pt>
                <c:pt idx="194">
                  <c:v>44382</c:v>
                </c:pt>
                <c:pt idx="195">
                  <c:v>44383</c:v>
                </c:pt>
                <c:pt idx="196">
                  <c:v>44384</c:v>
                </c:pt>
                <c:pt idx="197">
                  <c:v>44385</c:v>
                </c:pt>
                <c:pt idx="198">
                  <c:v>44386</c:v>
                </c:pt>
                <c:pt idx="199">
                  <c:v>44387</c:v>
                </c:pt>
                <c:pt idx="200">
                  <c:v>44388</c:v>
                </c:pt>
                <c:pt idx="201">
                  <c:v>44389</c:v>
                </c:pt>
                <c:pt idx="202">
                  <c:v>44390</c:v>
                </c:pt>
                <c:pt idx="203">
                  <c:v>44391</c:v>
                </c:pt>
                <c:pt idx="204">
                  <c:v>44392</c:v>
                </c:pt>
                <c:pt idx="205">
                  <c:v>44393</c:v>
                </c:pt>
                <c:pt idx="206">
                  <c:v>44394</c:v>
                </c:pt>
                <c:pt idx="207">
                  <c:v>44395</c:v>
                </c:pt>
                <c:pt idx="208">
                  <c:v>44396</c:v>
                </c:pt>
                <c:pt idx="209">
                  <c:v>44397</c:v>
                </c:pt>
                <c:pt idx="210">
                  <c:v>44398</c:v>
                </c:pt>
                <c:pt idx="211">
                  <c:v>44399</c:v>
                </c:pt>
                <c:pt idx="212">
                  <c:v>44400</c:v>
                </c:pt>
                <c:pt idx="213">
                  <c:v>44401</c:v>
                </c:pt>
                <c:pt idx="214">
                  <c:v>44402</c:v>
                </c:pt>
                <c:pt idx="215">
                  <c:v>44403</c:v>
                </c:pt>
                <c:pt idx="216">
                  <c:v>44404</c:v>
                </c:pt>
                <c:pt idx="217">
                  <c:v>44405</c:v>
                </c:pt>
                <c:pt idx="218">
                  <c:v>44406</c:v>
                </c:pt>
                <c:pt idx="219">
                  <c:v>44407</c:v>
                </c:pt>
                <c:pt idx="220">
                  <c:v>44408</c:v>
                </c:pt>
                <c:pt idx="221">
                  <c:v>44409</c:v>
                </c:pt>
                <c:pt idx="222">
                  <c:v>44410</c:v>
                </c:pt>
                <c:pt idx="223">
                  <c:v>44411</c:v>
                </c:pt>
                <c:pt idx="224">
                  <c:v>44412</c:v>
                </c:pt>
                <c:pt idx="225">
                  <c:v>44413</c:v>
                </c:pt>
                <c:pt idx="226">
                  <c:v>44414</c:v>
                </c:pt>
                <c:pt idx="227">
                  <c:v>44415</c:v>
                </c:pt>
                <c:pt idx="228">
                  <c:v>44416</c:v>
                </c:pt>
                <c:pt idx="229">
                  <c:v>44417</c:v>
                </c:pt>
                <c:pt idx="230">
                  <c:v>44418</c:v>
                </c:pt>
                <c:pt idx="231">
                  <c:v>44419</c:v>
                </c:pt>
                <c:pt idx="232">
                  <c:v>44420</c:v>
                </c:pt>
                <c:pt idx="233">
                  <c:v>44421</c:v>
                </c:pt>
                <c:pt idx="234">
                  <c:v>44422</c:v>
                </c:pt>
                <c:pt idx="235">
                  <c:v>44423</c:v>
                </c:pt>
                <c:pt idx="236">
                  <c:v>44424</c:v>
                </c:pt>
                <c:pt idx="237">
                  <c:v>44425</c:v>
                </c:pt>
                <c:pt idx="238">
                  <c:v>44426</c:v>
                </c:pt>
                <c:pt idx="239">
                  <c:v>44427</c:v>
                </c:pt>
                <c:pt idx="240">
                  <c:v>44428</c:v>
                </c:pt>
                <c:pt idx="241">
                  <c:v>44429</c:v>
                </c:pt>
                <c:pt idx="242">
                  <c:v>44430</c:v>
                </c:pt>
                <c:pt idx="243">
                  <c:v>44431</c:v>
                </c:pt>
                <c:pt idx="244">
                  <c:v>44432</c:v>
                </c:pt>
                <c:pt idx="245">
                  <c:v>44433</c:v>
                </c:pt>
                <c:pt idx="246">
                  <c:v>44434</c:v>
                </c:pt>
                <c:pt idx="247">
                  <c:v>44435</c:v>
                </c:pt>
                <c:pt idx="248">
                  <c:v>44436</c:v>
                </c:pt>
                <c:pt idx="249">
                  <c:v>44437</c:v>
                </c:pt>
                <c:pt idx="250">
                  <c:v>44438</c:v>
                </c:pt>
                <c:pt idx="251">
                  <c:v>44439</c:v>
                </c:pt>
                <c:pt idx="252">
                  <c:v>44440</c:v>
                </c:pt>
                <c:pt idx="253">
                  <c:v>44441</c:v>
                </c:pt>
                <c:pt idx="254">
                  <c:v>44442</c:v>
                </c:pt>
                <c:pt idx="255">
                  <c:v>44443</c:v>
                </c:pt>
                <c:pt idx="256">
                  <c:v>44444</c:v>
                </c:pt>
                <c:pt idx="257">
                  <c:v>44445</c:v>
                </c:pt>
                <c:pt idx="258">
                  <c:v>44446</c:v>
                </c:pt>
                <c:pt idx="259">
                  <c:v>44447</c:v>
                </c:pt>
                <c:pt idx="260">
                  <c:v>44448</c:v>
                </c:pt>
                <c:pt idx="261">
                  <c:v>44449</c:v>
                </c:pt>
                <c:pt idx="262">
                  <c:v>44450</c:v>
                </c:pt>
                <c:pt idx="263">
                  <c:v>44451</c:v>
                </c:pt>
                <c:pt idx="264">
                  <c:v>44452</c:v>
                </c:pt>
                <c:pt idx="265">
                  <c:v>44453</c:v>
                </c:pt>
                <c:pt idx="266">
                  <c:v>44454</c:v>
                </c:pt>
                <c:pt idx="267">
                  <c:v>44455</c:v>
                </c:pt>
                <c:pt idx="268">
                  <c:v>44456</c:v>
                </c:pt>
                <c:pt idx="269">
                  <c:v>44457</c:v>
                </c:pt>
                <c:pt idx="270">
                  <c:v>44458</c:v>
                </c:pt>
                <c:pt idx="271">
                  <c:v>44459</c:v>
                </c:pt>
                <c:pt idx="272">
                  <c:v>44460</c:v>
                </c:pt>
                <c:pt idx="273">
                  <c:v>44461</c:v>
                </c:pt>
                <c:pt idx="274">
                  <c:v>44462</c:v>
                </c:pt>
                <c:pt idx="275">
                  <c:v>44463</c:v>
                </c:pt>
                <c:pt idx="276">
                  <c:v>44464</c:v>
                </c:pt>
                <c:pt idx="277">
                  <c:v>44465</c:v>
                </c:pt>
                <c:pt idx="278">
                  <c:v>44466</c:v>
                </c:pt>
                <c:pt idx="279">
                  <c:v>44467</c:v>
                </c:pt>
                <c:pt idx="280">
                  <c:v>44468</c:v>
                </c:pt>
                <c:pt idx="281">
                  <c:v>44469</c:v>
                </c:pt>
                <c:pt idx="282">
                  <c:v>44470</c:v>
                </c:pt>
                <c:pt idx="283">
                  <c:v>44471</c:v>
                </c:pt>
                <c:pt idx="284">
                  <c:v>44472</c:v>
                </c:pt>
                <c:pt idx="285">
                  <c:v>44473</c:v>
                </c:pt>
                <c:pt idx="286">
                  <c:v>44474</c:v>
                </c:pt>
                <c:pt idx="287">
                  <c:v>44475</c:v>
                </c:pt>
                <c:pt idx="288">
                  <c:v>44476</c:v>
                </c:pt>
                <c:pt idx="289">
                  <c:v>44477</c:v>
                </c:pt>
                <c:pt idx="290">
                  <c:v>44478</c:v>
                </c:pt>
                <c:pt idx="291">
                  <c:v>44479</c:v>
                </c:pt>
                <c:pt idx="292">
                  <c:v>44480</c:v>
                </c:pt>
                <c:pt idx="293">
                  <c:v>44481</c:v>
                </c:pt>
                <c:pt idx="294">
                  <c:v>44482</c:v>
                </c:pt>
                <c:pt idx="295">
                  <c:v>44483</c:v>
                </c:pt>
                <c:pt idx="296">
                  <c:v>44484</c:v>
                </c:pt>
                <c:pt idx="297">
                  <c:v>44485</c:v>
                </c:pt>
                <c:pt idx="298">
                  <c:v>44486</c:v>
                </c:pt>
                <c:pt idx="299">
                  <c:v>44487</c:v>
                </c:pt>
                <c:pt idx="300">
                  <c:v>44488</c:v>
                </c:pt>
                <c:pt idx="301">
                  <c:v>44489</c:v>
                </c:pt>
                <c:pt idx="302">
                  <c:v>44490</c:v>
                </c:pt>
                <c:pt idx="303">
                  <c:v>44491</c:v>
                </c:pt>
                <c:pt idx="304">
                  <c:v>44492</c:v>
                </c:pt>
                <c:pt idx="305">
                  <c:v>44493</c:v>
                </c:pt>
                <c:pt idx="306">
                  <c:v>44494</c:v>
                </c:pt>
                <c:pt idx="307">
                  <c:v>44495</c:v>
                </c:pt>
                <c:pt idx="308">
                  <c:v>44496</c:v>
                </c:pt>
                <c:pt idx="309">
                  <c:v>44497</c:v>
                </c:pt>
                <c:pt idx="310">
                  <c:v>44498</c:v>
                </c:pt>
                <c:pt idx="311">
                  <c:v>44499</c:v>
                </c:pt>
                <c:pt idx="312">
                  <c:v>44500</c:v>
                </c:pt>
                <c:pt idx="313">
                  <c:v>44501</c:v>
                </c:pt>
                <c:pt idx="314">
                  <c:v>44502</c:v>
                </c:pt>
                <c:pt idx="315">
                  <c:v>44503</c:v>
                </c:pt>
                <c:pt idx="316">
                  <c:v>44504</c:v>
                </c:pt>
                <c:pt idx="317">
                  <c:v>44505</c:v>
                </c:pt>
                <c:pt idx="318">
                  <c:v>44506</c:v>
                </c:pt>
                <c:pt idx="319">
                  <c:v>44507</c:v>
                </c:pt>
                <c:pt idx="320">
                  <c:v>44508</c:v>
                </c:pt>
                <c:pt idx="321">
                  <c:v>44509</c:v>
                </c:pt>
                <c:pt idx="322">
                  <c:v>44510</c:v>
                </c:pt>
                <c:pt idx="323">
                  <c:v>44511</c:v>
                </c:pt>
                <c:pt idx="324">
                  <c:v>44512</c:v>
                </c:pt>
                <c:pt idx="325">
                  <c:v>44513</c:v>
                </c:pt>
                <c:pt idx="326">
                  <c:v>44514</c:v>
                </c:pt>
                <c:pt idx="327">
                  <c:v>44515</c:v>
                </c:pt>
                <c:pt idx="328">
                  <c:v>44516</c:v>
                </c:pt>
                <c:pt idx="329">
                  <c:v>44517</c:v>
                </c:pt>
                <c:pt idx="330">
                  <c:v>44518</c:v>
                </c:pt>
                <c:pt idx="331">
                  <c:v>44519</c:v>
                </c:pt>
                <c:pt idx="332">
                  <c:v>44520</c:v>
                </c:pt>
                <c:pt idx="333">
                  <c:v>44521</c:v>
                </c:pt>
                <c:pt idx="334">
                  <c:v>44522</c:v>
                </c:pt>
                <c:pt idx="335">
                  <c:v>44523</c:v>
                </c:pt>
                <c:pt idx="336">
                  <c:v>44524</c:v>
                </c:pt>
                <c:pt idx="337">
                  <c:v>44525</c:v>
                </c:pt>
                <c:pt idx="338">
                  <c:v>44526</c:v>
                </c:pt>
                <c:pt idx="339">
                  <c:v>44527</c:v>
                </c:pt>
                <c:pt idx="340">
                  <c:v>44528</c:v>
                </c:pt>
                <c:pt idx="341">
                  <c:v>44529</c:v>
                </c:pt>
                <c:pt idx="342">
                  <c:v>44530</c:v>
                </c:pt>
                <c:pt idx="343">
                  <c:v>44531</c:v>
                </c:pt>
                <c:pt idx="344">
                  <c:v>44532</c:v>
                </c:pt>
                <c:pt idx="345">
                  <c:v>44533</c:v>
                </c:pt>
                <c:pt idx="346">
                  <c:v>44534</c:v>
                </c:pt>
                <c:pt idx="347">
                  <c:v>44535</c:v>
                </c:pt>
                <c:pt idx="348">
                  <c:v>44536</c:v>
                </c:pt>
                <c:pt idx="349">
                  <c:v>44537</c:v>
                </c:pt>
                <c:pt idx="350">
                  <c:v>44538</c:v>
                </c:pt>
                <c:pt idx="351">
                  <c:v>44539</c:v>
                </c:pt>
                <c:pt idx="352">
                  <c:v>44540</c:v>
                </c:pt>
                <c:pt idx="353">
                  <c:v>44541</c:v>
                </c:pt>
                <c:pt idx="354">
                  <c:v>44542</c:v>
                </c:pt>
                <c:pt idx="355">
                  <c:v>44543</c:v>
                </c:pt>
                <c:pt idx="356">
                  <c:v>44544</c:v>
                </c:pt>
                <c:pt idx="357">
                  <c:v>44545</c:v>
                </c:pt>
                <c:pt idx="358">
                  <c:v>44546</c:v>
                </c:pt>
                <c:pt idx="359">
                  <c:v>44547</c:v>
                </c:pt>
                <c:pt idx="360">
                  <c:v>44548</c:v>
                </c:pt>
                <c:pt idx="361">
                  <c:v>44549</c:v>
                </c:pt>
                <c:pt idx="362">
                  <c:v>44550</c:v>
                </c:pt>
                <c:pt idx="363">
                  <c:v>44551</c:v>
                </c:pt>
                <c:pt idx="364">
                  <c:v>44552</c:v>
                </c:pt>
                <c:pt idx="365">
                  <c:v>44553</c:v>
                </c:pt>
                <c:pt idx="366">
                  <c:v>44554</c:v>
                </c:pt>
                <c:pt idx="367">
                  <c:v>44555</c:v>
                </c:pt>
                <c:pt idx="368">
                  <c:v>44556</c:v>
                </c:pt>
                <c:pt idx="369">
                  <c:v>44557</c:v>
                </c:pt>
                <c:pt idx="370">
                  <c:v>44558</c:v>
                </c:pt>
                <c:pt idx="371">
                  <c:v>44559</c:v>
                </c:pt>
                <c:pt idx="372">
                  <c:v>44560</c:v>
                </c:pt>
                <c:pt idx="373">
                  <c:v>44561</c:v>
                </c:pt>
                <c:pt idx="374">
                  <c:v>44562</c:v>
                </c:pt>
                <c:pt idx="375">
                  <c:v>44563</c:v>
                </c:pt>
                <c:pt idx="376">
                  <c:v>44564</c:v>
                </c:pt>
                <c:pt idx="377">
                  <c:v>44565</c:v>
                </c:pt>
                <c:pt idx="378">
                  <c:v>44566</c:v>
                </c:pt>
                <c:pt idx="379">
                  <c:v>44567</c:v>
                </c:pt>
                <c:pt idx="380">
                  <c:v>44568</c:v>
                </c:pt>
                <c:pt idx="381">
                  <c:v>44569</c:v>
                </c:pt>
                <c:pt idx="382">
                  <c:v>44570</c:v>
                </c:pt>
              </c:numCache>
            </c:numRef>
          </c:cat>
          <c:val>
            <c:numRef>
              <c:f>'일반 중환자 병상 통계'!$J$2:$J$384</c:f>
              <c:numCache>
                <c:formatCode>0_);[Red]\(0\)</c:formatCode>
                <c:ptCount val="383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6</c:v>
                </c:pt>
                <c:pt idx="13">
                  <c:v>0</c:v>
                </c:pt>
                <c:pt idx="14">
                  <c:v>3</c:v>
                </c:pt>
                <c:pt idx="15">
                  <c:v>1</c:v>
                </c:pt>
                <c:pt idx="16">
                  <c:v>4</c:v>
                </c:pt>
                <c:pt idx="17">
                  <c:v>14</c:v>
                </c:pt>
                <c:pt idx="18">
                  <c:v>3</c:v>
                </c:pt>
                <c:pt idx="19">
                  <c:v>7</c:v>
                </c:pt>
                <c:pt idx="20">
                  <c:v>10</c:v>
                </c:pt>
                <c:pt idx="21">
                  <c:v>1</c:v>
                </c:pt>
                <c:pt idx="22">
                  <c:v>4</c:v>
                </c:pt>
                <c:pt idx="23">
                  <c:v>6</c:v>
                </c:pt>
                <c:pt idx="24">
                  <c:v>4</c:v>
                </c:pt>
                <c:pt idx="25">
                  <c:v>5</c:v>
                </c:pt>
                <c:pt idx="26">
                  <c:v>4</c:v>
                </c:pt>
                <c:pt idx="27">
                  <c:v>3</c:v>
                </c:pt>
                <c:pt idx="28">
                  <c:v>55</c:v>
                </c:pt>
                <c:pt idx="29">
                  <c:v>15</c:v>
                </c:pt>
                <c:pt idx="30">
                  <c:v>0</c:v>
                </c:pt>
                <c:pt idx="31">
                  <c:v>0</c:v>
                </c:pt>
                <c:pt idx="32">
                  <c:v>1</c:v>
                </c:pt>
                <c:pt idx="33">
                  <c:v>1</c:v>
                </c:pt>
                <c:pt idx="34">
                  <c:v>0</c:v>
                </c:pt>
                <c:pt idx="35">
                  <c:v>5</c:v>
                </c:pt>
                <c:pt idx="36">
                  <c:v>17</c:v>
                </c:pt>
                <c:pt idx="37">
                  <c:v>52</c:v>
                </c:pt>
                <c:pt idx="38">
                  <c:v>25</c:v>
                </c:pt>
                <c:pt idx="39">
                  <c:v>15</c:v>
                </c:pt>
                <c:pt idx="40">
                  <c:v>35</c:v>
                </c:pt>
                <c:pt idx="41">
                  <c:v>31</c:v>
                </c:pt>
                <c:pt idx="42">
                  <c:v>23</c:v>
                </c:pt>
                <c:pt idx="43">
                  <c:v>24</c:v>
                </c:pt>
                <c:pt idx="44">
                  <c:v>33</c:v>
                </c:pt>
                <c:pt idx="45">
                  <c:v>20</c:v>
                </c:pt>
                <c:pt idx="46">
                  <c:v>42</c:v>
                </c:pt>
                <c:pt idx="47">
                  <c:v>41</c:v>
                </c:pt>
                <c:pt idx="48">
                  <c:v>39</c:v>
                </c:pt>
                <c:pt idx="49">
                  <c:v>22</c:v>
                </c:pt>
                <c:pt idx="50">
                  <c:v>23</c:v>
                </c:pt>
                <c:pt idx="51">
                  <c:v>36</c:v>
                </c:pt>
                <c:pt idx="52">
                  <c:v>40</c:v>
                </c:pt>
                <c:pt idx="53">
                  <c:v>35</c:v>
                </c:pt>
                <c:pt idx="54">
                  <c:v>16</c:v>
                </c:pt>
                <c:pt idx="55">
                  <c:v>39</c:v>
                </c:pt>
                <c:pt idx="56">
                  <c:v>74</c:v>
                </c:pt>
                <c:pt idx="57">
                  <c:v>15</c:v>
                </c:pt>
                <c:pt idx="58">
                  <c:v>38</c:v>
                </c:pt>
                <c:pt idx="59">
                  <c:v>23</c:v>
                </c:pt>
                <c:pt idx="60">
                  <c:v>24</c:v>
                </c:pt>
                <c:pt idx="61">
                  <c:v>19</c:v>
                </c:pt>
                <c:pt idx="62">
                  <c:v>21</c:v>
                </c:pt>
                <c:pt idx="63">
                  <c:v>36</c:v>
                </c:pt>
                <c:pt idx="64">
                  <c:v>43</c:v>
                </c:pt>
                <c:pt idx="65">
                  <c:v>17</c:v>
                </c:pt>
                <c:pt idx="66">
                  <c:v>13</c:v>
                </c:pt>
                <c:pt idx="67">
                  <c:v>19</c:v>
                </c:pt>
                <c:pt idx="68">
                  <c:v>23</c:v>
                </c:pt>
                <c:pt idx="69">
                  <c:v>20</c:v>
                </c:pt>
                <c:pt idx="70">
                  <c:v>32</c:v>
                </c:pt>
                <c:pt idx="71">
                  <c:v>54</c:v>
                </c:pt>
                <c:pt idx="72">
                  <c:v>15</c:v>
                </c:pt>
                <c:pt idx="73">
                  <c:v>12</c:v>
                </c:pt>
                <c:pt idx="74">
                  <c:v>19</c:v>
                </c:pt>
                <c:pt idx="75">
                  <c:v>26</c:v>
                </c:pt>
                <c:pt idx="76">
                  <c:v>33</c:v>
                </c:pt>
                <c:pt idx="77">
                  <c:v>14</c:v>
                </c:pt>
                <c:pt idx="78">
                  <c:v>9</c:v>
                </c:pt>
                <c:pt idx="79">
                  <c:v>9</c:v>
                </c:pt>
                <c:pt idx="80">
                  <c:v>19</c:v>
                </c:pt>
                <c:pt idx="81">
                  <c:v>29</c:v>
                </c:pt>
                <c:pt idx="82">
                  <c:v>15</c:v>
                </c:pt>
                <c:pt idx="83">
                  <c:v>15</c:v>
                </c:pt>
                <c:pt idx="84">
                  <c:v>19</c:v>
                </c:pt>
                <c:pt idx="85">
                  <c:v>19</c:v>
                </c:pt>
                <c:pt idx="86">
                  <c:v>28</c:v>
                </c:pt>
                <c:pt idx="87">
                  <c:v>16</c:v>
                </c:pt>
                <c:pt idx="88">
                  <c:v>14</c:v>
                </c:pt>
                <c:pt idx="89">
                  <c:v>12</c:v>
                </c:pt>
                <c:pt idx="90">
                  <c:v>12</c:v>
                </c:pt>
                <c:pt idx="91">
                  <c:v>12</c:v>
                </c:pt>
                <c:pt idx="92">
                  <c:v>13</c:v>
                </c:pt>
                <c:pt idx="93">
                  <c:v>18</c:v>
                </c:pt>
                <c:pt idx="94">
                  <c:v>11</c:v>
                </c:pt>
                <c:pt idx="95">
                  <c:v>9</c:v>
                </c:pt>
                <c:pt idx="96">
                  <c:v>5</c:v>
                </c:pt>
                <c:pt idx="97">
                  <c:v>16</c:v>
                </c:pt>
                <c:pt idx="98">
                  <c:v>17</c:v>
                </c:pt>
                <c:pt idx="99">
                  <c:v>8</c:v>
                </c:pt>
                <c:pt idx="100">
                  <c:v>18</c:v>
                </c:pt>
                <c:pt idx="101">
                  <c:v>7</c:v>
                </c:pt>
                <c:pt idx="102">
                  <c:v>16</c:v>
                </c:pt>
                <c:pt idx="103">
                  <c:v>7</c:v>
                </c:pt>
                <c:pt idx="104">
                  <c:v>14</c:v>
                </c:pt>
                <c:pt idx="105">
                  <c:v>15</c:v>
                </c:pt>
                <c:pt idx="106">
                  <c:v>17</c:v>
                </c:pt>
                <c:pt idx="107">
                  <c:v>13</c:v>
                </c:pt>
                <c:pt idx="108">
                  <c:v>4</c:v>
                </c:pt>
                <c:pt idx="109">
                  <c:v>7</c:v>
                </c:pt>
                <c:pt idx="110">
                  <c:v>11</c:v>
                </c:pt>
                <c:pt idx="111">
                  <c:v>7</c:v>
                </c:pt>
                <c:pt idx="112">
                  <c:v>7</c:v>
                </c:pt>
                <c:pt idx="113">
                  <c:v>18</c:v>
                </c:pt>
                <c:pt idx="114">
                  <c:v>27</c:v>
                </c:pt>
                <c:pt idx="115">
                  <c:v>8</c:v>
                </c:pt>
                <c:pt idx="116">
                  <c:v>17</c:v>
                </c:pt>
                <c:pt idx="117">
                  <c:v>20</c:v>
                </c:pt>
                <c:pt idx="118">
                  <c:v>11</c:v>
                </c:pt>
                <c:pt idx="119">
                  <c:v>39</c:v>
                </c:pt>
                <c:pt idx="120">
                  <c:v>50</c:v>
                </c:pt>
                <c:pt idx="121">
                  <c:v>53</c:v>
                </c:pt>
                <c:pt idx="122">
                  <c:v>43</c:v>
                </c:pt>
                <c:pt idx="123">
                  <c:v>58</c:v>
                </c:pt>
                <c:pt idx="124">
                  <c:v>54</c:v>
                </c:pt>
                <c:pt idx="125">
                  <c:v>58</c:v>
                </c:pt>
                <c:pt idx="126">
                  <c:v>41</c:v>
                </c:pt>
                <c:pt idx="127">
                  <c:v>61</c:v>
                </c:pt>
                <c:pt idx="128">
                  <c:v>48</c:v>
                </c:pt>
                <c:pt idx="129">
                  <c:v>34</c:v>
                </c:pt>
                <c:pt idx="130">
                  <c:v>38</c:v>
                </c:pt>
                <c:pt idx="131">
                  <c:v>52</c:v>
                </c:pt>
                <c:pt idx="132">
                  <c:v>45</c:v>
                </c:pt>
                <c:pt idx="133">
                  <c:v>47</c:v>
                </c:pt>
                <c:pt idx="134">
                  <c:v>39</c:v>
                </c:pt>
                <c:pt idx="135">
                  <c:v>49</c:v>
                </c:pt>
                <c:pt idx="136">
                  <c:v>54</c:v>
                </c:pt>
                <c:pt idx="137">
                  <c:v>44</c:v>
                </c:pt>
                <c:pt idx="138">
                  <c:v>31</c:v>
                </c:pt>
                <c:pt idx="139">
                  <c:v>33</c:v>
                </c:pt>
                <c:pt idx="140">
                  <c:v>37</c:v>
                </c:pt>
                <c:pt idx="141">
                  <c:v>33</c:v>
                </c:pt>
                <c:pt idx="142">
                  <c:v>44</c:v>
                </c:pt>
                <c:pt idx="143">
                  <c:v>43</c:v>
                </c:pt>
                <c:pt idx="144">
                  <c:v>25</c:v>
                </c:pt>
                <c:pt idx="145">
                  <c:v>30</c:v>
                </c:pt>
                <c:pt idx="146">
                  <c:v>40</c:v>
                </c:pt>
                <c:pt idx="147">
                  <c:v>32</c:v>
                </c:pt>
                <c:pt idx="148">
                  <c:v>29</c:v>
                </c:pt>
                <c:pt idx="149">
                  <c:v>33</c:v>
                </c:pt>
                <c:pt idx="150">
                  <c:v>16</c:v>
                </c:pt>
                <c:pt idx="151">
                  <c:v>16</c:v>
                </c:pt>
                <c:pt idx="152">
                  <c:v>28</c:v>
                </c:pt>
                <c:pt idx="153">
                  <c:v>21</c:v>
                </c:pt>
                <c:pt idx="154">
                  <c:v>27</c:v>
                </c:pt>
                <c:pt idx="155">
                  <c:v>10</c:v>
                </c:pt>
                <c:pt idx="156">
                  <c:v>20</c:v>
                </c:pt>
                <c:pt idx="157">
                  <c:v>14</c:v>
                </c:pt>
                <c:pt idx="158">
                  <c:v>10</c:v>
                </c:pt>
                <c:pt idx="159">
                  <c:v>20</c:v>
                </c:pt>
                <c:pt idx="160">
                  <c:v>31</c:v>
                </c:pt>
                <c:pt idx="161">
                  <c:v>12</c:v>
                </c:pt>
                <c:pt idx="162">
                  <c:v>13</c:v>
                </c:pt>
                <c:pt idx="163">
                  <c:v>27</c:v>
                </c:pt>
                <c:pt idx="164">
                  <c:v>17</c:v>
                </c:pt>
                <c:pt idx="165">
                  <c:v>15</c:v>
                </c:pt>
                <c:pt idx="166">
                  <c:v>28</c:v>
                </c:pt>
                <c:pt idx="167">
                  <c:v>15</c:v>
                </c:pt>
                <c:pt idx="168">
                  <c:v>15</c:v>
                </c:pt>
                <c:pt idx="169">
                  <c:v>16</c:v>
                </c:pt>
                <c:pt idx="170">
                  <c:v>22</c:v>
                </c:pt>
                <c:pt idx="171">
                  <c:v>18</c:v>
                </c:pt>
                <c:pt idx="172">
                  <c:v>13</c:v>
                </c:pt>
                <c:pt idx="173">
                  <c:v>14</c:v>
                </c:pt>
                <c:pt idx="174">
                  <c:v>13</c:v>
                </c:pt>
                <c:pt idx="175">
                  <c:v>17</c:v>
                </c:pt>
                <c:pt idx="176">
                  <c:v>21</c:v>
                </c:pt>
                <c:pt idx="177">
                  <c:v>32</c:v>
                </c:pt>
                <c:pt idx="178">
                  <c:v>15</c:v>
                </c:pt>
                <c:pt idx="179">
                  <c:v>16</c:v>
                </c:pt>
                <c:pt idx="180">
                  <c:v>15</c:v>
                </c:pt>
                <c:pt idx="181">
                  <c:v>28</c:v>
                </c:pt>
                <c:pt idx="182">
                  <c:v>26</c:v>
                </c:pt>
                <c:pt idx="183">
                  <c:v>13</c:v>
                </c:pt>
                <c:pt idx="184">
                  <c:v>17</c:v>
                </c:pt>
                <c:pt idx="185">
                  <c:v>20</c:v>
                </c:pt>
                <c:pt idx="186">
                  <c:v>27</c:v>
                </c:pt>
                <c:pt idx="187">
                  <c:v>31</c:v>
                </c:pt>
                <c:pt idx="188">
                  <c:v>9</c:v>
                </c:pt>
                <c:pt idx="189">
                  <c:v>14</c:v>
                </c:pt>
                <c:pt idx="190">
                  <c:v>18</c:v>
                </c:pt>
                <c:pt idx="191">
                  <c:v>29</c:v>
                </c:pt>
                <c:pt idx="192">
                  <c:v>39</c:v>
                </c:pt>
                <c:pt idx="193">
                  <c:v>28</c:v>
                </c:pt>
                <c:pt idx="194">
                  <c:v>25</c:v>
                </c:pt>
                <c:pt idx="195">
                  <c:v>30</c:v>
                </c:pt>
                <c:pt idx="196">
                  <c:v>33</c:v>
                </c:pt>
                <c:pt idx="197">
                  <c:v>57</c:v>
                </c:pt>
                <c:pt idx="198">
                  <c:v>56</c:v>
                </c:pt>
                <c:pt idx="199">
                  <c:v>61</c:v>
                </c:pt>
                <c:pt idx="200">
                  <c:v>56</c:v>
                </c:pt>
                <c:pt idx="201">
                  <c:v>44</c:v>
                </c:pt>
                <c:pt idx="202">
                  <c:v>51</c:v>
                </c:pt>
                <c:pt idx="203">
                  <c:v>63</c:v>
                </c:pt>
                <c:pt idx="204">
                  <c:v>65</c:v>
                </c:pt>
                <c:pt idx="205">
                  <c:v>50</c:v>
                </c:pt>
                <c:pt idx="206">
                  <c:v>62</c:v>
                </c:pt>
                <c:pt idx="207">
                  <c:v>70</c:v>
                </c:pt>
                <c:pt idx="208">
                  <c:v>65</c:v>
                </c:pt>
                <c:pt idx="209">
                  <c:v>49</c:v>
                </c:pt>
                <c:pt idx="210">
                  <c:v>102</c:v>
                </c:pt>
                <c:pt idx="211">
                  <c:v>104</c:v>
                </c:pt>
                <c:pt idx="212">
                  <c:v>116</c:v>
                </c:pt>
                <c:pt idx="213">
                  <c:v>116</c:v>
                </c:pt>
                <c:pt idx="214">
                  <c:v>108</c:v>
                </c:pt>
                <c:pt idx="215">
                  <c:v>89</c:v>
                </c:pt>
                <c:pt idx="216">
                  <c:v>66</c:v>
                </c:pt>
                <c:pt idx="217">
                  <c:v>102</c:v>
                </c:pt>
                <c:pt idx="218">
                  <c:v>82</c:v>
                </c:pt>
                <c:pt idx="219">
                  <c:v>78</c:v>
                </c:pt>
                <c:pt idx="220">
                  <c:v>72</c:v>
                </c:pt>
                <c:pt idx="221">
                  <c:v>58</c:v>
                </c:pt>
                <c:pt idx="222">
                  <c:v>72</c:v>
                </c:pt>
                <c:pt idx="223">
                  <c:v>69</c:v>
                </c:pt>
                <c:pt idx="224">
                  <c:v>111</c:v>
                </c:pt>
                <c:pt idx="225">
                  <c:v>112</c:v>
                </c:pt>
                <c:pt idx="226">
                  <c:v>107</c:v>
                </c:pt>
                <c:pt idx="227">
                  <c:v>146</c:v>
                </c:pt>
                <c:pt idx="228">
                  <c:v>147</c:v>
                </c:pt>
                <c:pt idx="229">
                  <c:v>123</c:v>
                </c:pt>
                <c:pt idx="230">
                  <c:v>105</c:v>
                </c:pt>
                <c:pt idx="231">
                  <c:v>126</c:v>
                </c:pt>
                <c:pt idx="232">
                  <c:v>132</c:v>
                </c:pt>
                <c:pt idx="233">
                  <c:v>180</c:v>
                </c:pt>
                <c:pt idx="234">
                  <c:v>153</c:v>
                </c:pt>
                <c:pt idx="235">
                  <c:v>156</c:v>
                </c:pt>
                <c:pt idx="236">
                  <c:v>127</c:v>
                </c:pt>
                <c:pt idx="237">
                  <c:v>66</c:v>
                </c:pt>
                <c:pt idx="238">
                  <c:v>124</c:v>
                </c:pt>
                <c:pt idx="239">
                  <c:v>138</c:v>
                </c:pt>
                <c:pt idx="240">
                  <c:v>132</c:v>
                </c:pt>
                <c:pt idx="241">
                  <c:v>86</c:v>
                </c:pt>
                <c:pt idx="242">
                  <c:v>113</c:v>
                </c:pt>
                <c:pt idx="243">
                  <c:v>63</c:v>
                </c:pt>
                <c:pt idx="244">
                  <c:v>61</c:v>
                </c:pt>
                <c:pt idx="245">
                  <c:v>86</c:v>
                </c:pt>
                <c:pt idx="246">
                  <c:v>78</c:v>
                </c:pt>
                <c:pt idx="247">
                  <c:v>68</c:v>
                </c:pt>
                <c:pt idx="248">
                  <c:v>76</c:v>
                </c:pt>
                <c:pt idx="249">
                  <c:v>64</c:v>
                </c:pt>
                <c:pt idx="250">
                  <c:v>57</c:v>
                </c:pt>
                <c:pt idx="251">
                  <c:v>44</c:v>
                </c:pt>
                <c:pt idx="252">
                  <c:v>69</c:v>
                </c:pt>
                <c:pt idx="253">
                  <c:v>71</c:v>
                </c:pt>
                <c:pt idx="254">
                  <c:v>58</c:v>
                </c:pt>
                <c:pt idx="255">
                  <c:v>51</c:v>
                </c:pt>
                <c:pt idx="256">
                  <c:v>39</c:v>
                </c:pt>
                <c:pt idx="257">
                  <c:v>52</c:v>
                </c:pt>
                <c:pt idx="258">
                  <c:v>35</c:v>
                </c:pt>
                <c:pt idx="259">
                  <c:v>31</c:v>
                </c:pt>
                <c:pt idx="260">
                  <c:v>35</c:v>
                </c:pt>
                <c:pt idx="261">
                  <c:v>38</c:v>
                </c:pt>
                <c:pt idx="262">
                  <c:v>35</c:v>
                </c:pt>
                <c:pt idx="263">
                  <c:v>43</c:v>
                </c:pt>
                <c:pt idx="264">
                  <c:v>35</c:v>
                </c:pt>
                <c:pt idx="265">
                  <c:v>38</c:v>
                </c:pt>
                <c:pt idx="266">
                  <c:v>43</c:v>
                </c:pt>
                <c:pt idx="267">
                  <c:v>58</c:v>
                </c:pt>
                <c:pt idx="268">
                  <c:v>52</c:v>
                </c:pt>
                <c:pt idx="269">
                  <c:v>52</c:v>
                </c:pt>
                <c:pt idx="270">
                  <c:v>46</c:v>
                </c:pt>
                <c:pt idx="271">
                  <c:v>47</c:v>
                </c:pt>
                <c:pt idx="272">
                  <c:v>45</c:v>
                </c:pt>
                <c:pt idx="273">
                  <c:v>38</c:v>
                </c:pt>
                <c:pt idx="274">
                  <c:v>24</c:v>
                </c:pt>
                <c:pt idx="275">
                  <c:v>30</c:v>
                </c:pt>
                <c:pt idx="276">
                  <c:v>51</c:v>
                </c:pt>
                <c:pt idx="277">
                  <c:v>46</c:v>
                </c:pt>
                <c:pt idx="278">
                  <c:v>43</c:v>
                </c:pt>
                <c:pt idx="279">
                  <c:v>29</c:v>
                </c:pt>
                <c:pt idx="280">
                  <c:v>52</c:v>
                </c:pt>
                <c:pt idx="281">
                  <c:v>49</c:v>
                </c:pt>
                <c:pt idx="282">
                  <c:v>46</c:v>
                </c:pt>
                <c:pt idx="283">
                  <c:v>42</c:v>
                </c:pt>
                <c:pt idx="284">
                  <c:v>33</c:v>
                </c:pt>
                <c:pt idx="285">
                  <c:v>37</c:v>
                </c:pt>
                <c:pt idx="286">
                  <c:v>47</c:v>
                </c:pt>
                <c:pt idx="287">
                  <c:v>38</c:v>
                </c:pt>
                <c:pt idx="288">
                  <c:v>49</c:v>
                </c:pt>
                <c:pt idx="289">
                  <c:v>34</c:v>
                </c:pt>
                <c:pt idx="290">
                  <c:v>30</c:v>
                </c:pt>
                <c:pt idx="291">
                  <c:v>31</c:v>
                </c:pt>
                <c:pt idx="292">
                  <c:v>49</c:v>
                </c:pt>
                <c:pt idx="293">
                  <c:v>25</c:v>
                </c:pt>
                <c:pt idx="294">
                  <c:v>40</c:v>
                </c:pt>
                <c:pt idx="295">
                  <c:v>47</c:v>
                </c:pt>
                <c:pt idx="296">
                  <c:v>32</c:v>
                </c:pt>
                <c:pt idx="297">
                  <c:v>22</c:v>
                </c:pt>
                <c:pt idx="298">
                  <c:v>36</c:v>
                </c:pt>
                <c:pt idx="299">
                  <c:v>35</c:v>
                </c:pt>
                <c:pt idx="300">
                  <c:v>39</c:v>
                </c:pt>
                <c:pt idx="301">
                  <c:v>35</c:v>
                </c:pt>
                <c:pt idx="302">
                  <c:v>29</c:v>
                </c:pt>
                <c:pt idx="303">
                  <c:v>44</c:v>
                </c:pt>
                <c:pt idx="304">
                  <c:v>40</c:v>
                </c:pt>
                <c:pt idx="305">
                  <c:v>32</c:v>
                </c:pt>
                <c:pt idx="306">
                  <c:v>24</c:v>
                </c:pt>
                <c:pt idx="307">
                  <c:v>33</c:v>
                </c:pt>
                <c:pt idx="308">
                  <c:v>43</c:v>
                </c:pt>
                <c:pt idx="309">
                  <c:v>52</c:v>
                </c:pt>
                <c:pt idx="310">
                  <c:v>43</c:v>
                </c:pt>
                <c:pt idx="311">
                  <c:v>45</c:v>
                </c:pt>
                <c:pt idx="312">
                  <c:v>58</c:v>
                </c:pt>
                <c:pt idx="313">
                  <c:v>55</c:v>
                </c:pt>
                <c:pt idx="314">
                  <c:v>28</c:v>
                </c:pt>
                <c:pt idx="315">
                  <c:v>80</c:v>
                </c:pt>
                <c:pt idx="316">
                  <c:v>59</c:v>
                </c:pt>
                <c:pt idx="317">
                  <c:v>56</c:v>
                </c:pt>
                <c:pt idx="318">
                  <c:v>59</c:v>
                </c:pt>
                <c:pt idx="319">
                  <c:v>40</c:v>
                </c:pt>
                <c:pt idx="320">
                  <c:v>34</c:v>
                </c:pt>
                <c:pt idx="321">
                  <c:v>46</c:v>
                </c:pt>
                <c:pt idx="322">
                  <c:v>74</c:v>
                </c:pt>
                <c:pt idx="323">
                  <c:v>69</c:v>
                </c:pt>
                <c:pt idx="324">
                  <c:v>63</c:v>
                </c:pt>
                <c:pt idx="325">
                  <c:v>64</c:v>
                </c:pt>
                <c:pt idx="326">
                  <c:v>82</c:v>
                </c:pt>
                <c:pt idx="327">
                  <c:v>68</c:v>
                </c:pt>
                <c:pt idx="328">
                  <c:v>87</c:v>
                </c:pt>
                <c:pt idx="329">
                  <c:v>103</c:v>
                </c:pt>
                <c:pt idx="330">
                  <c:v>90</c:v>
                </c:pt>
                <c:pt idx="331">
                  <c:v>77</c:v>
                </c:pt>
                <c:pt idx="332">
                  <c:v>86</c:v>
                </c:pt>
                <c:pt idx="333">
                  <c:v>86</c:v>
                </c:pt>
                <c:pt idx="334">
                  <c:v>90</c:v>
                </c:pt>
                <c:pt idx="335">
                  <c:v>56</c:v>
                </c:pt>
                <c:pt idx="336">
                  <c:v>120</c:v>
                </c:pt>
                <c:pt idx="337">
                  <c:v>97</c:v>
                </c:pt>
                <c:pt idx="338">
                  <c:v>98</c:v>
                </c:pt>
                <c:pt idx="339">
                  <c:v>105</c:v>
                </c:pt>
                <c:pt idx="340">
                  <c:v>148</c:v>
                </c:pt>
                <c:pt idx="341">
                  <c:v>144</c:v>
                </c:pt>
                <c:pt idx="342">
                  <c:v>79</c:v>
                </c:pt>
                <c:pt idx="343">
                  <c:v>143</c:v>
                </c:pt>
                <c:pt idx="344">
                  <c:v>158</c:v>
                </c:pt>
                <c:pt idx="345">
                  <c:v>141</c:v>
                </c:pt>
                <c:pt idx="346">
                  <c:v>201</c:v>
                </c:pt>
                <c:pt idx="347">
                  <c:v>207</c:v>
                </c:pt>
                <c:pt idx="348">
                  <c:v>193</c:v>
                </c:pt>
                <c:pt idx="349">
                  <c:v>160</c:v>
                </c:pt>
                <c:pt idx="350">
                  <c:v>253</c:v>
                </c:pt>
                <c:pt idx="351">
                  <c:v>252</c:v>
                </c:pt>
                <c:pt idx="352">
                  <c:v>303</c:v>
                </c:pt>
                <c:pt idx="353">
                  <c:v>319</c:v>
                </c:pt>
                <c:pt idx="354">
                  <c:v>328</c:v>
                </c:pt>
                <c:pt idx="355">
                  <c:v>241</c:v>
                </c:pt>
                <c:pt idx="356">
                  <c:v>206</c:v>
                </c:pt>
                <c:pt idx="357">
                  <c:v>343</c:v>
                </c:pt>
                <c:pt idx="358">
                  <c:v>346</c:v>
                </c:pt>
                <c:pt idx="359">
                  <c:v>388</c:v>
                </c:pt>
                <c:pt idx="360">
                  <c:v>362</c:v>
                </c:pt>
                <c:pt idx="361">
                  <c:v>363</c:v>
                </c:pt>
                <c:pt idx="362">
                  <c:v>365</c:v>
                </c:pt>
                <c:pt idx="363">
                  <c:v>234</c:v>
                </c:pt>
                <c:pt idx="364">
                  <c:v>432</c:v>
                </c:pt>
                <c:pt idx="365">
                  <c:v>433</c:v>
                </c:pt>
                <c:pt idx="366">
                  <c:v>421</c:v>
                </c:pt>
                <c:pt idx="367">
                  <c:v>340</c:v>
                </c:pt>
                <c:pt idx="368">
                  <c:v>371</c:v>
                </c:pt>
                <c:pt idx="369">
                  <c:v>270</c:v>
                </c:pt>
                <c:pt idx="370">
                  <c:v>237</c:v>
                </c:pt>
                <c:pt idx="371">
                  <c:v>296</c:v>
                </c:pt>
                <c:pt idx="372">
                  <c:v>255</c:v>
                </c:pt>
                <c:pt idx="373">
                  <c:v>260</c:v>
                </c:pt>
                <c:pt idx="374">
                  <c:v>212</c:v>
                </c:pt>
                <c:pt idx="375">
                  <c:v>216</c:v>
                </c:pt>
                <c:pt idx="376">
                  <c:v>173</c:v>
                </c:pt>
                <c:pt idx="377">
                  <c:v>145</c:v>
                </c:pt>
                <c:pt idx="378">
                  <c:v>255</c:v>
                </c:pt>
                <c:pt idx="379">
                  <c:v>228</c:v>
                </c:pt>
                <c:pt idx="380">
                  <c:v>207</c:v>
                </c:pt>
                <c:pt idx="381">
                  <c:v>181</c:v>
                </c:pt>
                <c:pt idx="382">
                  <c:v>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62-4F8C-B0A4-35FFED8B07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1574912"/>
        <c:axId val="161576448"/>
      </c:barChart>
      <c:lineChart>
        <c:grouping val="standard"/>
        <c:varyColors val="0"/>
        <c:ser>
          <c:idx val="1"/>
          <c:order val="1"/>
          <c:tx>
            <c:strRef>
              <c:f>'일반 중환자 병상 통계'!$K$1</c:f>
              <c:strCache>
                <c:ptCount val="1"/>
                <c:pt idx="0">
                  <c:v>일반병상가동율(%)</c:v>
                </c:pt>
              </c:strCache>
            </c:strRef>
          </c:tx>
          <c:spPr>
            <a:ln w="38100" cap="rnd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18"/>
              <c:layout>
                <c:manualLayout>
                  <c:x val="-3.41985389700354E-2"/>
                  <c:y val="0.14452380952380953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20.8.25</a:t>
                    </a:r>
                  </a:p>
                  <a:p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69%</a:t>
                    </a:r>
                    <a:endParaRPr lang="en-US" altLang="en-US" dirty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2DD-4A61-BC96-28BCEAC5041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DD-4A61-BC96-28BCEAC5041B}"/>
                </c:ext>
              </c:extLst>
            </c:dLbl>
            <c:dLbl>
              <c:idx val="37"/>
              <c:layout>
                <c:manualLayout>
                  <c:x val="-5.9757356095181201E-2"/>
                  <c:y val="-5.8694681485265118E-2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20.11.30</a:t>
                    </a:r>
                    <a:r>
                      <a:rPr lang="en-US" altLang="en-US" sz="1400" b="1" baseline="0" dirty="0">
                        <a:solidFill>
                          <a:schemeClr val="tx1"/>
                        </a:solidFill>
                        <a:effectLst/>
                      </a:rPr>
                      <a:t> max</a:t>
                    </a: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 </a:t>
                    </a:r>
                    <a:endParaRPr lang="en-US" altLang="en-US" dirty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2DD-4A61-BC96-28BCEAC5041B}"/>
                </c:ext>
              </c:extLst>
            </c:dLbl>
            <c:dLbl>
              <c:idx val="1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DD-4A61-BC96-28BCEAC5041B}"/>
                </c:ext>
              </c:extLst>
            </c:dLbl>
            <c:dLbl>
              <c:idx val="199"/>
              <c:layout>
                <c:manualLayout>
                  <c:x val="-3.1981815888929954E-2"/>
                  <c:y val="0.10421388731793729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21.7.10</a:t>
                    </a:r>
                  </a:p>
                  <a:p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61%</a:t>
                    </a:r>
                    <a:endParaRPr lang="en-US" altLang="en-US" dirty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2DD-4A61-BC96-28BCEAC5041B}"/>
                </c:ext>
              </c:extLst>
            </c:dLbl>
            <c:dLbl>
              <c:idx val="231"/>
              <c:layout>
                <c:manualLayout>
                  <c:x val="-4.1954277031912519E-2"/>
                  <c:y val="-7.2580231039275453E-2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21.8.19 max</a:t>
                    </a:r>
                    <a:endParaRPr lang="en-US" altLang="en-US" sz="1200" b="1" dirty="0"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2DD-4A61-BC96-28BCEAC5041B}"/>
                </c:ext>
              </c:extLst>
            </c:dLbl>
            <c:dLbl>
              <c:idx val="341"/>
              <c:tx>
                <c:rich>
                  <a:bodyPr/>
                  <a:lstStyle/>
                  <a:p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21.11.29 max</a:t>
                    </a:r>
                    <a:endParaRPr lang="en-US" altLang="en-US" sz="1200" b="1" dirty="0"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2DD-4A61-BC96-28BCEAC5041B}"/>
                </c:ext>
              </c:extLst>
            </c:dLbl>
            <c:spPr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c:spPr>
            <c:txPr>
              <a:bodyPr/>
              <a:lstStyle/>
              <a:p>
                <a:pPr>
                  <a:defRPr sz="1400" b="1">
                    <a:solidFill>
                      <a:schemeClr val="tx1"/>
                    </a:solidFill>
                    <a:effectLst/>
                  </a:defRPr>
                </a:pPr>
                <a:endParaRPr lang="ko-K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'일반 중환자 병상 통계'!$I$2:$I$384</c:f>
              <c:numCache>
                <c:formatCode>yy"-"m"-"d;@</c:formatCode>
                <c:ptCount val="383"/>
                <c:pt idx="0">
                  <c:v>43976</c:v>
                </c:pt>
                <c:pt idx="1">
                  <c:v>43981</c:v>
                </c:pt>
                <c:pt idx="2">
                  <c:v>43987</c:v>
                </c:pt>
                <c:pt idx="3">
                  <c:v>43992</c:v>
                </c:pt>
                <c:pt idx="4">
                  <c:v>43997</c:v>
                </c:pt>
                <c:pt idx="5">
                  <c:v>44002</c:v>
                </c:pt>
                <c:pt idx="6">
                  <c:v>44007</c:v>
                </c:pt>
                <c:pt idx="7">
                  <c:v>44012</c:v>
                </c:pt>
                <c:pt idx="8">
                  <c:v>44017</c:v>
                </c:pt>
                <c:pt idx="9">
                  <c:v>44022</c:v>
                </c:pt>
                <c:pt idx="10">
                  <c:v>44027</c:v>
                </c:pt>
                <c:pt idx="11">
                  <c:v>44032</c:v>
                </c:pt>
                <c:pt idx="12">
                  <c:v>44037</c:v>
                </c:pt>
                <c:pt idx="13">
                  <c:v>44043</c:v>
                </c:pt>
                <c:pt idx="14">
                  <c:v>44048</c:v>
                </c:pt>
                <c:pt idx="15">
                  <c:v>44053</c:v>
                </c:pt>
                <c:pt idx="16">
                  <c:v>44058</c:v>
                </c:pt>
                <c:pt idx="17">
                  <c:v>44063</c:v>
                </c:pt>
                <c:pt idx="18">
                  <c:v>44068</c:v>
                </c:pt>
                <c:pt idx="19">
                  <c:v>44073</c:v>
                </c:pt>
                <c:pt idx="20">
                  <c:v>44079</c:v>
                </c:pt>
                <c:pt idx="21">
                  <c:v>44084</c:v>
                </c:pt>
                <c:pt idx="22">
                  <c:v>44089</c:v>
                </c:pt>
                <c:pt idx="23">
                  <c:v>44094</c:v>
                </c:pt>
                <c:pt idx="24">
                  <c:v>44099</c:v>
                </c:pt>
                <c:pt idx="25">
                  <c:v>44104</c:v>
                </c:pt>
                <c:pt idx="26">
                  <c:v>44109</c:v>
                </c:pt>
                <c:pt idx="27">
                  <c:v>44115</c:v>
                </c:pt>
                <c:pt idx="28">
                  <c:v>44119</c:v>
                </c:pt>
                <c:pt idx="29">
                  <c:v>44123</c:v>
                </c:pt>
                <c:pt idx="30">
                  <c:v>44128</c:v>
                </c:pt>
                <c:pt idx="31">
                  <c:v>44134</c:v>
                </c:pt>
                <c:pt idx="32">
                  <c:v>44139</c:v>
                </c:pt>
                <c:pt idx="33">
                  <c:v>44145</c:v>
                </c:pt>
                <c:pt idx="34">
                  <c:v>44151</c:v>
                </c:pt>
                <c:pt idx="35">
                  <c:v>44155</c:v>
                </c:pt>
                <c:pt idx="36">
                  <c:v>44160</c:v>
                </c:pt>
                <c:pt idx="37">
                  <c:v>44165</c:v>
                </c:pt>
                <c:pt idx="38">
                  <c:v>44167</c:v>
                </c:pt>
                <c:pt idx="39">
                  <c:v>44168</c:v>
                </c:pt>
                <c:pt idx="40">
                  <c:v>44172</c:v>
                </c:pt>
                <c:pt idx="41">
                  <c:v>44173</c:v>
                </c:pt>
                <c:pt idx="42">
                  <c:v>44174</c:v>
                </c:pt>
                <c:pt idx="43">
                  <c:v>44175</c:v>
                </c:pt>
                <c:pt idx="44">
                  <c:v>44176</c:v>
                </c:pt>
                <c:pt idx="45">
                  <c:v>44179</c:v>
                </c:pt>
                <c:pt idx="46">
                  <c:v>44180</c:v>
                </c:pt>
                <c:pt idx="47">
                  <c:v>44181</c:v>
                </c:pt>
                <c:pt idx="48">
                  <c:v>44183</c:v>
                </c:pt>
                <c:pt idx="49">
                  <c:v>44186</c:v>
                </c:pt>
                <c:pt idx="50">
                  <c:v>44187</c:v>
                </c:pt>
                <c:pt idx="51">
                  <c:v>44188</c:v>
                </c:pt>
                <c:pt idx="52">
                  <c:v>44189</c:v>
                </c:pt>
                <c:pt idx="53">
                  <c:v>44193</c:v>
                </c:pt>
                <c:pt idx="54">
                  <c:v>44194</c:v>
                </c:pt>
                <c:pt idx="55">
                  <c:v>44195</c:v>
                </c:pt>
                <c:pt idx="56">
                  <c:v>44196</c:v>
                </c:pt>
                <c:pt idx="57">
                  <c:v>44201</c:v>
                </c:pt>
                <c:pt idx="58">
                  <c:v>44202</c:v>
                </c:pt>
                <c:pt idx="59">
                  <c:v>44203</c:v>
                </c:pt>
                <c:pt idx="60">
                  <c:v>44204</c:v>
                </c:pt>
                <c:pt idx="61">
                  <c:v>44207</c:v>
                </c:pt>
                <c:pt idx="62">
                  <c:v>44208</c:v>
                </c:pt>
                <c:pt idx="63">
                  <c:v>44209</c:v>
                </c:pt>
                <c:pt idx="64">
                  <c:v>44211</c:v>
                </c:pt>
                <c:pt idx="65">
                  <c:v>44215</c:v>
                </c:pt>
                <c:pt idx="66">
                  <c:v>44216</c:v>
                </c:pt>
                <c:pt idx="67">
                  <c:v>44217</c:v>
                </c:pt>
                <c:pt idx="68">
                  <c:v>44218</c:v>
                </c:pt>
                <c:pt idx="69">
                  <c:v>44221</c:v>
                </c:pt>
                <c:pt idx="70">
                  <c:v>44223</c:v>
                </c:pt>
                <c:pt idx="71">
                  <c:v>44224</c:v>
                </c:pt>
                <c:pt idx="72">
                  <c:v>44228</c:v>
                </c:pt>
                <c:pt idx="73">
                  <c:v>44229</c:v>
                </c:pt>
                <c:pt idx="74">
                  <c:v>44230</c:v>
                </c:pt>
                <c:pt idx="75">
                  <c:v>44231</c:v>
                </c:pt>
                <c:pt idx="76">
                  <c:v>44232</c:v>
                </c:pt>
                <c:pt idx="77">
                  <c:v>44233</c:v>
                </c:pt>
                <c:pt idx="78">
                  <c:v>44234</c:v>
                </c:pt>
                <c:pt idx="79">
                  <c:v>44236</c:v>
                </c:pt>
                <c:pt idx="80">
                  <c:v>44237</c:v>
                </c:pt>
                <c:pt idx="81">
                  <c:v>44238</c:v>
                </c:pt>
                <c:pt idx="82">
                  <c:v>44241</c:v>
                </c:pt>
                <c:pt idx="83">
                  <c:v>44242</c:v>
                </c:pt>
                <c:pt idx="84">
                  <c:v>44243</c:v>
                </c:pt>
                <c:pt idx="85">
                  <c:v>44244</c:v>
                </c:pt>
                <c:pt idx="86">
                  <c:v>44245</c:v>
                </c:pt>
                <c:pt idx="87">
                  <c:v>44246</c:v>
                </c:pt>
                <c:pt idx="88">
                  <c:v>44247</c:v>
                </c:pt>
                <c:pt idx="89">
                  <c:v>44248</c:v>
                </c:pt>
                <c:pt idx="90">
                  <c:v>44249</c:v>
                </c:pt>
                <c:pt idx="91">
                  <c:v>44250</c:v>
                </c:pt>
                <c:pt idx="92">
                  <c:v>44251</c:v>
                </c:pt>
                <c:pt idx="93">
                  <c:v>44252</c:v>
                </c:pt>
                <c:pt idx="94">
                  <c:v>44253</c:v>
                </c:pt>
                <c:pt idx="95">
                  <c:v>44254</c:v>
                </c:pt>
                <c:pt idx="96">
                  <c:v>44255</c:v>
                </c:pt>
                <c:pt idx="97">
                  <c:v>44256</c:v>
                </c:pt>
                <c:pt idx="98">
                  <c:v>44257</c:v>
                </c:pt>
                <c:pt idx="99">
                  <c:v>44258</c:v>
                </c:pt>
                <c:pt idx="100">
                  <c:v>44259</c:v>
                </c:pt>
                <c:pt idx="101">
                  <c:v>44262</c:v>
                </c:pt>
                <c:pt idx="102">
                  <c:v>44263</c:v>
                </c:pt>
                <c:pt idx="103">
                  <c:v>44265</c:v>
                </c:pt>
                <c:pt idx="104">
                  <c:v>44266</c:v>
                </c:pt>
                <c:pt idx="105">
                  <c:v>44267</c:v>
                </c:pt>
                <c:pt idx="106">
                  <c:v>44268</c:v>
                </c:pt>
                <c:pt idx="107">
                  <c:v>44269</c:v>
                </c:pt>
                <c:pt idx="108">
                  <c:v>44270</c:v>
                </c:pt>
                <c:pt idx="109">
                  <c:v>44271</c:v>
                </c:pt>
                <c:pt idx="110">
                  <c:v>44272</c:v>
                </c:pt>
                <c:pt idx="111">
                  <c:v>44273</c:v>
                </c:pt>
                <c:pt idx="112">
                  <c:v>44274</c:v>
                </c:pt>
                <c:pt idx="113">
                  <c:v>44276</c:v>
                </c:pt>
                <c:pt idx="114">
                  <c:v>44277</c:v>
                </c:pt>
                <c:pt idx="115">
                  <c:v>44278</c:v>
                </c:pt>
                <c:pt idx="116">
                  <c:v>44279</c:v>
                </c:pt>
                <c:pt idx="117">
                  <c:v>44280</c:v>
                </c:pt>
                <c:pt idx="118">
                  <c:v>44281</c:v>
                </c:pt>
                <c:pt idx="119">
                  <c:v>44282</c:v>
                </c:pt>
                <c:pt idx="120">
                  <c:v>44283</c:v>
                </c:pt>
                <c:pt idx="121">
                  <c:v>44284</c:v>
                </c:pt>
                <c:pt idx="122">
                  <c:v>44285</c:v>
                </c:pt>
                <c:pt idx="123">
                  <c:v>44286</c:v>
                </c:pt>
                <c:pt idx="124">
                  <c:v>44287</c:v>
                </c:pt>
                <c:pt idx="125">
                  <c:v>44288</c:v>
                </c:pt>
                <c:pt idx="126">
                  <c:v>44289</c:v>
                </c:pt>
                <c:pt idx="127">
                  <c:v>44290</c:v>
                </c:pt>
                <c:pt idx="128">
                  <c:v>44291</c:v>
                </c:pt>
                <c:pt idx="129">
                  <c:v>44292</c:v>
                </c:pt>
                <c:pt idx="130">
                  <c:v>44293</c:v>
                </c:pt>
                <c:pt idx="131">
                  <c:v>44294</c:v>
                </c:pt>
                <c:pt idx="132">
                  <c:v>44297</c:v>
                </c:pt>
                <c:pt idx="133">
                  <c:v>44298</c:v>
                </c:pt>
                <c:pt idx="134">
                  <c:v>44299</c:v>
                </c:pt>
                <c:pt idx="135">
                  <c:v>44300</c:v>
                </c:pt>
                <c:pt idx="136">
                  <c:v>44301</c:v>
                </c:pt>
                <c:pt idx="137">
                  <c:v>44302</c:v>
                </c:pt>
                <c:pt idx="138">
                  <c:v>44304</c:v>
                </c:pt>
                <c:pt idx="139">
                  <c:v>44307</c:v>
                </c:pt>
                <c:pt idx="140">
                  <c:v>44308</c:v>
                </c:pt>
                <c:pt idx="141">
                  <c:v>44309</c:v>
                </c:pt>
                <c:pt idx="142">
                  <c:v>44310</c:v>
                </c:pt>
                <c:pt idx="143">
                  <c:v>44311</c:v>
                </c:pt>
                <c:pt idx="144">
                  <c:v>44312</c:v>
                </c:pt>
                <c:pt idx="145">
                  <c:v>44313</c:v>
                </c:pt>
                <c:pt idx="146">
                  <c:v>44315</c:v>
                </c:pt>
                <c:pt idx="147">
                  <c:v>44316</c:v>
                </c:pt>
                <c:pt idx="148">
                  <c:v>44317</c:v>
                </c:pt>
                <c:pt idx="149">
                  <c:v>44318</c:v>
                </c:pt>
                <c:pt idx="150">
                  <c:v>44319</c:v>
                </c:pt>
                <c:pt idx="151">
                  <c:v>44320</c:v>
                </c:pt>
                <c:pt idx="152">
                  <c:v>44322</c:v>
                </c:pt>
                <c:pt idx="153">
                  <c:v>44323</c:v>
                </c:pt>
                <c:pt idx="154">
                  <c:v>44324</c:v>
                </c:pt>
                <c:pt idx="155">
                  <c:v>44325</c:v>
                </c:pt>
                <c:pt idx="156">
                  <c:v>44326</c:v>
                </c:pt>
                <c:pt idx="157">
                  <c:v>44327</c:v>
                </c:pt>
                <c:pt idx="158">
                  <c:v>44328</c:v>
                </c:pt>
                <c:pt idx="159">
                  <c:v>44329</c:v>
                </c:pt>
                <c:pt idx="160">
                  <c:v>44332</c:v>
                </c:pt>
                <c:pt idx="161">
                  <c:v>44333</c:v>
                </c:pt>
                <c:pt idx="162">
                  <c:v>44334</c:v>
                </c:pt>
                <c:pt idx="163">
                  <c:v>44335</c:v>
                </c:pt>
                <c:pt idx="164">
                  <c:v>44336</c:v>
                </c:pt>
                <c:pt idx="165">
                  <c:v>44337</c:v>
                </c:pt>
                <c:pt idx="166">
                  <c:v>44338</c:v>
                </c:pt>
                <c:pt idx="167">
                  <c:v>44339</c:v>
                </c:pt>
                <c:pt idx="168">
                  <c:v>44340</c:v>
                </c:pt>
                <c:pt idx="169">
                  <c:v>44341</c:v>
                </c:pt>
                <c:pt idx="170">
                  <c:v>44342</c:v>
                </c:pt>
                <c:pt idx="171">
                  <c:v>44343</c:v>
                </c:pt>
                <c:pt idx="172">
                  <c:v>44344</c:v>
                </c:pt>
                <c:pt idx="173">
                  <c:v>44345</c:v>
                </c:pt>
                <c:pt idx="174">
                  <c:v>44346</c:v>
                </c:pt>
                <c:pt idx="175">
                  <c:v>44347</c:v>
                </c:pt>
                <c:pt idx="176">
                  <c:v>44349</c:v>
                </c:pt>
                <c:pt idx="177">
                  <c:v>44350</c:v>
                </c:pt>
                <c:pt idx="178">
                  <c:v>44355</c:v>
                </c:pt>
                <c:pt idx="179">
                  <c:v>44356</c:v>
                </c:pt>
                <c:pt idx="180">
                  <c:v>44357</c:v>
                </c:pt>
                <c:pt idx="181">
                  <c:v>44358</c:v>
                </c:pt>
                <c:pt idx="182">
                  <c:v>44359</c:v>
                </c:pt>
                <c:pt idx="183">
                  <c:v>44360</c:v>
                </c:pt>
                <c:pt idx="184">
                  <c:v>44361</c:v>
                </c:pt>
                <c:pt idx="185">
                  <c:v>44371</c:v>
                </c:pt>
                <c:pt idx="186">
                  <c:v>44372</c:v>
                </c:pt>
                <c:pt idx="187">
                  <c:v>44373</c:v>
                </c:pt>
                <c:pt idx="188">
                  <c:v>44376</c:v>
                </c:pt>
                <c:pt idx="189">
                  <c:v>44377</c:v>
                </c:pt>
                <c:pt idx="190">
                  <c:v>44378</c:v>
                </c:pt>
                <c:pt idx="191">
                  <c:v>44379</c:v>
                </c:pt>
                <c:pt idx="192">
                  <c:v>44380</c:v>
                </c:pt>
                <c:pt idx="193">
                  <c:v>44381</c:v>
                </c:pt>
                <c:pt idx="194">
                  <c:v>44382</c:v>
                </c:pt>
                <c:pt idx="195">
                  <c:v>44383</c:v>
                </c:pt>
                <c:pt idx="196">
                  <c:v>44384</c:v>
                </c:pt>
                <c:pt idx="197">
                  <c:v>44385</c:v>
                </c:pt>
                <c:pt idx="198">
                  <c:v>44386</c:v>
                </c:pt>
                <c:pt idx="199">
                  <c:v>44387</c:v>
                </c:pt>
                <c:pt idx="200">
                  <c:v>44388</c:v>
                </c:pt>
                <c:pt idx="201">
                  <c:v>44389</c:v>
                </c:pt>
                <c:pt idx="202">
                  <c:v>44390</c:v>
                </c:pt>
                <c:pt idx="203">
                  <c:v>44391</c:v>
                </c:pt>
                <c:pt idx="204">
                  <c:v>44392</c:v>
                </c:pt>
                <c:pt idx="205">
                  <c:v>44393</c:v>
                </c:pt>
                <c:pt idx="206">
                  <c:v>44394</c:v>
                </c:pt>
                <c:pt idx="207">
                  <c:v>44395</c:v>
                </c:pt>
                <c:pt idx="208">
                  <c:v>44396</c:v>
                </c:pt>
                <c:pt idx="209">
                  <c:v>44397</c:v>
                </c:pt>
                <c:pt idx="210">
                  <c:v>44398</c:v>
                </c:pt>
                <c:pt idx="211">
                  <c:v>44399</c:v>
                </c:pt>
                <c:pt idx="212">
                  <c:v>44400</c:v>
                </c:pt>
                <c:pt idx="213">
                  <c:v>44401</c:v>
                </c:pt>
                <c:pt idx="214">
                  <c:v>44402</c:v>
                </c:pt>
                <c:pt idx="215">
                  <c:v>44403</c:v>
                </c:pt>
                <c:pt idx="216">
                  <c:v>44404</c:v>
                </c:pt>
                <c:pt idx="217">
                  <c:v>44405</c:v>
                </c:pt>
                <c:pt idx="218">
                  <c:v>44406</c:v>
                </c:pt>
                <c:pt idx="219">
                  <c:v>44407</c:v>
                </c:pt>
                <c:pt idx="220">
                  <c:v>44408</c:v>
                </c:pt>
                <c:pt idx="221">
                  <c:v>44409</c:v>
                </c:pt>
                <c:pt idx="222">
                  <c:v>44410</c:v>
                </c:pt>
                <c:pt idx="223">
                  <c:v>44411</c:v>
                </c:pt>
                <c:pt idx="224">
                  <c:v>44412</c:v>
                </c:pt>
                <c:pt idx="225">
                  <c:v>44413</c:v>
                </c:pt>
                <c:pt idx="226">
                  <c:v>44414</c:v>
                </c:pt>
                <c:pt idx="227">
                  <c:v>44415</c:v>
                </c:pt>
                <c:pt idx="228">
                  <c:v>44416</c:v>
                </c:pt>
                <c:pt idx="229">
                  <c:v>44417</c:v>
                </c:pt>
                <c:pt idx="230">
                  <c:v>44418</c:v>
                </c:pt>
                <c:pt idx="231">
                  <c:v>44419</c:v>
                </c:pt>
                <c:pt idx="232">
                  <c:v>44420</c:v>
                </c:pt>
                <c:pt idx="233">
                  <c:v>44421</c:v>
                </c:pt>
                <c:pt idx="234">
                  <c:v>44422</c:v>
                </c:pt>
                <c:pt idx="235">
                  <c:v>44423</c:v>
                </c:pt>
                <c:pt idx="236">
                  <c:v>44424</c:v>
                </c:pt>
                <c:pt idx="237">
                  <c:v>44425</c:v>
                </c:pt>
                <c:pt idx="238">
                  <c:v>44426</c:v>
                </c:pt>
                <c:pt idx="239">
                  <c:v>44427</c:v>
                </c:pt>
                <c:pt idx="240">
                  <c:v>44428</c:v>
                </c:pt>
                <c:pt idx="241">
                  <c:v>44429</c:v>
                </c:pt>
                <c:pt idx="242">
                  <c:v>44430</c:v>
                </c:pt>
                <c:pt idx="243">
                  <c:v>44431</c:v>
                </c:pt>
                <c:pt idx="244">
                  <c:v>44432</c:v>
                </c:pt>
                <c:pt idx="245">
                  <c:v>44433</c:v>
                </c:pt>
                <c:pt idx="246">
                  <c:v>44434</c:v>
                </c:pt>
                <c:pt idx="247">
                  <c:v>44435</c:v>
                </c:pt>
                <c:pt idx="248">
                  <c:v>44436</c:v>
                </c:pt>
                <c:pt idx="249">
                  <c:v>44437</c:v>
                </c:pt>
                <c:pt idx="250">
                  <c:v>44438</c:v>
                </c:pt>
                <c:pt idx="251">
                  <c:v>44439</c:v>
                </c:pt>
                <c:pt idx="252">
                  <c:v>44440</c:v>
                </c:pt>
                <c:pt idx="253">
                  <c:v>44441</c:v>
                </c:pt>
                <c:pt idx="254">
                  <c:v>44442</c:v>
                </c:pt>
                <c:pt idx="255">
                  <c:v>44443</c:v>
                </c:pt>
                <c:pt idx="256">
                  <c:v>44444</c:v>
                </c:pt>
                <c:pt idx="257">
                  <c:v>44445</c:v>
                </c:pt>
                <c:pt idx="258">
                  <c:v>44446</c:v>
                </c:pt>
                <c:pt idx="259">
                  <c:v>44447</c:v>
                </c:pt>
                <c:pt idx="260">
                  <c:v>44448</c:v>
                </c:pt>
                <c:pt idx="261">
                  <c:v>44449</c:v>
                </c:pt>
                <c:pt idx="262">
                  <c:v>44450</c:v>
                </c:pt>
                <c:pt idx="263">
                  <c:v>44451</c:v>
                </c:pt>
                <c:pt idx="264">
                  <c:v>44452</c:v>
                </c:pt>
                <c:pt idx="265">
                  <c:v>44453</c:v>
                </c:pt>
                <c:pt idx="266">
                  <c:v>44454</c:v>
                </c:pt>
                <c:pt idx="267">
                  <c:v>44455</c:v>
                </c:pt>
                <c:pt idx="268">
                  <c:v>44456</c:v>
                </c:pt>
                <c:pt idx="269">
                  <c:v>44457</c:v>
                </c:pt>
                <c:pt idx="270">
                  <c:v>44458</c:v>
                </c:pt>
                <c:pt idx="271">
                  <c:v>44459</c:v>
                </c:pt>
                <c:pt idx="272">
                  <c:v>44460</c:v>
                </c:pt>
                <c:pt idx="273">
                  <c:v>44461</c:v>
                </c:pt>
                <c:pt idx="274">
                  <c:v>44462</c:v>
                </c:pt>
                <c:pt idx="275">
                  <c:v>44463</c:v>
                </c:pt>
                <c:pt idx="276">
                  <c:v>44464</c:v>
                </c:pt>
                <c:pt idx="277">
                  <c:v>44465</c:v>
                </c:pt>
                <c:pt idx="278">
                  <c:v>44466</c:v>
                </c:pt>
                <c:pt idx="279">
                  <c:v>44467</c:v>
                </c:pt>
                <c:pt idx="280">
                  <c:v>44468</c:v>
                </c:pt>
                <c:pt idx="281">
                  <c:v>44469</c:v>
                </c:pt>
                <c:pt idx="282">
                  <c:v>44470</c:v>
                </c:pt>
                <c:pt idx="283">
                  <c:v>44471</c:v>
                </c:pt>
                <c:pt idx="284">
                  <c:v>44472</c:v>
                </c:pt>
                <c:pt idx="285">
                  <c:v>44473</c:v>
                </c:pt>
                <c:pt idx="286">
                  <c:v>44474</c:v>
                </c:pt>
                <c:pt idx="287">
                  <c:v>44475</c:v>
                </c:pt>
                <c:pt idx="288">
                  <c:v>44476</c:v>
                </c:pt>
                <c:pt idx="289">
                  <c:v>44477</c:v>
                </c:pt>
                <c:pt idx="290">
                  <c:v>44478</c:v>
                </c:pt>
                <c:pt idx="291">
                  <c:v>44479</c:v>
                </c:pt>
                <c:pt idx="292">
                  <c:v>44480</c:v>
                </c:pt>
                <c:pt idx="293">
                  <c:v>44481</c:v>
                </c:pt>
                <c:pt idx="294">
                  <c:v>44482</c:v>
                </c:pt>
                <c:pt idx="295">
                  <c:v>44483</c:v>
                </c:pt>
                <c:pt idx="296">
                  <c:v>44484</c:v>
                </c:pt>
                <c:pt idx="297">
                  <c:v>44485</c:v>
                </c:pt>
                <c:pt idx="298">
                  <c:v>44486</c:v>
                </c:pt>
                <c:pt idx="299">
                  <c:v>44487</c:v>
                </c:pt>
                <c:pt idx="300">
                  <c:v>44488</c:v>
                </c:pt>
                <c:pt idx="301">
                  <c:v>44489</c:v>
                </c:pt>
                <c:pt idx="302">
                  <c:v>44490</c:v>
                </c:pt>
                <c:pt idx="303">
                  <c:v>44491</c:v>
                </c:pt>
                <c:pt idx="304">
                  <c:v>44492</c:v>
                </c:pt>
                <c:pt idx="305">
                  <c:v>44493</c:v>
                </c:pt>
                <c:pt idx="306">
                  <c:v>44494</c:v>
                </c:pt>
                <c:pt idx="307">
                  <c:v>44495</c:v>
                </c:pt>
                <c:pt idx="308">
                  <c:v>44496</c:v>
                </c:pt>
                <c:pt idx="309">
                  <c:v>44497</c:v>
                </c:pt>
                <c:pt idx="310">
                  <c:v>44498</c:v>
                </c:pt>
                <c:pt idx="311">
                  <c:v>44499</c:v>
                </c:pt>
                <c:pt idx="312">
                  <c:v>44500</c:v>
                </c:pt>
                <c:pt idx="313">
                  <c:v>44501</c:v>
                </c:pt>
                <c:pt idx="314">
                  <c:v>44502</c:v>
                </c:pt>
                <c:pt idx="315">
                  <c:v>44503</c:v>
                </c:pt>
                <c:pt idx="316">
                  <c:v>44504</c:v>
                </c:pt>
                <c:pt idx="317">
                  <c:v>44505</c:v>
                </c:pt>
                <c:pt idx="318">
                  <c:v>44506</c:v>
                </c:pt>
                <c:pt idx="319">
                  <c:v>44507</c:v>
                </c:pt>
                <c:pt idx="320">
                  <c:v>44508</c:v>
                </c:pt>
                <c:pt idx="321">
                  <c:v>44509</c:v>
                </c:pt>
                <c:pt idx="322">
                  <c:v>44510</c:v>
                </c:pt>
                <c:pt idx="323">
                  <c:v>44511</c:v>
                </c:pt>
                <c:pt idx="324">
                  <c:v>44512</c:v>
                </c:pt>
                <c:pt idx="325">
                  <c:v>44513</c:v>
                </c:pt>
                <c:pt idx="326">
                  <c:v>44514</c:v>
                </c:pt>
                <c:pt idx="327">
                  <c:v>44515</c:v>
                </c:pt>
                <c:pt idx="328">
                  <c:v>44516</c:v>
                </c:pt>
                <c:pt idx="329">
                  <c:v>44517</c:v>
                </c:pt>
                <c:pt idx="330">
                  <c:v>44518</c:v>
                </c:pt>
                <c:pt idx="331">
                  <c:v>44519</c:v>
                </c:pt>
                <c:pt idx="332">
                  <c:v>44520</c:v>
                </c:pt>
                <c:pt idx="333">
                  <c:v>44521</c:v>
                </c:pt>
                <c:pt idx="334">
                  <c:v>44522</c:v>
                </c:pt>
                <c:pt idx="335">
                  <c:v>44523</c:v>
                </c:pt>
                <c:pt idx="336">
                  <c:v>44524</c:v>
                </c:pt>
                <c:pt idx="337">
                  <c:v>44525</c:v>
                </c:pt>
                <c:pt idx="338">
                  <c:v>44526</c:v>
                </c:pt>
                <c:pt idx="339">
                  <c:v>44527</c:v>
                </c:pt>
                <c:pt idx="340">
                  <c:v>44528</c:v>
                </c:pt>
                <c:pt idx="341">
                  <c:v>44529</c:v>
                </c:pt>
                <c:pt idx="342">
                  <c:v>44530</c:v>
                </c:pt>
                <c:pt idx="343">
                  <c:v>44531</c:v>
                </c:pt>
                <c:pt idx="344">
                  <c:v>44532</c:v>
                </c:pt>
                <c:pt idx="345">
                  <c:v>44533</c:v>
                </c:pt>
                <c:pt idx="346">
                  <c:v>44534</c:v>
                </c:pt>
                <c:pt idx="347">
                  <c:v>44535</c:v>
                </c:pt>
                <c:pt idx="348">
                  <c:v>44536</c:v>
                </c:pt>
                <c:pt idx="349">
                  <c:v>44537</c:v>
                </c:pt>
                <c:pt idx="350">
                  <c:v>44538</c:v>
                </c:pt>
                <c:pt idx="351">
                  <c:v>44539</c:v>
                </c:pt>
                <c:pt idx="352">
                  <c:v>44540</c:v>
                </c:pt>
                <c:pt idx="353">
                  <c:v>44541</c:v>
                </c:pt>
                <c:pt idx="354">
                  <c:v>44542</c:v>
                </c:pt>
                <c:pt idx="355">
                  <c:v>44543</c:v>
                </c:pt>
                <c:pt idx="356">
                  <c:v>44544</c:v>
                </c:pt>
                <c:pt idx="357">
                  <c:v>44545</c:v>
                </c:pt>
                <c:pt idx="358">
                  <c:v>44546</c:v>
                </c:pt>
                <c:pt idx="359">
                  <c:v>44547</c:v>
                </c:pt>
                <c:pt idx="360">
                  <c:v>44548</c:v>
                </c:pt>
                <c:pt idx="361">
                  <c:v>44549</c:v>
                </c:pt>
                <c:pt idx="362">
                  <c:v>44550</c:v>
                </c:pt>
                <c:pt idx="363">
                  <c:v>44551</c:v>
                </c:pt>
                <c:pt idx="364">
                  <c:v>44552</c:v>
                </c:pt>
                <c:pt idx="365">
                  <c:v>44553</c:v>
                </c:pt>
                <c:pt idx="366">
                  <c:v>44554</c:v>
                </c:pt>
                <c:pt idx="367">
                  <c:v>44555</c:v>
                </c:pt>
                <c:pt idx="368">
                  <c:v>44556</c:v>
                </c:pt>
                <c:pt idx="369">
                  <c:v>44557</c:v>
                </c:pt>
                <c:pt idx="370">
                  <c:v>44558</c:v>
                </c:pt>
                <c:pt idx="371">
                  <c:v>44559</c:v>
                </c:pt>
                <c:pt idx="372">
                  <c:v>44560</c:v>
                </c:pt>
                <c:pt idx="373">
                  <c:v>44561</c:v>
                </c:pt>
                <c:pt idx="374">
                  <c:v>44562</c:v>
                </c:pt>
                <c:pt idx="375">
                  <c:v>44563</c:v>
                </c:pt>
                <c:pt idx="376">
                  <c:v>44564</c:v>
                </c:pt>
                <c:pt idx="377">
                  <c:v>44565</c:v>
                </c:pt>
                <c:pt idx="378">
                  <c:v>44566</c:v>
                </c:pt>
                <c:pt idx="379">
                  <c:v>44567</c:v>
                </c:pt>
                <c:pt idx="380">
                  <c:v>44568</c:v>
                </c:pt>
                <c:pt idx="381">
                  <c:v>44569</c:v>
                </c:pt>
                <c:pt idx="382">
                  <c:v>44570</c:v>
                </c:pt>
              </c:numCache>
            </c:numRef>
          </c:cat>
          <c:val>
            <c:numRef>
              <c:f>'일반 중환자 병상 통계'!$K$2:$K$384</c:f>
              <c:numCache>
                <c:formatCode>0.0_);[Red]\(0.0\)</c:formatCode>
                <c:ptCount val="383"/>
                <c:pt idx="0">
                  <c:v>10.476190476190476</c:v>
                </c:pt>
                <c:pt idx="1">
                  <c:v>4.7619047619047619</c:v>
                </c:pt>
                <c:pt idx="2">
                  <c:v>3.8095238095238098</c:v>
                </c:pt>
                <c:pt idx="3">
                  <c:v>1.9047619047619049</c:v>
                </c:pt>
                <c:pt idx="4">
                  <c:v>0.95238095238095244</c:v>
                </c:pt>
                <c:pt idx="5">
                  <c:v>3.8095238095238098</c:v>
                </c:pt>
                <c:pt idx="6">
                  <c:v>21.904761904761905</c:v>
                </c:pt>
                <c:pt idx="7">
                  <c:v>24.761904761904763</c:v>
                </c:pt>
                <c:pt idx="8">
                  <c:v>22.857142857142858</c:v>
                </c:pt>
                <c:pt idx="9">
                  <c:v>10.476190476190476</c:v>
                </c:pt>
                <c:pt idx="10">
                  <c:v>4.7619047619047619</c:v>
                </c:pt>
                <c:pt idx="11">
                  <c:v>26.666666666666668</c:v>
                </c:pt>
                <c:pt idx="12">
                  <c:v>54.285714285714285</c:v>
                </c:pt>
                <c:pt idx="13">
                  <c:v>45.714285714285715</c:v>
                </c:pt>
                <c:pt idx="14">
                  <c:v>39.047619047619051</c:v>
                </c:pt>
                <c:pt idx="15">
                  <c:v>24.761904761904763</c:v>
                </c:pt>
                <c:pt idx="16">
                  <c:v>20.952380952380953</c:v>
                </c:pt>
                <c:pt idx="17">
                  <c:v>56.19047619047619</c:v>
                </c:pt>
                <c:pt idx="18">
                  <c:v>68.571428571428569</c:v>
                </c:pt>
                <c:pt idx="19">
                  <c:v>47.852760736196323</c:v>
                </c:pt>
                <c:pt idx="20">
                  <c:v>44.131455399061032</c:v>
                </c:pt>
                <c:pt idx="21">
                  <c:v>37.113402061855673</c:v>
                </c:pt>
                <c:pt idx="22">
                  <c:v>29.896907216494846</c:v>
                </c:pt>
                <c:pt idx="23">
                  <c:v>25.257731958762886</c:v>
                </c:pt>
                <c:pt idx="24">
                  <c:v>30.927835051546392</c:v>
                </c:pt>
                <c:pt idx="25">
                  <c:v>26.288659793814436</c:v>
                </c:pt>
                <c:pt idx="26">
                  <c:v>38.541666666666671</c:v>
                </c:pt>
                <c:pt idx="27">
                  <c:v>40.625</c:v>
                </c:pt>
                <c:pt idx="28">
                  <c:v>57.291666666666664</c:v>
                </c:pt>
                <c:pt idx="29">
                  <c:v>60.317460317460316</c:v>
                </c:pt>
                <c:pt idx="30">
                  <c:v>56.684491978609628</c:v>
                </c:pt>
                <c:pt idx="31">
                  <c:v>36.898395721925134</c:v>
                </c:pt>
                <c:pt idx="32">
                  <c:v>26.737967914438503</c:v>
                </c:pt>
                <c:pt idx="33">
                  <c:v>26.203208556149733</c:v>
                </c:pt>
                <c:pt idx="34">
                  <c:v>25.668449197860966</c:v>
                </c:pt>
                <c:pt idx="35">
                  <c:v>44.919786096256686</c:v>
                </c:pt>
                <c:pt idx="36">
                  <c:v>60.427807486631011</c:v>
                </c:pt>
                <c:pt idx="37">
                  <c:v>98.40425531914893</c:v>
                </c:pt>
                <c:pt idx="38">
                  <c:v>90.957446808510639</c:v>
                </c:pt>
                <c:pt idx="39">
                  <c:v>70.517928286852595</c:v>
                </c:pt>
                <c:pt idx="40">
                  <c:v>85.460992907801412</c:v>
                </c:pt>
                <c:pt idx="41">
                  <c:v>80.496453900709213</c:v>
                </c:pt>
                <c:pt idx="42">
                  <c:v>76.950354609929079</c:v>
                </c:pt>
                <c:pt idx="43">
                  <c:v>78.36879432624113</c:v>
                </c:pt>
                <c:pt idx="44">
                  <c:v>73.049645390070921</c:v>
                </c:pt>
                <c:pt idx="45">
                  <c:v>82.269503546099287</c:v>
                </c:pt>
                <c:pt idx="46">
                  <c:v>75.177304964539005</c:v>
                </c:pt>
                <c:pt idx="47">
                  <c:v>73.049645390070921</c:v>
                </c:pt>
                <c:pt idx="48">
                  <c:v>75.177304964539005</c:v>
                </c:pt>
                <c:pt idx="49">
                  <c:v>83.333333333333343</c:v>
                </c:pt>
                <c:pt idx="50">
                  <c:v>79.078014184397162</c:v>
                </c:pt>
                <c:pt idx="51">
                  <c:v>84.39716312056737</c:v>
                </c:pt>
                <c:pt idx="52">
                  <c:v>84.042553191489361</c:v>
                </c:pt>
                <c:pt idx="53">
                  <c:v>86.330935251798564</c:v>
                </c:pt>
                <c:pt idx="54">
                  <c:v>88.489208633093526</c:v>
                </c:pt>
                <c:pt idx="55">
                  <c:v>90.647482014388487</c:v>
                </c:pt>
                <c:pt idx="56">
                  <c:v>85.245901639344254</c:v>
                </c:pt>
                <c:pt idx="57">
                  <c:v>77.704918032786878</c:v>
                </c:pt>
                <c:pt idx="58">
                  <c:v>69.724770642201833</c:v>
                </c:pt>
                <c:pt idx="59">
                  <c:v>54.495912806539515</c:v>
                </c:pt>
                <c:pt idx="60">
                  <c:v>54.768392370572208</c:v>
                </c:pt>
                <c:pt idx="61">
                  <c:v>63.143631436314365</c:v>
                </c:pt>
                <c:pt idx="62">
                  <c:v>59.128065395095362</c:v>
                </c:pt>
                <c:pt idx="63">
                  <c:v>64.032697547683924</c:v>
                </c:pt>
                <c:pt idx="64">
                  <c:v>62.397820163487737</c:v>
                </c:pt>
                <c:pt idx="65">
                  <c:v>67.302452316076284</c:v>
                </c:pt>
                <c:pt idx="66">
                  <c:v>62.125340599455036</c:v>
                </c:pt>
                <c:pt idx="67">
                  <c:v>64.032697547683924</c:v>
                </c:pt>
                <c:pt idx="68">
                  <c:v>61.03542234332425</c:v>
                </c:pt>
                <c:pt idx="69">
                  <c:v>65.395095367847418</c:v>
                </c:pt>
                <c:pt idx="70">
                  <c:v>62.125340599455036</c:v>
                </c:pt>
                <c:pt idx="71">
                  <c:v>62.94277929155313</c:v>
                </c:pt>
                <c:pt idx="72">
                  <c:v>62.125340599455036</c:v>
                </c:pt>
                <c:pt idx="73">
                  <c:v>59.128065395095362</c:v>
                </c:pt>
                <c:pt idx="74">
                  <c:v>57.765667574931875</c:v>
                </c:pt>
                <c:pt idx="75">
                  <c:v>58.038147138964582</c:v>
                </c:pt>
                <c:pt idx="76">
                  <c:v>58.310626702997268</c:v>
                </c:pt>
                <c:pt idx="77">
                  <c:v>56.675749318801095</c:v>
                </c:pt>
                <c:pt idx="78">
                  <c:v>57.220708446866489</c:v>
                </c:pt>
                <c:pt idx="79">
                  <c:v>54.768392370572208</c:v>
                </c:pt>
                <c:pt idx="80">
                  <c:v>56.675749318801095</c:v>
                </c:pt>
                <c:pt idx="81">
                  <c:v>56.675749318801095</c:v>
                </c:pt>
                <c:pt idx="82">
                  <c:v>61.580381471389643</c:v>
                </c:pt>
                <c:pt idx="83">
                  <c:v>64.850136239782017</c:v>
                </c:pt>
                <c:pt idx="84">
                  <c:v>65.667574931880111</c:v>
                </c:pt>
                <c:pt idx="85">
                  <c:v>62.94277929155313</c:v>
                </c:pt>
                <c:pt idx="86">
                  <c:v>57.493188010899189</c:v>
                </c:pt>
                <c:pt idx="87">
                  <c:v>56.130790190735688</c:v>
                </c:pt>
                <c:pt idx="88">
                  <c:v>51.771117166212534</c:v>
                </c:pt>
                <c:pt idx="89">
                  <c:v>49.31880108991826</c:v>
                </c:pt>
                <c:pt idx="90">
                  <c:v>50.408719346049047</c:v>
                </c:pt>
                <c:pt idx="91">
                  <c:v>44.959128065395092</c:v>
                </c:pt>
                <c:pt idx="92">
                  <c:v>46.866485013623979</c:v>
                </c:pt>
                <c:pt idx="93">
                  <c:v>46.321525885558586</c:v>
                </c:pt>
                <c:pt idx="94">
                  <c:v>43.051771117166211</c:v>
                </c:pt>
                <c:pt idx="95">
                  <c:v>41.689373297002724</c:v>
                </c:pt>
                <c:pt idx="96">
                  <c:v>40.054495912806537</c:v>
                </c:pt>
                <c:pt idx="97">
                  <c:v>43.596730245231605</c:v>
                </c:pt>
                <c:pt idx="98">
                  <c:v>46.594005449591279</c:v>
                </c:pt>
                <c:pt idx="99">
                  <c:v>47.683923705722073</c:v>
                </c:pt>
                <c:pt idx="100">
                  <c:v>43.596730245231605</c:v>
                </c:pt>
                <c:pt idx="101">
                  <c:v>37.602179836512263</c:v>
                </c:pt>
                <c:pt idx="102">
                  <c:v>40.054495912806537</c:v>
                </c:pt>
                <c:pt idx="103">
                  <c:v>37.874659400544957</c:v>
                </c:pt>
                <c:pt idx="104">
                  <c:v>38.147138964577657</c:v>
                </c:pt>
                <c:pt idx="105">
                  <c:v>35.967302452316076</c:v>
                </c:pt>
                <c:pt idx="106">
                  <c:v>36.51226158038147</c:v>
                </c:pt>
                <c:pt idx="107">
                  <c:v>38.147138964577657</c:v>
                </c:pt>
                <c:pt idx="108">
                  <c:v>35.422343324250683</c:v>
                </c:pt>
                <c:pt idx="109">
                  <c:v>37.874659400544957</c:v>
                </c:pt>
                <c:pt idx="110">
                  <c:v>35.967302452316076</c:v>
                </c:pt>
                <c:pt idx="111">
                  <c:v>34.604904632152589</c:v>
                </c:pt>
                <c:pt idx="112">
                  <c:v>34.059945504087189</c:v>
                </c:pt>
                <c:pt idx="113">
                  <c:v>35.14986376021799</c:v>
                </c:pt>
                <c:pt idx="114">
                  <c:v>39.237057220708451</c:v>
                </c:pt>
                <c:pt idx="115">
                  <c:v>37.057220708446863</c:v>
                </c:pt>
                <c:pt idx="116">
                  <c:v>36.51226158038147</c:v>
                </c:pt>
                <c:pt idx="117">
                  <c:v>36.51226158038147</c:v>
                </c:pt>
                <c:pt idx="118">
                  <c:v>38.96457765667575</c:v>
                </c:pt>
                <c:pt idx="119">
                  <c:v>44.141689373297005</c:v>
                </c:pt>
                <c:pt idx="120">
                  <c:v>56.948228882833781</c:v>
                </c:pt>
                <c:pt idx="121">
                  <c:v>64.032697547683924</c:v>
                </c:pt>
                <c:pt idx="122">
                  <c:v>68.937329700272471</c:v>
                </c:pt>
                <c:pt idx="123">
                  <c:v>70.572207084468658</c:v>
                </c:pt>
                <c:pt idx="124">
                  <c:v>73.297002724795647</c:v>
                </c:pt>
                <c:pt idx="125">
                  <c:v>73.024523160762939</c:v>
                </c:pt>
                <c:pt idx="126">
                  <c:v>71.934604904632153</c:v>
                </c:pt>
                <c:pt idx="127">
                  <c:v>75.47683923705722</c:v>
                </c:pt>
                <c:pt idx="128">
                  <c:v>80.108991825613074</c:v>
                </c:pt>
                <c:pt idx="129">
                  <c:v>73.841961852861033</c:v>
                </c:pt>
                <c:pt idx="130">
                  <c:v>68.392370572207085</c:v>
                </c:pt>
                <c:pt idx="131">
                  <c:v>68.664850136239792</c:v>
                </c:pt>
                <c:pt idx="132">
                  <c:v>65.12261580381471</c:v>
                </c:pt>
                <c:pt idx="133">
                  <c:v>68.392370572207085</c:v>
                </c:pt>
                <c:pt idx="134">
                  <c:v>69.754768392370565</c:v>
                </c:pt>
                <c:pt idx="135">
                  <c:v>68.119891008174378</c:v>
                </c:pt>
                <c:pt idx="136">
                  <c:v>68.664850136239792</c:v>
                </c:pt>
                <c:pt idx="137">
                  <c:v>68.937329700272471</c:v>
                </c:pt>
                <c:pt idx="138">
                  <c:v>67.847411444141699</c:v>
                </c:pt>
                <c:pt idx="139">
                  <c:v>61.03542234332425</c:v>
                </c:pt>
                <c:pt idx="140">
                  <c:v>57.765667574931875</c:v>
                </c:pt>
                <c:pt idx="141">
                  <c:v>57.220708446866489</c:v>
                </c:pt>
                <c:pt idx="142">
                  <c:v>54.495912806539515</c:v>
                </c:pt>
                <c:pt idx="143">
                  <c:v>54.495912806539515</c:v>
                </c:pt>
                <c:pt idx="144">
                  <c:v>55.585831062670302</c:v>
                </c:pt>
                <c:pt idx="145">
                  <c:v>53.950953678474114</c:v>
                </c:pt>
                <c:pt idx="146">
                  <c:v>53.133514986376021</c:v>
                </c:pt>
                <c:pt idx="147">
                  <c:v>54.495912806539515</c:v>
                </c:pt>
                <c:pt idx="148">
                  <c:v>55.858310626703002</c:v>
                </c:pt>
                <c:pt idx="149">
                  <c:v>56.130790190735688</c:v>
                </c:pt>
                <c:pt idx="150">
                  <c:v>58.310626702997268</c:v>
                </c:pt>
                <c:pt idx="151">
                  <c:v>58.855585831062676</c:v>
                </c:pt>
                <c:pt idx="152">
                  <c:v>52.588555858310627</c:v>
                </c:pt>
                <c:pt idx="153">
                  <c:v>53.678474114441421</c:v>
                </c:pt>
                <c:pt idx="154">
                  <c:v>52.316076294277927</c:v>
                </c:pt>
                <c:pt idx="155">
                  <c:v>50.408719346049047</c:v>
                </c:pt>
                <c:pt idx="156">
                  <c:v>48.77384196185286</c:v>
                </c:pt>
                <c:pt idx="157">
                  <c:v>46.321525885558586</c:v>
                </c:pt>
                <c:pt idx="158">
                  <c:v>38.96457765667575</c:v>
                </c:pt>
                <c:pt idx="159">
                  <c:v>37.329700272479563</c:v>
                </c:pt>
                <c:pt idx="160">
                  <c:v>41.144414168937331</c:v>
                </c:pt>
                <c:pt idx="161">
                  <c:v>42.779291553133511</c:v>
                </c:pt>
                <c:pt idx="162">
                  <c:v>39.509536784741144</c:v>
                </c:pt>
                <c:pt idx="163">
                  <c:v>40.599455040871938</c:v>
                </c:pt>
                <c:pt idx="164">
                  <c:v>40.871934604904631</c:v>
                </c:pt>
                <c:pt idx="165">
                  <c:v>41.689373297002724</c:v>
                </c:pt>
                <c:pt idx="166">
                  <c:v>42.506811989100818</c:v>
                </c:pt>
                <c:pt idx="167">
                  <c:v>43.324250681198912</c:v>
                </c:pt>
                <c:pt idx="168">
                  <c:v>40.871934604904631</c:v>
                </c:pt>
                <c:pt idx="169">
                  <c:v>38.96457765667575</c:v>
                </c:pt>
                <c:pt idx="170">
                  <c:v>36.78474114441417</c:v>
                </c:pt>
                <c:pt idx="171">
                  <c:v>37.057220708446863</c:v>
                </c:pt>
                <c:pt idx="172">
                  <c:v>32.970027247956402</c:v>
                </c:pt>
                <c:pt idx="173">
                  <c:v>31.335149863760218</c:v>
                </c:pt>
                <c:pt idx="174">
                  <c:v>31.607629427792915</c:v>
                </c:pt>
                <c:pt idx="175">
                  <c:v>33.514986376021803</c:v>
                </c:pt>
                <c:pt idx="176">
                  <c:v>35.694822888283376</c:v>
                </c:pt>
                <c:pt idx="177">
                  <c:v>37.874659400544957</c:v>
                </c:pt>
                <c:pt idx="178">
                  <c:v>38.96457765667575</c:v>
                </c:pt>
                <c:pt idx="179">
                  <c:v>37.602179836512263</c:v>
                </c:pt>
                <c:pt idx="180">
                  <c:v>35.967302452316076</c:v>
                </c:pt>
                <c:pt idx="181">
                  <c:v>33.242506811989102</c:v>
                </c:pt>
                <c:pt idx="182">
                  <c:v>30.517711171662125</c:v>
                </c:pt>
                <c:pt idx="183">
                  <c:v>30.245231607629432</c:v>
                </c:pt>
                <c:pt idx="184">
                  <c:v>30.245231607629432</c:v>
                </c:pt>
                <c:pt idx="185">
                  <c:v>29.972752043596728</c:v>
                </c:pt>
                <c:pt idx="186">
                  <c:v>35.967302452316076</c:v>
                </c:pt>
                <c:pt idx="187">
                  <c:v>44.414168937329698</c:v>
                </c:pt>
                <c:pt idx="188">
                  <c:v>49.04632152588556</c:v>
                </c:pt>
                <c:pt idx="189">
                  <c:v>46.321525885558586</c:v>
                </c:pt>
                <c:pt idx="190">
                  <c:v>47.411444141689373</c:v>
                </c:pt>
                <c:pt idx="191">
                  <c:v>47.683923705722073</c:v>
                </c:pt>
                <c:pt idx="192">
                  <c:v>50.681198910081747</c:v>
                </c:pt>
                <c:pt idx="193">
                  <c:v>49.04632152588556</c:v>
                </c:pt>
                <c:pt idx="194">
                  <c:v>50.681198910081747</c:v>
                </c:pt>
                <c:pt idx="195">
                  <c:v>49.04632152588556</c:v>
                </c:pt>
                <c:pt idx="196">
                  <c:v>48.501362397820166</c:v>
                </c:pt>
                <c:pt idx="197">
                  <c:v>51.771117166212534</c:v>
                </c:pt>
                <c:pt idx="198">
                  <c:v>53.133514986376021</c:v>
                </c:pt>
                <c:pt idx="199">
                  <c:v>60.762942779291549</c:v>
                </c:pt>
                <c:pt idx="200">
                  <c:v>64.577656675749324</c:v>
                </c:pt>
                <c:pt idx="201">
                  <c:v>68.664850136239792</c:v>
                </c:pt>
                <c:pt idx="202">
                  <c:v>70.572207084468658</c:v>
                </c:pt>
                <c:pt idx="203">
                  <c:v>68.937329700272471</c:v>
                </c:pt>
                <c:pt idx="204">
                  <c:v>71.117166212534059</c:v>
                </c:pt>
                <c:pt idx="205">
                  <c:v>72.207084468664846</c:v>
                </c:pt>
                <c:pt idx="206">
                  <c:v>72.207084468664846</c:v>
                </c:pt>
                <c:pt idx="207">
                  <c:v>72.752043596730246</c:v>
                </c:pt>
                <c:pt idx="208">
                  <c:v>73.841961852861033</c:v>
                </c:pt>
                <c:pt idx="209">
                  <c:v>71.934604904632153</c:v>
                </c:pt>
                <c:pt idx="210">
                  <c:v>77.111716621253407</c:v>
                </c:pt>
                <c:pt idx="211">
                  <c:v>61.03542234332425</c:v>
                </c:pt>
                <c:pt idx="212">
                  <c:v>81.743869209809262</c:v>
                </c:pt>
                <c:pt idx="213">
                  <c:v>83.106267029972742</c:v>
                </c:pt>
                <c:pt idx="214">
                  <c:v>81.471389645776568</c:v>
                </c:pt>
                <c:pt idx="215">
                  <c:v>80.108991825613074</c:v>
                </c:pt>
                <c:pt idx="216">
                  <c:v>81.743869209809262</c:v>
                </c:pt>
                <c:pt idx="217">
                  <c:v>81.743869209809262</c:v>
                </c:pt>
                <c:pt idx="218">
                  <c:v>82.833787465940063</c:v>
                </c:pt>
                <c:pt idx="219">
                  <c:v>83.378746594005449</c:v>
                </c:pt>
                <c:pt idx="220">
                  <c:v>78.474114441416901</c:v>
                </c:pt>
                <c:pt idx="221">
                  <c:v>77.656675749318808</c:v>
                </c:pt>
                <c:pt idx="222">
                  <c:v>77.929155313351501</c:v>
                </c:pt>
                <c:pt idx="223">
                  <c:v>80.381471389645782</c:v>
                </c:pt>
                <c:pt idx="224">
                  <c:v>80.926430517711168</c:v>
                </c:pt>
                <c:pt idx="225">
                  <c:v>85.83106267029973</c:v>
                </c:pt>
                <c:pt idx="226">
                  <c:v>83.923705722070835</c:v>
                </c:pt>
                <c:pt idx="227">
                  <c:v>83.923705722070835</c:v>
                </c:pt>
                <c:pt idx="228">
                  <c:v>86.648501362397823</c:v>
                </c:pt>
                <c:pt idx="229">
                  <c:v>91.008174386920984</c:v>
                </c:pt>
                <c:pt idx="230">
                  <c:v>92.370572207084464</c:v>
                </c:pt>
                <c:pt idx="231">
                  <c:v>92.643051771117172</c:v>
                </c:pt>
                <c:pt idx="232">
                  <c:v>90.190735694822891</c:v>
                </c:pt>
                <c:pt idx="233">
                  <c:v>91.553133514986371</c:v>
                </c:pt>
                <c:pt idx="234">
                  <c:v>84.75</c:v>
                </c:pt>
                <c:pt idx="235">
                  <c:v>85.75</c:v>
                </c:pt>
                <c:pt idx="236">
                  <c:v>89.25</c:v>
                </c:pt>
                <c:pt idx="237">
                  <c:v>92.75</c:v>
                </c:pt>
                <c:pt idx="238">
                  <c:v>91.25</c:v>
                </c:pt>
                <c:pt idx="239">
                  <c:v>92.75</c:v>
                </c:pt>
                <c:pt idx="240">
                  <c:v>90.25</c:v>
                </c:pt>
                <c:pt idx="241">
                  <c:v>93.5</c:v>
                </c:pt>
                <c:pt idx="242">
                  <c:v>91.75</c:v>
                </c:pt>
                <c:pt idx="243">
                  <c:v>91.25</c:v>
                </c:pt>
                <c:pt idx="244">
                  <c:v>74.561403508771932</c:v>
                </c:pt>
                <c:pt idx="245">
                  <c:v>72.149122807017534</c:v>
                </c:pt>
                <c:pt idx="246">
                  <c:v>66.008771929824562</c:v>
                </c:pt>
                <c:pt idx="247">
                  <c:v>70.175438596491219</c:v>
                </c:pt>
                <c:pt idx="248">
                  <c:v>69.517543859649123</c:v>
                </c:pt>
                <c:pt idx="249">
                  <c:v>65.570175438596493</c:v>
                </c:pt>
                <c:pt idx="250">
                  <c:v>65.570175438596493</c:v>
                </c:pt>
                <c:pt idx="251">
                  <c:v>68.859649122807014</c:v>
                </c:pt>
                <c:pt idx="252">
                  <c:v>65.131578947368425</c:v>
                </c:pt>
                <c:pt idx="253">
                  <c:v>62.061403508771932</c:v>
                </c:pt>
                <c:pt idx="254">
                  <c:v>58.114035087719294</c:v>
                </c:pt>
                <c:pt idx="255">
                  <c:v>59.868421052631582</c:v>
                </c:pt>
                <c:pt idx="256">
                  <c:v>59.210526315789465</c:v>
                </c:pt>
                <c:pt idx="257">
                  <c:v>59.429824561403507</c:v>
                </c:pt>
                <c:pt idx="258">
                  <c:v>57.017543859649123</c:v>
                </c:pt>
                <c:pt idx="259">
                  <c:v>53.070175438596493</c:v>
                </c:pt>
                <c:pt idx="260">
                  <c:v>50</c:v>
                </c:pt>
                <c:pt idx="261">
                  <c:v>49.353448275862064</c:v>
                </c:pt>
                <c:pt idx="262">
                  <c:v>46.551724137931032</c:v>
                </c:pt>
                <c:pt idx="263">
                  <c:v>50</c:v>
                </c:pt>
                <c:pt idx="264">
                  <c:v>49.353448275862064</c:v>
                </c:pt>
                <c:pt idx="265">
                  <c:v>47.198275862068968</c:v>
                </c:pt>
                <c:pt idx="266">
                  <c:v>46.336206896551722</c:v>
                </c:pt>
                <c:pt idx="267">
                  <c:v>48.275862068965516</c:v>
                </c:pt>
                <c:pt idx="268">
                  <c:v>48.275862068965516</c:v>
                </c:pt>
                <c:pt idx="269">
                  <c:v>47.413793103448278</c:v>
                </c:pt>
                <c:pt idx="270">
                  <c:v>47.198275862068968</c:v>
                </c:pt>
                <c:pt idx="271">
                  <c:v>49.353448275862064</c:v>
                </c:pt>
                <c:pt idx="272">
                  <c:v>49.568965517241381</c:v>
                </c:pt>
                <c:pt idx="273">
                  <c:v>45.043103448275865</c:v>
                </c:pt>
                <c:pt idx="274">
                  <c:v>45.905172413793103</c:v>
                </c:pt>
                <c:pt idx="275">
                  <c:v>56.896551724137936</c:v>
                </c:pt>
                <c:pt idx="276">
                  <c:v>41.810344827586206</c:v>
                </c:pt>
                <c:pt idx="277">
                  <c:v>40.086206896551722</c:v>
                </c:pt>
                <c:pt idx="278">
                  <c:v>38.592750533049042</c:v>
                </c:pt>
                <c:pt idx="279">
                  <c:v>35.820895522388057</c:v>
                </c:pt>
                <c:pt idx="280">
                  <c:v>34.328358208955223</c:v>
                </c:pt>
                <c:pt idx="281">
                  <c:v>33.049040511727078</c:v>
                </c:pt>
                <c:pt idx="282">
                  <c:v>32.835820895522389</c:v>
                </c:pt>
                <c:pt idx="283">
                  <c:v>38.379530916844352</c:v>
                </c:pt>
                <c:pt idx="284">
                  <c:v>34.115138592750533</c:v>
                </c:pt>
                <c:pt idx="285">
                  <c:v>36.034115138592746</c:v>
                </c:pt>
                <c:pt idx="286">
                  <c:v>35.622317596566525</c:v>
                </c:pt>
                <c:pt idx="287">
                  <c:v>39.27038626609442</c:v>
                </c:pt>
                <c:pt idx="288">
                  <c:v>35.836909871244636</c:v>
                </c:pt>
                <c:pt idx="289">
                  <c:v>34.334763948497852</c:v>
                </c:pt>
                <c:pt idx="290">
                  <c:v>32.832618025751067</c:v>
                </c:pt>
                <c:pt idx="291">
                  <c:v>28.111587982832621</c:v>
                </c:pt>
                <c:pt idx="292">
                  <c:v>29.184549356223176</c:v>
                </c:pt>
                <c:pt idx="293">
                  <c:v>28.969957081545068</c:v>
                </c:pt>
                <c:pt idx="294">
                  <c:v>27.682403433476395</c:v>
                </c:pt>
                <c:pt idx="295">
                  <c:v>26.609442060085836</c:v>
                </c:pt>
                <c:pt idx="296">
                  <c:v>26.394849785407725</c:v>
                </c:pt>
                <c:pt idx="297">
                  <c:v>24.463519313304722</c:v>
                </c:pt>
                <c:pt idx="298">
                  <c:v>24.892703862660944</c:v>
                </c:pt>
                <c:pt idx="299">
                  <c:v>25.9656652360515</c:v>
                </c:pt>
                <c:pt idx="300">
                  <c:v>24.678111587982833</c:v>
                </c:pt>
                <c:pt idx="301">
                  <c:v>25.321888412017167</c:v>
                </c:pt>
                <c:pt idx="302">
                  <c:v>25.536480686695278</c:v>
                </c:pt>
                <c:pt idx="303">
                  <c:v>26.824034334763947</c:v>
                </c:pt>
                <c:pt idx="304">
                  <c:v>27.467811158798284</c:v>
                </c:pt>
                <c:pt idx="305">
                  <c:v>27.896995708154503</c:v>
                </c:pt>
                <c:pt idx="306">
                  <c:v>28.326180257510732</c:v>
                </c:pt>
                <c:pt idx="307">
                  <c:v>27.896995708154503</c:v>
                </c:pt>
                <c:pt idx="308">
                  <c:v>31.97424892703863</c:v>
                </c:pt>
                <c:pt idx="309">
                  <c:v>32.188841201716741</c:v>
                </c:pt>
                <c:pt idx="310">
                  <c:v>33.690987124463518</c:v>
                </c:pt>
                <c:pt idx="311">
                  <c:v>35.193133047210303</c:v>
                </c:pt>
                <c:pt idx="312">
                  <c:v>36.69527896995708</c:v>
                </c:pt>
                <c:pt idx="313">
                  <c:v>38.197424892703864</c:v>
                </c:pt>
                <c:pt idx="314">
                  <c:v>39.699570815450642</c:v>
                </c:pt>
                <c:pt idx="315">
                  <c:v>41.201716738197426</c:v>
                </c:pt>
                <c:pt idx="316">
                  <c:v>42.70386266094421</c:v>
                </c:pt>
                <c:pt idx="317">
                  <c:v>44.206008583690988</c:v>
                </c:pt>
                <c:pt idx="318">
                  <c:v>47.639484978540771</c:v>
                </c:pt>
                <c:pt idx="319">
                  <c:v>45.278969957081543</c:v>
                </c:pt>
                <c:pt idx="320">
                  <c:v>47.42489270386266</c:v>
                </c:pt>
                <c:pt idx="321">
                  <c:v>49.570815450643778</c:v>
                </c:pt>
                <c:pt idx="322">
                  <c:v>51.716738197424895</c:v>
                </c:pt>
                <c:pt idx="323">
                  <c:v>53.862660944206006</c:v>
                </c:pt>
                <c:pt idx="324">
                  <c:v>56.008583690987123</c:v>
                </c:pt>
                <c:pt idx="325">
                  <c:v>58.154506437768241</c:v>
                </c:pt>
                <c:pt idx="326">
                  <c:v>60.300429184549351</c:v>
                </c:pt>
                <c:pt idx="327">
                  <c:v>62.446351931330469</c:v>
                </c:pt>
                <c:pt idx="328">
                  <c:v>64.592274678111579</c:v>
                </c:pt>
                <c:pt idx="329">
                  <c:v>66.738197424892704</c:v>
                </c:pt>
                <c:pt idx="330">
                  <c:v>68.884120171673828</c:v>
                </c:pt>
                <c:pt idx="331">
                  <c:v>71.030042918454939</c:v>
                </c:pt>
                <c:pt idx="332">
                  <c:v>73.175965665236049</c:v>
                </c:pt>
                <c:pt idx="333">
                  <c:v>75.321888412017174</c:v>
                </c:pt>
                <c:pt idx="334">
                  <c:v>77.467811158798284</c:v>
                </c:pt>
                <c:pt idx="335">
                  <c:v>79.613733905579394</c:v>
                </c:pt>
                <c:pt idx="336">
                  <c:v>81.759656652360519</c:v>
                </c:pt>
                <c:pt idx="337">
                  <c:v>83.905579399141629</c:v>
                </c:pt>
                <c:pt idx="338">
                  <c:v>78.111587982832617</c:v>
                </c:pt>
                <c:pt idx="339">
                  <c:v>81.97424892703863</c:v>
                </c:pt>
                <c:pt idx="340">
                  <c:v>86.695278969957073</c:v>
                </c:pt>
                <c:pt idx="341">
                  <c:v>89.27038626609442</c:v>
                </c:pt>
                <c:pt idx="342">
                  <c:v>83.690987124463518</c:v>
                </c:pt>
                <c:pt idx="343">
                  <c:v>47.518796992481207</c:v>
                </c:pt>
                <c:pt idx="344">
                  <c:v>59.398496240601503</c:v>
                </c:pt>
                <c:pt idx="345">
                  <c:v>62.70676691729323</c:v>
                </c:pt>
                <c:pt idx="346">
                  <c:v>56.691729323308273</c:v>
                </c:pt>
                <c:pt idx="347">
                  <c:v>61.203007518796994</c:v>
                </c:pt>
                <c:pt idx="348">
                  <c:v>63.909774436090231</c:v>
                </c:pt>
                <c:pt idx="349">
                  <c:v>69.473684210526315</c:v>
                </c:pt>
                <c:pt idx="350">
                  <c:v>71.578947368421055</c:v>
                </c:pt>
                <c:pt idx="351">
                  <c:v>73.313343328335833</c:v>
                </c:pt>
                <c:pt idx="352">
                  <c:v>75.412293853073464</c:v>
                </c:pt>
                <c:pt idx="353">
                  <c:v>79.610194902548727</c:v>
                </c:pt>
                <c:pt idx="354">
                  <c:v>82.458770614692654</c:v>
                </c:pt>
                <c:pt idx="355">
                  <c:v>89.205397301349322</c:v>
                </c:pt>
                <c:pt idx="356">
                  <c:v>82.908545727136428</c:v>
                </c:pt>
                <c:pt idx="357">
                  <c:v>73.463268365817086</c:v>
                </c:pt>
                <c:pt idx="358">
                  <c:v>71.98211624441133</c:v>
                </c:pt>
                <c:pt idx="359">
                  <c:v>76.30402384500745</c:v>
                </c:pt>
                <c:pt idx="360">
                  <c:v>73.025335320417284</c:v>
                </c:pt>
                <c:pt idx="361">
                  <c:v>77.943368107302533</c:v>
                </c:pt>
                <c:pt idx="362">
                  <c:v>77.198211624441143</c:v>
                </c:pt>
                <c:pt idx="363">
                  <c:v>84.85294117647058</c:v>
                </c:pt>
                <c:pt idx="364">
                  <c:v>72.5</c:v>
                </c:pt>
                <c:pt idx="365">
                  <c:v>76.911764705882362</c:v>
                </c:pt>
                <c:pt idx="366">
                  <c:v>81.32352941176471</c:v>
                </c:pt>
                <c:pt idx="367">
                  <c:v>79.558823529411754</c:v>
                </c:pt>
                <c:pt idx="368">
                  <c:v>81.17647058823529</c:v>
                </c:pt>
                <c:pt idx="369">
                  <c:v>78.235294117647058</c:v>
                </c:pt>
                <c:pt idx="370">
                  <c:v>76.17647058823529</c:v>
                </c:pt>
                <c:pt idx="371">
                  <c:v>71.698113207547166</c:v>
                </c:pt>
                <c:pt idx="372">
                  <c:v>71.262699564586356</c:v>
                </c:pt>
                <c:pt idx="373">
                  <c:v>67.779390420899858</c:v>
                </c:pt>
                <c:pt idx="374">
                  <c:v>65.892597968069666</c:v>
                </c:pt>
                <c:pt idx="375">
                  <c:v>66.037735849056602</c:v>
                </c:pt>
                <c:pt idx="376">
                  <c:v>67.459138187221399</c:v>
                </c:pt>
                <c:pt idx="377">
                  <c:v>63.173216885007278</c:v>
                </c:pt>
                <c:pt idx="378">
                  <c:v>60.55312954876274</c:v>
                </c:pt>
                <c:pt idx="379">
                  <c:v>60.407569141193598</c:v>
                </c:pt>
                <c:pt idx="380">
                  <c:v>59.097525473071322</c:v>
                </c:pt>
                <c:pt idx="381">
                  <c:v>60.11644832605532</c:v>
                </c:pt>
                <c:pt idx="382">
                  <c:v>63.609898107714699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62-4F8C-B0A4-35FFED8B07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600256"/>
        <c:axId val="161577984"/>
      </c:lineChart>
      <c:dateAx>
        <c:axId val="161574912"/>
        <c:scaling>
          <c:orientation val="minMax"/>
          <c:max val="44565"/>
          <c:min val="43972"/>
        </c:scaling>
        <c:delete val="0"/>
        <c:axPos val="b"/>
        <c:numFmt formatCode="yy&quot;-&quot;m&quot;-&quot;d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1576448"/>
        <c:crosses val="autoZero"/>
        <c:auto val="1"/>
        <c:lblOffset val="100"/>
        <c:baseTimeUnit val="days"/>
      </c:dateAx>
      <c:valAx>
        <c:axId val="161576448"/>
        <c:scaling>
          <c:orientation val="minMax"/>
          <c:max val="700"/>
        </c:scaling>
        <c:delete val="0"/>
        <c:axPos val="l"/>
        <c:numFmt formatCode="0_);[Red]\(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1574912"/>
        <c:crosses val="autoZero"/>
        <c:crossBetween val="between"/>
      </c:valAx>
      <c:valAx>
        <c:axId val="161577984"/>
        <c:scaling>
          <c:orientation val="minMax"/>
          <c:max val="100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1600256"/>
        <c:crosses val="max"/>
        <c:crossBetween val="between"/>
      </c:valAx>
      <c:dateAx>
        <c:axId val="161600256"/>
        <c:scaling>
          <c:orientation val="minMax"/>
        </c:scaling>
        <c:delete val="1"/>
        <c:axPos val="b"/>
        <c:numFmt formatCode="yy&quot;-&quot;m&quot;-&quot;d;@" sourceLinked="1"/>
        <c:majorTickMark val="out"/>
        <c:minorTickMark val="none"/>
        <c:tickLblPos val="nextTo"/>
        <c:crossAx val="161577984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pPr>
            <a:endParaRPr lang="ko-KR"/>
          </a:p>
        </c:txPr>
      </c:legendEntry>
      <c:layout>
        <c:manualLayout>
          <c:xMode val="edge"/>
          <c:yMode val="edge"/>
          <c:x val="0.75257748603529917"/>
          <c:y val="0.52671942116734383"/>
          <c:w val="0.1521586650090698"/>
          <c:h val="0.236586897844238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947801635036465E-2"/>
          <c:y val="4.7749660892575214E-2"/>
          <c:w val="0.9444873336439541"/>
          <c:h val="0.84726230978482431"/>
        </c:manualLayout>
      </c:layout>
      <c:lineChart>
        <c:grouping val="standard"/>
        <c:varyColors val="0"/>
        <c:ser>
          <c:idx val="0"/>
          <c:order val="0"/>
          <c:tx>
            <c:strRef>
              <c:f>'일반 중환자 병상 통계'!$B$1</c:f>
              <c:strCache>
                <c:ptCount val="1"/>
                <c:pt idx="0">
                  <c:v>일반병상보유</c:v>
                </c:pt>
              </c:strCache>
            </c:strRef>
          </c:tx>
          <c:spPr>
            <a:ln w="38100" cap="rnd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21"/>
              <c:layout>
                <c:manualLayout>
                  <c:x val="-6.1516319558830752E-2"/>
                  <c:y val="-7.0099097276375366E-2"/>
                </c:manualLayout>
              </c:layout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</a:rPr>
                      <a:t>20.9.5(213/19)</a:t>
                    </a:r>
                    <a:endParaRPr lang="en-US" altLang="en-US" sz="1000" b="1" dirty="0">
                      <a:solidFill>
                        <a:srgbClr val="7030A0"/>
                      </a:solidFill>
                    </a:endParaRPr>
                  </a:p>
                </c:rich>
              </c:tx>
              <c:spPr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C16-4C5C-86CE-2F4B18A667CF}"/>
                </c:ext>
              </c:extLst>
            </c:dLbl>
            <c:dLbl>
              <c:idx val="42"/>
              <c:layout>
                <c:manualLayout>
                  <c:x val="-8.404420379673426E-2"/>
                  <c:y val="-5.6887821584912512E-2"/>
                </c:manualLayout>
              </c:layout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</a:rPr>
                      <a:t>20.12.7(282/18)</a:t>
                    </a:r>
                    <a:endParaRPr lang="en-US" altLang="en-US" b="1" dirty="0">
                      <a:solidFill>
                        <a:srgbClr val="7030A0"/>
                      </a:solidFill>
                    </a:endParaRPr>
                  </a:p>
                </c:rich>
              </c:tx>
              <c:spPr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C16-4C5C-86CE-2F4B18A667CF}"/>
                </c:ext>
              </c:extLst>
            </c:dLbl>
            <c:dLbl>
              <c:idx val="61"/>
              <c:layout>
                <c:manualLayout>
                  <c:x val="-5.7515157430300418E-2"/>
                  <c:y val="-8.6338430026125679E-2"/>
                </c:manualLayout>
              </c:layout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</a:rPr>
                      <a:t>21.1.12(367/43)</a:t>
                    </a:r>
                    <a:endParaRPr lang="en-US" altLang="en-US" sz="1100" b="1" dirty="0">
                      <a:solidFill>
                        <a:srgbClr val="7030A0"/>
                      </a:solidFill>
                    </a:endParaRPr>
                  </a:p>
                </c:rich>
              </c:tx>
              <c:spPr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C16-4C5C-86CE-2F4B18A667CF}"/>
                </c:ext>
              </c:extLst>
            </c:dLbl>
            <c:dLbl>
              <c:idx val="246"/>
              <c:layout>
                <c:manualLayout>
                  <c:x val="-5.6351633368858324E-2"/>
                  <c:y val="-0.10542939910802833"/>
                </c:manualLayout>
              </c:layout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</a:rPr>
                      <a:t>21.8.24(456/47)</a:t>
                    </a:r>
                    <a:endParaRPr lang="en-US" altLang="en-US" b="1" dirty="0">
                      <a:solidFill>
                        <a:srgbClr val="7030A0"/>
                      </a:solidFill>
                    </a:endParaRPr>
                  </a:p>
                </c:rich>
              </c:tx>
              <c:spPr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C16-4C5C-86CE-2F4B18A667CF}"/>
                </c:ext>
              </c:extLst>
            </c:dLbl>
            <c:dLbl>
              <c:idx val="344"/>
              <c:layout>
                <c:manualLayout>
                  <c:x val="-1.0085154436013983E-2"/>
                  <c:y val="4.9842107094596556E-2"/>
                </c:manualLayout>
              </c:layout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</a:rPr>
                      <a:t>21.12.1(665/63)</a:t>
                    </a:r>
                    <a:endParaRPr lang="en-US" altLang="en-US" sz="1100" b="1" dirty="0">
                      <a:solidFill>
                        <a:srgbClr val="7030A0"/>
                      </a:solidFill>
                    </a:endParaRPr>
                  </a:p>
                </c:rich>
              </c:tx>
              <c:spPr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C16-4C5C-86CE-2F4B18A667CF}"/>
                </c:ext>
              </c:extLst>
            </c:dLbl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'일반 중환자 병상 통계'!$A$2:$A$380</c:f>
              <c:numCache>
                <c:formatCode>yy"-"m"-"d;@</c:formatCode>
                <c:ptCount val="379"/>
                <c:pt idx="0">
                  <c:v>43972</c:v>
                </c:pt>
                <c:pt idx="1">
                  <c:v>43976</c:v>
                </c:pt>
                <c:pt idx="2">
                  <c:v>43981</c:v>
                </c:pt>
                <c:pt idx="3">
                  <c:v>43987</c:v>
                </c:pt>
                <c:pt idx="4">
                  <c:v>43992</c:v>
                </c:pt>
                <c:pt idx="5">
                  <c:v>43997</c:v>
                </c:pt>
                <c:pt idx="6">
                  <c:v>44002</c:v>
                </c:pt>
                <c:pt idx="7">
                  <c:v>44007</c:v>
                </c:pt>
                <c:pt idx="8">
                  <c:v>44012</c:v>
                </c:pt>
                <c:pt idx="9">
                  <c:v>44017</c:v>
                </c:pt>
                <c:pt idx="10">
                  <c:v>44022</c:v>
                </c:pt>
                <c:pt idx="11">
                  <c:v>44027</c:v>
                </c:pt>
                <c:pt idx="12">
                  <c:v>44032</c:v>
                </c:pt>
                <c:pt idx="13">
                  <c:v>44037</c:v>
                </c:pt>
                <c:pt idx="14">
                  <c:v>44043</c:v>
                </c:pt>
                <c:pt idx="15">
                  <c:v>44048</c:v>
                </c:pt>
                <c:pt idx="16">
                  <c:v>44053</c:v>
                </c:pt>
                <c:pt idx="17">
                  <c:v>44058</c:v>
                </c:pt>
                <c:pt idx="18">
                  <c:v>44063</c:v>
                </c:pt>
                <c:pt idx="19">
                  <c:v>44068</c:v>
                </c:pt>
                <c:pt idx="20">
                  <c:v>44073</c:v>
                </c:pt>
                <c:pt idx="21">
                  <c:v>44079</c:v>
                </c:pt>
                <c:pt idx="22">
                  <c:v>44084</c:v>
                </c:pt>
                <c:pt idx="23">
                  <c:v>44089</c:v>
                </c:pt>
                <c:pt idx="24">
                  <c:v>44094</c:v>
                </c:pt>
                <c:pt idx="25">
                  <c:v>44099</c:v>
                </c:pt>
                <c:pt idx="26">
                  <c:v>44104</c:v>
                </c:pt>
                <c:pt idx="27">
                  <c:v>44109</c:v>
                </c:pt>
                <c:pt idx="28">
                  <c:v>44115</c:v>
                </c:pt>
                <c:pt idx="29">
                  <c:v>44119</c:v>
                </c:pt>
                <c:pt idx="30">
                  <c:v>44123</c:v>
                </c:pt>
                <c:pt idx="31">
                  <c:v>44128</c:v>
                </c:pt>
                <c:pt idx="32">
                  <c:v>44134</c:v>
                </c:pt>
                <c:pt idx="33">
                  <c:v>44139</c:v>
                </c:pt>
                <c:pt idx="34">
                  <c:v>44145</c:v>
                </c:pt>
                <c:pt idx="35">
                  <c:v>44151</c:v>
                </c:pt>
                <c:pt idx="36">
                  <c:v>44155</c:v>
                </c:pt>
                <c:pt idx="37">
                  <c:v>44160</c:v>
                </c:pt>
                <c:pt idx="38">
                  <c:v>44165</c:v>
                </c:pt>
                <c:pt idx="39">
                  <c:v>44167</c:v>
                </c:pt>
                <c:pt idx="40">
                  <c:v>44168</c:v>
                </c:pt>
                <c:pt idx="41">
                  <c:v>44172</c:v>
                </c:pt>
                <c:pt idx="42">
                  <c:v>44173</c:v>
                </c:pt>
                <c:pt idx="43">
                  <c:v>44174</c:v>
                </c:pt>
                <c:pt idx="44">
                  <c:v>44175</c:v>
                </c:pt>
                <c:pt idx="45">
                  <c:v>44176</c:v>
                </c:pt>
                <c:pt idx="46">
                  <c:v>44179</c:v>
                </c:pt>
                <c:pt idx="47">
                  <c:v>44180</c:v>
                </c:pt>
                <c:pt idx="48">
                  <c:v>44181</c:v>
                </c:pt>
                <c:pt idx="49">
                  <c:v>44183</c:v>
                </c:pt>
                <c:pt idx="50">
                  <c:v>44186</c:v>
                </c:pt>
                <c:pt idx="51">
                  <c:v>44187</c:v>
                </c:pt>
                <c:pt idx="52">
                  <c:v>44188</c:v>
                </c:pt>
                <c:pt idx="53">
                  <c:v>44189</c:v>
                </c:pt>
                <c:pt idx="54">
                  <c:v>44193</c:v>
                </c:pt>
                <c:pt idx="55">
                  <c:v>44194</c:v>
                </c:pt>
                <c:pt idx="56">
                  <c:v>44195</c:v>
                </c:pt>
                <c:pt idx="57">
                  <c:v>44196</c:v>
                </c:pt>
                <c:pt idx="58">
                  <c:v>44201</c:v>
                </c:pt>
                <c:pt idx="59">
                  <c:v>44202</c:v>
                </c:pt>
                <c:pt idx="60">
                  <c:v>44203</c:v>
                </c:pt>
                <c:pt idx="61">
                  <c:v>44204</c:v>
                </c:pt>
                <c:pt idx="62">
                  <c:v>44207</c:v>
                </c:pt>
                <c:pt idx="63">
                  <c:v>44208</c:v>
                </c:pt>
                <c:pt idx="64">
                  <c:v>44209</c:v>
                </c:pt>
                <c:pt idx="65">
                  <c:v>44211</c:v>
                </c:pt>
                <c:pt idx="66">
                  <c:v>44215</c:v>
                </c:pt>
                <c:pt idx="67">
                  <c:v>44216</c:v>
                </c:pt>
                <c:pt idx="68">
                  <c:v>44217</c:v>
                </c:pt>
                <c:pt idx="69">
                  <c:v>44218</c:v>
                </c:pt>
                <c:pt idx="70">
                  <c:v>44221</c:v>
                </c:pt>
                <c:pt idx="71">
                  <c:v>44223</c:v>
                </c:pt>
                <c:pt idx="72">
                  <c:v>44224</c:v>
                </c:pt>
                <c:pt idx="73">
                  <c:v>44228</c:v>
                </c:pt>
                <c:pt idx="74">
                  <c:v>44229</c:v>
                </c:pt>
                <c:pt idx="75">
                  <c:v>44230</c:v>
                </c:pt>
                <c:pt idx="76">
                  <c:v>44231</c:v>
                </c:pt>
                <c:pt idx="77">
                  <c:v>44232</c:v>
                </c:pt>
                <c:pt idx="78">
                  <c:v>44233</c:v>
                </c:pt>
                <c:pt idx="79">
                  <c:v>44234</c:v>
                </c:pt>
                <c:pt idx="80">
                  <c:v>44236</c:v>
                </c:pt>
                <c:pt idx="81">
                  <c:v>44237</c:v>
                </c:pt>
                <c:pt idx="82">
                  <c:v>44238</c:v>
                </c:pt>
                <c:pt idx="83">
                  <c:v>44241</c:v>
                </c:pt>
                <c:pt idx="84">
                  <c:v>44242</c:v>
                </c:pt>
                <c:pt idx="85">
                  <c:v>44243</c:v>
                </c:pt>
                <c:pt idx="86">
                  <c:v>44244</c:v>
                </c:pt>
                <c:pt idx="87">
                  <c:v>44245</c:v>
                </c:pt>
                <c:pt idx="88">
                  <c:v>44246</c:v>
                </c:pt>
                <c:pt idx="89">
                  <c:v>44247</c:v>
                </c:pt>
                <c:pt idx="90">
                  <c:v>44248</c:v>
                </c:pt>
                <c:pt idx="91">
                  <c:v>44249</c:v>
                </c:pt>
                <c:pt idx="92">
                  <c:v>44250</c:v>
                </c:pt>
                <c:pt idx="93">
                  <c:v>44251</c:v>
                </c:pt>
                <c:pt idx="94">
                  <c:v>44252</c:v>
                </c:pt>
                <c:pt idx="95">
                  <c:v>44253</c:v>
                </c:pt>
                <c:pt idx="96">
                  <c:v>44254</c:v>
                </c:pt>
                <c:pt idx="97">
                  <c:v>44255</c:v>
                </c:pt>
                <c:pt idx="98">
                  <c:v>44256</c:v>
                </c:pt>
                <c:pt idx="99">
                  <c:v>44257</c:v>
                </c:pt>
                <c:pt idx="100">
                  <c:v>44258</c:v>
                </c:pt>
                <c:pt idx="101">
                  <c:v>44259</c:v>
                </c:pt>
                <c:pt idx="102">
                  <c:v>44262</c:v>
                </c:pt>
                <c:pt idx="103">
                  <c:v>44263</c:v>
                </c:pt>
                <c:pt idx="104">
                  <c:v>44265</c:v>
                </c:pt>
                <c:pt idx="105">
                  <c:v>44266</c:v>
                </c:pt>
                <c:pt idx="106">
                  <c:v>44267</c:v>
                </c:pt>
                <c:pt idx="107">
                  <c:v>44268</c:v>
                </c:pt>
                <c:pt idx="108">
                  <c:v>44269</c:v>
                </c:pt>
                <c:pt idx="109">
                  <c:v>44270</c:v>
                </c:pt>
                <c:pt idx="110">
                  <c:v>44271</c:v>
                </c:pt>
                <c:pt idx="111">
                  <c:v>44272</c:v>
                </c:pt>
                <c:pt idx="112">
                  <c:v>44273</c:v>
                </c:pt>
                <c:pt idx="113">
                  <c:v>44274</c:v>
                </c:pt>
                <c:pt idx="114">
                  <c:v>44276</c:v>
                </c:pt>
                <c:pt idx="115">
                  <c:v>44277</c:v>
                </c:pt>
                <c:pt idx="116">
                  <c:v>44278</c:v>
                </c:pt>
                <c:pt idx="117">
                  <c:v>44279</c:v>
                </c:pt>
                <c:pt idx="118">
                  <c:v>44280</c:v>
                </c:pt>
                <c:pt idx="119">
                  <c:v>44281</c:v>
                </c:pt>
                <c:pt idx="120">
                  <c:v>44282</c:v>
                </c:pt>
                <c:pt idx="121">
                  <c:v>44283</c:v>
                </c:pt>
                <c:pt idx="122">
                  <c:v>44284</c:v>
                </c:pt>
                <c:pt idx="123">
                  <c:v>44285</c:v>
                </c:pt>
                <c:pt idx="124">
                  <c:v>44286</c:v>
                </c:pt>
                <c:pt idx="125">
                  <c:v>44287</c:v>
                </c:pt>
                <c:pt idx="126">
                  <c:v>44288</c:v>
                </c:pt>
                <c:pt idx="127">
                  <c:v>44289</c:v>
                </c:pt>
                <c:pt idx="128">
                  <c:v>44290</c:v>
                </c:pt>
                <c:pt idx="129">
                  <c:v>44291</c:v>
                </c:pt>
                <c:pt idx="130">
                  <c:v>44292</c:v>
                </c:pt>
                <c:pt idx="131">
                  <c:v>44293</c:v>
                </c:pt>
                <c:pt idx="132">
                  <c:v>44294</c:v>
                </c:pt>
                <c:pt idx="133">
                  <c:v>44297</c:v>
                </c:pt>
                <c:pt idx="134">
                  <c:v>44298</c:v>
                </c:pt>
                <c:pt idx="135">
                  <c:v>44299</c:v>
                </c:pt>
                <c:pt idx="136">
                  <c:v>44300</c:v>
                </c:pt>
                <c:pt idx="137">
                  <c:v>44301</c:v>
                </c:pt>
                <c:pt idx="138">
                  <c:v>44302</c:v>
                </c:pt>
                <c:pt idx="139">
                  <c:v>44304</c:v>
                </c:pt>
                <c:pt idx="140">
                  <c:v>44307</c:v>
                </c:pt>
                <c:pt idx="141">
                  <c:v>44308</c:v>
                </c:pt>
                <c:pt idx="142">
                  <c:v>44309</c:v>
                </c:pt>
                <c:pt idx="143">
                  <c:v>44310</c:v>
                </c:pt>
                <c:pt idx="144">
                  <c:v>44311</c:v>
                </c:pt>
                <c:pt idx="145">
                  <c:v>44312</c:v>
                </c:pt>
                <c:pt idx="146">
                  <c:v>44313</c:v>
                </c:pt>
                <c:pt idx="147">
                  <c:v>44315</c:v>
                </c:pt>
                <c:pt idx="148">
                  <c:v>44316</c:v>
                </c:pt>
                <c:pt idx="149">
                  <c:v>44317</c:v>
                </c:pt>
                <c:pt idx="150">
                  <c:v>44318</c:v>
                </c:pt>
                <c:pt idx="151">
                  <c:v>44319</c:v>
                </c:pt>
                <c:pt idx="152">
                  <c:v>44320</c:v>
                </c:pt>
                <c:pt idx="153">
                  <c:v>44322</c:v>
                </c:pt>
                <c:pt idx="154">
                  <c:v>44323</c:v>
                </c:pt>
                <c:pt idx="155">
                  <c:v>44324</c:v>
                </c:pt>
                <c:pt idx="156">
                  <c:v>44325</c:v>
                </c:pt>
                <c:pt idx="157">
                  <c:v>44326</c:v>
                </c:pt>
                <c:pt idx="158">
                  <c:v>44327</c:v>
                </c:pt>
                <c:pt idx="159">
                  <c:v>44328</c:v>
                </c:pt>
                <c:pt idx="160">
                  <c:v>44329</c:v>
                </c:pt>
                <c:pt idx="161">
                  <c:v>44332</c:v>
                </c:pt>
                <c:pt idx="162">
                  <c:v>44333</c:v>
                </c:pt>
                <c:pt idx="163">
                  <c:v>44334</c:v>
                </c:pt>
                <c:pt idx="164">
                  <c:v>44335</c:v>
                </c:pt>
                <c:pt idx="165">
                  <c:v>44336</c:v>
                </c:pt>
                <c:pt idx="166">
                  <c:v>44337</c:v>
                </c:pt>
                <c:pt idx="167">
                  <c:v>44338</c:v>
                </c:pt>
                <c:pt idx="168">
                  <c:v>44339</c:v>
                </c:pt>
                <c:pt idx="169">
                  <c:v>44340</c:v>
                </c:pt>
                <c:pt idx="170">
                  <c:v>44341</c:v>
                </c:pt>
                <c:pt idx="171">
                  <c:v>44342</c:v>
                </c:pt>
                <c:pt idx="172">
                  <c:v>44343</c:v>
                </c:pt>
                <c:pt idx="173">
                  <c:v>44344</c:v>
                </c:pt>
                <c:pt idx="174">
                  <c:v>44345</c:v>
                </c:pt>
                <c:pt idx="175">
                  <c:v>44346</c:v>
                </c:pt>
                <c:pt idx="176">
                  <c:v>44347</c:v>
                </c:pt>
                <c:pt idx="177">
                  <c:v>44349</c:v>
                </c:pt>
                <c:pt idx="178">
                  <c:v>44350</c:v>
                </c:pt>
                <c:pt idx="179">
                  <c:v>44355</c:v>
                </c:pt>
                <c:pt idx="180">
                  <c:v>44356</c:v>
                </c:pt>
                <c:pt idx="181">
                  <c:v>44357</c:v>
                </c:pt>
                <c:pt idx="182">
                  <c:v>44358</c:v>
                </c:pt>
                <c:pt idx="183">
                  <c:v>44359</c:v>
                </c:pt>
                <c:pt idx="184">
                  <c:v>44360</c:v>
                </c:pt>
                <c:pt idx="185">
                  <c:v>44361</c:v>
                </c:pt>
                <c:pt idx="186">
                  <c:v>44371</c:v>
                </c:pt>
                <c:pt idx="187">
                  <c:v>44372</c:v>
                </c:pt>
                <c:pt idx="188">
                  <c:v>44373</c:v>
                </c:pt>
                <c:pt idx="189">
                  <c:v>44376</c:v>
                </c:pt>
                <c:pt idx="190">
                  <c:v>44377</c:v>
                </c:pt>
                <c:pt idx="191">
                  <c:v>44378</c:v>
                </c:pt>
                <c:pt idx="192">
                  <c:v>44379</c:v>
                </c:pt>
                <c:pt idx="193">
                  <c:v>44380</c:v>
                </c:pt>
                <c:pt idx="194">
                  <c:v>44381</c:v>
                </c:pt>
                <c:pt idx="195">
                  <c:v>44382</c:v>
                </c:pt>
                <c:pt idx="196">
                  <c:v>44383</c:v>
                </c:pt>
                <c:pt idx="197">
                  <c:v>44384</c:v>
                </c:pt>
                <c:pt idx="198">
                  <c:v>44385</c:v>
                </c:pt>
                <c:pt idx="199">
                  <c:v>44386</c:v>
                </c:pt>
                <c:pt idx="200">
                  <c:v>44387</c:v>
                </c:pt>
                <c:pt idx="201">
                  <c:v>44388</c:v>
                </c:pt>
                <c:pt idx="202">
                  <c:v>44389</c:v>
                </c:pt>
                <c:pt idx="203">
                  <c:v>44390</c:v>
                </c:pt>
                <c:pt idx="204">
                  <c:v>44391</c:v>
                </c:pt>
                <c:pt idx="205">
                  <c:v>44392</c:v>
                </c:pt>
                <c:pt idx="206">
                  <c:v>44393</c:v>
                </c:pt>
                <c:pt idx="207">
                  <c:v>44394</c:v>
                </c:pt>
                <c:pt idx="208">
                  <c:v>44395</c:v>
                </c:pt>
                <c:pt idx="209">
                  <c:v>44396</c:v>
                </c:pt>
                <c:pt idx="210">
                  <c:v>44397</c:v>
                </c:pt>
                <c:pt idx="211">
                  <c:v>44398</c:v>
                </c:pt>
                <c:pt idx="212">
                  <c:v>44399</c:v>
                </c:pt>
                <c:pt idx="213">
                  <c:v>44400</c:v>
                </c:pt>
                <c:pt idx="214">
                  <c:v>44401</c:v>
                </c:pt>
                <c:pt idx="215">
                  <c:v>44402</c:v>
                </c:pt>
                <c:pt idx="216">
                  <c:v>44403</c:v>
                </c:pt>
                <c:pt idx="217">
                  <c:v>44404</c:v>
                </c:pt>
                <c:pt idx="218">
                  <c:v>44405</c:v>
                </c:pt>
                <c:pt idx="219">
                  <c:v>44406</c:v>
                </c:pt>
                <c:pt idx="220">
                  <c:v>44407</c:v>
                </c:pt>
                <c:pt idx="221">
                  <c:v>44408</c:v>
                </c:pt>
                <c:pt idx="222">
                  <c:v>44409</c:v>
                </c:pt>
                <c:pt idx="223">
                  <c:v>44410</c:v>
                </c:pt>
                <c:pt idx="224">
                  <c:v>44411</c:v>
                </c:pt>
                <c:pt idx="225">
                  <c:v>44412</c:v>
                </c:pt>
                <c:pt idx="226">
                  <c:v>44413</c:v>
                </c:pt>
                <c:pt idx="227">
                  <c:v>44414</c:v>
                </c:pt>
                <c:pt idx="228">
                  <c:v>44415</c:v>
                </c:pt>
                <c:pt idx="229">
                  <c:v>44416</c:v>
                </c:pt>
                <c:pt idx="230">
                  <c:v>44417</c:v>
                </c:pt>
                <c:pt idx="231">
                  <c:v>44418</c:v>
                </c:pt>
                <c:pt idx="232">
                  <c:v>44419</c:v>
                </c:pt>
                <c:pt idx="233">
                  <c:v>44420</c:v>
                </c:pt>
                <c:pt idx="234">
                  <c:v>44421</c:v>
                </c:pt>
                <c:pt idx="235">
                  <c:v>44422</c:v>
                </c:pt>
                <c:pt idx="236">
                  <c:v>44423</c:v>
                </c:pt>
                <c:pt idx="237">
                  <c:v>44424</c:v>
                </c:pt>
                <c:pt idx="238">
                  <c:v>44425</c:v>
                </c:pt>
                <c:pt idx="239">
                  <c:v>44426</c:v>
                </c:pt>
                <c:pt idx="240">
                  <c:v>44427</c:v>
                </c:pt>
                <c:pt idx="241">
                  <c:v>44428</c:v>
                </c:pt>
                <c:pt idx="242">
                  <c:v>44429</c:v>
                </c:pt>
                <c:pt idx="243">
                  <c:v>44430</c:v>
                </c:pt>
                <c:pt idx="244">
                  <c:v>44431</c:v>
                </c:pt>
                <c:pt idx="245">
                  <c:v>44432</c:v>
                </c:pt>
                <c:pt idx="246">
                  <c:v>44433</c:v>
                </c:pt>
                <c:pt idx="247">
                  <c:v>44434</c:v>
                </c:pt>
                <c:pt idx="248">
                  <c:v>44435</c:v>
                </c:pt>
                <c:pt idx="249">
                  <c:v>44436</c:v>
                </c:pt>
                <c:pt idx="250">
                  <c:v>44437</c:v>
                </c:pt>
                <c:pt idx="251">
                  <c:v>44438</c:v>
                </c:pt>
                <c:pt idx="252">
                  <c:v>44439</c:v>
                </c:pt>
                <c:pt idx="253">
                  <c:v>44440</c:v>
                </c:pt>
                <c:pt idx="254">
                  <c:v>44441</c:v>
                </c:pt>
                <c:pt idx="255">
                  <c:v>44442</c:v>
                </c:pt>
                <c:pt idx="256">
                  <c:v>44443</c:v>
                </c:pt>
                <c:pt idx="257">
                  <c:v>44444</c:v>
                </c:pt>
                <c:pt idx="258">
                  <c:v>44445</c:v>
                </c:pt>
                <c:pt idx="259">
                  <c:v>44446</c:v>
                </c:pt>
                <c:pt idx="260">
                  <c:v>44447</c:v>
                </c:pt>
                <c:pt idx="261">
                  <c:v>44448</c:v>
                </c:pt>
                <c:pt idx="262">
                  <c:v>44449</c:v>
                </c:pt>
                <c:pt idx="263">
                  <c:v>44450</c:v>
                </c:pt>
                <c:pt idx="264">
                  <c:v>44451</c:v>
                </c:pt>
                <c:pt idx="265">
                  <c:v>44452</c:v>
                </c:pt>
                <c:pt idx="266">
                  <c:v>44453</c:v>
                </c:pt>
                <c:pt idx="267">
                  <c:v>44454</c:v>
                </c:pt>
                <c:pt idx="268">
                  <c:v>44455</c:v>
                </c:pt>
                <c:pt idx="269">
                  <c:v>44456</c:v>
                </c:pt>
                <c:pt idx="270">
                  <c:v>44457</c:v>
                </c:pt>
                <c:pt idx="271">
                  <c:v>44458</c:v>
                </c:pt>
                <c:pt idx="272">
                  <c:v>44459</c:v>
                </c:pt>
                <c:pt idx="273">
                  <c:v>44460</c:v>
                </c:pt>
                <c:pt idx="274">
                  <c:v>44461</c:v>
                </c:pt>
                <c:pt idx="275">
                  <c:v>44462</c:v>
                </c:pt>
                <c:pt idx="276">
                  <c:v>44463</c:v>
                </c:pt>
                <c:pt idx="277">
                  <c:v>44464</c:v>
                </c:pt>
                <c:pt idx="278">
                  <c:v>44465</c:v>
                </c:pt>
                <c:pt idx="279">
                  <c:v>44466</c:v>
                </c:pt>
                <c:pt idx="280">
                  <c:v>44467</c:v>
                </c:pt>
                <c:pt idx="281">
                  <c:v>44468</c:v>
                </c:pt>
                <c:pt idx="282">
                  <c:v>44469</c:v>
                </c:pt>
                <c:pt idx="283">
                  <c:v>44470</c:v>
                </c:pt>
                <c:pt idx="284">
                  <c:v>44471</c:v>
                </c:pt>
                <c:pt idx="285">
                  <c:v>44472</c:v>
                </c:pt>
                <c:pt idx="286">
                  <c:v>44473</c:v>
                </c:pt>
                <c:pt idx="287">
                  <c:v>44474</c:v>
                </c:pt>
                <c:pt idx="288">
                  <c:v>44475</c:v>
                </c:pt>
                <c:pt idx="289">
                  <c:v>44476</c:v>
                </c:pt>
                <c:pt idx="290">
                  <c:v>44477</c:v>
                </c:pt>
                <c:pt idx="291">
                  <c:v>44478</c:v>
                </c:pt>
                <c:pt idx="292">
                  <c:v>44479</c:v>
                </c:pt>
                <c:pt idx="293">
                  <c:v>44480</c:v>
                </c:pt>
                <c:pt idx="294">
                  <c:v>44481</c:v>
                </c:pt>
                <c:pt idx="295">
                  <c:v>44482</c:v>
                </c:pt>
                <c:pt idx="296">
                  <c:v>44483</c:v>
                </c:pt>
                <c:pt idx="297">
                  <c:v>44484</c:v>
                </c:pt>
                <c:pt idx="298">
                  <c:v>44485</c:v>
                </c:pt>
                <c:pt idx="299">
                  <c:v>44486</c:v>
                </c:pt>
                <c:pt idx="300">
                  <c:v>44487</c:v>
                </c:pt>
                <c:pt idx="301">
                  <c:v>44488</c:v>
                </c:pt>
                <c:pt idx="302">
                  <c:v>44489</c:v>
                </c:pt>
                <c:pt idx="303">
                  <c:v>44490</c:v>
                </c:pt>
                <c:pt idx="304">
                  <c:v>44491</c:v>
                </c:pt>
                <c:pt idx="305">
                  <c:v>44492</c:v>
                </c:pt>
                <c:pt idx="306">
                  <c:v>44493</c:v>
                </c:pt>
                <c:pt idx="307">
                  <c:v>44494</c:v>
                </c:pt>
                <c:pt idx="308">
                  <c:v>44495</c:v>
                </c:pt>
                <c:pt idx="309">
                  <c:v>44496</c:v>
                </c:pt>
                <c:pt idx="310">
                  <c:v>44497</c:v>
                </c:pt>
                <c:pt idx="311">
                  <c:v>44498</c:v>
                </c:pt>
                <c:pt idx="312">
                  <c:v>44499</c:v>
                </c:pt>
                <c:pt idx="313">
                  <c:v>44500</c:v>
                </c:pt>
                <c:pt idx="314">
                  <c:v>44501</c:v>
                </c:pt>
                <c:pt idx="315">
                  <c:v>44502</c:v>
                </c:pt>
                <c:pt idx="316">
                  <c:v>44503</c:v>
                </c:pt>
                <c:pt idx="317">
                  <c:v>44504</c:v>
                </c:pt>
                <c:pt idx="318">
                  <c:v>44505</c:v>
                </c:pt>
                <c:pt idx="319">
                  <c:v>44506</c:v>
                </c:pt>
                <c:pt idx="320">
                  <c:v>44507</c:v>
                </c:pt>
                <c:pt idx="321">
                  <c:v>44508</c:v>
                </c:pt>
                <c:pt idx="322">
                  <c:v>44509</c:v>
                </c:pt>
                <c:pt idx="323">
                  <c:v>44510</c:v>
                </c:pt>
                <c:pt idx="324">
                  <c:v>44511</c:v>
                </c:pt>
                <c:pt idx="325">
                  <c:v>44512</c:v>
                </c:pt>
                <c:pt idx="326">
                  <c:v>44513</c:v>
                </c:pt>
                <c:pt idx="327">
                  <c:v>44514</c:v>
                </c:pt>
                <c:pt idx="328">
                  <c:v>44515</c:v>
                </c:pt>
                <c:pt idx="329">
                  <c:v>44516</c:v>
                </c:pt>
                <c:pt idx="330">
                  <c:v>44517</c:v>
                </c:pt>
                <c:pt idx="331">
                  <c:v>44518</c:v>
                </c:pt>
                <c:pt idx="332">
                  <c:v>44519</c:v>
                </c:pt>
                <c:pt idx="333">
                  <c:v>44520</c:v>
                </c:pt>
                <c:pt idx="334">
                  <c:v>44521</c:v>
                </c:pt>
                <c:pt idx="335">
                  <c:v>44522</c:v>
                </c:pt>
                <c:pt idx="336">
                  <c:v>44523</c:v>
                </c:pt>
                <c:pt idx="337">
                  <c:v>44524</c:v>
                </c:pt>
                <c:pt idx="338">
                  <c:v>44525</c:v>
                </c:pt>
                <c:pt idx="339">
                  <c:v>44526</c:v>
                </c:pt>
                <c:pt idx="340">
                  <c:v>44527</c:v>
                </c:pt>
                <c:pt idx="341">
                  <c:v>44528</c:v>
                </c:pt>
                <c:pt idx="342">
                  <c:v>44529</c:v>
                </c:pt>
                <c:pt idx="343">
                  <c:v>44530</c:v>
                </c:pt>
                <c:pt idx="344">
                  <c:v>44531</c:v>
                </c:pt>
                <c:pt idx="345">
                  <c:v>44532</c:v>
                </c:pt>
                <c:pt idx="346">
                  <c:v>44533</c:v>
                </c:pt>
                <c:pt idx="347">
                  <c:v>44534</c:v>
                </c:pt>
                <c:pt idx="348">
                  <c:v>44535</c:v>
                </c:pt>
                <c:pt idx="349">
                  <c:v>44536</c:v>
                </c:pt>
                <c:pt idx="350">
                  <c:v>44537</c:v>
                </c:pt>
                <c:pt idx="351">
                  <c:v>44538</c:v>
                </c:pt>
                <c:pt idx="352">
                  <c:v>44539</c:v>
                </c:pt>
                <c:pt idx="353">
                  <c:v>44540</c:v>
                </c:pt>
                <c:pt idx="354">
                  <c:v>44541</c:v>
                </c:pt>
                <c:pt idx="355">
                  <c:v>44542</c:v>
                </c:pt>
                <c:pt idx="356">
                  <c:v>44543</c:v>
                </c:pt>
                <c:pt idx="357">
                  <c:v>44544</c:v>
                </c:pt>
                <c:pt idx="358">
                  <c:v>44545</c:v>
                </c:pt>
                <c:pt idx="359">
                  <c:v>44546</c:v>
                </c:pt>
                <c:pt idx="360">
                  <c:v>44547</c:v>
                </c:pt>
                <c:pt idx="361">
                  <c:v>44548</c:v>
                </c:pt>
                <c:pt idx="362">
                  <c:v>44549</c:v>
                </c:pt>
                <c:pt idx="363">
                  <c:v>44550</c:v>
                </c:pt>
                <c:pt idx="364">
                  <c:v>44551</c:v>
                </c:pt>
                <c:pt idx="365">
                  <c:v>44552</c:v>
                </c:pt>
                <c:pt idx="366">
                  <c:v>44553</c:v>
                </c:pt>
                <c:pt idx="367">
                  <c:v>44554</c:v>
                </c:pt>
                <c:pt idx="368">
                  <c:v>44555</c:v>
                </c:pt>
                <c:pt idx="369">
                  <c:v>44556</c:v>
                </c:pt>
                <c:pt idx="370">
                  <c:v>44557</c:v>
                </c:pt>
                <c:pt idx="371">
                  <c:v>44558</c:v>
                </c:pt>
                <c:pt idx="372">
                  <c:v>44559</c:v>
                </c:pt>
                <c:pt idx="373">
                  <c:v>44560</c:v>
                </c:pt>
                <c:pt idx="374">
                  <c:v>44561</c:v>
                </c:pt>
                <c:pt idx="375">
                  <c:v>44562</c:v>
                </c:pt>
                <c:pt idx="376">
                  <c:v>44563</c:v>
                </c:pt>
                <c:pt idx="377">
                  <c:v>44564</c:v>
                </c:pt>
                <c:pt idx="378">
                  <c:v>44565</c:v>
                </c:pt>
              </c:numCache>
            </c:numRef>
          </c:cat>
          <c:val>
            <c:numRef>
              <c:f>'일반 중환자 병상 통계'!$B$2:$B$380</c:f>
              <c:numCache>
                <c:formatCode>General</c:formatCode>
                <c:ptCount val="379"/>
                <c:pt idx="0">
                  <c:v>105</c:v>
                </c:pt>
                <c:pt idx="1">
                  <c:v>105</c:v>
                </c:pt>
                <c:pt idx="2">
                  <c:v>105</c:v>
                </c:pt>
                <c:pt idx="3">
                  <c:v>105</c:v>
                </c:pt>
                <c:pt idx="4">
                  <c:v>105</c:v>
                </c:pt>
                <c:pt idx="5">
                  <c:v>105</c:v>
                </c:pt>
                <c:pt idx="6">
                  <c:v>105</c:v>
                </c:pt>
                <c:pt idx="7">
                  <c:v>105</c:v>
                </c:pt>
                <c:pt idx="8">
                  <c:v>105</c:v>
                </c:pt>
                <c:pt idx="9">
                  <c:v>105</c:v>
                </c:pt>
                <c:pt idx="10">
                  <c:v>105</c:v>
                </c:pt>
                <c:pt idx="11">
                  <c:v>105</c:v>
                </c:pt>
                <c:pt idx="12">
                  <c:v>105</c:v>
                </c:pt>
                <c:pt idx="13">
                  <c:v>105</c:v>
                </c:pt>
                <c:pt idx="14">
                  <c:v>105</c:v>
                </c:pt>
                <c:pt idx="15">
                  <c:v>105</c:v>
                </c:pt>
                <c:pt idx="16">
                  <c:v>105</c:v>
                </c:pt>
                <c:pt idx="17">
                  <c:v>105</c:v>
                </c:pt>
                <c:pt idx="18">
                  <c:v>105</c:v>
                </c:pt>
                <c:pt idx="19">
                  <c:v>105</c:v>
                </c:pt>
                <c:pt idx="20">
                  <c:v>163</c:v>
                </c:pt>
                <c:pt idx="21">
                  <c:v>213</c:v>
                </c:pt>
                <c:pt idx="22">
                  <c:v>194</c:v>
                </c:pt>
                <c:pt idx="23">
                  <c:v>194</c:v>
                </c:pt>
                <c:pt idx="24">
                  <c:v>194</c:v>
                </c:pt>
                <c:pt idx="25">
                  <c:v>194</c:v>
                </c:pt>
                <c:pt idx="26">
                  <c:v>194</c:v>
                </c:pt>
                <c:pt idx="27">
                  <c:v>192</c:v>
                </c:pt>
                <c:pt idx="28">
                  <c:v>192</c:v>
                </c:pt>
                <c:pt idx="29">
                  <c:v>192</c:v>
                </c:pt>
                <c:pt idx="30">
                  <c:v>189</c:v>
                </c:pt>
                <c:pt idx="31">
                  <c:v>187</c:v>
                </c:pt>
                <c:pt idx="32">
                  <c:v>187</c:v>
                </c:pt>
                <c:pt idx="33">
                  <c:v>187</c:v>
                </c:pt>
                <c:pt idx="34">
                  <c:v>187</c:v>
                </c:pt>
                <c:pt idx="35">
                  <c:v>187</c:v>
                </c:pt>
                <c:pt idx="36">
                  <c:v>187</c:v>
                </c:pt>
                <c:pt idx="37">
                  <c:v>187</c:v>
                </c:pt>
                <c:pt idx="38">
                  <c:v>188</c:v>
                </c:pt>
                <c:pt idx="39">
                  <c:v>188</c:v>
                </c:pt>
                <c:pt idx="40">
                  <c:v>251</c:v>
                </c:pt>
                <c:pt idx="41">
                  <c:v>282</c:v>
                </c:pt>
                <c:pt idx="42">
                  <c:v>282</c:v>
                </c:pt>
                <c:pt idx="43">
                  <c:v>282</c:v>
                </c:pt>
                <c:pt idx="44">
                  <c:v>282</c:v>
                </c:pt>
                <c:pt idx="45">
                  <c:v>282</c:v>
                </c:pt>
                <c:pt idx="46">
                  <c:v>282</c:v>
                </c:pt>
                <c:pt idx="47">
                  <c:v>282</c:v>
                </c:pt>
                <c:pt idx="48">
                  <c:v>282</c:v>
                </c:pt>
                <c:pt idx="49">
                  <c:v>282</c:v>
                </c:pt>
                <c:pt idx="50">
                  <c:v>282</c:v>
                </c:pt>
                <c:pt idx="51">
                  <c:v>282</c:v>
                </c:pt>
                <c:pt idx="52">
                  <c:v>282</c:v>
                </c:pt>
                <c:pt idx="53">
                  <c:v>282</c:v>
                </c:pt>
                <c:pt idx="54">
                  <c:v>278</c:v>
                </c:pt>
                <c:pt idx="55">
                  <c:v>278</c:v>
                </c:pt>
                <c:pt idx="56">
                  <c:v>278</c:v>
                </c:pt>
                <c:pt idx="57">
                  <c:v>305</c:v>
                </c:pt>
                <c:pt idx="58">
                  <c:v>305</c:v>
                </c:pt>
                <c:pt idx="59">
                  <c:v>327</c:v>
                </c:pt>
                <c:pt idx="60">
                  <c:v>367</c:v>
                </c:pt>
                <c:pt idx="61">
                  <c:v>367</c:v>
                </c:pt>
                <c:pt idx="62">
                  <c:v>369</c:v>
                </c:pt>
                <c:pt idx="63">
                  <c:v>367</c:v>
                </c:pt>
                <c:pt idx="64">
                  <c:v>367</c:v>
                </c:pt>
                <c:pt idx="65">
                  <c:v>367</c:v>
                </c:pt>
                <c:pt idx="66">
                  <c:v>367</c:v>
                </c:pt>
                <c:pt idx="67">
                  <c:v>367</c:v>
                </c:pt>
                <c:pt idx="68">
                  <c:v>367</c:v>
                </c:pt>
                <c:pt idx="69">
                  <c:v>367</c:v>
                </c:pt>
                <c:pt idx="70">
                  <c:v>367</c:v>
                </c:pt>
                <c:pt idx="71">
                  <c:v>367</c:v>
                </c:pt>
                <c:pt idx="72">
                  <c:v>367</c:v>
                </c:pt>
                <c:pt idx="73">
                  <c:v>367</c:v>
                </c:pt>
                <c:pt idx="74">
                  <c:v>367</c:v>
                </c:pt>
                <c:pt idx="75">
                  <c:v>367</c:v>
                </c:pt>
                <c:pt idx="76">
                  <c:v>367</c:v>
                </c:pt>
                <c:pt idx="77">
                  <c:v>367</c:v>
                </c:pt>
                <c:pt idx="78">
                  <c:v>367</c:v>
                </c:pt>
                <c:pt idx="79">
                  <c:v>367</c:v>
                </c:pt>
                <c:pt idx="80">
                  <c:v>367</c:v>
                </c:pt>
                <c:pt idx="81">
                  <c:v>367</c:v>
                </c:pt>
                <c:pt idx="82">
                  <c:v>367</c:v>
                </c:pt>
                <c:pt idx="83">
                  <c:v>367</c:v>
                </c:pt>
                <c:pt idx="84">
                  <c:v>367</c:v>
                </c:pt>
                <c:pt idx="85">
                  <c:v>367</c:v>
                </c:pt>
                <c:pt idx="86">
                  <c:v>367</c:v>
                </c:pt>
                <c:pt idx="87">
                  <c:v>367</c:v>
                </c:pt>
                <c:pt idx="88">
                  <c:v>367</c:v>
                </c:pt>
                <c:pt idx="89">
                  <c:v>367</c:v>
                </c:pt>
                <c:pt idx="90">
                  <c:v>367</c:v>
                </c:pt>
                <c:pt idx="91">
                  <c:v>367</c:v>
                </c:pt>
                <c:pt idx="92">
                  <c:v>367</c:v>
                </c:pt>
                <c:pt idx="93">
                  <c:v>367</c:v>
                </c:pt>
                <c:pt idx="94">
                  <c:v>367</c:v>
                </c:pt>
                <c:pt idx="95">
                  <c:v>367</c:v>
                </c:pt>
                <c:pt idx="96">
                  <c:v>367</c:v>
                </c:pt>
                <c:pt idx="97">
                  <c:v>367</c:v>
                </c:pt>
                <c:pt idx="98">
                  <c:v>367</c:v>
                </c:pt>
                <c:pt idx="99">
                  <c:v>367</c:v>
                </c:pt>
                <c:pt idx="100">
                  <c:v>367</c:v>
                </c:pt>
                <c:pt idx="101">
                  <c:v>367</c:v>
                </c:pt>
                <c:pt idx="102">
                  <c:v>367</c:v>
                </c:pt>
                <c:pt idx="103">
                  <c:v>367</c:v>
                </c:pt>
                <c:pt idx="104">
                  <c:v>367</c:v>
                </c:pt>
                <c:pt idx="105">
                  <c:v>367</c:v>
                </c:pt>
                <c:pt idx="106">
                  <c:v>367</c:v>
                </c:pt>
                <c:pt idx="107">
                  <c:v>367</c:v>
                </c:pt>
                <c:pt idx="108">
                  <c:v>367</c:v>
                </c:pt>
                <c:pt idx="109">
                  <c:v>367</c:v>
                </c:pt>
                <c:pt idx="110">
                  <c:v>367</c:v>
                </c:pt>
                <c:pt idx="111">
                  <c:v>367</c:v>
                </c:pt>
                <c:pt idx="112">
                  <c:v>367</c:v>
                </c:pt>
                <c:pt idx="113">
                  <c:v>367</c:v>
                </c:pt>
                <c:pt idx="114">
                  <c:v>367</c:v>
                </c:pt>
                <c:pt idx="115">
                  <c:v>367</c:v>
                </c:pt>
                <c:pt idx="116">
                  <c:v>367</c:v>
                </c:pt>
                <c:pt idx="117">
                  <c:v>367</c:v>
                </c:pt>
                <c:pt idx="118">
                  <c:v>367</c:v>
                </c:pt>
                <c:pt idx="119">
                  <c:v>367</c:v>
                </c:pt>
                <c:pt idx="120">
                  <c:v>367</c:v>
                </c:pt>
                <c:pt idx="121">
                  <c:v>367</c:v>
                </c:pt>
                <c:pt idx="122">
                  <c:v>367</c:v>
                </c:pt>
                <c:pt idx="123">
                  <c:v>367</c:v>
                </c:pt>
                <c:pt idx="124">
                  <c:v>367</c:v>
                </c:pt>
                <c:pt idx="125">
                  <c:v>367</c:v>
                </c:pt>
                <c:pt idx="126">
                  <c:v>367</c:v>
                </c:pt>
                <c:pt idx="127">
                  <c:v>367</c:v>
                </c:pt>
                <c:pt idx="128">
                  <c:v>367</c:v>
                </c:pt>
                <c:pt idx="129">
                  <c:v>367</c:v>
                </c:pt>
                <c:pt idx="130">
                  <c:v>367</c:v>
                </c:pt>
                <c:pt idx="131">
                  <c:v>367</c:v>
                </c:pt>
                <c:pt idx="132">
                  <c:v>367</c:v>
                </c:pt>
                <c:pt idx="133">
                  <c:v>367</c:v>
                </c:pt>
                <c:pt idx="134">
                  <c:v>367</c:v>
                </c:pt>
                <c:pt idx="135">
                  <c:v>367</c:v>
                </c:pt>
                <c:pt idx="136">
                  <c:v>367</c:v>
                </c:pt>
                <c:pt idx="137">
                  <c:v>367</c:v>
                </c:pt>
                <c:pt idx="138">
                  <c:v>367</c:v>
                </c:pt>
                <c:pt idx="139">
                  <c:v>367</c:v>
                </c:pt>
                <c:pt idx="140">
                  <c:v>367</c:v>
                </c:pt>
                <c:pt idx="141">
                  <c:v>367</c:v>
                </c:pt>
                <c:pt idx="142">
                  <c:v>367</c:v>
                </c:pt>
                <c:pt idx="143">
                  <c:v>367</c:v>
                </c:pt>
                <c:pt idx="144">
                  <c:v>367</c:v>
                </c:pt>
                <c:pt idx="145">
                  <c:v>367</c:v>
                </c:pt>
                <c:pt idx="146">
                  <c:v>367</c:v>
                </c:pt>
                <c:pt idx="147">
                  <c:v>367</c:v>
                </c:pt>
                <c:pt idx="148">
                  <c:v>367</c:v>
                </c:pt>
                <c:pt idx="149">
                  <c:v>367</c:v>
                </c:pt>
                <c:pt idx="150">
                  <c:v>367</c:v>
                </c:pt>
                <c:pt idx="151">
                  <c:v>367</c:v>
                </c:pt>
                <c:pt idx="152">
                  <c:v>367</c:v>
                </c:pt>
                <c:pt idx="153">
                  <c:v>367</c:v>
                </c:pt>
                <c:pt idx="154">
                  <c:v>367</c:v>
                </c:pt>
                <c:pt idx="155">
                  <c:v>367</c:v>
                </c:pt>
                <c:pt idx="156">
                  <c:v>367</c:v>
                </c:pt>
                <c:pt idx="157">
                  <c:v>367</c:v>
                </c:pt>
                <c:pt idx="158">
                  <c:v>367</c:v>
                </c:pt>
                <c:pt idx="159">
                  <c:v>367</c:v>
                </c:pt>
                <c:pt idx="160">
                  <c:v>367</c:v>
                </c:pt>
                <c:pt idx="161">
                  <c:v>367</c:v>
                </c:pt>
                <c:pt idx="162">
                  <c:v>367</c:v>
                </c:pt>
                <c:pt idx="163">
                  <c:v>367</c:v>
                </c:pt>
                <c:pt idx="164">
                  <c:v>367</c:v>
                </c:pt>
                <c:pt idx="165">
                  <c:v>367</c:v>
                </c:pt>
                <c:pt idx="166">
                  <c:v>367</c:v>
                </c:pt>
                <c:pt idx="167">
                  <c:v>367</c:v>
                </c:pt>
                <c:pt idx="168">
                  <c:v>367</c:v>
                </c:pt>
                <c:pt idx="169">
                  <c:v>367</c:v>
                </c:pt>
                <c:pt idx="170">
                  <c:v>367</c:v>
                </c:pt>
                <c:pt idx="171">
                  <c:v>367</c:v>
                </c:pt>
                <c:pt idx="172">
                  <c:v>367</c:v>
                </c:pt>
                <c:pt idx="173">
                  <c:v>367</c:v>
                </c:pt>
                <c:pt idx="174">
                  <c:v>367</c:v>
                </c:pt>
                <c:pt idx="175">
                  <c:v>367</c:v>
                </c:pt>
                <c:pt idx="176">
                  <c:v>367</c:v>
                </c:pt>
                <c:pt idx="177">
                  <c:v>367</c:v>
                </c:pt>
                <c:pt idx="178">
                  <c:v>367</c:v>
                </c:pt>
                <c:pt idx="179">
                  <c:v>367</c:v>
                </c:pt>
                <c:pt idx="180">
                  <c:v>367</c:v>
                </c:pt>
                <c:pt idx="181">
                  <c:v>367</c:v>
                </c:pt>
                <c:pt idx="182">
                  <c:v>367</c:v>
                </c:pt>
                <c:pt idx="183">
                  <c:v>367</c:v>
                </c:pt>
                <c:pt idx="184">
                  <c:v>367</c:v>
                </c:pt>
                <c:pt idx="185">
                  <c:v>367</c:v>
                </c:pt>
                <c:pt idx="186">
                  <c:v>367</c:v>
                </c:pt>
                <c:pt idx="187">
                  <c:v>367</c:v>
                </c:pt>
                <c:pt idx="188">
                  <c:v>367</c:v>
                </c:pt>
                <c:pt idx="189">
                  <c:v>367</c:v>
                </c:pt>
                <c:pt idx="190">
                  <c:v>367</c:v>
                </c:pt>
                <c:pt idx="191">
                  <c:v>367</c:v>
                </c:pt>
                <c:pt idx="192">
                  <c:v>367</c:v>
                </c:pt>
                <c:pt idx="193">
                  <c:v>367</c:v>
                </c:pt>
                <c:pt idx="194">
                  <c:v>367</c:v>
                </c:pt>
                <c:pt idx="195">
                  <c:v>367</c:v>
                </c:pt>
                <c:pt idx="196">
                  <c:v>367</c:v>
                </c:pt>
                <c:pt idx="197">
                  <c:v>367</c:v>
                </c:pt>
                <c:pt idx="198">
                  <c:v>367</c:v>
                </c:pt>
                <c:pt idx="199">
                  <c:v>367</c:v>
                </c:pt>
                <c:pt idx="200">
                  <c:v>367</c:v>
                </c:pt>
                <c:pt idx="201">
                  <c:v>367</c:v>
                </c:pt>
                <c:pt idx="202">
                  <c:v>367</c:v>
                </c:pt>
                <c:pt idx="203">
                  <c:v>367</c:v>
                </c:pt>
                <c:pt idx="204">
                  <c:v>367</c:v>
                </c:pt>
                <c:pt idx="205">
                  <c:v>367</c:v>
                </c:pt>
                <c:pt idx="206">
                  <c:v>367</c:v>
                </c:pt>
                <c:pt idx="207">
                  <c:v>367</c:v>
                </c:pt>
                <c:pt idx="208">
                  <c:v>367</c:v>
                </c:pt>
                <c:pt idx="209">
                  <c:v>367</c:v>
                </c:pt>
                <c:pt idx="210" formatCode="0_);[Red]\(0\)">
                  <c:v>367</c:v>
                </c:pt>
                <c:pt idx="211" formatCode="0_);[Red]\(0\)">
                  <c:v>367</c:v>
                </c:pt>
                <c:pt idx="212">
                  <c:v>367</c:v>
                </c:pt>
                <c:pt idx="213">
                  <c:v>367</c:v>
                </c:pt>
                <c:pt idx="214">
                  <c:v>367</c:v>
                </c:pt>
                <c:pt idx="215">
                  <c:v>367</c:v>
                </c:pt>
                <c:pt idx="216">
                  <c:v>367</c:v>
                </c:pt>
                <c:pt idx="217">
                  <c:v>367</c:v>
                </c:pt>
                <c:pt idx="218">
                  <c:v>367</c:v>
                </c:pt>
                <c:pt idx="219">
                  <c:v>367</c:v>
                </c:pt>
                <c:pt idx="220">
                  <c:v>367</c:v>
                </c:pt>
                <c:pt idx="221">
                  <c:v>367</c:v>
                </c:pt>
                <c:pt idx="222">
                  <c:v>367</c:v>
                </c:pt>
                <c:pt idx="223">
                  <c:v>367</c:v>
                </c:pt>
                <c:pt idx="224">
                  <c:v>367</c:v>
                </c:pt>
                <c:pt idx="225">
                  <c:v>367</c:v>
                </c:pt>
                <c:pt idx="226">
                  <c:v>367</c:v>
                </c:pt>
                <c:pt idx="227">
                  <c:v>367</c:v>
                </c:pt>
                <c:pt idx="228">
                  <c:v>367</c:v>
                </c:pt>
                <c:pt idx="229">
                  <c:v>367</c:v>
                </c:pt>
                <c:pt idx="230">
                  <c:v>367</c:v>
                </c:pt>
                <c:pt idx="231">
                  <c:v>367</c:v>
                </c:pt>
                <c:pt idx="232">
                  <c:v>367</c:v>
                </c:pt>
                <c:pt idx="233">
                  <c:v>367</c:v>
                </c:pt>
                <c:pt idx="234">
                  <c:v>367</c:v>
                </c:pt>
                <c:pt idx="235">
                  <c:v>400</c:v>
                </c:pt>
                <c:pt idx="236">
                  <c:v>400</c:v>
                </c:pt>
                <c:pt idx="237">
                  <c:v>400</c:v>
                </c:pt>
                <c:pt idx="238">
                  <c:v>400</c:v>
                </c:pt>
                <c:pt idx="239">
                  <c:v>400</c:v>
                </c:pt>
                <c:pt idx="240">
                  <c:v>400</c:v>
                </c:pt>
                <c:pt idx="241">
                  <c:v>400</c:v>
                </c:pt>
                <c:pt idx="242">
                  <c:v>400</c:v>
                </c:pt>
                <c:pt idx="243">
                  <c:v>400</c:v>
                </c:pt>
                <c:pt idx="244">
                  <c:v>400</c:v>
                </c:pt>
                <c:pt idx="245">
                  <c:v>456</c:v>
                </c:pt>
                <c:pt idx="246">
                  <c:v>456</c:v>
                </c:pt>
                <c:pt idx="247">
                  <c:v>456</c:v>
                </c:pt>
                <c:pt idx="248">
                  <c:v>456</c:v>
                </c:pt>
                <c:pt idx="249">
                  <c:v>456</c:v>
                </c:pt>
                <c:pt idx="250">
                  <c:v>456</c:v>
                </c:pt>
                <c:pt idx="251">
                  <c:v>456</c:v>
                </c:pt>
                <c:pt idx="252">
                  <c:v>456</c:v>
                </c:pt>
                <c:pt idx="253">
                  <c:v>456</c:v>
                </c:pt>
                <c:pt idx="254">
                  <c:v>456</c:v>
                </c:pt>
                <c:pt idx="255">
                  <c:v>456</c:v>
                </c:pt>
                <c:pt idx="256">
                  <c:v>456</c:v>
                </c:pt>
                <c:pt idx="257">
                  <c:v>456</c:v>
                </c:pt>
                <c:pt idx="258">
                  <c:v>456</c:v>
                </c:pt>
                <c:pt idx="259">
                  <c:v>456</c:v>
                </c:pt>
                <c:pt idx="260">
                  <c:v>456</c:v>
                </c:pt>
                <c:pt idx="261">
                  <c:v>456</c:v>
                </c:pt>
                <c:pt idx="262">
                  <c:v>464</c:v>
                </c:pt>
                <c:pt idx="263">
                  <c:v>464</c:v>
                </c:pt>
                <c:pt idx="264">
                  <c:v>464</c:v>
                </c:pt>
                <c:pt idx="265">
                  <c:v>464</c:v>
                </c:pt>
                <c:pt idx="266">
                  <c:v>464</c:v>
                </c:pt>
                <c:pt idx="267">
                  <c:v>464</c:v>
                </c:pt>
                <c:pt idx="268">
                  <c:v>464</c:v>
                </c:pt>
                <c:pt idx="269">
                  <c:v>464</c:v>
                </c:pt>
                <c:pt idx="270">
                  <c:v>464</c:v>
                </c:pt>
                <c:pt idx="271">
                  <c:v>464</c:v>
                </c:pt>
                <c:pt idx="272">
                  <c:v>464</c:v>
                </c:pt>
                <c:pt idx="273">
                  <c:v>464</c:v>
                </c:pt>
                <c:pt idx="274">
                  <c:v>464</c:v>
                </c:pt>
                <c:pt idx="275">
                  <c:v>464</c:v>
                </c:pt>
                <c:pt idx="276">
                  <c:v>464</c:v>
                </c:pt>
                <c:pt idx="277">
                  <c:v>464</c:v>
                </c:pt>
                <c:pt idx="278">
                  <c:v>464</c:v>
                </c:pt>
                <c:pt idx="279">
                  <c:v>469</c:v>
                </c:pt>
                <c:pt idx="280">
                  <c:v>469</c:v>
                </c:pt>
                <c:pt idx="281">
                  <c:v>469</c:v>
                </c:pt>
                <c:pt idx="282">
                  <c:v>469</c:v>
                </c:pt>
                <c:pt idx="283">
                  <c:v>469</c:v>
                </c:pt>
                <c:pt idx="284">
                  <c:v>469</c:v>
                </c:pt>
                <c:pt idx="285">
                  <c:v>469</c:v>
                </c:pt>
                <c:pt idx="286">
                  <c:v>469</c:v>
                </c:pt>
                <c:pt idx="287">
                  <c:v>466</c:v>
                </c:pt>
                <c:pt idx="288">
                  <c:v>466</c:v>
                </c:pt>
                <c:pt idx="289">
                  <c:v>466</c:v>
                </c:pt>
                <c:pt idx="290">
                  <c:v>466</c:v>
                </c:pt>
                <c:pt idx="291">
                  <c:v>466</c:v>
                </c:pt>
                <c:pt idx="292">
                  <c:v>466</c:v>
                </c:pt>
                <c:pt idx="293">
                  <c:v>466</c:v>
                </c:pt>
                <c:pt idx="294">
                  <c:v>466</c:v>
                </c:pt>
                <c:pt idx="295">
                  <c:v>466</c:v>
                </c:pt>
                <c:pt idx="296">
                  <c:v>466</c:v>
                </c:pt>
                <c:pt idx="297">
                  <c:v>466</c:v>
                </c:pt>
                <c:pt idx="298">
                  <c:v>466</c:v>
                </c:pt>
                <c:pt idx="299">
                  <c:v>466</c:v>
                </c:pt>
                <c:pt idx="300">
                  <c:v>466</c:v>
                </c:pt>
                <c:pt idx="301">
                  <c:v>466</c:v>
                </c:pt>
                <c:pt idx="302">
                  <c:v>466</c:v>
                </c:pt>
                <c:pt idx="303">
                  <c:v>466</c:v>
                </c:pt>
                <c:pt idx="304">
                  <c:v>466</c:v>
                </c:pt>
                <c:pt idx="305">
                  <c:v>466</c:v>
                </c:pt>
                <c:pt idx="306">
                  <c:v>466</c:v>
                </c:pt>
                <c:pt idx="307">
                  <c:v>466</c:v>
                </c:pt>
                <c:pt idx="308">
                  <c:v>466</c:v>
                </c:pt>
                <c:pt idx="309">
                  <c:v>466</c:v>
                </c:pt>
                <c:pt idx="310">
                  <c:v>466</c:v>
                </c:pt>
                <c:pt idx="311">
                  <c:v>466</c:v>
                </c:pt>
                <c:pt idx="312">
                  <c:v>466</c:v>
                </c:pt>
                <c:pt idx="313">
                  <c:v>466</c:v>
                </c:pt>
                <c:pt idx="314">
                  <c:v>466</c:v>
                </c:pt>
                <c:pt idx="315">
                  <c:v>466</c:v>
                </c:pt>
                <c:pt idx="316">
                  <c:v>466</c:v>
                </c:pt>
                <c:pt idx="317">
                  <c:v>466</c:v>
                </c:pt>
                <c:pt idx="318">
                  <c:v>466</c:v>
                </c:pt>
                <c:pt idx="319">
                  <c:v>466</c:v>
                </c:pt>
                <c:pt idx="320">
                  <c:v>466</c:v>
                </c:pt>
                <c:pt idx="321">
                  <c:v>466</c:v>
                </c:pt>
                <c:pt idx="322">
                  <c:v>466</c:v>
                </c:pt>
                <c:pt idx="323">
                  <c:v>466</c:v>
                </c:pt>
                <c:pt idx="324">
                  <c:v>466</c:v>
                </c:pt>
                <c:pt idx="325">
                  <c:v>466</c:v>
                </c:pt>
                <c:pt idx="326">
                  <c:v>466</c:v>
                </c:pt>
                <c:pt idx="327">
                  <c:v>466</c:v>
                </c:pt>
                <c:pt idx="328">
                  <c:v>466</c:v>
                </c:pt>
                <c:pt idx="329">
                  <c:v>466</c:v>
                </c:pt>
                <c:pt idx="330">
                  <c:v>466</c:v>
                </c:pt>
                <c:pt idx="331">
                  <c:v>466</c:v>
                </c:pt>
                <c:pt idx="332">
                  <c:v>466</c:v>
                </c:pt>
                <c:pt idx="333">
                  <c:v>466</c:v>
                </c:pt>
                <c:pt idx="334">
                  <c:v>466</c:v>
                </c:pt>
                <c:pt idx="335">
                  <c:v>466</c:v>
                </c:pt>
                <c:pt idx="336">
                  <c:v>466</c:v>
                </c:pt>
                <c:pt idx="337">
                  <c:v>466</c:v>
                </c:pt>
                <c:pt idx="338">
                  <c:v>466</c:v>
                </c:pt>
                <c:pt idx="339">
                  <c:v>466</c:v>
                </c:pt>
                <c:pt idx="340">
                  <c:v>466</c:v>
                </c:pt>
                <c:pt idx="341">
                  <c:v>466</c:v>
                </c:pt>
                <c:pt idx="342">
                  <c:v>466</c:v>
                </c:pt>
                <c:pt idx="343">
                  <c:v>466</c:v>
                </c:pt>
                <c:pt idx="344">
                  <c:v>665</c:v>
                </c:pt>
                <c:pt idx="345">
                  <c:v>665</c:v>
                </c:pt>
                <c:pt idx="346">
                  <c:v>665</c:v>
                </c:pt>
                <c:pt idx="347">
                  <c:v>665</c:v>
                </c:pt>
                <c:pt idx="348">
                  <c:v>665</c:v>
                </c:pt>
                <c:pt idx="349">
                  <c:v>665</c:v>
                </c:pt>
                <c:pt idx="350">
                  <c:v>665</c:v>
                </c:pt>
                <c:pt idx="351">
                  <c:v>665</c:v>
                </c:pt>
                <c:pt idx="352">
                  <c:v>667</c:v>
                </c:pt>
                <c:pt idx="353">
                  <c:v>667</c:v>
                </c:pt>
                <c:pt idx="354">
                  <c:v>667</c:v>
                </c:pt>
                <c:pt idx="355">
                  <c:v>667</c:v>
                </c:pt>
                <c:pt idx="356">
                  <c:v>667</c:v>
                </c:pt>
                <c:pt idx="357">
                  <c:v>667</c:v>
                </c:pt>
                <c:pt idx="358">
                  <c:v>667</c:v>
                </c:pt>
                <c:pt idx="359">
                  <c:v>671</c:v>
                </c:pt>
                <c:pt idx="360">
                  <c:v>671</c:v>
                </c:pt>
                <c:pt idx="361">
                  <c:v>671</c:v>
                </c:pt>
                <c:pt idx="362">
                  <c:v>671</c:v>
                </c:pt>
                <c:pt idx="363">
                  <c:v>671</c:v>
                </c:pt>
                <c:pt idx="364">
                  <c:v>680</c:v>
                </c:pt>
                <c:pt idx="365">
                  <c:v>680</c:v>
                </c:pt>
                <c:pt idx="366">
                  <c:v>680</c:v>
                </c:pt>
                <c:pt idx="367">
                  <c:v>680</c:v>
                </c:pt>
                <c:pt idx="368">
                  <c:v>680</c:v>
                </c:pt>
                <c:pt idx="369">
                  <c:v>680</c:v>
                </c:pt>
                <c:pt idx="370">
                  <c:v>680</c:v>
                </c:pt>
                <c:pt idx="371">
                  <c:v>680</c:v>
                </c:pt>
                <c:pt idx="372">
                  <c:v>689</c:v>
                </c:pt>
                <c:pt idx="373">
                  <c:v>689</c:v>
                </c:pt>
                <c:pt idx="374">
                  <c:v>689</c:v>
                </c:pt>
                <c:pt idx="375">
                  <c:v>689</c:v>
                </c:pt>
                <c:pt idx="376">
                  <c:v>689</c:v>
                </c:pt>
                <c:pt idx="377">
                  <c:v>673</c:v>
                </c:pt>
                <c:pt idx="378">
                  <c:v>687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83-4F4C-95B8-8BC8E52AC3A9}"/>
            </c:ext>
          </c:extLst>
        </c:ser>
        <c:ser>
          <c:idx val="1"/>
          <c:order val="1"/>
          <c:tx>
            <c:strRef>
              <c:f>'일반 중환자 병상 통계'!$C$1</c:f>
              <c:strCache>
                <c:ptCount val="1"/>
                <c:pt idx="0">
                  <c:v>일반병상사용</c:v>
                </c:pt>
              </c:strCache>
            </c:strRef>
          </c:tx>
          <c:spPr>
            <a:ln w="1905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'일반 중환자 병상 통계'!$A$2:$A$380</c:f>
              <c:numCache>
                <c:formatCode>yy"-"m"-"d;@</c:formatCode>
                <c:ptCount val="379"/>
                <c:pt idx="0">
                  <c:v>43972</c:v>
                </c:pt>
                <c:pt idx="1">
                  <c:v>43976</c:v>
                </c:pt>
                <c:pt idx="2">
                  <c:v>43981</c:v>
                </c:pt>
                <c:pt idx="3">
                  <c:v>43987</c:v>
                </c:pt>
                <c:pt idx="4">
                  <c:v>43992</c:v>
                </c:pt>
                <c:pt idx="5">
                  <c:v>43997</c:v>
                </c:pt>
                <c:pt idx="6">
                  <c:v>44002</c:v>
                </c:pt>
                <c:pt idx="7">
                  <c:v>44007</c:v>
                </c:pt>
                <c:pt idx="8">
                  <c:v>44012</c:v>
                </c:pt>
                <c:pt idx="9">
                  <c:v>44017</c:v>
                </c:pt>
                <c:pt idx="10">
                  <c:v>44022</c:v>
                </c:pt>
                <c:pt idx="11">
                  <c:v>44027</c:v>
                </c:pt>
                <c:pt idx="12">
                  <c:v>44032</c:v>
                </c:pt>
                <c:pt idx="13">
                  <c:v>44037</c:v>
                </c:pt>
                <c:pt idx="14">
                  <c:v>44043</c:v>
                </c:pt>
                <c:pt idx="15">
                  <c:v>44048</c:v>
                </c:pt>
                <c:pt idx="16">
                  <c:v>44053</c:v>
                </c:pt>
                <c:pt idx="17">
                  <c:v>44058</c:v>
                </c:pt>
                <c:pt idx="18">
                  <c:v>44063</c:v>
                </c:pt>
                <c:pt idx="19">
                  <c:v>44068</c:v>
                </c:pt>
                <c:pt idx="20">
                  <c:v>44073</c:v>
                </c:pt>
                <c:pt idx="21">
                  <c:v>44079</c:v>
                </c:pt>
                <c:pt idx="22">
                  <c:v>44084</c:v>
                </c:pt>
                <c:pt idx="23">
                  <c:v>44089</c:v>
                </c:pt>
                <c:pt idx="24">
                  <c:v>44094</c:v>
                </c:pt>
                <c:pt idx="25">
                  <c:v>44099</c:v>
                </c:pt>
                <c:pt idx="26">
                  <c:v>44104</c:v>
                </c:pt>
                <c:pt idx="27">
                  <c:v>44109</c:v>
                </c:pt>
                <c:pt idx="28">
                  <c:v>44115</c:v>
                </c:pt>
                <c:pt idx="29">
                  <c:v>44119</c:v>
                </c:pt>
                <c:pt idx="30">
                  <c:v>44123</c:v>
                </c:pt>
                <c:pt idx="31">
                  <c:v>44128</c:v>
                </c:pt>
                <c:pt idx="32">
                  <c:v>44134</c:v>
                </c:pt>
                <c:pt idx="33">
                  <c:v>44139</c:v>
                </c:pt>
                <c:pt idx="34">
                  <c:v>44145</c:v>
                </c:pt>
                <c:pt idx="35">
                  <c:v>44151</c:v>
                </c:pt>
                <c:pt idx="36">
                  <c:v>44155</c:v>
                </c:pt>
                <c:pt idx="37">
                  <c:v>44160</c:v>
                </c:pt>
                <c:pt idx="38">
                  <c:v>44165</c:v>
                </c:pt>
                <c:pt idx="39">
                  <c:v>44167</c:v>
                </c:pt>
                <c:pt idx="40">
                  <c:v>44168</c:v>
                </c:pt>
                <c:pt idx="41">
                  <c:v>44172</c:v>
                </c:pt>
                <c:pt idx="42">
                  <c:v>44173</c:v>
                </c:pt>
                <c:pt idx="43">
                  <c:v>44174</c:v>
                </c:pt>
                <c:pt idx="44">
                  <c:v>44175</c:v>
                </c:pt>
                <c:pt idx="45">
                  <c:v>44176</c:v>
                </c:pt>
                <c:pt idx="46">
                  <c:v>44179</c:v>
                </c:pt>
                <c:pt idx="47">
                  <c:v>44180</c:v>
                </c:pt>
                <c:pt idx="48">
                  <c:v>44181</c:v>
                </c:pt>
                <c:pt idx="49">
                  <c:v>44183</c:v>
                </c:pt>
                <c:pt idx="50">
                  <c:v>44186</c:v>
                </c:pt>
                <c:pt idx="51">
                  <c:v>44187</c:v>
                </c:pt>
                <c:pt idx="52">
                  <c:v>44188</c:v>
                </c:pt>
                <c:pt idx="53">
                  <c:v>44189</c:v>
                </c:pt>
                <c:pt idx="54">
                  <c:v>44193</c:v>
                </c:pt>
                <c:pt idx="55">
                  <c:v>44194</c:v>
                </c:pt>
                <c:pt idx="56">
                  <c:v>44195</c:v>
                </c:pt>
                <c:pt idx="57">
                  <c:v>44196</c:v>
                </c:pt>
                <c:pt idx="58">
                  <c:v>44201</c:v>
                </c:pt>
                <c:pt idx="59">
                  <c:v>44202</c:v>
                </c:pt>
                <c:pt idx="60">
                  <c:v>44203</c:v>
                </c:pt>
                <c:pt idx="61">
                  <c:v>44204</c:v>
                </c:pt>
                <c:pt idx="62">
                  <c:v>44207</c:v>
                </c:pt>
                <c:pt idx="63">
                  <c:v>44208</c:v>
                </c:pt>
                <c:pt idx="64">
                  <c:v>44209</c:v>
                </c:pt>
                <c:pt idx="65">
                  <c:v>44211</c:v>
                </c:pt>
                <c:pt idx="66">
                  <c:v>44215</c:v>
                </c:pt>
                <c:pt idx="67">
                  <c:v>44216</c:v>
                </c:pt>
                <c:pt idx="68">
                  <c:v>44217</c:v>
                </c:pt>
                <c:pt idx="69">
                  <c:v>44218</c:v>
                </c:pt>
                <c:pt idx="70">
                  <c:v>44221</c:v>
                </c:pt>
                <c:pt idx="71">
                  <c:v>44223</c:v>
                </c:pt>
                <c:pt idx="72">
                  <c:v>44224</c:v>
                </c:pt>
                <c:pt idx="73">
                  <c:v>44228</c:v>
                </c:pt>
                <c:pt idx="74">
                  <c:v>44229</c:v>
                </c:pt>
                <c:pt idx="75">
                  <c:v>44230</c:v>
                </c:pt>
                <c:pt idx="76">
                  <c:v>44231</c:v>
                </c:pt>
                <c:pt idx="77">
                  <c:v>44232</c:v>
                </c:pt>
                <c:pt idx="78">
                  <c:v>44233</c:v>
                </c:pt>
                <c:pt idx="79">
                  <c:v>44234</c:v>
                </c:pt>
                <c:pt idx="80">
                  <c:v>44236</c:v>
                </c:pt>
                <c:pt idx="81">
                  <c:v>44237</c:v>
                </c:pt>
                <c:pt idx="82">
                  <c:v>44238</c:v>
                </c:pt>
                <c:pt idx="83">
                  <c:v>44241</c:v>
                </c:pt>
                <c:pt idx="84">
                  <c:v>44242</c:v>
                </c:pt>
                <c:pt idx="85">
                  <c:v>44243</c:v>
                </c:pt>
                <c:pt idx="86">
                  <c:v>44244</c:v>
                </c:pt>
                <c:pt idx="87">
                  <c:v>44245</c:v>
                </c:pt>
                <c:pt idx="88">
                  <c:v>44246</c:v>
                </c:pt>
                <c:pt idx="89">
                  <c:v>44247</c:v>
                </c:pt>
                <c:pt idx="90">
                  <c:v>44248</c:v>
                </c:pt>
                <c:pt idx="91">
                  <c:v>44249</c:v>
                </c:pt>
                <c:pt idx="92">
                  <c:v>44250</c:v>
                </c:pt>
                <c:pt idx="93">
                  <c:v>44251</c:v>
                </c:pt>
                <c:pt idx="94">
                  <c:v>44252</c:v>
                </c:pt>
                <c:pt idx="95">
                  <c:v>44253</c:v>
                </c:pt>
                <c:pt idx="96">
                  <c:v>44254</c:v>
                </c:pt>
                <c:pt idx="97">
                  <c:v>44255</c:v>
                </c:pt>
                <c:pt idx="98">
                  <c:v>44256</c:v>
                </c:pt>
                <c:pt idx="99">
                  <c:v>44257</c:v>
                </c:pt>
                <c:pt idx="100">
                  <c:v>44258</c:v>
                </c:pt>
                <c:pt idx="101">
                  <c:v>44259</c:v>
                </c:pt>
                <c:pt idx="102">
                  <c:v>44262</c:v>
                </c:pt>
                <c:pt idx="103">
                  <c:v>44263</c:v>
                </c:pt>
                <c:pt idx="104">
                  <c:v>44265</c:v>
                </c:pt>
                <c:pt idx="105">
                  <c:v>44266</c:v>
                </c:pt>
                <c:pt idx="106">
                  <c:v>44267</c:v>
                </c:pt>
                <c:pt idx="107">
                  <c:v>44268</c:v>
                </c:pt>
                <c:pt idx="108">
                  <c:v>44269</c:v>
                </c:pt>
                <c:pt idx="109">
                  <c:v>44270</c:v>
                </c:pt>
                <c:pt idx="110">
                  <c:v>44271</c:v>
                </c:pt>
                <c:pt idx="111">
                  <c:v>44272</c:v>
                </c:pt>
                <c:pt idx="112">
                  <c:v>44273</c:v>
                </c:pt>
                <c:pt idx="113">
                  <c:v>44274</c:v>
                </c:pt>
                <c:pt idx="114">
                  <c:v>44276</c:v>
                </c:pt>
                <c:pt idx="115">
                  <c:v>44277</c:v>
                </c:pt>
                <c:pt idx="116">
                  <c:v>44278</c:v>
                </c:pt>
                <c:pt idx="117">
                  <c:v>44279</c:v>
                </c:pt>
                <c:pt idx="118">
                  <c:v>44280</c:v>
                </c:pt>
                <c:pt idx="119">
                  <c:v>44281</c:v>
                </c:pt>
                <c:pt idx="120">
                  <c:v>44282</c:v>
                </c:pt>
                <c:pt idx="121">
                  <c:v>44283</c:v>
                </c:pt>
                <c:pt idx="122">
                  <c:v>44284</c:v>
                </c:pt>
                <c:pt idx="123">
                  <c:v>44285</c:v>
                </c:pt>
                <c:pt idx="124">
                  <c:v>44286</c:v>
                </c:pt>
                <c:pt idx="125">
                  <c:v>44287</c:v>
                </c:pt>
                <c:pt idx="126">
                  <c:v>44288</c:v>
                </c:pt>
                <c:pt idx="127">
                  <c:v>44289</c:v>
                </c:pt>
                <c:pt idx="128">
                  <c:v>44290</c:v>
                </c:pt>
                <c:pt idx="129">
                  <c:v>44291</c:v>
                </c:pt>
                <c:pt idx="130">
                  <c:v>44292</c:v>
                </c:pt>
                <c:pt idx="131">
                  <c:v>44293</c:v>
                </c:pt>
                <c:pt idx="132">
                  <c:v>44294</c:v>
                </c:pt>
                <c:pt idx="133">
                  <c:v>44297</c:v>
                </c:pt>
                <c:pt idx="134">
                  <c:v>44298</c:v>
                </c:pt>
                <c:pt idx="135">
                  <c:v>44299</c:v>
                </c:pt>
                <c:pt idx="136">
                  <c:v>44300</c:v>
                </c:pt>
                <c:pt idx="137">
                  <c:v>44301</c:v>
                </c:pt>
                <c:pt idx="138">
                  <c:v>44302</c:v>
                </c:pt>
                <c:pt idx="139">
                  <c:v>44304</c:v>
                </c:pt>
                <c:pt idx="140">
                  <c:v>44307</c:v>
                </c:pt>
                <c:pt idx="141">
                  <c:v>44308</c:v>
                </c:pt>
                <c:pt idx="142">
                  <c:v>44309</c:v>
                </c:pt>
                <c:pt idx="143">
                  <c:v>44310</c:v>
                </c:pt>
                <c:pt idx="144">
                  <c:v>44311</c:v>
                </c:pt>
                <c:pt idx="145">
                  <c:v>44312</c:v>
                </c:pt>
                <c:pt idx="146">
                  <c:v>44313</c:v>
                </c:pt>
                <c:pt idx="147">
                  <c:v>44315</c:v>
                </c:pt>
                <c:pt idx="148">
                  <c:v>44316</c:v>
                </c:pt>
                <c:pt idx="149">
                  <c:v>44317</c:v>
                </c:pt>
                <c:pt idx="150">
                  <c:v>44318</c:v>
                </c:pt>
                <c:pt idx="151">
                  <c:v>44319</c:v>
                </c:pt>
                <c:pt idx="152">
                  <c:v>44320</c:v>
                </c:pt>
                <c:pt idx="153">
                  <c:v>44322</c:v>
                </c:pt>
                <c:pt idx="154">
                  <c:v>44323</c:v>
                </c:pt>
                <c:pt idx="155">
                  <c:v>44324</c:v>
                </c:pt>
                <c:pt idx="156">
                  <c:v>44325</c:v>
                </c:pt>
                <c:pt idx="157">
                  <c:v>44326</c:v>
                </c:pt>
                <c:pt idx="158">
                  <c:v>44327</c:v>
                </c:pt>
                <c:pt idx="159">
                  <c:v>44328</c:v>
                </c:pt>
                <c:pt idx="160">
                  <c:v>44329</c:v>
                </c:pt>
                <c:pt idx="161">
                  <c:v>44332</c:v>
                </c:pt>
                <c:pt idx="162">
                  <c:v>44333</c:v>
                </c:pt>
                <c:pt idx="163">
                  <c:v>44334</c:v>
                </c:pt>
                <c:pt idx="164">
                  <c:v>44335</c:v>
                </c:pt>
                <c:pt idx="165">
                  <c:v>44336</c:v>
                </c:pt>
                <c:pt idx="166">
                  <c:v>44337</c:v>
                </c:pt>
                <c:pt idx="167">
                  <c:v>44338</c:v>
                </c:pt>
                <c:pt idx="168">
                  <c:v>44339</c:v>
                </c:pt>
                <c:pt idx="169">
                  <c:v>44340</c:v>
                </c:pt>
                <c:pt idx="170">
                  <c:v>44341</c:v>
                </c:pt>
                <c:pt idx="171">
                  <c:v>44342</c:v>
                </c:pt>
                <c:pt idx="172">
                  <c:v>44343</c:v>
                </c:pt>
                <c:pt idx="173">
                  <c:v>44344</c:v>
                </c:pt>
                <c:pt idx="174">
                  <c:v>44345</c:v>
                </c:pt>
                <c:pt idx="175">
                  <c:v>44346</c:v>
                </c:pt>
                <c:pt idx="176">
                  <c:v>44347</c:v>
                </c:pt>
                <c:pt idx="177">
                  <c:v>44349</c:v>
                </c:pt>
                <c:pt idx="178">
                  <c:v>44350</c:v>
                </c:pt>
                <c:pt idx="179">
                  <c:v>44355</c:v>
                </c:pt>
                <c:pt idx="180">
                  <c:v>44356</c:v>
                </c:pt>
                <c:pt idx="181">
                  <c:v>44357</c:v>
                </c:pt>
                <c:pt idx="182">
                  <c:v>44358</c:v>
                </c:pt>
                <c:pt idx="183">
                  <c:v>44359</c:v>
                </c:pt>
                <c:pt idx="184">
                  <c:v>44360</c:v>
                </c:pt>
                <c:pt idx="185">
                  <c:v>44361</c:v>
                </c:pt>
                <c:pt idx="186">
                  <c:v>44371</c:v>
                </c:pt>
                <c:pt idx="187">
                  <c:v>44372</c:v>
                </c:pt>
                <c:pt idx="188">
                  <c:v>44373</c:v>
                </c:pt>
                <c:pt idx="189">
                  <c:v>44376</c:v>
                </c:pt>
                <c:pt idx="190">
                  <c:v>44377</c:v>
                </c:pt>
                <c:pt idx="191">
                  <c:v>44378</c:v>
                </c:pt>
                <c:pt idx="192">
                  <c:v>44379</c:v>
                </c:pt>
                <c:pt idx="193">
                  <c:v>44380</c:v>
                </c:pt>
                <c:pt idx="194">
                  <c:v>44381</c:v>
                </c:pt>
                <c:pt idx="195">
                  <c:v>44382</c:v>
                </c:pt>
                <c:pt idx="196">
                  <c:v>44383</c:v>
                </c:pt>
                <c:pt idx="197">
                  <c:v>44384</c:v>
                </c:pt>
                <c:pt idx="198">
                  <c:v>44385</c:v>
                </c:pt>
                <c:pt idx="199">
                  <c:v>44386</c:v>
                </c:pt>
                <c:pt idx="200">
                  <c:v>44387</c:v>
                </c:pt>
                <c:pt idx="201">
                  <c:v>44388</c:v>
                </c:pt>
                <c:pt idx="202">
                  <c:v>44389</c:v>
                </c:pt>
                <c:pt idx="203">
                  <c:v>44390</c:v>
                </c:pt>
                <c:pt idx="204">
                  <c:v>44391</c:v>
                </c:pt>
                <c:pt idx="205">
                  <c:v>44392</c:v>
                </c:pt>
                <c:pt idx="206">
                  <c:v>44393</c:v>
                </c:pt>
                <c:pt idx="207">
                  <c:v>44394</c:v>
                </c:pt>
                <c:pt idx="208">
                  <c:v>44395</c:v>
                </c:pt>
                <c:pt idx="209">
                  <c:v>44396</c:v>
                </c:pt>
                <c:pt idx="210">
                  <c:v>44397</c:v>
                </c:pt>
                <c:pt idx="211">
                  <c:v>44398</c:v>
                </c:pt>
                <c:pt idx="212">
                  <c:v>44399</c:v>
                </c:pt>
                <c:pt idx="213">
                  <c:v>44400</c:v>
                </c:pt>
                <c:pt idx="214">
                  <c:v>44401</c:v>
                </c:pt>
                <c:pt idx="215">
                  <c:v>44402</c:v>
                </c:pt>
                <c:pt idx="216">
                  <c:v>44403</c:v>
                </c:pt>
                <c:pt idx="217">
                  <c:v>44404</c:v>
                </c:pt>
                <c:pt idx="218">
                  <c:v>44405</c:v>
                </c:pt>
                <c:pt idx="219">
                  <c:v>44406</c:v>
                </c:pt>
                <c:pt idx="220">
                  <c:v>44407</c:v>
                </c:pt>
                <c:pt idx="221">
                  <c:v>44408</c:v>
                </c:pt>
                <c:pt idx="222">
                  <c:v>44409</c:v>
                </c:pt>
                <c:pt idx="223">
                  <c:v>44410</c:v>
                </c:pt>
                <c:pt idx="224">
                  <c:v>44411</c:v>
                </c:pt>
                <c:pt idx="225">
                  <c:v>44412</c:v>
                </c:pt>
                <c:pt idx="226">
                  <c:v>44413</c:v>
                </c:pt>
                <c:pt idx="227">
                  <c:v>44414</c:v>
                </c:pt>
                <c:pt idx="228">
                  <c:v>44415</c:v>
                </c:pt>
                <c:pt idx="229">
                  <c:v>44416</c:v>
                </c:pt>
                <c:pt idx="230">
                  <c:v>44417</c:v>
                </c:pt>
                <c:pt idx="231">
                  <c:v>44418</c:v>
                </c:pt>
                <c:pt idx="232">
                  <c:v>44419</c:v>
                </c:pt>
                <c:pt idx="233">
                  <c:v>44420</c:v>
                </c:pt>
                <c:pt idx="234">
                  <c:v>44421</c:v>
                </c:pt>
                <c:pt idx="235">
                  <c:v>44422</c:v>
                </c:pt>
                <c:pt idx="236">
                  <c:v>44423</c:v>
                </c:pt>
                <c:pt idx="237">
                  <c:v>44424</c:v>
                </c:pt>
                <c:pt idx="238">
                  <c:v>44425</c:v>
                </c:pt>
                <c:pt idx="239">
                  <c:v>44426</c:v>
                </c:pt>
                <c:pt idx="240">
                  <c:v>44427</c:v>
                </c:pt>
                <c:pt idx="241">
                  <c:v>44428</c:v>
                </c:pt>
                <c:pt idx="242">
                  <c:v>44429</c:v>
                </c:pt>
                <c:pt idx="243">
                  <c:v>44430</c:v>
                </c:pt>
                <c:pt idx="244">
                  <c:v>44431</c:v>
                </c:pt>
                <c:pt idx="245">
                  <c:v>44432</c:v>
                </c:pt>
                <c:pt idx="246">
                  <c:v>44433</c:v>
                </c:pt>
                <c:pt idx="247">
                  <c:v>44434</c:v>
                </c:pt>
                <c:pt idx="248">
                  <c:v>44435</c:v>
                </c:pt>
                <c:pt idx="249">
                  <c:v>44436</c:v>
                </c:pt>
                <c:pt idx="250">
                  <c:v>44437</c:v>
                </c:pt>
                <c:pt idx="251">
                  <c:v>44438</c:v>
                </c:pt>
                <c:pt idx="252">
                  <c:v>44439</c:v>
                </c:pt>
                <c:pt idx="253">
                  <c:v>44440</c:v>
                </c:pt>
                <c:pt idx="254">
                  <c:v>44441</c:v>
                </c:pt>
                <c:pt idx="255">
                  <c:v>44442</c:v>
                </c:pt>
                <c:pt idx="256">
                  <c:v>44443</c:v>
                </c:pt>
                <c:pt idx="257">
                  <c:v>44444</c:v>
                </c:pt>
                <c:pt idx="258">
                  <c:v>44445</c:v>
                </c:pt>
                <c:pt idx="259">
                  <c:v>44446</c:v>
                </c:pt>
                <c:pt idx="260">
                  <c:v>44447</c:v>
                </c:pt>
                <c:pt idx="261">
                  <c:v>44448</c:v>
                </c:pt>
                <c:pt idx="262">
                  <c:v>44449</c:v>
                </c:pt>
                <c:pt idx="263">
                  <c:v>44450</c:v>
                </c:pt>
                <c:pt idx="264">
                  <c:v>44451</c:v>
                </c:pt>
                <c:pt idx="265">
                  <c:v>44452</c:v>
                </c:pt>
                <c:pt idx="266">
                  <c:v>44453</c:v>
                </c:pt>
                <c:pt idx="267">
                  <c:v>44454</c:v>
                </c:pt>
                <c:pt idx="268">
                  <c:v>44455</c:v>
                </c:pt>
                <c:pt idx="269">
                  <c:v>44456</c:v>
                </c:pt>
                <c:pt idx="270">
                  <c:v>44457</c:v>
                </c:pt>
                <c:pt idx="271">
                  <c:v>44458</c:v>
                </c:pt>
                <c:pt idx="272">
                  <c:v>44459</c:v>
                </c:pt>
                <c:pt idx="273">
                  <c:v>44460</c:v>
                </c:pt>
                <c:pt idx="274">
                  <c:v>44461</c:v>
                </c:pt>
                <c:pt idx="275">
                  <c:v>44462</c:v>
                </c:pt>
                <c:pt idx="276">
                  <c:v>44463</c:v>
                </c:pt>
                <c:pt idx="277">
                  <c:v>44464</c:v>
                </c:pt>
                <c:pt idx="278">
                  <c:v>44465</c:v>
                </c:pt>
                <c:pt idx="279">
                  <c:v>44466</c:v>
                </c:pt>
                <c:pt idx="280">
                  <c:v>44467</c:v>
                </c:pt>
                <c:pt idx="281">
                  <c:v>44468</c:v>
                </c:pt>
                <c:pt idx="282">
                  <c:v>44469</c:v>
                </c:pt>
                <c:pt idx="283">
                  <c:v>44470</c:v>
                </c:pt>
                <c:pt idx="284">
                  <c:v>44471</c:v>
                </c:pt>
                <c:pt idx="285">
                  <c:v>44472</c:v>
                </c:pt>
                <c:pt idx="286">
                  <c:v>44473</c:v>
                </c:pt>
                <c:pt idx="287">
                  <c:v>44474</c:v>
                </c:pt>
                <c:pt idx="288">
                  <c:v>44475</c:v>
                </c:pt>
                <c:pt idx="289">
                  <c:v>44476</c:v>
                </c:pt>
                <c:pt idx="290">
                  <c:v>44477</c:v>
                </c:pt>
                <c:pt idx="291">
                  <c:v>44478</c:v>
                </c:pt>
                <c:pt idx="292">
                  <c:v>44479</c:v>
                </c:pt>
                <c:pt idx="293">
                  <c:v>44480</c:v>
                </c:pt>
                <c:pt idx="294">
                  <c:v>44481</c:v>
                </c:pt>
                <c:pt idx="295">
                  <c:v>44482</c:v>
                </c:pt>
                <c:pt idx="296">
                  <c:v>44483</c:v>
                </c:pt>
                <c:pt idx="297">
                  <c:v>44484</c:v>
                </c:pt>
                <c:pt idx="298">
                  <c:v>44485</c:v>
                </c:pt>
                <c:pt idx="299">
                  <c:v>44486</c:v>
                </c:pt>
                <c:pt idx="300">
                  <c:v>44487</c:v>
                </c:pt>
                <c:pt idx="301">
                  <c:v>44488</c:v>
                </c:pt>
                <c:pt idx="302">
                  <c:v>44489</c:v>
                </c:pt>
                <c:pt idx="303">
                  <c:v>44490</c:v>
                </c:pt>
                <c:pt idx="304">
                  <c:v>44491</c:v>
                </c:pt>
                <c:pt idx="305">
                  <c:v>44492</c:v>
                </c:pt>
                <c:pt idx="306">
                  <c:v>44493</c:v>
                </c:pt>
                <c:pt idx="307">
                  <c:v>44494</c:v>
                </c:pt>
                <c:pt idx="308">
                  <c:v>44495</c:v>
                </c:pt>
                <c:pt idx="309">
                  <c:v>44496</c:v>
                </c:pt>
                <c:pt idx="310">
                  <c:v>44497</c:v>
                </c:pt>
                <c:pt idx="311">
                  <c:v>44498</c:v>
                </c:pt>
                <c:pt idx="312">
                  <c:v>44499</c:v>
                </c:pt>
                <c:pt idx="313">
                  <c:v>44500</c:v>
                </c:pt>
                <c:pt idx="314">
                  <c:v>44501</c:v>
                </c:pt>
                <c:pt idx="315">
                  <c:v>44502</c:v>
                </c:pt>
                <c:pt idx="316">
                  <c:v>44503</c:v>
                </c:pt>
                <c:pt idx="317">
                  <c:v>44504</c:v>
                </c:pt>
                <c:pt idx="318">
                  <c:v>44505</c:v>
                </c:pt>
                <c:pt idx="319">
                  <c:v>44506</c:v>
                </c:pt>
                <c:pt idx="320">
                  <c:v>44507</c:v>
                </c:pt>
                <c:pt idx="321">
                  <c:v>44508</c:v>
                </c:pt>
                <c:pt idx="322">
                  <c:v>44509</c:v>
                </c:pt>
                <c:pt idx="323">
                  <c:v>44510</c:v>
                </c:pt>
                <c:pt idx="324">
                  <c:v>44511</c:v>
                </c:pt>
                <c:pt idx="325">
                  <c:v>44512</c:v>
                </c:pt>
                <c:pt idx="326">
                  <c:v>44513</c:v>
                </c:pt>
                <c:pt idx="327">
                  <c:v>44514</c:v>
                </c:pt>
                <c:pt idx="328">
                  <c:v>44515</c:v>
                </c:pt>
                <c:pt idx="329">
                  <c:v>44516</c:v>
                </c:pt>
                <c:pt idx="330">
                  <c:v>44517</c:v>
                </c:pt>
                <c:pt idx="331">
                  <c:v>44518</c:v>
                </c:pt>
                <c:pt idx="332">
                  <c:v>44519</c:v>
                </c:pt>
                <c:pt idx="333">
                  <c:v>44520</c:v>
                </c:pt>
                <c:pt idx="334">
                  <c:v>44521</c:v>
                </c:pt>
                <c:pt idx="335">
                  <c:v>44522</c:v>
                </c:pt>
                <c:pt idx="336">
                  <c:v>44523</c:v>
                </c:pt>
                <c:pt idx="337">
                  <c:v>44524</c:v>
                </c:pt>
                <c:pt idx="338">
                  <c:v>44525</c:v>
                </c:pt>
                <c:pt idx="339">
                  <c:v>44526</c:v>
                </c:pt>
                <c:pt idx="340">
                  <c:v>44527</c:v>
                </c:pt>
                <c:pt idx="341">
                  <c:v>44528</c:v>
                </c:pt>
                <c:pt idx="342">
                  <c:v>44529</c:v>
                </c:pt>
                <c:pt idx="343">
                  <c:v>44530</c:v>
                </c:pt>
                <c:pt idx="344">
                  <c:v>44531</c:v>
                </c:pt>
                <c:pt idx="345">
                  <c:v>44532</c:v>
                </c:pt>
                <c:pt idx="346">
                  <c:v>44533</c:v>
                </c:pt>
                <c:pt idx="347">
                  <c:v>44534</c:v>
                </c:pt>
                <c:pt idx="348">
                  <c:v>44535</c:v>
                </c:pt>
                <c:pt idx="349">
                  <c:v>44536</c:v>
                </c:pt>
                <c:pt idx="350">
                  <c:v>44537</c:v>
                </c:pt>
                <c:pt idx="351">
                  <c:v>44538</c:v>
                </c:pt>
                <c:pt idx="352">
                  <c:v>44539</c:v>
                </c:pt>
                <c:pt idx="353">
                  <c:v>44540</c:v>
                </c:pt>
                <c:pt idx="354">
                  <c:v>44541</c:v>
                </c:pt>
                <c:pt idx="355">
                  <c:v>44542</c:v>
                </c:pt>
                <c:pt idx="356">
                  <c:v>44543</c:v>
                </c:pt>
                <c:pt idx="357">
                  <c:v>44544</c:v>
                </c:pt>
                <c:pt idx="358">
                  <c:v>44545</c:v>
                </c:pt>
                <c:pt idx="359">
                  <c:v>44546</c:v>
                </c:pt>
                <c:pt idx="360">
                  <c:v>44547</c:v>
                </c:pt>
                <c:pt idx="361">
                  <c:v>44548</c:v>
                </c:pt>
                <c:pt idx="362">
                  <c:v>44549</c:v>
                </c:pt>
                <c:pt idx="363">
                  <c:v>44550</c:v>
                </c:pt>
                <c:pt idx="364">
                  <c:v>44551</c:v>
                </c:pt>
                <c:pt idx="365">
                  <c:v>44552</c:v>
                </c:pt>
                <c:pt idx="366">
                  <c:v>44553</c:v>
                </c:pt>
                <c:pt idx="367">
                  <c:v>44554</c:v>
                </c:pt>
                <c:pt idx="368">
                  <c:v>44555</c:v>
                </c:pt>
                <c:pt idx="369">
                  <c:v>44556</c:v>
                </c:pt>
                <c:pt idx="370">
                  <c:v>44557</c:v>
                </c:pt>
                <c:pt idx="371">
                  <c:v>44558</c:v>
                </c:pt>
                <c:pt idx="372">
                  <c:v>44559</c:v>
                </c:pt>
                <c:pt idx="373">
                  <c:v>44560</c:v>
                </c:pt>
                <c:pt idx="374">
                  <c:v>44561</c:v>
                </c:pt>
                <c:pt idx="375">
                  <c:v>44562</c:v>
                </c:pt>
                <c:pt idx="376">
                  <c:v>44563</c:v>
                </c:pt>
                <c:pt idx="377">
                  <c:v>44564</c:v>
                </c:pt>
                <c:pt idx="378">
                  <c:v>44565</c:v>
                </c:pt>
              </c:numCache>
            </c:numRef>
          </c:cat>
          <c:val>
            <c:numRef>
              <c:f>'일반 중환자 병상 통계'!$C$2:$C$380</c:f>
              <c:numCache>
                <c:formatCode>General</c:formatCode>
                <c:ptCount val="379"/>
                <c:pt idx="0">
                  <c:v>12</c:v>
                </c:pt>
                <c:pt idx="1">
                  <c:v>11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  <c:pt idx="6">
                  <c:v>4</c:v>
                </c:pt>
                <c:pt idx="7">
                  <c:v>23</c:v>
                </c:pt>
                <c:pt idx="8">
                  <c:v>26</c:v>
                </c:pt>
                <c:pt idx="9">
                  <c:v>24</c:v>
                </c:pt>
                <c:pt idx="10">
                  <c:v>11</c:v>
                </c:pt>
                <c:pt idx="11">
                  <c:v>5</c:v>
                </c:pt>
                <c:pt idx="12">
                  <c:v>28</c:v>
                </c:pt>
                <c:pt idx="13">
                  <c:v>57</c:v>
                </c:pt>
                <c:pt idx="14">
                  <c:v>48</c:v>
                </c:pt>
                <c:pt idx="15">
                  <c:v>41</c:v>
                </c:pt>
                <c:pt idx="16">
                  <c:v>26</c:v>
                </c:pt>
                <c:pt idx="17">
                  <c:v>22</c:v>
                </c:pt>
                <c:pt idx="18">
                  <c:v>59</c:v>
                </c:pt>
                <c:pt idx="19">
                  <c:v>64</c:v>
                </c:pt>
                <c:pt idx="20">
                  <c:v>70</c:v>
                </c:pt>
                <c:pt idx="21">
                  <c:v>85</c:v>
                </c:pt>
                <c:pt idx="22">
                  <c:v>72</c:v>
                </c:pt>
                <c:pt idx="23">
                  <c:v>58</c:v>
                </c:pt>
                <c:pt idx="24">
                  <c:v>49</c:v>
                </c:pt>
                <c:pt idx="25">
                  <c:v>60</c:v>
                </c:pt>
                <c:pt idx="26">
                  <c:v>51</c:v>
                </c:pt>
                <c:pt idx="27">
                  <c:v>74</c:v>
                </c:pt>
                <c:pt idx="28">
                  <c:v>81</c:v>
                </c:pt>
                <c:pt idx="29">
                  <c:v>110</c:v>
                </c:pt>
                <c:pt idx="30">
                  <c:v>114</c:v>
                </c:pt>
                <c:pt idx="31">
                  <c:v>106</c:v>
                </c:pt>
                <c:pt idx="32">
                  <c:v>69</c:v>
                </c:pt>
                <c:pt idx="33">
                  <c:v>50</c:v>
                </c:pt>
                <c:pt idx="34">
                  <c:v>49</c:v>
                </c:pt>
                <c:pt idx="35">
                  <c:v>48</c:v>
                </c:pt>
                <c:pt idx="36">
                  <c:v>84</c:v>
                </c:pt>
                <c:pt idx="37">
                  <c:v>113</c:v>
                </c:pt>
                <c:pt idx="38">
                  <c:v>191</c:v>
                </c:pt>
                <c:pt idx="39">
                  <c:v>171</c:v>
                </c:pt>
                <c:pt idx="40">
                  <c:v>177</c:v>
                </c:pt>
                <c:pt idx="41">
                  <c:v>241</c:v>
                </c:pt>
                <c:pt idx="42">
                  <c:v>227</c:v>
                </c:pt>
                <c:pt idx="43">
                  <c:v>217</c:v>
                </c:pt>
                <c:pt idx="44">
                  <c:v>221</c:v>
                </c:pt>
                <c:pt idx="45">
                  <c:v>206</c:v>
                </c:pt>
                <c:pt idx="46">
                  <c:v>232</c:v>
                </c:pt>
                <c:pt idx="47">
                  <c:v>212</c:v>
                </c:pt>
                <c:pt idx="48">
                  <c:v>206</c:v>
                </c:pt>
                <c:pt idx="49">
                  <c:v>212</c:v>
                </c:pt>
                <c:pt idx="50">
                  <c:v>235</c:v>
                </c:pt>
                <c:pt idx="51">
                  <c:v>223</c:v>
                </c:pt>
                <c:pt idx="52">
                  <c:v>238</c:v>
                </c:pt>
                <c:pt idx="53">
                  <c:v>237</c:v>
                </c:pt>
                <c:pt idx="54">
                  <c:v>240</c:v>
                </c:pt>
                <c:pt idx="55">
                  <c:v>246</c:v>
                </c:pt>
                <c:pt idx="56">
                  <c:v>252</c:v>
                </c:pt>
                <c:pt idx="57">
                  <c:v>260</c:v>
                </c:pt>
                <c:pt idx="58">
                  <c:v>237</c:v>
                </c:pt>
                <c:pt idx="59">
                  <c:v>228</c:v>
                </c:pt>
                <c:pt idx="60">
                  <c:v>200</c:v>
                </c:pt>
                <c:pt idx="61">
                  <c:v>201</c:v>
                </c:pt>
                <c:pt idx="62">
                  <c:v>233</c:v>
                </c:pt>
                <c:pt idx="63">
                  <c:v>217</c:v>
                </c:pt>
                <c:pt idx="64">
                  <c:v>235</c:v>
                </c:pt>
                <c:pt idx="65">
                  <c:v>229</c:v>
                </c:pt>
                <c:pt idx="66">
                  <c:v>247</c:v>
                </c:pt>
                <c:pt idx="67">
                  <c:v>228</c:v>
                </c:pt>
                <c:pt idx="68">
                  <c:v>235</c:v>
                </c:pt>
                <c:pt idx="69">
                  <c:v>224</c:v>
                </c:pt>
                <c:pt idx="70">
                  <c:v>240</c:v>
                </c:pt>
                <c:pt idx="71">
                  <c:v>228</c:v>
                </c:pt>
                <c:pt idx="72">
                  <c:v>231</c:v>
                </c:pt>
                <c:pt idx="73">
                  <c:v>228</c:v>
                </c:pt>
                <c:pt idx="74">
                  <c:v>217</c:v>
                </c:pt>
                <c:pt idx="75">
                  <c:v>212</c:v>
                </c:pt>
                <c:pt idx="76">
                  <c:v>213</c:v>
                </c:pt>
                <c:pt idx="77">
                  <c:v>214</c:v>
                </c:pt>
                <c:pt idx="78">
                  <c:v>208</c:v>
                </c:pt>
                <c:pt idx="79">
                  <c:v>210</c:v>
                </c:pt>
                <c:pt idx="80">
                  <c:v>201</c:v>
                </c:pt>
                <c:pt idx="81">
                  <c:v>208</c:v>
                </c:pt>
                <c:pt idx="82">
                  <c:v>208</c:v>
                </c:pt>
                <c:pt idx="83">
                  <c:v>226</c:v>
                </c:pt>
                <c:pt idx="84">
                  <c:v>238</c:v>
                </c:pt>
                <c:pt idx="85">
                  <c:v>241</c:v>
                </c:pt>
                <c:pt idx="86">
                  <c:v>231</c:v>
                </c:pt>
                <c:pt idx="87">
                  <c:v>211</c:v>
                </c:pt>
                <c:pt idx="88">
                  <c:v>206</c:v>
                </c:pt>
                <c:pt idx="89">
                  <c:v>190</c:v>
                </c:pt>
                <c:pt idx="90">
                  <c:v>181</c:v>
                </c:pt>
                <c:pt idx="91">
                  <c:v>185</c:v>
                </c:pt>
                <c:pt idx="92">
                  <c:v>165</c:v>
                </c:pt>
                <c:pt idx="93">
                  <c:v>172</c:v>
                </c:pt>
                <c:pt idx="94">
                  <c:v>170</c:v>
                </c:pt>
                <c:pt idx="95">
                  <c:v>158</c:v>
                </c:pt>
                <c:pt idx="96">
                  <c:v>153</c:v>
                </c:pt>
                <c:pt idx="97">
                  <c:v>147</c:v>
                </c:pt>
                <c:pt idx="98">
                  <c:v>160</c:v>
                </c:pt>
                <c:pt idx="99">
                  <c:v>171</c:v>
                </c:pt>
                <c:pt idx="100">
                  <c:v>175</c:v>
                </c:pt>
                <c:pt idx="101">
                  <c:v>160</c:v>
                </c:pt>
                <c:pt idx="102">
                  <c:v>138</c:v>
                </c:pt>
                <c:pt idx="103">
                  <c:v>147</c:v>
                </c:pt>
                <c:pt idx="104">
                  <c:v>139</c:v>
                </c:pt>
                <c:pt idx="105">
                  <c:v>140</c:v>
                </c:pt>
                <c:pt idx="106">
                  <c:v>132</c:v>
                </c:pt>
                <c:pt idx="107">
                  <c:v>134</c:v>
                </c:pt>
                <c:pt idx="108">
                  <c:v>140</c:v>
                </c:pt>
                <c:pt idx="109">
                  <c:v>130</c:v>
                </c:pt>
                <c:pt idx="110">
                  <c:v>139</c:v>
                </c:pt>
                <c:pt idx="111">
                  <c:v>132</c:v>
                </c:pt>
                <c:pt idx="112">
                  <c:v>127</c:v>
                </c:pt>
                <c:pt idx="113">
                  <c:v>125</c:v>
                </c:pt>
                <c:pt idx="114">
                  <c:v>129</c:v>
                </c:pt>
                <c:pt idx="115">
                  <c:v>144</c:v>
                </c:pt>
                <c:pt idx="116">
                  <c:v>136</c:v>
                </c:pt>
                <c:pt idx="117">
                  <c:v>134</c:v>
                </c:pt>
                <c:pt idx="118">
                  <c:v>134</c:v>
                </c:pt>
                <c:pt idx="119">
                  <c:v>143</c:v>
                </c:pt>
                <c:pt idx="120">
                  <c:v>162</c:v>
                </c:pt>
                <c:pt idx="121">
                  <c:v>209</c:v>
                </c:pt>
                <c:pt idx="122">
                  <c:v>235</c:v>
                </c:pt>
                <c:pt idx="123">
                  <c:v>253</c:v>
                </c:pt>
                <c:pt idx="124">
                  <c:v>259</c:v>
                </c:pt>
                <c:pt idx="125">
                  <c:v>269</c:v>
                </c:pt>
                <c:pt idx="126">
                  <c:v>268</c:v>
                </c:pt>
                <c:pt idx="127">
                  <c:v>264</c:v>
                </c:pt>
                <c:pt idx="128">
                  <c:v>277</c:v>
                </c:pt>
                <c:pt idx="129">
                  <c:v>294</c:v>
                </c:pt>
                <c:pt idx="130">
                  <c:v>271</c:v>
                </c:pt>
                <c:pt idx="131">
                  <c:v>251</c:v>
                </c:pt>
                <c:pt idx="132">
                  <c:v>252</c:v>
                </c:pt>
                <c:pt idx="133">
                  <c:v>239</c:v>
                </c:pt>
                <c:pt idx="134">
                  <c:v>251</c:v>
                </c:pt>
                <c:pt idx="135">
                  <c:v>256</c:v>
                </c:pt>
                <c:pt idx="136">
                  <c:v>250</c:v>
                </c:pt>
                <c:pt idx="137">
                  <c:v>252</c:v>
                </c:pt>
                <c:pt idx="138">
                  <c:v>253</c:v>
                </c:pt>
                <c:pt idx="139">
                  <c:v>249</c:v>
                </c:pt>
                <c:pt idx="140">
                  <c:v>224</c:v>
                </c:pt>
                <c:pt idx="141">
                  <c:v>212</c:v>
                </c:pt>
                <c:pt idx="142">
                  <c:v>210</c:v>
                </c:pt>
                <c:pt idx="143">
                  <c:v>200</c:v>
                </c:pt>
                <c:pt idx="144">
                  <c:v>200</c:v>
                </c:pt>
                <c:pt idx="145">
                  <c:v>204</c:v>
                </c:pt>
                <c:pt idx="146">
                  <c:v>198</c:v>
                </c:pt>
                <c:pt idx="147">
                  <c:v>195</c:v>
                </c:pt>
                <c:pt idx="148">
                  <c:v>200</c:v>
                </c:pt>
                <c:pt idx="149">
                  <c:v>205</c:v>
                </c:pt>
                <c:pt idx="150">
                  <c:v>206</c:v>
                </c:pt>
                <c:pt idx="151">
                  <c:v>214</c:v>
                </c:pt>
                <c:pt idx="152">
                  <c:v>216</c:v>
                </c:pt>
                <c:pt idx="153">
                  <c:v>193</c:v>
                </c:pt>
                <c:pt idx="154">
                  <c:v>197</c:v>
                </c:pt>
                <c:pt idx="155">
                  <c:v>192</c:v>
                </c:pt>
                <c:pt idx="156">
                  <c:v>185</c:v>
                </c:pt>
                <c:pt idx="157">
                  <c:v>179</c:v>
                </c:pt>
                <c:pt idx="158">
                  <c:v>170</c:v>
                </c:pt>
                <c:pt idx="159">
                  <c:v>143</c:v>
                </c:pt>
                <c:pt idx="160">
                  <c:v>137</c:v>
                </c:pt>
                <c:pt idx="161">
                  <c:v>151</c:v>
                </c:pt>
                <c:pt idx="162">
                  <c:v>157</c:v>
                </c:pt>
                <c:pt idx="163">
                  <c:v>145</c:v>
                </c:pt>
                <c:pt idx="164">
                  <c:v>149</c:v>
                </c:pt>
                <c:pt idx="165">
                  <c:v>150</c:v>
                </c:pt>
                <c:pt idx="166">
                  <c:v>153</c:v>
                </c:pt>
                <c:pt idx="167">
                  <c:v>156</c:v>
                </c:pt>
                <c:pt idx="168">
                  <c:v>159</c:v>
                </c:pt>
                <c:pt idx="169">
                  <c:v>150</c:v>
                </c:pt>
                <c:pt idx="170">
                  <c:v>143</c:v>
                </c:pt>
                <c:pt idx="171">
                  <c:v>135</c:v>
                </c:pt>
                <c:pt idx="172">
                  <c:v>136</c:v>
                </c:pt>
                <c:pt idx="173">
                  <c:v>121</c:v>
                </c:pt>
                <c:pt idx="174">
                  <c:v>115</c:v>
                </c:pt>
                <c:pt idx="175">
                  <c:v>116</c:v>
                </c:pt>
                <c:pt idx="176">
                  <c:v>123</c:v>
                </c:pt>
                <c:pt idx="177">
                  <c:v>131</c:v>
                </c:pt>
                <c:pt idx="178">
                  <c:v>139</c:v>
                </c:pt>
                <c:pt idx="179">
                  <c:v>143</c:v>
                </c:pt>
                <c:pt idx="180">
                  <c:v>138</c:v>
                </c:pt>
                <c:pt idx="181">
                  <c:v>132</c:v>
                </c:pt>
                <c:pt idx="182">
                  <c:v>122</c:v>
                </c:pt>
                <c:pt idx="183">
                  <c:v>112</c:v>
                </c:pt>
                <c:pt idx="184">
                  <c:v>111</c:v>
                </c:pt>
                <c:pt idx="185">
                  <c:v>111</c:v>
                </c:pt>
                <c:pt idx="186">
                  <c:v>110</c:v>
                </c:pt>
                <c:pt idx="187">
                  <c:v>132</c:v>
                </c:pt>
                <c:pt idx="188">
                  <c:v>163</c:v>
                </c:pt>
                <c:pt idx="189">
                  <c:v>180</c:v>
                </c:pt>
                <c:pt idx="190">
                  <c:v>170</c:v>
                </c:pt>
                <c:pt idx="191">
                  <c:v>174</c:v>
                </c:pt>
                <c:pt idx="192">
                  <c:v>175</c:v>
                </c:pt>
                <c:pt idx="193">
                  <c:v>186</c:v>
                </c:pt>
                <c:pt idx="194">
                  <c:v>180</c:v>
                </c:pt>
                <c:pt idx="195">
                  <c:v>186</c:v>
                </c:pt>
                <c:pt idx="196">
                  <c:v>180</c:v>
                </c:pt>
                <c:pt idx="197">
                  <c:v>178</c:v>
                </c:pt>
                <c:pt idx="198">
                  <c:v>190</c:v>
                </c:pt>
                <c:pt idx="199">
                  <c:v>195</c:v>
                </c:pt>
                <c:pt idx="200">
                  <c:v>223</c:v>
                </c:pt>
                <c:pt idx="201">
                  <c:v>237</c:v>
                </c:pt>
                <c:pt idx="202">
                  <c:v>252</c:v>
                </c:pt>
                <c:pt idx="203">
                  <c:v>259</c:v>
                </c:pt>
                <c:pt idx="204">
                  <c:v>253</c:v>
                </c:pt>
                <c:pt idx="205">
                  <c:v>261</c:v>
                </c:pt>
                <c:pt idx="206">
                  <c:v>265</c:v>
                </c:pt>
                <c:pt idx="207">
                  <c:v>265</c:v>
                </c:pt>
                <c:pt idx="208">
                  <c:v>267</c:v>
                </c:pt>
                <c:pt idx="209">
                  <c:v>271</c:v>
                </c:pt>
                <c:pt idx="210">
                  <c:v>264</c:v>
                </c:pt>
                <c:pt idx="211">
                  <c:v>283</c:v>
                </c:pt>
                <c:pt idx="212">
                  <c:v>224</c:v>
                </c:pt>
                <c:pt idx="213">
                  <c:v>300</c:v>
                </c:pt>
                <c:pt idx="214">
                  <c:v>305</c:v>
                </c:pt>
                <c:pt idx="215">
                  <c:v>299</c:v>
                </c:pt>
                <c:pt idx="216">
                  <c:v>294</c:v>
                </c:pt>
                <c:pt idx="217">
                  <c:v>300</c:v>
                </c:pt>
                <c:pt idx="218">
                  <c:v>300</c:v>
                </c:pt>
                <c:pt idx="219">
                  <c:v>304</c:v>
                </c:pt>
                <c:pt idx="220">
                  <c:v>306</c:v>
                </c:pt>
                <c:pt idx="221">
                  <c:v>288</c:v>
                </c:pt>
                <c:pt idx="222">
                  <c:v>285</c:v>
                </c:pt>
                <c:pt idx="223">
                  <c:v>286</c:v>
                </c:pt>
                <c:pt idx="224">
                  <c:v>295</c:v>
                </c:pt>
                <c:pt idx="225">
                  <c:v>297</c:v>
                </c:pt>
                <c:pt idx="226">
                  <c:v>315</c:v>
                </c:pt>
                <c:pt idx="227">
                  <c:v>308</c:v>
                </c:pt>
                <c:pt idx="228">
                  <c:v>308</c:v>
                </c:pt>
                <c:pt idx="229">
                  <c:v>318</c:v>
                </c:pt>
                <c:pt idx="230">
                  <c:v>334</c:v>
                </c:pt>
                <c:pt idx="231">
                  <c:v>339</c:v>
                </c:pt>
                <c:pt idx="232">
                  <c:v>340</c:v>
                </c:pt>
                <c:pt idx="233">
                  <c:v>331</c:v>
                </c:pt>
                <c:pt idx="234">
                  <c:v>336</c:v>
                </c:pt>
                <c:pt idx="235">
                  <c:v>339</c:v>
                </c:pt>
                <c:pt idx="236">
                  <c:v>343</c:v>
                </c:pt>
                <c:pt idx="237">
                  <c:v>357</c:v>
                </c:pt>
                <c:pt idx="238">
                  <c:v>371</c:v>
                </c:pt>
                <c:pt idx="239">
                  <c:v>365</c:v>
                </c:pt>
                <c:pt idx="240">
                  <c:v>371</c:v>
                </c:pt>
                <c:pt idx="241">
                  <c:v>361</c:v>
                </c:pt>
                <c:pt idx="242">
                  <c:v>374</c:v>
                </c:pt>
                <c:pt idx="243">
                  <c:v>367</c:v>
                </c:pt>
                <c:pt idx="244">
                  <c:v>365</c:v>
                </c:pt>
                <c:pt idx="245">
                  <c:v>340</c:v>
                </c:pt>
                <c:pt idx="246">
                  <c:v>329</c:v>
                </c:pt>
                <c:pt idx="247">
                  <c:v>301</c:v>
                </c:pt>
                <c:pt idx="248">
                  <c:v>320</c:v>
                </c:pt>
                <c:pt idx="249">
                  <c:v>317</c:v>
                </c:pt>
                <c:pt idx="250">
                  <c:v>299</c:v>
                </c:pt>
                <c:pt idx="251">
                  <c:v>299</c:v>
                </c:pt>
                <c:pt idx="252">
                  <c:v>314</c:v>
                </c:pt>
                <c:pt idx="253">
                  <c:v>297</c:v>
                </c:pt>
                <c:pt idx="254">
                  <c:v>283</c:v>
                </c:pt>
                <c:pt idx="255">
                  <c:v>265</c:v>
                </c:pt>
                <c:pt idx="256">
                  <c:v>273</c:v>
                </c:pt>
                <c:pt idx="257">
                  <c:v>270</c:v>
                </c:pt>
                <c:pt idx="258">
                  <c:v>271</c:v>
                </c:pt>
                <c:pt idx="259">
                  <c:v>260</c:v>
                </c:pt>
                <c:pt idx="260">
                  <c:v>242</c:v>
                </c:pt>
                <c:pt idx="261">
                  <c:v>228</c:v>
                </c:pt>
                <c:pt idx="262">
                  <c:v>229</c:v>
                </c:pt>
                <c:pt idx="263">
                  <c:v>216</c:v>
                </c:pt>
                <c:pt idx="264">
                  <c:v>232</c:v>
                </c:pt>
                <c:pt idx="265">
                  <c:v>229</c:v>
                </c:pt>
                <c:pt idx="266">
                  <c:v>219</c:v>
                </c:pt>
                <c:pt idx="267">
                  <c:v>215</c:v>
                </c:pt>
                <c:pt idx="268">
                  <c:v>224</c:v>
                </c:pt>
                <c:pt idx="269">
                  <c:v>224</c:v>
                </c:pt>
                <c:pt idx="270">
                  <c:v>220</c:v>
                </c:pt>
                <c:pt idx="271">
                  <c:v>219</c:v>
                </c:pt>
                <c:pt idx="272">
                  <c:v>229</c:v>
                </c:pt>
                <c:pt idx="273">
                  <c:v>230</c:v>
                </c:pt>
                <c:pt idx="274">
                  <c:v>209</c:v>
                </c:pt>
                <c:pt idx="275">
                  <c:v>213</c:v>
                </c:pt>
                <c:pt idx="276">
                  <c:v>264</c:v>
                </c:pt>
                <c:pt idx="277">
                  <c:v>194</c:v>
                </c:pt>
                <c:pt idx="278">
                  <c:v>186</c:v>
                </c:pt>
                <c:pt idx="279">
                  <c:v>181</c:v>
                </c:pt>
                <c:pt idx="280">
                  <c:v>168</c:v>
                </c:pt>
                <c:pt idx="281">
                  <c:v>161</c:v>
                </c:pt>
                <c:pt idx="282">
                  <c:v>155</c:v>
                </c:pt>
                <c:pt idx="283">
                  <c:v>154</c:v>
                </c:pt>
                <c:pt idx="284">
                  <c:v>180</c:v>
                </c:pt>
                <c:pt idx="285">
                  <c:v>160</c:v>
                </c:pt>
                <c:pt idx="286">
                  <c:v>169</c:v>
                </c:pt>
                <c:pt idx="287">
                  <c:v>166</c:v>
                </c:pt>
                <c:pt idx="288">
                  <c:v>183</c:v>
                </c:pt>
                <c:pt idx="289">
                  <c:v>167</c:v>
                </c:pt>
                <c:pt idx="290">
                  <c:v>160</c:v>
                </c:pt>
                <c:pt idx="291">
                  <c:v>153</c:v>
                </c:pt>
                <c:pt idx="292">
                  <c:v>131</c:v>
                </c:pt>
                <c:pt idx="293">
                  <c:v>136</c:v>
                </c:pt>
                <c:pt idx="294">
                  <c:v>135</c:v>
                </c:pt>
                <c:pt idx="295">
                  <c:v>129</c:v>
                </c:pt>
                <c:pt idx="296">
                  <c:v>124</c:v>
                </c:pt>
                <c:pt idx="297">
                  <c:v>123</c:v>
                </c:pt>
                <c:pt idx="298">
                  <c:v>114</c:v>
                </c:pt>
                <c:pt idx="299">
                  <c:v>116</c:v>
                </c:pt>
                <c:pt idx="300">
                  <c:v>121</c:v>
                </c:pt>
                <c:pt idx="301">
                  <c:v>115</c:v>
                </c:pt>
                <c:pt idx="302">
                  <c:v>118</c:v>
                </c:pt>
                <c:pt idx="303">
                  <c:v>119</c:v>
                </c:pt>
                <c:pt idx="304">
                  <c:v>125</c:v>
                </c:pt>
                <c:pt idx="305">
                  <c:v>128</c:v>
                </c:pt>
                <c:pt idx="306">
                  <c:v>130</c:v>
                </c:pt>
                <c:pt idx="307">
                  <c:v>132</c:v>
                </c:pt>
                <c:pt idx="308">
                  <c:v>130</c:v>
                </c:pt>
                <c:pt idx="309">
                  <c:v>149</c:v>
                </c:pt>
                <c:pt idx="310">
                  <c:v>150</c:v>
                </c:pt>
                <c:pt idx="311">
                  <c:v>157</c:v>
                </c:pt>
                <c:pt idx="312">
                  <c:v>164</c:v>
                </c:pt>
                <c:pt idx="313">
                  <c:v>171</c:v>
                </c:pt>
                <c:pt idx="314">
                  <c:v>178</c:v>
                </c:pt>
                <c:pt idx="315">
                  <c:v>185</c:v>
                </c:pt>
                <c:pt idx="316">
                  <c:v>192</c:v>
                </c:pt>
                <c:pt idx="317">
                  <c:v>199</c:v>
                </c:pt>
                <c:pt idx="318">
                  <c:v>206</c:v>
                </c:pt>
                <c:pt idx="319">
                  <c:v>222</c:v>
                </c:pt>
                <c:pt idx="320">
                  <c:v>211</c:v>
                </c:pt>
                <c:pt idx="321">
                  <c:v>221</c:v>
                </c:pt>
                <c:pt idx="322">
                  <c:v>231</c:v>
                </c:pt>
                <c:pt idx="323">
                  <c:v>241</c:v>
                </c:pt>
                <c:pt idx="324">
                  <c:v>251</c:v>
                </c:pt>
                <c:pt idx="325">
                  <c:v>261</c:v>
                </c:pt>
                <c:pt idx="326">
                  <c:v>271</c:v>
                </c:pt>
                <c:pt idx="327">
                  <c:v>281</c:v>
                </c:pt>
                <c:pt idx="328">
                  <c:v>291</c:v>
                </c:pt>
                <c:pt idx="329">
                  <c:v>301</c:v>
                </c:pt>
                <c:pt idx="330">
                  <c:v>311</c:v>
                </c:pt>
                <c:pt idx="331">
                  <c:v>321</c:v>
                </c:pt>
                <c:pt idx="332">
                  <c:v>331</c:v>
                </c:pt>
                <c:pt idx="333">
                  <c:v>341</c:v>
                </c:pt>
                <c:pt idx="334">
                  <c:v>351</c:v>
                </c:pt>
                <c:pt idx="335">
                  <c:v>361</c:v>
                </c:pt>
                <c:pt idx="336">
                  <c:v>371</c:v>
                </c:pt>
                <c:pt idx="337">
                  <c:v>381</c:v>
                </c:pt>
                <c:pt idx="338">
                  <c:v>391</c:v>
                </c:pt>
                <c:pt idx="339">
                  <c:v>364</c:v>
                </c:pt>
                <c:pt idx="340">
                  <c:v>382</c:v>
                </c:pt>
                <c:pt idx="341">
                  <c:v>404</c:v>
                </c:pt>
                <c:pt idx="342">
                  <c:v>416</c:v>
                </c:pt>
                <c:pt idx="343">
                  <c:v>390</c:v>
                </c:pt>
                <c:pt idx="344">
                  <c:v>316</c:v>
                </c:pt>
                <c:pt idx="345">
                  <c:v>395</c:v>
                </c:pt>
                <c:pt idx="346">
                  <c:v>417</c:v>
                </c:pt>
                <c:pt idx="347">
                  <c:v>377</c:v>
                </c:pt>
                <c:pt idx="348">
                  <c:v>407</c:v>
                </c:pt>
                <c:pt idx="349">
                  <c:v>425</c:v>
                </c:pt>
                <c:pt idx="350">
                  <c:v>462</c:v>
                </c:pt>
                <c:pt idx="351">
                  <c:v>476</c:v>
                </c:pt>
                <c:pt idx="352">
                  <c:v>489</c:v>
                </c:pt>
                <c:pt idx="353">
                  <c:v>503</c:v>
                </c:pt>
                <c:pt idx="354">
                  <c:v>531</c:v>
                </c:pt>
                <c:pt idx="355">
                  <c:v>550</c:v>
                </c:pt>
                <c:pt idx="356">
                  <c:v>595</c:v>
                </c:pt>
                <c:pt idx="357">
                  <c:v>553</c:v>
                </c:pt>
                <c:pt idx="358">
                  <c:v>490</c:v>
                </c:pt>
                <c:pt idx="359">
                  <c:v>483</c:v>
                </c:pt>
                <c:pt idx="360">
                  <c:v>512</c:v>
                </c:pt>
                <c:pt idx="361">
                  <c:v>490</c:v>
                </c:pt>
                <c:pt idx="362">
                  <c:v>523</c:v>
                </c:pt>
                <c:pt idx="363">
                  <c:v>518</c:v>
                </c:pt>
                <c:pt idx="364">
                  <c:v>577</c:v>
                </c:pt>
                <c:pt idx="365">
                  <c:v>493</c:v>
                </c:pt>
                <c:pt idx="366">
                  <c:v>523</c:v>
                </c:pt>
                <c:pt idx="367">
                  <c:v>553</c:v>
                </c:pt>
                <c:pt idx="368">
                  <c:v>541</c:v>
                </c:pt>
                <c:pt idx="369">
                  <c:v>552</c:v>
                </c:pt>
                <c:pt idx="370">
                  <c:v>532</c:v>
                </c:pt>
                <c:pt idx="371">
                  <c:v>518</c:v>
                </c:pt>
                <c:pt idx="372">
                  <c:v>494</c:v>
                </c:pt>
                <c:pt idx="373">
                  <c:v>491</c:v>
                </c:pt>
                <c:pt idx="374">
                  <c:v>467</c:v>
                </c:pt>
                <c:pt idx="375">
                  <c:v>454</c:v>
                </c:pt>
                <c:pt idx="376">
                  <c:v>455</c:v>
                </c:pt>
                <c:pt idx="377">
                  <c:v>454</c:v>
                </c:pt>
                <c:pt idx="378">
                  <c:v>434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83-4F4C-95B8-8BC8E52AC3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2201472"/>
        <c:axId val="172203008"/>
      </c:lineChart>
      <c:dateAx>
        <c:axId val="172201472"/>
        <c:scaling>
          <c:orientation val="minMax"/>
        </c:scaling>
        <c:delete val="0"/>
        <c:axPos val="b"/>
        <c:numFmt formatCode="yy&quot;-&quot;m&quot;-&quot;d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2203008"/>
        <c:crosses val="autoZero"/>
        <c:auto val="1"/>
        <c:lblOffset val="100"/>
        <c:baseTimeUnit val="days"/>
      </c:dateAx>
      <c:valAx>
        <c:axId val="172203008"/>
        <c:scaling>
          <c:orientation val="minMax"/>
          <c:max val="7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2201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pPr>
            <a:endParaRPr lang="ko-K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pPr>
            <a:endParaRPr lang="ko-KR"/>
          </a:p>
        </c:txPr>
      </c:legendEntry>
      <c:layout>
        <c:manualLayout>
          <c:xMode val="edge"/>
          <c:yMode val="edge"/>
          <c:x val="0.79677115967501222"/>
          <c:y val="0.43272536803984957"/>
          <c:w val="0.12810617968213114"/>
          <c:h val="0.259281125556742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632434129708439E-2"/>
          <c:y val="2.8642445520180408E-2"/>
          <c:w val="0.93354551880875647"/>
          <c:h val="0.8720629898885035"/>
        </c:manualLayout>
      </c:layout>
      <c:barChart>
        <c:barDir val="col"/>
        <c:grouping val="clustered"/>
        <c:varyColors val="0"/>
        <c:ser>
          <c:idx val="4"/>
          <c:order val="2"/>
          <c:tx>
            <c:strRef>
              <c:f>'일반 생치병상 통계'!$F$1</c:f>
              <c:strCache>
                <c:ptCount val="1"/>
                <c:pt idx="0">
                  <c:v>일별 확진자수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76200">
              <a:solidFill>
                <a:schemeClr val="bg1">
                  <a:lumMod val="75000"/>
                </a:schemeClr>
              </a:solidFill>
            </a:ln>
          </c:spPr>
          <c:invertIfNegative val="0"/>
          <c:cat>
            <c:numRef>
              <c:f>'일반 생치병상 통계'!$A$2:$A$421</c:f>
              <c:numCache>
                <c:formatCode>yy"-"m"-"d;@</c:formatCode>
                <c:ptCount val="420"/>
                <c:pt idx="0">
                  <c:v>43972</c:v>
                </c:pt>
                <c:pt idx="1">
                  <c:v>43976</c:v>
                </c:pt>
                <c:pt idx="2">
                  <c:v>43981</c:v>
                </c:pt>
                <c:pt idx="3">
                  <c:v>43987</c:v>
                </c:pt>
                <c:pt idx="4">
                  <c:v>43992</c:v>
                </c:pt>
                <c:pt idx="5">
                  <c:v>43997</c:v>
                </c:pt>
                <c:pt idx="6">
                  <c:v>44002</c:v>
                </c:pt>
                <c:pt idx="7">
                  <c:v>44007</c:v>
                </c:pt>
                <c:pt idx="8">
                  <c:v>44012</c:v>
                </c:pt>
                <c:pt idx="9">
                  <c:v>44017</c:v>
                </c:pt>
                <c:pt idx="10">
                  <c:v>44022</c:v>
                </c:pt>
                <c:pt idx="11">
                  <c:v>44027</c:v>
                </c:pt>
                <c:pt idx="12">
                  <c:v>44032</c:v>
                </c:pt>
                <c:pt idx="13">
                  <c:v>44037</c:v>
                </c:pt>
                <c:pt idx="14">
                  <c:v>44043</c:v>
                </c:pt>
                <c:pt idx="15">
                  <c:v>44048</c:v>
                </c:pt>
                <c:pt idx="16">
                  <c:v>44053</c:v>
                </c:pt>
                <c:pt idx="17">
                  <c:v>44058</c:v>
                </c:pt>
                <c:pt idx="18">
                  <c:v>44063</c:v>
                </c:pt>
                <c:pt idx="19">
                  <c:v>44068</c:v>
                </c:pt>
                <c:pt idx="20">
                  <c:v>44073</c:v>
                </c:pt>
                <c:pt idx="21">
                  <c:v>44079</c:v>
                </c:pt>
                <c:pt idx="22">
                  <c:v>44084</c:v>
                </c:pt>
                <c:pt idx="23">
                  <c:v>44089</c:v>
                </c:pt>
                <c:pt idx="24">
                  <c:v>44094</c:v>
                </c:pt>
                <c:pt idx="25">
                  <c:v>44099</c:v>
                </c:pt>
                <c:pt idx="26">
                  <c:v>44104</c:v>
                </c:pt>
                <c:pt idx="27">
                  <c:v>44109</c:v>
                </c:pt>
                <c:pt idx="28">
                  <c:v>44115</c:v>
                </c:pt>
                <c:pt idx="29">
                  <c:v>44119</c:v>
                </c:pt>
                <c:pt idx="30">
                  <c:v>44123</c:v>
                </c:pt>
                <c:pt idx="31">
                  <c:v>44128</c:v>
                </c:pt>
                <c:pt idx="32">
                  <c:v>44134</c:v>
                </c:pt>
                <c:pt idx="33">
                  <c:v>44139</c:v>
                </c:pt>
                <c:pt idx="34">
                  <c:v>44145</c:v>
                </c:pt>
                <c:pt idx="35">
                  <c:v>44151</c:v>
                </c:pt>
                <c:pt idx="36">
                  <c:v>44155</c:v>
                </c:pt>
                <c:pt idx="37">
                  <c:v>44160</c:v>
                </c:pt>
                <c:pt idx="38">
                  <c:v>44165</c:v>
                </c:pt>
                <c:pt idx="39">
                  <c:v>44167</c:v>
                </c:pt>
                <c:pt idx="40">
                  <c:v>44168</c:v>
                </c:pt>
                <c:pt idx="41">
                  <c:v>44172</c:v>
                </c:pt>
                <c:pt idx="42">
                  <c:v>44173</c:v>
                </c:pt>
                <c:pt idx="43">
                  <c:v>44174</c:v>
                </c:pt>
                <c:pt idx="44">
                  <c:v>44175</c:v>
                </c:pt>
                <c:pt idx="45">
                  <c:v>44176</c:v>
                </c:pt>
                <c:pt idx="46">
                  <c:v>44179</c:v>
                </c:pt>
                <c:pt idx="47">
                  <c:v>44180</c:v>
                </c:pt>
                <c:pt idx="48">
                  <c:v>44181</c:v>
                </c:pt>
                <c:pt idx="49">
                  <c:v>44183</c:v>
                </c:pt>
                <c:pt idx="50">
                  <c:v>44186</c:v>
                </c:pt>
                <c:pt idx="51">
                  <c:v>44187</c:v>
                </c:pt>
                <c:pt idx="52">
                  <c:v>44188</c:v>
                </c:pt>
                <c:pt idx="53">
                  <c:v>44189</c:v>
                </c:pt>
                <c:pt idx="54">
                  <c:v>44193</c:v>
                </c:pt>
                <c:pt idx="55">
                  <c:v>44194</c:v>
                </c:pt>
                <c:pt idx="56">
                  <c:v>44195</c:v>
                </c:pt>
                <c:pt idx="57">
                  <c:v>44196</c:v>
                </c:pt>
                <c:pt idx="58">
                  <c:v>44201</c:v>
                </c:pt>
                <c:pt idx="59">
                  <c:v>44202</c:v>
                </c:pt>
                <c:pt idx="60">
                  <c:v>44203</c:v>
                </c:pt>
                <c:pt idx="61">
                  <c:v>44204</c:v>
                </c:pt>
                <c:pt idx="62">
                  <c:v>44207</c:v>
                </c:pt>
                <c:pt idx="63">
                  <c:v>44208</c:v>
                </c:pt>
                <c:pt idx="64">
                  <c:v>44209</c:v>
                </c:pt>
                <c:pt idx="65">
                  <c:v>44211</c:v>
                </c:pt>
                <c:pt idx="66">
                  <c:v>44215</c:v>
                </c:pt>
                <c:pt idx="67">
                  <c:v>44216</c:v>
                </c:pt>
                <c:pt idx="68">
                  <c:v>44217</c:v>
                </c:pt>
                <c:pt idx="69">
                  <c:v>44218</c:v>
                </c:pt>
                <c:pt idx="70">
                  <c:v>44221</c:v>
                </c:pt>
                <c:pt idx="71">
                  <c:v>44223</c:v>
                </c:pt>
                <c:pt idx="72">
                  <c:v>44224</c:v>
                </c:pt>
                <c:pt idx="73">
                  <c:v>44228</c:v>
                </c:pt>
                <c:pt idx="74">
                  <c:v>44229</c:v>
                </c:pt>
                <c:pt idx="75">
                  <c:v>44230</c:v>
                </c:pt>
                <c:pt idx="76">
                  <c:v>44231</c:v>
                </c:pt>
                <c:pt idx="77">
                  <c:v>44232</c:v>
                </c:pt>
                <c:pt idx="78">
                  <c:v>44233</c:v>
                </c:pt>
                <c:pt idx="79">
                  <c:v>44234</c:v>
                </c:pt>
                <c:pt idx="80">
                  <c:v>44236</c:v>
                </c:pt>
                <c:pt idx="81">
                  <c:v>44237</c:v>
                </c:pt>
                <c:pt idx="82">
                  <c:v>44238</c:v>
                </c:pt>
                <c:pt idx="83">
                  <c:v>44241</c:v>
                </c:pt>
                <c:pt idx="84">
                  <c:v>44242</c:v>
                </c:pt>
                <c:pt idx="85">
                  <c:v>44243</c:v>
                </c:pt>
                <c:pt idx="86">
                  <c:v>44244</c:v>
                </c:pt>
                <c:pt idx="87">
                  <c:v>44245</c:v>
                </c:pt>
                <c:pt idx="88">
                  <c:v>44246</c:v>
                </c:pt>
                <c:pt idx="89">
                  <c:v>44247</c:v>
                </c:pt>
                <c:pt idx="90">
                  <c:v>44248</c:v>
                </c:pt>
                <c:pt idx="91">
                  <c:v>44249</c:v>
                </c:pt>
                <c:pt idx="92">
                  <c:v>44250</c:v>
                </c:pt>
                <c:pt idx="93">
                  <c:v>44251</c:v>
                </c:pt>
                <c:pt idx="94">
                  <c:v>44252</c:v>
                </c:pt>
                <c:pt idx="95">
                  <c:v>44253</c:v>
                </c:pt>
                <c:pt idx="96">
                  <c:v>44254</c:v>
                </c:pt>
                <c:pt idx="97">
                  <c:v>44255</c:v>
                </c:pt>
                <c:pt idx="98">
                  <c:v>44256</c:v>
                </c:pt>
                <c:pt idx="99">
                  <c:v>44257</c:v>
                </c:pt>
                <c:pt idx="100">
                  <c:v>44258</c:v>
                </c:pt>
                <c:pt idx="101">
                  <c:v>44259</c:v>
                </c:pt>
                <c:pt idx="102">
                  <c:v>44262</c:v>
                </c:pt>
                <c:pt idx="103">
                  <c:v>44263</c:v>
                </c:pt>
                <c:pt idx="104">
                  <c:v>44265</c:v>
                </c:pt>
                <c:pt idx="105">
                  <c:v>44266</c:v>
                </c:pt>
                <c:pt idx="106">
                  <c:v>44267</c:v>
                </c:pt>
                <c:pt idx="107">
                  <c:v>44268</c:v>
                </c:pt>
                <c:pt idx="108">
                  <c:v>44269</c:v>
                </c:pt>
                <c:pt idx="109">
                  <c:v>44270</c:v>
                </c:pt>
                <c:pt idx="110">
                  <c:v>44271</c:v>
                </c:pt>
                <c:pt idx="111">
                  <c:v>44272</c:v>
                </c:pt>
                <c:pt idx="112">
                  <c:v>44273</c:v>
                </c:pt>
                <c:pt idx="113">
                  <c:v>44274</c:v>
                </c:pt>
                <c:pt idx="114">
                  <c:v>44276</c:v>
                </c:pt>
                <c:pt idx="115">
                  <c:v>44277</c:v>
                </c:pt>
                <c:pt idx="116">
                  <c:v>44278</c:v>
                </c:pt>
                <c:pt idx="117">
                  <c:v>44279</c:v>
                </c:pt>
                <c:pt idx="118">
                  <c:v>44280</c:v>
                </c:pt>
                <c:pt idx="119">
                  <c:v>44281</c:v>
                </c:pt>
                <c:pt idx="120">
                  <c:v>44282</c:v>
                </c:pt>
                <c:pt idx="121">
                  <c:v>44283</c:v>
                </c:pt>
                <c:pt idx="122">
                  <c:v>44284</c:v>
                </c:pt>
                <c:pt idx="123">
                  <c:v>44285</c:v>
                </c:pt>
                <c:pt idx="124">
                  <c:v>44286</c:v>
                </c:pt>
                <c:pt idx="125">
                  <c:v>44287</c:v>
                </c:pt>
                <c:pt idx="126">
                  <c:v>44288</c:v>
                </c:pt>
                <c:pt idx="127">
                  <c:v>44289</c:v>
                </c:pt>
                <c:pt idx="128">
                  <c:v>44290</c:v>
                </c:pt>
                <c:pt idx="129">
                  <c:v>44291</c:v>
                </c:pt>
                <c:pt idx="130">
                  <c:v>44292</c:v>
                </c:pt>
                <c:pt idx="131">
                  <c:v>44293</c:v>
                </c:pt>
                <c:pt idx="132">
                  <c:v>44294</c:v>
                </c:pt>
                <c:pt idx="133">
                  <c:v>44297</c:v>
                </c:pt>
                <c:pt idx="134">
                  <c:v>44298</c:v>
                </c:pt>
                <c:pt idx="135">
                  <c:v>44299</c:v>
                </c:pt>
                <c:pt idx="136">
                  <c:v>44300</c:v>
                </c:pt>
                <c:pt idx="137">
                  <c:v>44301</c:v>
                </c:pt>
                <c:pt idx="138">
                  <c:v>44302</c:v>
                </c:pt>
                <c:pt idx="139">
                  <c:v>44304</c:v>
                </c:pt>
                <c:pt idx="140">
                  <c:v>44307</c:v>
                </c:pt>
                <c:pt idx="141">
                  <c:v>44308</c:v>
                </c:pt>
                <c:pt idx="142">
                  <c:v>44309</c:v>
                </c:pt>
                <c:pt idx="143">
                  <c:v>44310</c:v>
                </c:pt>
                <c:pt idx="144">
                  <c:v>44311</c:v>
                </c:pt>
                <c:pt idx="145">
                  <c:v>44312</c:v>
                </c:pt>
                <c:pt idx="146">
                  <c:v>44313</c:v>
                </c:pt>
                <c:pt idx="147">
                  <c:v>44315</c:v>
                </c:pt>
                <c:pt idx="148">
                  <c:v>44316</c:v>
                </c:pt>
                <c:pt idx="149">
                  <c:v>44317</c:v>
                </c:pt>
                <c:pt idx="150">
                  <c:v>44318</c:v>
                </c:pt>
                <c:pt idx="151">
                  <c:v>44319</c:v>
                </c:pt>
                <c:pt idx="152">
                  <c:v>44320</c:v>
                </c:pt>
                <c:pt idx="153">
                  <c:v>44322</c:v>
                </c:pt>
                <c:pt idx="154">
                  <c:v>44323</c:v>
                </c:pt>
                <c:pt idx="155">
                  <c:v>44324</c:v>
                </c:pt>
                <c:pt idx="156">
                  <c:v>44325</c:v>
                </c:pt>
                <c:pt idx="157">
                  <c:v>44326</c:v>
                </c:pt>
                <c:pt idx="158">
                  <c:v>44327</c:v>
                </c:pt>
                <c:pt idx="159">
                  <c:v>44328</c:v>
                </c:pt>
                <c:pt idx="160">
                  <c:v>44329</c:v>
                </c:pt>
                <c:pt idx="161">
                  <c:v>44332</c:v>
                </c:pt>
                <c:pt idx="162">
                  <c:v>44333</c:v>
                </c:pt>
                <c:pt idx="163">
                  <c:v>44334</c:v>
                </c:pt>
                <c:pt idx="164">
                  <c:v>44335</c:v>
                </c:pt>
                <c:pt idx="165">
                  <c:v>44336</c:v>
                </c:pt>
                <c:pt idx="166">
                  <c:v>44337</c:v>
                </c:pt>
                <c:pt idx="167">
                  <c:v>44338</c:v>
                </c:pt>
                <c:pt idx="168">
                  <c:v>44339</c:v>
                </c:pt>
                <c:pt idx="169">
                  <c:v>44340</c:v>
                </c:pt>
                <c:pt idx="170">
                  <c:v>44341</c:v>
                </c:pt>
                <c:pt idx="171">
                  <c:v>44342</c:v>
                </c:pt>
                <c:pt idx="172">
                  <c:v>44343</c:v>
                </c:pt>
                <c:pt idx="173">
                  <c:v>44344</c:v>
                </c:pt>
                <c:pt idx="174">
                  <c:v>44345</c:v>
                </c:pt>
                <c:pt idx="175">
                  <c:v>44346</c:v>
                </c:pt>
                <c:pt idx="176">
                  <c:v>44347</c:v>
                </c:pt>
                <c:pt idx="177">
                  <c:v>44349</c:v>
                </c:pt>
                <c:pt idx="178">
                  <c:v>44350</c:v>
                </c:pt>
                <c:pt idx="179">
                  <c:v>44355</c:v>
                </c:pt>
                <c:pt idx="180">
                  <c:v>44356</c:v>
                </c:pt>
                <c:pt idx="181">
                  <c:v>44357</c:v>
                </c:pt>
                <c:pt idx="182">
                  <c:v>44358</c:v>
                </c:pt>
                <c:pt idx="183">
                  <c:v>44359</c:v>
                </c:pt>
                <c:pt idx="184">
                  <c:v>44360</c:v>
                </c:pt>
                <c:pt idx="185">
                  <c:v>44361</c:v>
                </c:pt>
                <c:pt idx="186">
                  <c:v>44371</c:v>
                </c:pt>
                <c:pt idx="187">
                  <c:v>44372</c:v>
                </c:pt>
                <c:pt idx="188">
                  <c:v>44373</c:v>
                </c:pt>
                <c:pt idx="189">
                  <c:v>44376</c:v>
                </c:pt>
                <c:pt idx="190">
                  <c:v>44377</c:v>
                </c:pt>
                <c:pt idx="191">
                  <c:v>44378</c:v>
                </c:pt>
                <c:pt idx="192">
                  <c:v>44379</c:v>
                </c:pt>
                <c:pt idx="193">
                  <c:v>44380</c:v>
                </c:pt>
                <c:pt idx="194">
                  <c:v>44381</c:v>
                </c:pt>
                <c:pt idx="195">
                  <c:v>44382</c:v>
                </c:pt>
                <c:pt idx="196">
                  <c:v>44383</c:v>
                </c:pt>
                <c:pt idx="197">
                  <c:v>44384</c:v>
                </c:pt>
                <c:pt idx="198">
                  <c:v>44385</c:v>
                </c:pt>
                <c:pt idx="199">
                  <c:v>44386</c:v>
                </c:pt>
                <c:pt idx="200">
                  <c:v>44387</c:v>
                </c:pt>
                <c:pt idx="201">
                  <c:v>44388</c:v>
                </c:pt>
                <c:pt idx="202">
                  <c:v>44389</c:v>
                </c:pt>
                <c:pt idx="203">
                  <c:v>44390</c:v>
                </c:pt>
                <c:pt idx="204">
                  <c:v>44391</c:v>
                </c:pt>
                <c:pt idx="205">
                  <c:v>44392</c:v>
                </c:pt>
                <c:pt idx="206">
                  <c:v>44393</c:v>
                </c:pt>
                <c:pt idx="207">
                  <c:v>44394</c:v>
                </c:pt>
                <c:pt idx="208">
                  <c:v>44395</c:v>
                </c:pt>
                <c:pt idx="209">
                  <c:v>44396</c:v>
                </c:pt>
                <c:pt idx="210">
                  <c:v>44397</c:v>
                </c:pt>
                <c:pt idx="211">
                  <c:v>44398</c:v>
                </c:pt>
                <c:pt idx="212">
                  <c:v>44399</c:v>
                </c:pt>
                <c:pt idx="213">
                  <c:v>44400</c:v>
                </c:pt>
                <c:pt idx="214">
                  <c:v>44401</c:v>
                </c:pt>
                <c:pt idx="215">
                  <c:v>44402</c:v>
                </c:pt>
                <c:pt idx="216">
                  <c:v>44403</c:v>
                </c:pt>
                <c:pt idx="217">
                  <c:v>44404</c:v>
                </c:pt>
                <c:pt idx="218">
                  <c:v>44405</c:v>
                </c:pt>
                <c:pt idx="219">
                  <c:v>44406</c:v>
                </c:pt>
                <c:pt idx="220">
                  <c:v>44407</c:v>
                </c:pt>
                <c:pt idx="221">
                  <c:v>44408</c:v>
                </c:pt>
                <c:pt idx="222">
                  <c:v>44409</c:v>
                </c:pt>
                <c:pt idx="223">
                  <c:v>44410</c:v>
                </c:pt>
                <c:pt idx="224">
                  <c:v>44411</c:v>
                </c:pt>
                <c:pt idx="225">
                  <c:v>44412</c:v>
                </c:pt>
                <c:pt idx="226">
                  <c:v>44413</c:v>
                </c:pt>
                <c:pt idx="227">
                  <c:v>44414</c:v>
                </c:pt>
                <c:pt idx="228">
                  <c:v>44415</c:v>
                </c:pt>
                <c:pt idx="229">
                  <c:v>44416</c:v>
                </c:pt>
                <c:pt idx="230">
                  <c:v>44417</c:v>
                </c:pt>
                <c:pt idx="231">
                  <c:v>44418</c:v>
                </c:pt>
                <c:pt idx="232">
                  <c:v>44419</c:v>
                </c:pt>
                <c:pt idx="233">
                  <c:v>44420</c:v>
                </c:pt>
                <c:pt idx="234">
                  <c:v>44421</c:v>
                </c:pt>
                <c:pt idx="235">
                  <c:v>44422</c:v>
                </c:pt>
                <c:pt idx="236">
                  <c:v>44423</c:v>
                </c:pt>
                <c:pt idx="237">
                  <c:v>44424</c:v>
                </c:pt>
                <c:pt idx="238">
                  <c:v>44425</c:v>
                </c:pt>
                <c:pt idx="239">
                  <c:v>44426</c:v>
                </c:pt>
                <c:pt idx="240">
                  <c:v>44427</c:v>
                </c:pt>
                <c:pt idx="241">
                  <c:v>44428</c:v>
                </c:pt>
                <c:pt idx="242">
                  <c:v>44429</c:v>
                </c:pt>
                <c:pt idx="243">
                  <c:v>44430</c:v>
                </c:pt>
                <c:pt idx="244">
                  <c:v>44431</c:v>
                </c:pt>
                <c:pt idx="245">
                  <c:v>44432</c:v>
                </c:pt>
                <c:pt idx="246">
                  <c:v>44433</c:v>
                </c:pt>
                <c:pt idx="247">
                  <c:v>44434</c:v>
                </c:pt>
                <c:pt idx="248">
                  <c:v>44435</c:v>
                </c:pt>
                <c:pt idx="249">
                  <c:v>44436</c:v>
                </c:pt>
                <c:pt idx="250">
                  <c:v>44437</c:v>
                </c:pt>
                <c:pt idx="251">
                  <c:v>44438</c:v>
                </c:pt>
                <c:pt idx="252">
                  <c:v>44439</c:v>
                </c:pt>
                <c:pt idx="253">
                  <c:v>44440</c:v>
                </c:pt>
                <c:pt idx="254">
                  <c:v>44441</c:v>
                </c:pt>
                <c:pt idx="255">
                  <c:v>44442</c:v>
                </c:pt>
                <c:pt idx="256">
                  <c:v>44443</c:v>
                </c:pt>
                <c:pt idx="257">
                  <c:v>44444</c:v>
                </c:pt>
                <c:pt idx="258">
                  <c:v>44445</c:v>
                </c:pt>
                <c:pt idx="259">
                  <c:v>44446</c:v>
                </c:pt>
                <c:pt idx="260">
                  <c:v>44447</c:v>
                </c:pt>
                <c:pt idx="261">
                  <c:v>44448</c:v>
                </c:pt>
                <c:pt idx="262">
                  <c:v>44449</c:v>
                </c:pt>
                <c:pt idx="263">
                  <c:v>44450</c:v>
                </c:pt>
                <c:pt idx="264">
                  <c:v>44451</c:v>
                </c:pt>
                <c:pt idx="265">
                  <c:v>44452</c:v>
                </c:pt>
                <c:pt idx="266">
                  <c:v>44453</c:v>
                </c:pt>
                <c:pt idx="267">
                  <c:v>44454</c:v>
                </c:pt>
                <c:pt idx="268">
                  <c:v>44455</c:v>
                </c:pt>
                <c:pt idx="269">
                  <c:v>44456</c:v>
                </c:pt>
                <c:pt idx="270">
                  <c:v>44457</c:v>
                </c:pt>
                <c:pt idx="271">
                  <c:v>44458</c:v>
                </c:pt>
                <c:pt idx="272">
                  <c:v>44459</c:v>
                </c:pt>
                <c:pt idx="273">
                  <c:v>44460</c:v>
                </c:pt>
                <c:pt idx="274">
                  <c:v>44461</c:v>
                </c:pt>
                <c:pt idx="275">
                  <c:v>44462</c:v>
                </c:pt>
                <c:pt idx="276">
                  <c:v>44463</c:v>
                </c:pt>
                <c:pt idx="277">
                  <c:v>44464</c:v>
                </c:pt>
                <c:pt idx="278">
                  <c:v>44465</c:v>
                </c:pt>
                <c:pt idx="279">
                  <c:v>44466</c:v>
                </c:pt>
                <c:pt idx="280">
                  <c:v>44467</c:v>
                </c:pt>
                <c:pt idx="281">
                  <c:v>44468</c:v>
                </c:pt>
                <c:pt idx="282">
                  <c:v>44469</c:v>
                </c:pt>
                <c:pt idx="283">
                  <c:v>44470</c:v>
                </c:pt>
                <c:pt idx="284">
                  <c:v>44471</c:v>
                </c:pt>
                <c:pt idx="285">
                  <c:v>44472</c:v>
                </c:pt>
                <c:pt idx="286">
                  <c:v>44473</c:v>
                </c:pt>
                <c:pt idx="287">
                  <c:v>44474</c:v>
                </c:pt>
                <c:pt idx="288">
                  <c:v>44475</c:v>
                </c:pt>
                <c:pt idx="289">
                  <c:v>44476</c:v>
                </c:pt>
                <c:pt idx="290">
                  <c:v>44477</c:v>
                </c:pt>
                <c:pt idx="291">
                  <c:v>44478</c:v>
                </c:pt>
                <c:pt idx="292">
                  <c:v>44479</c:v>
                </c:pt>
                <c:pt idx="293">
                  <c:v>44480</c:v>
                </c:pt>
                <c:pt idx="294">
                  <c:v>44481</c:v>
                </c:pt>
                <c:pt idx="295">
                  <c:v>44482</c:v>
                </c:pt>
                <c:pt idx="296">
                  <c:v>44483</c:v>
                </c:pt>
                <c:pt idx="297">
                  <c:v>44484</c:v>
                </c:pt>
                <c:pt idx="298">
                  <c:v>44485</c:v>
                </c:pt>
                <c:pt idx="299">
                  <c:v>44486</c:v>
                </c:pt>
                <c:pt idx="300">
                  <c:v>44487</c:v>
                </c:pt>
                <c:pt idx="301">
                  <c:v>44488</c:v>
                </c:pt>
                <c:pt idx="302">
                  <c:v>44489</c:v>
                </c:pt>
                <c:pt idx="303">
                  <c:v>44490</c:v>
                </c:pt>
                <c:pt idx="304">
                  <c:v>44491</c:v>
                </c:pt>
                <c:pt idx="305">
                  <c:v>44492</c:v>
                </c:pt>
                <c:pt idx="306">
                  <c:v>44493</c:v>
                </c:pt>
                <c:pt idx="307">
                  <c:v>44494</c:v>
                </c:pt>
                <c:pt idx="308">
                  <c:v>44495</c:v>
                </c:pt>
                <c:pt idx="309">
                  <c:v>44496</c:v>
                </c:pt>
                <c:pt idx="310">
                  <c:v>44497</c:v>
                </c:pt>
                <c:pt idx="311">
                  <c:v>44498</c:v>
                </c:pt>
                <c:pt idx="312">
                  <c:v>44499</c:v>
                </c:pt>
                <c:pt idx="313">
                  <c:v>44500</c:v>
                </c:pt>
                <c:pt idx="314">
                  <c:v>44501</c:v>
                </c:pt>
                <c:pt idx="315">
                  <c:v>44502</c:v>
                </c:pt>
                <c:pt idx="316">
                  <c:v>44503</c:v>
                </c:pt>
                <c:pt idx="317">
                  <c:v>44504</c:v>
                </c:pt>
                <c:pt idx="318">
                  <c:v>44505</c:v>
                </c:pt>
                <c:pt idx="319">
                  <c:v>44506</c:v>
                </c:pt>
                <c:pt idx="320">
                  <c:v>44507</c:v>
                </c:pt>
                <c:pt idx="321">
                  <c:v>44508</c:v>
                </c:pt>
                <c:pt idx="322">
                  <c:v>44509</c:v>
                </c:pt>
                <c:pt idx="323">
                  <c:v>44510</c:v>
                </c:pt>
                <c:pt idx="324">
                  <c:v>44511</c:v>
                </c:pt>
                <c:pt idx="325">
                  <c:v>44512</c:v>
                </c:pt>
                <c:pt idx="326">
                  <c:v>44513</c:v>
                </c:pt>
                <c:pt idx="327">
                  <c:v>44514</c:v>
                </c:pt>
                <c:pt idx="328">
                  <c:v>44515</c:v>
                </c:pt>
                <c:pt idx="329">
                  <c:v>44516</c:v>
                </c:pt>
                <c:pt idx="330">
                  <c:v>44517</c:v>
                </c:pt>
                <c:pt idx="331">
                  <c:v>44518</c:v>
                </c:pt>
                <c:pt idx="332">
                  <c:v>44519</c:v>
                </c:pt>
                <c:pt idx="333">
                  <c:v>44520</c:v>
                </c:pt>
                <c:pt idx="334">
                  <c:v>44521</c:v>
                </c:pt>
                <c:pt idx="335">
                  <c:v>44522</c:v>
                </c:pt>
                <c:pt idx="336">
                  <c:v>44523</c:v>
                </c:pt>
                <c:pt idx="337">
                  <c:v>44524</c:v>
                </c:pt>
                <c:pt idx="338">
                  <c:v>44525</c:v>
                </c:pt>
                <c:pt idx="339">
                  <c:v>44526</c:v>
                </c:pt>
                <c:pt idx="340">
                  <c:v>44527</c:v>
                </c:pt>
                <c:pt idx="341">
                  <c:v>44528</c:v>
                </c:pt>
                <c:pt idx="342">
                  <c:v>44529</c:v>
                </c:pt>
                <c:pt idx="343">
                  <c:v>44530</c:v>
                </c:pt>
                <c:pt idx="344">
                  <c:v>44531</c:v>
                </c:pt>
                <c:pt idx="345">
                  <c:v>44532</c:v>
                </c:pt>
                <c:pt idx="346">
                  <c:v>44533</c:v>
                </c:pt>
                <c:pt idx="347">
                  <c:v>44534</c:v>
                </c:pt>
                <c:pt idx="348">
                  <c:v>44535</c:v>
                </c:pt>
                <c:pt idx="349">
                  <c:v>44536</c:v>
                </c:pt>
                <c:pt idx="350">
                  <c:v>44537</c:v>
                </c:pt>
                <c:pt idx="351">
                  <c:v>44538</c:v>
                </c:pt>
                <c:pt idx="352">
                  <c:v>44539</c:v>
                </c:pt>
                <c:pt idx="353">
                  <c:v>44540</c:v>
                </c:pt>
                <c:pt idx="354">
                  <c:v>44541</c:v>
                </c:pt>
                <c:pt idx="355">
                  <c:v>44542</c:v>
                </c:pt>
                <c:pt idx="356">
                  <c:v>44543</c:v>
                </c:pt>
                <c:pt idx="357">
                  <c:v>44544</c:v>
                </c:pt>
                <c:pt idx="358">
                  <c:v>44545</c:v>
                </c:pt>
                <c:pt idx="359">
                  <c:v>44546</c:v>
                </c:pt>
                <c:pt idx="360">
                  <c:v>44547</c:v>
                </c:pt>
                <c:pt idx="361">
                  <c:v>44548</c:v>
                </c:pt>
                <c:pt idx="362">
                  <c:v>44549</c:v>
                </c:pt>
                <c:pt idx="363">
                  <c:v>44550</c:v>
                </c:pt>
                <c:pt idx="364">
                  <c:v>44551</c:v>
                </c:pt>
                <c:pt idx="365">
                  <c:v>44552</c:v>
                </c:pt>
                <c:pt idx="366">
                  <c:v>44553</c:v>
                </c:pt>
                <c:pt idx="367">
                  <c:v>44554</c:v>
                </c:pt>
                <c:pt idx="368">
                  <c:v>44555</c:v>
                </c:pt>
                <c:pt idx="369">
                  <c:v>44556</c:v>
                </c:pt>
                <c:pt idx="370">
                  <c:v>44557</c:v>
                </c:pt>
                <c:pt idx="371">
                  <c:v>44558</c:v>
                </c:pt>
                <c:pt idx="372">
                  <c:v>44559</c:v>
                </c:pt>
                <c:pt idx="373">
                  <c:v>44560</c:v>
                </c:pt>
                <c:pt idx="374">
                  <c:v>44561</c:v>
                </c:pt>
                <c:pt idx="375">
                  <c:v>44562</c:v>
                </c:pt>
                <c:pt idx="376">
                  <c:v>44563</c:v>
                </c:pt>
                <c:pt idx="377">
                  <c:v>44564</c:v>
                </c:pt>
                <c:pt idx="378">
                  <c:v>44565</c:v>
                </c:pt>
                <c:pt idx="379">
                  <c:v>44566</c:v>
                </c:pt>
                <c:pt idx="380">
                  <c:v>44567</c:v>
                </c:pt>
                <c:pt idx="381">
                  <c:v>44568</c:v>
                </c:pt>
                <c:pt idx="382">
                  <c:v>44569</c:v>
                </c:pt>
                <c:pt idx="383">
                  <c:v>44570</c:v>
                </c:pt>
                <c:pt idx="384">
                  <c:v>44571</c:v>
                </c:pt>
                <c:pt idx="385">
                  <c:v>44572</c:v>
                </c:pt>
                <c:pt idx="386">
                  <c:v>44573</c:v>
                </c:pt>
                <c:pt idx="387">
                  <c:v>44574</c:v>
                </c:pt>
                <c:pt idx="388">
                  <c:v>44575</c:v>
                </c:pt>
                <c:pt idx="389">
                  <c:v>44576</c:v>
                </c:pt>
                <c:pt idx="390">
                  <c:v>44577</c:v>
                </c:pt>
                <c:pt idx="391">
                  <c:v>44578</c:v>
                </c:pt>
                <c:pt idx="392">
                  <c:v>44579</c:v>
                </c:pt>
                <c:pt idx="393">
                  <c:v>44580</c:v>
                </c:pt>
                <c:pt idx="394">
                  <c:v>44581</c:v>
                </c:pt>
                <c:pt idx="395">
                  <c:v>44582</c:v>
                </c:pt>
                <c:pt idx="396">
                  <c:v>44583</c:v>
                </c:pt>
                <c:pt idx="397">
                  <c:v>44584</c:v>
                </c:pt>
                <c:pt idx="398">
                  <c:v>44585</c:v>
                </c:pt>
                <c:pt idx="399">
                  <c:v>44586</c:v>
                </c:pt>
                <c:pt idx="400">
                  <c:v>44587</c:v>
                </c:pt>
                <c:pt idx="401">
                  <c:v>44588</c:v>
                </c:pt>
                <c:pt idx="402">
                  <c:v>44589</c:v>
                </c:pt>
                <c:pt idx="403">
                  <c:v>44590</c:v>
                </c:pt>
                <c:pt idx="404">
                  <c:v>44591</c:v>
                </c:pt>
                <c:pt idx="405">
                  <c:v>44592</c:v>
                </c:pt>
                <c:pt idx="406">
                  <c:v>44593</c:v>
                </c:pt>
                <c:pt idx="407">
                  <c:v>44594</c:v>
                </c:pt>
                <c:pt idx="408">
                  <c:v>44595</c:v>
                </c:pt>
                <c:pt idx="409">
                  <c:v>44596</c:v>
                </c:pt>
                <c:pt idx="410">
                  <c:v>44597</c:v>
                </c:pt>
                <c:pt idx="411">
                  <c:v>44598</c:v>
                </c:pt>
                <c:pt idx="412">
                  <c:v>44599</c:v>
                </c:pt>
                <c:pt idx="413">
                  <c:v>44600</c:v>
                </c:pt>
                <c:pt idx="414">
                  <c:v>44601</c:v>
                </c:pt>
                <c:pt idx="415">
                  <c:v>44602</c:v>
                </c:pt>
                <c:pt idx="416">
                  <c:v>44603</c:v>
                </c:pt>
                <c:pt idx="417">
                  <c:v>44604</c:v>
                </c:pt>
                <c:pt idx="418">
                  <c:v>44605</c:v>
                </c:pt>
                <c:pt idx="419">
                  <c:v>44606</c:v>
                </c:pt>
              </c:numCache>
            </c:numRef>
          </c:cat>
          <c:val>
            <c:numRef>
              <c:f>'일반 생치병상 통계'!$F$2:$F$421</c:f>
              <c:numCache>
                <c:formatCode>0_);[Red]\(0\)</c:formatCode>
                <c:ptCount val="42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6</c:v>
                </c:pt>
                <c:pt idx="14">
                  <c:v>0</c:v>
                </c:pt>
                <c:pt idx="15">
                  <c:v>3</c:v>
                </c:pt>
                <c:pt idx="16">
                  <c:v>1</c:v>
                </c:pt>
                <c:pt idx="17">
                  <c:v>4</c:v>
                </c:pt>
                <c:pt idx="18">
                  <c:v>14</c:v>
                </c:pt>
                <c:pt idx="19">
                  <c:v>3</c:v>
                </c:pt>
                <c:pt idx="20">
                  <c:v>7</c:v>
                </c:pt>
                <c:pt idx="21">
                  <c:v>10</c:v>
                </c:pt>
                <c:pt idx="22">
                  <c:v>1</c:v>
                </c:pt>
                <c:pt idx="23">
                  <c:v>4</c:v>
                </c:pt>
                <c:pt idx="24">
                  <c:v>6</c:v>
                </c:pt>
                <c:pt idx="25">
                  <c:v>4</c:v>
                </c:pt>
                <c:pt idx="26">
                  <c:v>5</c:v>
                </c:pt>
                <c:pt idx="27">
                  <c:v>4</c:v>
                </c:pt>
                <c:pt idx="28">
                  <c:v>3</c:v>
                </c:pt>
                <c:pt idx="29">
                  <c:v>55</c:v>
                </c:pt>
                <c:pt idx="30">
                  <c:v>15</c:v>
                </c:pt>
                <c:pt idx="31">
                  <c:v>0</c:v>
                </c:pt>
                <c:pt idx="32">
                  <c:v>0</c:v>
                </c:pt>
                <c:pt idx="33">
                  <c:v>1</c:v>
                </c:pt>
                <c:pt idx="34">
                  <c:v>1</c:v>
                </c:pt>
                <c:pt idx="35">
                  <c:v>0</c:v>
                </c:pt>
                <c:pt idx="36">
                  <c:v>5</c:v>
                </c:pt>
                <c:pt idx="37">
                  <c:v>17</c:v>
                </c:pt>
                <c:pt idx="38">
                  <c:v>52</c:v>
                </c:pt>
                <c:pt idx="39">
                  <c:v>25</c:v>
                </c:pt>
                <c:pt idx="40">
                  <c:v>15</c:v>
                </c:pt>
                <c:pt idx="41">
                  <c:v>35</c:v>
                </c:pt>
                <c:pt idx="42">
                  <c:v>31</c:v>
                </c:pt>
                <c:pt idx="43">
                  <c:v>23</c:v>
                </c:pt>
                <c:pt idx="44">
                  <c:v>24</c:v>
                </c:pt>
                <c:pt idx="45">
                  <c:v>33</c:v>
                </c:pt>
                <c:pt idx="46">
                  <c:v>20</c:v>
                </c:pt>
                <c:pt idx="47">
                  <c:v>42</c:v>
                </c:pt>
                <c:pt idx="48">
                  <c:v>41</c:v>
                </c:pt>
                <c:pt idx="49">
                  <c:v>39</c:v>
                </c:pt>
                <c:pt idx="50">
                  <c:v>22</c:v>
                </c:pt>
                <c:pt idx="51">
                  <c:v>23</c:v>
                </c:pt>
                <c:pt idx="52">
                  <c:v>36</c:v>
                </c:pt>
                <c:pt idx="53">
                  <c:v>40</c:v>
                </c:pt>
                <c:pt idx="54">
                  <c:v>35</c:v>
                </c:pt>
                <c:pt idx="55">
                  <c:v>16</c:v>
                </c:pt>
                <c:pt idx="56">
                  <c:v>39</c:v>
                </c:pt>
                <c:pt idx="57">
                  <c:v>74</c:v>
                </c:pt>
                <c:pt idx="58">
                  <c:v>15</c:v>
                </c:pt>
                <c:pt idx="59">
                  <c:v>38</c:v>
                </c:pt>
                <c:pt idx="60">
                  <c:v>23</c:v>
                </c:pt>
                <c:pt idx="61">
                  <c:v>24</c:v>
                </c:pt>
                <c:pt idx="62">
                  <c:v>19</c:v>
                </c:pt>
                <c:pt idx="63">
                  <c:v>21</c:v>
                </c:pt>
                <c:pt idx="64">
                  <c:v>36</c:v>
                </c:pt>
                <c:pt idx="65">
                  <c:v>43</c:v>
                </c:pt>
                <c:pt idx="66">
                  <c:v>17</c:v>
                </c:pt>
                <c:pt idx="67">
                  <c:v>13</c:v>
                </c:pt>
                <c:pt idx="68">
                  <c:v>19</c:v>
                </c:pt>
                <c:pt idx="69">
                  <c:v>23</c:v>
                </c:pt>
                <c:pt idx="70">
                  <c:v>20</c:v>
                </c:pt>
                <c:pt idx="71">
                  <c:v>32</c:v>
                </c:pt>
                <c:pt idx="72">
                  <c:v>54</c:v>
                </c:pt>
                <c:pt idx="73">
                  <c:v>15</c:v>
                </c:pt>
                <c:pt idx="74">
                  <c:v>12</c:v>
                </c:pt>
                <c:pt idx="75">
                  <c:v>19</c:v>
                </c:pt>
                <c:pt idx="76">
                  <c:v>26</c:v>
                </c:pt>
                <c:pt idx="77">
                  <c:v>33</c:v>
                </c:pt>
                <c:pt idx="78">
                  <c:v>14</c:v>
                </c:pt>
                <c:pt idx="79">
                  <c:v>9</c:v>
                </c:pt>
                <c:pt idx="80">
                  <c:v>9</c:v>
                </c:pt>
                <c:pt idx="81">
                  <c:v>19</c:v>
                </c:pt>
                <c:pt idx="82">
                  <c:v>29</c:v>
                </c:pt>
                <c:pt idx="83">
                  <c:v>15</c:v>
                </c:pt>
                <c:pt idx="84">
                  <c:v>15</c:v>
                </c:pt>
                <c:pt idx="85">
                  <c:v>19</c:v>
                </c:pt>
                <c:pt idx="86">
                  <c:v>19</c:v>
                </c:pt>
                <c:pt idx="87">
                  <c:v>28</c:v>
                </c:pt>
                <c:pt idx="88">
                  <c:v>16</c:v>
                </c:pt>
                <c:pt idx="89">
                  <c:v>14</c:v>
                </c:pt>
                <c:pt idx="90">
                  <c:v>12</c:v>
                </c:pt>
                <c:pt idx="91">
                  <c:v>12</c:v>
                </c:pt>
                <c:pt idx="92">
                  <c:v>12</c:v>
                </c:pt>
                <c:pt idx="93">
                  <c:v>13</c:v>
                </c:pt>
                <c:pt idx="94">
                  <c:v>18</c:v>
                </c:pt>
                <c:pt idx="95">
                  <c:v>11</c:v>
                </c:pt>
                <c:pt idx="96">
                  <c:v>9</c:v>
                </c:pt>
                <c:pt idx="97">
                  <c:v>5</c:v>
                </c:pt>
                <c:pt idx="98">
                  <c:v>16</c:v>
                </c:pt>
                <c:pt idx="99">
                  <c:v>17</c:v>
                </c:pt>
                <c:pt idx="100">
                  <c:v>8</c:v>
                </c:pt>
                <c:pt idx="101">
                  <c:v>18</c:v>
                </c:pt>
                <c:pt idx="102">
                  <c:v>7</c:v>
                </c:pt>
                <c:pt idx="103">
                  <c:v>16</c:v>
                </c:pt>
                <c:pt idx="104">
                  <c:v>7</c:v>
                </c:pt>
                <c:pt idx="105">
                  <c:v>14</c:v>
                </c:pt>
                <c:pt idx="106">
                  <c:v>15</c:v>
                </c:pt>
                <c:pt idx="107">
                  <c:v>17</c:v>
                </c:pt>
                <c:pt idx="108">
                  <c:v>13</c:v>
                </c:pt>
                <c:pt idx="109">
                  <c:v>4</c:v>
                </c:pt>
                <c:pt idx="110">
                  <c:v>7</c:v>
                </c:pt>
                <c:pt idx="111">
                  <c:v>11</c:v>
                </c:pt>
                <c:pt idx="112">
                  <c:v>7</c:v>
                </c:pt>
                <c:pt idx="113">
                  <c:v>7</c:v>
                </c:pt>
                <c:pt idx="114">
                  <c:v>18</c:v>
                </c:pt>
                <c:pt idx="115">
                  <c:v>27</c:v>
                </c:pt>
                <c:pt idx="116">
                  <c:v>8</c:v>
                </c:pt>
                <c:pt idx="117">
                  <c:v>17</c:v>
                </c:pt>
                <c:pt idx="118">
                  <c:v>20</c:v>
                </c:pt>
                <c:pt idx="119">
                  <c:v>11</c:v>
                </c:pt>
                <c:pt idx="120">
                  <c:v>39</c:v>
                </c:pt>
                <c:pt idx="121">
                  <c:v>50</c:v>
                </c:pt>
                <c:pt idx="122">
                  <c:v>53</c:v>
                </c:pt>
                <c:pt idx="123">
                  <c:v>43</c:v>
                </c:pt>
                <c:pt idx="124">
                  <c:v>58</c:v>
                </c:pt>
                <c:pt idx="125">
                  <c:v>54</c:v>
                </c:pt>
                <c:pt idx="126">
                  <c:v>58</c:v>
                </c:pt>
                <c:pt idx="127">
                  <c:v>41</c:v>
                </c:pt>
                <c:pt idx="128">
                  <c:v>61</c:v>
                </c:pt>
                <c:pt idx="129">
                  <c:v>48</c:v>
                </c:pt>
                <c:pt idx="130">
                  <c:v>34</c:v>
                </c:pt>
                <c:pt idx="131">
                  <c:v>38</c:v>
                </c:pt>
                <c:pt idx="132">
                  <c:v>52</c:v>
                </c:pt>
                <c:pt idx="133">
                  <c:v>45</c:v>
                </c:pt>
                <c:pt idx="134">
                  <c:v>47</c:v>
                </c:pt>
                <c:pt idx="135">
                  <c:v>39</c:v>
                </c:pt>
                <c:pt idx="136">
                  <c:v>49</c:v>
                </c:pt>
                <c:pt idx="137">
                  <c:v>54</c:v>
                </c:pt>
                <c:pt idx="138">
                  <c:v>44</c:v>
                </c:pt>
                <c:pt idx="139">
                  <c:v>31</c:v>
                </c:pt>
                <c:pt idx="140">
                  <c:v>33</c:v>
                </c:pt>
                <c:pt idx="141">
                  <c:v>37</c:v>
                </c:pt>
                <c:pt idx="142">
                  <c:v>33</c:v>
                </c:pt>
                <c:pt idx="143">
                  <c:v>44</c:v>
                </c:pt>
                <c:pt idx="144">
                  <c:v>43</c:v>
                </c:pt>
                <c:pt idx="145">
                  <c:v>25</c:v>
                </c:pt>
                <c:pt idx="146">
                  <c:v>30</c:v>
                </c:pt>
                <c:pt idx="147">
                  <c:v>40</c:v>
                </c:pt>
                <c:pt idx="148">
                  <c:v>32</c:v>
                </c:pt>
                <c:pt idx="149">
                  <c:v>29</c:v>
                </c:pt>
                <c:pt idx="150">
                  <c:v>33</c:v>
                </c:pt>
                <c:pt idx="151">
                  <c:v>16</c:v>
                </c:pt>
                <c:pt idx="152">
                  <c:v>16</c:v>
                </c:pt>
                <c:pt idx="153">
                  <c:v>28</c:v>
                </c:pt>
                <c:pt idx="154">
                  <c:v>21</c:v>
                </c:pt>
                <c:pt idx="155">
                  <c:v>27</c:v>
                </c:pt>
                <c:pt idx="156">
                  <c:v>10</c:v>
                </c:pt>
                <c:pt idx="157">
                  <c:v>20</c:v>
                </c:pt>
                <c:pt idx="158">
                  <c:v>14</c:v>
                </c:pt>
                <c:pt idx="159">
                  <c:v>10</c:v>
                </c:pt>
                <c:pt idx="160">
                  <c:v>20</c:v>
                </c:pt>
                <c:pt idx="161">
                  <c:v>31</c:v>
                </c:pt>
                <c:pt idx="162">
                  <c:v>12</c:v>
                </c:pt>
                <c:pt idx="163">
                  <c:v>13</c:v>
                </c:pt>
                <c:pt idx="164">
                  <c:v>27</c:v>
                </c:pt>
                <c:pt idx="165">
                  <c:v>17</c:v>
                </c:pt>
                <c:pt idx="166">
                  <c:v>15</c:v>
                </c:pt>
                <c:pt idx="167">
                  <c:v>28</c:v>
                </c:pt>
                <c:pt idx="168">
                  <c:v>15</c:v>
                </c:pt>
                <c:pt idx="169">
                  <c:v>15</c:v>
                </c:pt>
                <c:pt idx="170">
                  <c:v>16</c:v>
                </c:pt>
                <c:pt idx="171">
                  <c:v>22</c:v>
                </c:pt>
                <c:pt idx="172">
                  <c:v>18</c:v>
                </c:pt>
                <c:pt idx="173">
                  <c:v>13</c:v>
                </c:pt>
                <c:pt idx="174">
                  <c:v>14</c:v>
                </c:pt>
                <c:pt idx="175">
                  <c:v>13</c:v>
                </c:pt>
                <c:pt idx="176">
                  <c:v>17</c:v>
                </c:pt>
                <c:pt idx="177">
                  <c:v>21</c:v>
                </c:pt>
                <c:pt idx="178">
                  <c:v>32</c:v>
                </c:pt>
                <c:pt idx="179">
                  <c:v>15</c:v>
                </c:pt>
                <c:pt idx="180">
                  <c:v>16</c:v>
                </c:pt>
                <c:pt idx="181">
                  <c:v>15</c:v>
                </c:pt>
                <c:pt idx="182">
                  <c:v>28</c:v>
                </c:pt>
                <c:pt idx="183">
                  <c:v>26</c:v>
                </c:pt>
                <c:pt idx="184">
                  <c:v>13</c:v>
                </c:pt>
                <c:pt idx="185">
                  <c:v>17</c:v>
                </c:pt>
                <c:pt idx="186">
                  <c:v>20</c:v>
                </c:pt>
                <c:pt idx="187">
                  <c:v>27</c:v>
                </c:pt>
                <c:pt idx="188">
                  <c:v>31</c:v>
                </c:pt>
                <c:pt idx="189">
                  <c:v>9</c:v>
                </c:pt>
                <c:pt idx="190">
                  <c:v>14</c:v>
                </c:pt>
                <c:pt idx="191">
                  <c:v>18</c:v>
                </c:pt>
                <c:pt idx="192">
                  <c:v>29</c:v>
                </c:pt>
                <c:pt idx="193">
                  <c:v>39</c:v>
                </c:pt>
                <c:pt idx="194">
                  <c:v>28</c:v>
                </c:pt>
                <c:pt idx="195">
                  <c:v>25</c:v>
                </c:pt>
                <c:pt idx="196">
                  <c:v>30</c:v>
                </c:pt>
                <c:pt idx="197">
                  <c:v>33</c:v>
                </c:pt>
                <c:pt idx="198">
                  <c:v>57</c:v>
                </c:pt>
                <c:pt idx="199">
                  <c:v>56</c:v>
                </c:pt>
                <c:pt idx="200">
                  <c:v>61</c:v>
                </c:pt>
                <c:pt idx="201">
                  <c:v>56</c:v>
                </c:pt>
                <c:pt idx="202">
                  <c:v>44</c:v>
                </c:pt>
                <c:pt idx="203">
                  <c:v>51</c:v>
                </c:pt>
                <c:pt idx="204">
                  <c:v>63</c:v>
                </c:pt>
                <c:pt idx="205">
                  <c:v>65</c:v>
                </c:pt>
                <c:pt idx="206">
                  <c:v>50</c:v>
                </c:pt>
                <c:pt idx="207">
                  <c:v>62</c:v>
                </c:pt>
                <c:pt idx="208">
                  <c:v>70</c:v>
                </c:pt>
                <c:pt idx="209">
                  <c:v>65</c:v>
                </c:pt>
                <c:pt idx="210">
                  <c:v>49</c:v>
                </c:pt>
                <c:pt idx="211">
                  <c:v>102</c:v>
                </c:pt>
                <c:pt idx="212">
                  <c:v>104</c:v>
                </c:pt>
                <c:pt idx="213">
                  <c:v>116</c:v>
                </c:pt>
                <c:pt idx="214">
                  <c:v>116</c:v>
                </c:pt>
                <c:pt idx="215">
                  <c:v>108</c:v>
                </c:pt>
                <c:pt idx="216">
                  <c:v>89</c:v>
                </c:pt>
                <c:pt idx="217">
                  <c:v>66</c:v>
                </c:pt>
                <c:pt idx="218">
                  <c:v>102</c:v>
                </c:pt>
                <c:pt idx="219">
                  <c:v>82</c:v>
                </c:pt>
                <c:pt idx="220">
                  <c:v>78</c:v>
                </c:pt>
                <c:pt idx="221">
                  <c:v>72</c:v>
                </c:pt>
                <c:pt idx="222">
                  <c:v>58</c:v>
                </c:pt>
                <c:pt idx="223">
                  <c:v>72</c:v>
                </c:pt>
                <c:pt idx="224">
                  <c:v>69</c:v>
                </c:pt>
                <c:pt idx="225">
                  <c:v>111</c:v>
                </c:pt>
                <c:pt idx="226">
                  <c:v>112</c:v>
                </c:pt>
                <c:pt idx="227">
                  <c:v>107</c:v>
                </c:pt>
                <c:pt idx="228">
                  <c:v>146</c:v>
                </c:pt>
                <c:pt idx="229">
                  <c:v>147</c:v>
                </c:pt>
                <c:pt idx="230">
                  <c:v>123</c:v>
                </c:pt>
                <c:pt idx="231">
                  <c:v>105</c:v>
                </c:pt>
                <c:pt idx="232">
                  <c:v>126</c:v>
                </c:pt>
                <c:pt idx="233">
                  <c:v>132</c:v>
                </c:pt>
                <c:pt idx="234">
                  <c:v>180</c:v>
                </c:pt>
                <c:pt idx="235">
                  <c:v>153</c:v>
                </c:pt>
                <c:pt idx="236">
                  <c:v>156</c:v>
                </c:pt>
                <c:pt idx="237">
                  <c:v>127</c:v>
                </c:pt>
                <c:pt idx="238">
                  <c:v>66</c:v>
                </c:pt>
                <c:pt idx="239">
                  <c:v>124</c:v>
                </c:pt>
                <c:pt idx="240">
                  <c:v>138</c:v>
                </c:pt>
                <c:pt idx="241">
                  <c:v>132</c:v>
                </c:pt>
                <c:pt idx="242">
                  <c:v>86</c:v>
                </c:pt>
                <c:pt idx="243">
                  <c:v>113</c:v>
                </c:pt>
                <c:pt idx="244">
                  <c:v>63</c:v>
                </c:pt>
                <c:pt idx="245">
                  <c:v>61</c:v>
                </c:pt>
                <c:pt idx="246">
                  <c:v>86</c:v>
                </c:pt>
                <c:pt idx="247">
                  <c:v>78</c:v>
                </c:pt>
                <c:pt idx="248">
                  <c:v>68</c:v>
                </c:pt>
                <c:pt idx="249">
                  <c:v>76</c:v>
                </c:pt>
                <c:pt idx="250">
                  <c:v>64</c:v>
                </c:pt>
                <c:pt idx="251">
                  <c:v>57</c:v>
                </c:pt>
                <c:pt idx="252">
                  <c:v>44</c:v>
                </c:pt>
                <c:pt idx="253">
                  <c:v>69</c:v>
                </c:pt>
                <c:pt idx="254">
                  <c:v>71</c:v>
                </c:pt>
                <c:pt idx="255">
                  <c:v>58</c:v>
                </c:pt>
                <c:pt idx="256">
                  <c:v>51</c:v>
                </c:pt>
                <c:pt idx="257">
                  <c:v>39</c:v>
                </c:pt>
                <c:pt idx="258">
                  <c:v>52</c:v>
                </c:pt>
                <c:pt idx="259">
                  <c:v>35</c:v>
                </c:pt>
                <c:pt idx="260">
                  <c:v>31</c:v>
                </c:pt>
                <c:pt idx="261">
                  <c:v>35</c:v>
                </c:pt>
                <c:pt idx="262">
                  <c:v>38</c:v>
                </c:pt>
                <c:pt idx="263">
                  <c:v>35</c:v>
                </c:pt>
                <c:pt idx="264">
                  <c:v>43</c:v>
                </c:pt>
                <c:pt idx="265">
                  <c:v>35</c:v>
                </c:pt>
                <c:pt idx="266">
                  <c:v>38</c:v>
                </c:pt>
                <c:pt idx="267">
                  <c:v>43</c:v>
                </c:pt>
                <c:pt idx="268">
                  <c:v>58</c:v>
                </c:pt>
                <c:pt idx="269">
                  <c:v>52</c:v>
                </c:pt>
                <c:pt idx="270">
                  <c:v>52</c:v>
                </c:pt>
                <c:pt idx="271">
                  <c:v>46</c:v>
                </c:pt>
                <c:pt idx="272">
                  <c:v>47</c:v>
                </c:pt>
                <c:pt idx="273">
                  <c:v>45</c:v>
                </c:pt>
                <c:pt idx="274">
                  <c:v>38</c:v>
                </c:pt>
                <c:pt idx="275">
                  <c:v>24</c:v>
                </c:pt>
                <c:pt idx="276">
                  <c:v>30</c:v>
                </c:pt>
                <c:pt idx="277">
                  <c:v>51</c:v>
                </c:pt>
                <c:pt idx="278">
                  <c:v>46</c:v>
                </c:pt>
                <c:pt idx="279">
                  <c:v>43</c:v>
                </c:pt>
                <c:pt idx="280">
                  <c:v>29</c:v>
                </c:pt>
                <c:pt idx="281">
                  <c:v>52</c:v>
                </c:pt>
                <c:pt idx="282">
                  <c:v>49</c:v>
                </c:pt>
                <c:pt idx="283">
                  <c:v>46</c:v>
                </c:pt>
                <c:pt idx="284">
                  <c:v>42</c:v>
                </c:pt>
                <c:pt idx="285">
                  <c:v>33</c:v>
                </c:pt>
                <c:pt idx="286">
                  <c:v>37</c:v>
                </c:pt>
                <c:pt idx="287">
                  <c:v>47</c:v>
                </c:pt>
                <c:pt idx="288">
                  <c:v>38</c:v>
                </c:pt>
                <c:pt idx="289">
                  <c:v>49</c:v>
                </c:pt>
                <c:pt idx="290">
                  <c:v>34</c:v>
                </c:pt>
                <c:pt idx="291">
                  <c:v>30</c:v>
                </c:pt>
                <c:pt idx="292">
                  <c:v>31</c:v>
                </c:pt>
                <c:pt idx="293">
                  <c:v>49</c:v>
                </c:pt>
                <c:pt idx="294">
                  <c:v>25</c:v>
                </c:pt>
                <c:pt idx="295">
                  <c:v>40</c:v>
                </c:pt>
                <c:pt idx="296">
                  <c:v>47</c:v>
                </c:pt>
                <c:pt idx="297">
                  <c:v>32</c:v>
                </c:pt>
                <c:pt idx="298">
                  <c:v>22</c:v>
                </c:pt>
                <c:pt idx="299">
                  <c:v>36</c:v>
                </c:pt>
                <c:pt idx="300">
                  <c:v>35</c:v>
                </c:pt>
                <c:pt idx="301">
                  <c:v>39</c:v>
                </c:pt>
                <c:pt idx="302">
                  <c:v>35</c:v>
                </c:pt>
                <c:pt idx="303">
                  <c:v>29</c:v>
                </c:pt>
                <c:pt idx="304">
                  <c:v>44</c:v>
                </c:pt>
                <c:pt idx="305">
                  <c:v>40</c:v>
                </c:pt>
                <c:pt idx="306">
                  <c:v>32</c:v>
                </c:pt>
                <c:pt idx="307">
                  <c:v>24</c:v>
                </c:pt>
                <c:pt idx="308">
                  <c:v>33</c:v>
                </c:pt>
                <c:pt idx="309">
                  <c:v>43</c:v>
                </c:pt>
                <c:pt idx="310">
                  <c:v>52</c:v>
                </c:pt>
                <c:pt idx="311">
                  <c:v>43</c:v>
                </c:pt>
                <c:pt idx="312">
                  <c:v>45</c:v>
                </c:pt>
                <c:pt idx="313">
                  <c:v>58</c:v>
                </c:pt>
                <c:pt idx="314">
                  <c:v>55</c:v>
                </c:pt>
                <c:pt idx="315">
                  <c:v>28</c:v>
                </c:pt>
                <c:pt idx="316">
                  <c:v>80</c:v>
                </c:pt>
                <c:pt idx="317">
                  <c:v>59</c:v>
                </c:pt>
                <c:pt idx="318">
                  <c:v>56</c:v>
                </c:pt>
                <c:pt idx="319">
                  <c:v>59</c:v>
                </c:pt>
                <c:pt idx="320">
                  <c:v>40</c:v>
                </c:pt>
                <c:pt idx="321">
                  <c:v>34</c:v>
                </c:pt>
                <c:pt idx="322">
                  <c:v>46</c:v>
                </c:pt>
                <c:pt idx="323">
                  <c:v>74</c:v>
                </c:pt>
                <c:pt idx="324">
                  <c:v>69</c:v>
                </c:pt>
                <c:pt idx="325">
                  <c:v>63</c:v>
                </c:pt>
                <c:pt idx="326">
                  <c:v>64</c:v>
                </c:pt>
                <c:pt idx="327">
                  <c:v>82</c:v>
                </c:pt>
                <c:pt idx="328">
                  <c:v>68</c:v>
                </c:pt>
                <c:pt idx="329">
                  <c:v>87</c:v>
                </c:pt>
                <c:pt idx="330">
                  <c:v>103</c:v>
                </c:pt>
                <c:pt idx="331">
                  <c:v>90</c:v>
                </c:pt>
                <c:pt idx="332">
                  <c:v>77</c:v>
                </c:pt>
                <c:pt idx="333">
                  <c:v>86</c:v>
                </c:pt>
                <c:pt idx="334">
                  <c:v>86</c:v>
                </c:pt>
                <c:pt idx="335">
                  <c:v>90</c:v>
                </c:pt>
                <c:pt idx="336">
                  <c:v>56</c:v>
                </c:pt>
                <c:pt idx="337">
                  <c:v>120</c:v>
                </c:pt>
                <c:pt idx="338">
                  <c:v>97</c:v>
                </c:pt>
                <c:pt idx="339">
                  <c:v>98</c:v>
                </c:pt>
                <c:pt idx="340">
                  <c:v>105</c:v>
                </c:pt>
                <c:pt idx="341">
                  <c:v>148</c:v>
                </c:pt>
                <c:pt idx="342">
                  <c:v>144</c:v>
                </c:pt>
                <c:pt idx="343">
                  <c:v>79</c:v>
                </c:pt>
                <c:pt idx="344">
                  <c:v>143</c:v>
                </c:pt>
                <c:pt idx="345">
                  <c:v>158</c:v>
                </c:pt>
                <c:pt idx="346">
                  <c:v>141</c:v>
                </c:pt>
                <c:pt idx="347">
                  <c:v>201</c:v>
                </c:pt>
                <c:pt idx="348">
                  <c:v>207</c:v>
                </c:pt>
                <c:pt idx="349">
                  <c:v>193</c:v>
                </c:pt>
                <c:pt idx="350">
                  <c:v>160</c:v>
                </c:pt>
                <c:pt idx="351">
                  <c:v>253</c:v>
                </c:pt>
                <c:pt idx="352">
                  <c:v>252</c:v>
                </c:pt>
                <c:pt idx="353">
                  <c:v>303</c:v>
                </c:pt>
                <c:pt idx="354">
                  <c:v>319</c:v>
                </c:pt>
                <c:pt idx="355">
                  <c:v>328</c:v>
                </c:pt>
                <c:pt idx="356">
                  <c:v>241</c:v>
                </c:pt>
                <c:pt idx="357">
                  <c:v>206</c:v>
                </c:pt>
                <c:pt idx="358">
                  <c:v>343</c:v>
                </c:pt>
                <c:pt idx="359">
                  <c:v>346</c:v>
                </c:pt>
                <c:pt idx="360">
                  <c:v>388</c:v>
                </c:pt>
                <c:pt idx="361">
                  <c:v>362</c:v>
                </c:pt>
                <c:pt idx="362">
                  <c:v>363</c:v>
                </c:pt>
                <c:pt idx="363">
                  <c:v>365</c:v>
                </c:pt>
                <c:pt idx="364">
                  <c:v>234</c:v>
                </c:pt>
                <c:pt idx="365">
                  <c:v>432</c:v>
                </c:pt>
                <c:pt idx="366">
                  <c:v>433</c:v>
                </c:pt>
                <c:pt idx="367">
                  <c:v>421</c:v>
                </c:pt>
                <c:pt idx="368">
                  <c:v>340</c:v>
                </c:pt>
                <c:pt idx="369">
                  <c:v>371</c:v>
                </c:pt>
                <c:pt idx="370">
                  <c:v>270</c:v>
                </c:pt>
                <c:pt idx="371">
                  <c:v>237</c:v>
                </c:pt>
                <c:pt idx="372">
                  <c:v>296</c:v>
                </c:pt>
                <c:pt idx="373">
                  <c:v>255</c:v>
                </c:pt>
                <c:pt idx="374">
                  <c:v>260</c:v>
                </c:pt>
                <c:pt idx="375">
                  <c:v>212</c:v>
                </c:pt>
                <c:pt idx="376">
                  <c:v>216</c:v>
                </c:pt>
                <c:pt idx="377">
                  <c:v>173</c:v>
                </c:pt>
                <c:pt idx="378">
                  <c:v>145</c:v>
                </c:pt>
                <c:pt idx="379">
                  <c:v>255</c:v>
                </c:pt>
                <c:pt idx="380">
                  <c:v>228</c:v>
                </c:pt>
                <c:pt idx="381">
                  <c:v>207</c:v>
                </c:pt>
                <c:pt idx="382">
                  <c:v>181</c:v>
                </c:pt>
                <c:pt idx="383">
                  <c:v>158</c:v>
                </c:pt>
                <c:pt idx="384">
                  <c:v>165</c:v>
                </c:pt>
                <c:pt idx="385">
                  <c:v>115</c:v>
                </c:pt>
                <c:pt idx="386">
                  <c:v>164</c:v>
                </c:pt>
                <c:pt idx="387">
                  <c:v>162</c:v>
                </c:pt>
                <c:pt idx="388">
                  <c:v>127</c:v>
                </c:pt>
                <c:pt idx="389">
                  <c:v>143</c:v>
                </c:pt>
                <c:pt idx="390">
                  <c:v>145</c:v>
                </c:pt>
                <c:pt idx="391">
                  <c:v>117</c:v>
                </c:pt>
                <c:pt idx="392">
                  <c:v>114</c:v>
                </c:pt>
                <c:pt idx="393">
                  <c:v>190</c:v>
                </c:pt>
                <c:pt idx="394">
                  <c:v>203</c:v>
                </c:pt>
                <c:pt idx="395">
                  <c:v>216</c:v>
                </c:pt>
                <c:pt idx="396">
                  <c:v>236</c:v>
                </c:pt>
                <c:pt idx="397">
                  <c:v>292</c:v>
                </c:pt>
                <c:pt idx="398">
                  <c:v>298</c:v>
                </c:pt>
                <c:pt idx="399">
                  <c:v>343</c:v>
                </c:pt>
                <c:pt idx="400">
                  <c:v>563</c:v>
                </c:pt>
                <c:pt idx="401">
                  <c:v>741</c:v>
                </c:pt>
                <c:pt idx="402">
                  <c:v>821</c:v>
                </c:pt>
                <c:pt idx="403">
                  <c:v>808</c:v>
                </c:pt>
                <c:pt idx="404">
                  <c:v>851</c:v>
                </c:pt>
                <c:pt idx="405">
                  <c:v>771</c:v>
                </c:pt>
                <c:pt idx="406">
                  <c:v>979</c:v>
                </c:pt>
                <c:pt idx="407">
                  <c:v>1267</c:v>
                </c:pt>
                <c:pt idx="408">
                  <c:v>1280</c:v>
                </c:pt>
                <c:pt idx="409">
                  <c:v>1725</c:v>
                </c:pt>
                <c:pt idx="410">
                  <c:v>1931</c:v>
                </c:pt>
                <c:pt idx="411">
                  <c:v>2174</c:v>
                </c:pt>
                <c:pt idx="412">
                  <c:v>1927</c:v>
                </c:pt>
                <c:pt idx="413">
                  <c:v>1921</c:v>
                </c:pt>
                <c:pt idx="414">
                  <c:v>3035</c:v>
                </c:pt>
                <c:pt idx="415">
                  <c:v>2631</c:v>
                </c:pt>
                <c:pt idx="416">
                  <c:v>3011</c:v>
                </c:pt>
                <c:pt idx="417">
                  <c:v>3051</c:v>
                </c:pt>
                <c:pt idx="418">
                  <c:v>3442</c:v>
                </c:pt>
                <c:pt idx="419">
                  <c:v>3520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B8-4272-95AD-35E270EFEA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55"/>
        <c:axId val="218771456"/>
        <c:axId val="218772992"/>
      </c:barChart>
      <c:lineChart>
        <c:grouping val="standard"/>
        <c:varyColors val="0"/>
        <c:ser>
          <c:idx val="2"/>
          <c:order val="0"/>
          <c:tx>
            <c:strRef>
              <c:f>'일반 생치병상 통계'!$D$1</c:f>
              <c:strCache>
                <c:ptCount val="1"/>
                <c:pt idx="0">
                  <c:v>생치보유병상</c:v>
                </c:pt>
              </c:strCache>
            </c:strRef>
          </c:tx>
          <c:spPr>
            <a:ln w="38100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145"/>
              <c:layout>
                <c:manualLayout>
                  <c:x val="-4.4091678026591634E-2"/>
                  <c:y val="-0.19040725573179457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sz="1400" b="1" dirty="0">
                        <a:solidFill>
                          <a:schemeClr val="tx1"/>
                        </a:solidFill>
                      </a:rPr>
                      <a:t>21.4.23(546)</a:t>
                    </a:r>
                  </a:p>
                  <a:p>
                    <a:r>
                      <a:rPr lang="en-US" altLang="en-US" sz="1400" b="1" dirty="0">
                        <a:solidFill>
                          <a:schemeClr val="tx1"/>
                        </a:solidFill>
                      </a:rPr>
                      <a:t>21.4.29(334)</a:t>
                    </a:r>
                    <a:endParaRPr lang="en-US" altLang="en-US" dirty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AB8-4272-95AD-35E270EFEA91}"/>
                </c:ext>
              </c:extLst>
            </c:dLbl>
            <c:dLbl>
              <c:idx val="207"/>
              <c:layout>
                <c:manualLayout>
                  <c:x val="-5.4856276822515773E-2"/>
                  <c:y val="-0.28955008717992081"/>
                </c:manualLayout>
              </c:layout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chemeClr val="tx1"/>
                        </a:solidFill>
                      </a:rPr>
                      <a:t>21.7.17(500)</a:t>
                    </a:r>
                  </a:p>
                  <a:p>
                    <a:r>
                      <a:rPr lang="en-US" sz="1400" b="1">
                        <a:solidFill>
                          <a:schemeClr val="tx1"/>
                        </a:solidFill>
                      </a:rPr>
                      <a:t>21.7.24(850)</a:t>
                    </a:r>
                  </a:p>
                  <a:p>
                    <a:r>
                      <a:rPr lang="en-US" sz="1400" b="1">
                        <a:solidFill>
                          <a:schemeClr val="tx1"/>
                        </a:solidFill>
                      </a:rPr>
                      <a:t>21.7.30(1150)</a:t>
                    </a:r>
                    <a:endParaRPr 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AB8-4272-95AD-35E270EFEA91}"/>
                </c:ext>
              </c:extLst>
            </c:dLbl>
            <c:dLbl>
              <c:idx val="240"/>
              <c:layout>
                <c:manualLayout>
                  <c:x val="-4.8472515930589211E-2"/>
                  <c:y val="-0.18954317453030894"/>
                </c:manualLayout>
              </c:layout>
              <c:tx>
                <c:rich>
                  <a:bodyPr/>
                  <a:lstStyle/>
                  <a:p>
                    <a:r>
                      <a:rPr lang="en-US" sz="1400" b="1" dirty="0">
                        <a:solidFill>
                          <a:schemeClr val="tx1"/>
                        </a:solidFill>
                      </a:rPr>
                      <a:t>21.8.18(1839)</a:t>
                    </a:r>
                    <a:endParaRPr lang="en-US" dirty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AB8-4272-95AD-35E270EFEA91}"/>
                </c:ext>
              </c:extLst>
            </c:dLbl>
            <c:dLbl>
              <c:idx val="388"/>
              <c:layout>
                <c:manualLayout>
                  <c:x val="-3.0167486225296507E-2"/>
                  <c:y val="-0.10519475551367698"/>
                </c:manualLayout>
              </c:layout>
              <c:tx>
                <c:rich>
                  <a:bodyPr/>
                  <a:lstStyle/>
                  <a:p>
                    <a:r>
                      <a:rPr lang="en-US" sz="1400" b="1" dirty="0">
                        <a:solidFill>
                          <a:schemeClr val="tx1"/>
                        </a:solidFill>
                      </a:rPr>
                      <a:t>21.1.13(1989)</a:t>
                    </a:r>
                    <a:endParaRPr lang="en-US" dirty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AB8-4272-95AD-35E270EFEA91}"/>
                </c:ext>
              </c:extLst>
            </c:dLbl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c:spPr>
            <c:txPr>
              <a:bodyPr/>
              <a:lstStyle/>
              <a:p>
                <a:pPr>
                  <a:defRPr sz="1400" b="1"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'일반 생치병상 통계'!$A$2:$A$421</c:f>
              <c:numCache>
                <c:formatCode>yy"-"m"-"d;@</c:formatCode>
                <c:ptCount val="420"/>
                <c:pt idx="0">
                  <c:v>43972</c:v>
                </c:pt>
                <c:pt idx="1">
                  <c:v>43976</c:v>
                </c:pt>
                <c:pt idx="2">
                  <c:v>43981</c:v>
                </c:pt>
                <c:pt idx="3">
                  <c:v>43987</c:v>
                </c:pt>
                <c:pt idx="4">
                  <c:v>43992</c:v>
                </c:pt>
                <c:pt idx="5">
                  <c:v>43997</c:v>
                </c:pt>
                <c:pt idx="6">
                  <c:v>44002</c:v>
                </c:pt>
                <c:pt idx="7">
                  <c:v>44007</c:v>
                </c:pt>
                <c:pt idx="8">
                  <c:v>44012</c:v>
                </c:pt>
                <c:pt idx="9">
                  <c:v>44017</c:v>
                </c:pt>
                <c:pt idx="10">
                  <c:v>44022</c:v>
                </c:pt>
                <c:pt idx="11">
                  <c:v>44027</c:v>
                </c:pt>
                <c:pt idx="12">
                  <c:v>44032</c:v>
                </c:pt>
                <c:pt idx="13">
                  <c:v>44037</c:v>
                </c:pt>
                <c:pt idx="14">
                  <c:v>44043</c:v>
                </c:pt>
                <c:pt idx="15">
                  <c:v>44048</c:v>
                </c:pt>
                <c:pt idx="16">
                  <c:v>44053</c:v>
                </c:pt>
                <c:pt idx="17">
                  <c:v>44058</c:v>
                </c:pt>
                <c:pt idx="18">
                  <c:v>44063</c:v>
                </c:pt>
                <c:pt idx="19">
                  <c:v>44068</c:v>
                </c:pt>
                <c:pt idx="20">
                  <c:v>44073</c:v>
                </c:pt>
                <c:pt idx="21">
                  <c:v>44079</c:v>
                </c:pt>
                <c:pt idx="22">
                  <c:v>44084</c:v>
                </c:pt>
                <c:pt idx="23">
                  <c:v>44089</c:v>
                </c:pt>
                <c:pt idx="24">
                  <c:v>44094</c:v>
                </c:pt>
                <c:pt idx="25">
                  <c:v>44099</c:v>
                </c:pt>
                <c:pt idx="26">
                  <c:v>44104</c:v>
                </c:pt>
                <c:pt idx="27">
                  <c:v>44109</c:v>
                </c:pt>
                <c:pt idx="28">
                  <c:v>44115</c:v>
                </c:pt>
                <c:pt idx="29">
                  <c:v>44119</c:v>
                </c:pt>
                <c:pt idx="30">
                  <c:v>44123</c:v>
                </c:pt>
                <c:pt idx="31">
                  <c:v>44128</c:v>
                </c:pt>
                <c:pt idx="32">
                  <c:v>44134</c:v>
                </c:pt>
                <c:pt idx="33">
                  <c:v>44139</c:v>
                </c:pt>
                <c:pt idx="34">
                  <c:v>44145</c:v>
                </c:pt>
                <c:pt idx="35">
                  <c:v>44151</c:v>
                </c:pt>
                <c:pt idx="36">
                  <c:v>44155</c:v>
                </c:pt>
                <c:pt idx="37">
                  <c:v>44160</c:v>
                </c:pt>
                <c:pt idx="38">
                  <c:v>44165</c:v>
                </c:pt>
                <c:pt idx="39">
                  <c:v>44167</c:v>
                </c:pt>
                <c:pt idx="40">
                  <c:v>44168</c:v>
                </c:pt>
                <c:pt idx="41">
                  <c:v>44172</c:v>
                </c:pt>
                <c:pt idx="42">
                  <c:v>44173</c:v>
                </c:pt>
                <c:pt idx="43">
                  <c:v>44174</c:v>
                </c:pt>
                <c:pt idx="44">
                  <c:v>44175</c:v>
                </c:pt>
                <c:pt idx="45">
                  <c:v>44176</c:v>
                </c:pt>
                <c:pt idx="46">
                  <c:v>44179</c:v>
                </c:pt>
                <c:pt idx="47">
                  <c:v>44180</c:v>
                </c:pt>
                <c:pt idx="48">
                  <c:v>44181</c:v>
                </c:pt>
                <c:pt idx="49">
                  <c:v>44183</c:v>
                </c:pt>
                <c:pt idx="50">
                  <c:v>44186</c:v>
                </c:pt>
                <c:pt idx="51">
                  <c:v>44187</c:v>
                </c:pt>
                <c:pt idx="52">
                  <c:v>44188</c:v>
                </c:pt>
                <c:pt idx="53">
                  <c:v>44189</c:v>
                </c:pt>
                <c:pt idx="54">
                  <c:v>44193</c:v>
                </c:pt>
                <c:pt idx="55">
                  <c:v>44194</c:v>
                </c:pt>
                <c:pt idx="56">
                  <c:v>44195</c:v>
                </c:pt>
                <c:pt idx="57">
                  <c:v>44196</c:v>
                </c:pt>
                <c:pt idx="58">
                  <c:v>44201</c:v>
                </c:pt>
                <c:pt idx="59">
                  <c:v>44202</c:v>
                </c:pt>
                <c:pt idx="60">
                  <c:v>44203</c:v>
                </c:pt>
                <c:pt idx="61">
                  <c:v>44204</c:v>
                </c:pt>
                <c:pt idx="62">
                  <c:v>44207</c:v>
                </c:pt>
                <c:pt idx="63">
                  <c:v>44208</c:v>
                </c:pt>
                <c:pt idx="64">
                  <c:v>44209</c:v>
                </c:pt>
                <c:pt idx="65">
                  <c:v>44211</c:v>
                </c:pt>
                <c:pt idx="66">
                  <c:v>44215</c:v>
                </c:pt>
                <c:pt idx="67">
                  <c:v>44216</c:v>
                </c:pt>
                <c:pt idx="68">
                  <c:v>44217</c:v>
                </c:pt>
                <c:pt idx="69">
                  <c:v>44218</c:v>
                </c:pt>
                <c:pt idx="70">
                  <c:v>44221</c:v>
                </c:pt>
                <c:pt idx="71">
                  <c:v>44223</c:v>
                </c:pt>
                <c:pt idx="72">
                  <c:v>44224</c:v>
                </c:pt>
                <c:pt idx="73">
                  <c:v>44228</c:v>
                </c:pt>
                <c:pt idx="74">
                  <c:v>44229</c:v>
                </c:pt>
                <c:pt idx="75">
                  <c:v>44230</c:v>
                </c:pt>
                <c:pt idx="76">
                  <c:v>44231</c:v>
                </c:pt>
                <c:pt idx="77">
                  <c:v>44232</c:v>
                </c:pt>
                <c:pt idx="78">
                  <c:v>44233</c:v>
                </c:pt>
                <c:pt idx="79">
                  <c:v>44234</c:v>
                </c:pt>
                <c:pt idx="80">
                  <c:v>44236</c:v>
                </c:pt>
                <c:pt idx="81">
                  <c:v>44237</c:v>
                </c:pt>
                <c:pt idx="82">
                  <c:v>44238</c:v>
                </c:pt>
                <c:pt idx="83">
                  <c:v>44241</c:v>
                </c:pt>
                <c:pt idx="84">
                  <c:v>44242</c:v>
                </c:pt>
                <c:pt idx="85">
                  <c:v>44243</c:v>
                </c:pt>
                <c:pt idx="86">
                  <c:v>44244</c:v>
                </c:pt>
                <c:pt idx="87">
                  <c:v>44245</c:v>
                </c:pt>
                <c:pt idx="88">
                  <c:v>44246</c:v>
                </c:pt>
                <c:pt idx="89">
                  <c:v>44247</c:v>
                </c:pt>
                <c:pt idx="90">
                  <c:v>44248</c:v>
                </c:pt>
                <c:pt idx="91">
                  <c:v>44249</c:v>
                </c:pt>
                <c:pt idx="92">
                  <c:v>44250</c:v>
                </c:pt>
                <c:pt idx="93">
                  <c:v>44251</c:v>
                </c:pt>
                <c:pt idx="94">
                  <c:v>44252</c:v>
                </c:pt>
                <c:pt idx="95">
                  <c:v>44253</c:v>
                </c:pt>
                <c:pt idx="96">
                  <c:v>44254</c:v>
                </c:pt>
                <c:pt idx="97">
                  <c:v>44255</c:v>
                </c:pt>
                <c:pt idx="98">
                  <c:v>44256</c:v>
                </c:pt>
                <c:pt idx="99">
                  <c:v>44257</c:v>
                </c:pt>
                <c:pt idx="100">
                  <c:v>44258</c:v>
                </c:pt>
                <c:pt idx="101">
                  <c:v>44259</c:v>
                </c:pt>
                <c:pt idx="102">
                  <c:v>44262</c:v>
                </c:pt>
                <c:pt idx="103">
                  <c:v>44263</c:v>
                </c:pt>
                <c:pt idx="104">
                  <c:v>44265</c:v>
                </c:pt>
                <c:pt idx="105">
                  <c:v>44266</c:v>
                </c:pt>
                <c:pt idx="106">
                  <c:v>44267</c:v>
                </c:pt>
                <c:pt idx="107">
                  <c:v>44268</c:v>
                </c:pt>
                <c:pt idx="108">
                  <c:v>44269</c:v>
                </c:pt>
                <c:pt idx="109">
                  <c:v>44270</c:v>
                </c:pt>
                <c:pt idx="110">
                  <c:v>44271</c:v>
                </c:pt>
                <c:pt idx="111">
                  <c:v>44272</c:v>
                </c:pt>
                <c:pt idx="112">
                  <c:v>44273</c:v>
                </c:pt>
                <c:pt idx="113">
                  <c:v>44274</c:v>
                </c:pt>
                <c:pt idx="114">
                  <c:v>44276</c:v>
                </c:pt>
                <c:pt idx="115">
                  <c:v>44277</c:v>
                </c:pt>
                <c:pt idx="116">
                  <c:v>44278</c:v>
                </c:pt>
                <c:pt idx="117">
                  <c:v>44279</c:v>
                </c:pt>
                <c:pt idx="118">
                  <c:v>44280</c:v>
                </c:pt>
                <c:pt idx="119">
                  <c:v>44281</c:v>
                </c:pt>
                <c:pt idx="120">
                  <c:v>44282</c:v>
                </c:pt>
                <c:pt idx="121">
                  <c:v>44283</c:v>
                </c:pt>
                <c:pt idx="122">
                  <c:v>44284</c:v>
                </c:pt>
                <c:pt idx="123">
                  <c:v>44285</c:v>
                </c:pt>
                <c:pt idx="124">
                  <c:v>44286</c:v>
                </c:pt>
                <c:pt idx="125">
                  <c:v>44287</c:v>
                </c:pt>
                <c:pt idx="126">
                  <c:v>44288</c:v>
                </c:pt>
                <c:pt idx="127">
                  <c:v>44289</c:v>
                </c:pt>
                <c:pt idx="128">
                  <c:v>44290</c:v>
                </c:pt>
                <c:pt idx="129">
                  <c:v>44291</c:v>
                </c:pt>
                <c:pt idx="130">
                  <c:v>44292</c:v>
                </c:pt>
                <c:pt idx="131">
                  <c:v>44293</c:v>
                </c:pt>
                <c:pt idx="132">
                  <c:v>44294</c:v>
                </c:pt>
                <c:pt idx="133">
                  <c:v>44297</c:v>
                </c:pt>
                <c:pt idx="134">
                  <c:v>44298</c:v>
                </c:pt>
                <c:pt idx="135">
                  <c:v>44299</c:v>
                </c:pt>
                <c:pt idx="136">
                  <c:v>44300</c:v>
                </c:pt>
                <c:pt idx="137">
                  <c:v>44301</c:v>
                </c:pt>
                <c:pt idx="138">
                  <c:v>44302</c:v>
                </c:pt>
                <c:pt idx="139">
                  <c:v>44304</c:v>
                </c:pt>
                <c:pt idx="140">
                  <c:v>44307</c:v>
                </c:pt>
                <c:pt idx="141">
                  <c:v>44308</c:v>
                </c:pt>
                <c:pt idx="142">
                  <c:v>44309</c:v>
                </c:pt>
                <c:pt idx="143">
                  <c:v>44310</c:v>
                </c:pt>
                <c:pt idx="144">
                  <c:v>44311</c:v>
                </c:pt>
                <c:pt idx="145">
                  <c:v>44312</c:v>
                </c:pt>
                <c:pt idx="146">
                  <c:v>44313</c:v>
                </c:pt>
                <c:pt idx="147">
                  <c:v>44315</c:v>
                </c:pt>
                <c:pt idx="148">
                  <c:v>44316</c:v>
                </c:pt>
                <c:pt idx="149">
                  <c:v>44317</c:v>
                </c:pt>
                <c:pt idx="150">
                  <c:v>44318</c:v>
                </c:pt>
                <c:pt idx="151">
                  <c:v>44319</c:v>
                </c:pt>
                <c:pt idx="152">
                  <c:v>44320</c:v>
                </c:pt>
                <c:pt idx="153">
                  <c:v>44322</c:v>
                </c:pt>
                <c:pt idx="154">
                  <c:v>44323</c:v>
                </c:pt>
                <c:pt idx="155">
                  <c:v>44324</c:v>
                </c:pt>
                <c:pt idx="156">
                  <c:v>44325</c:v>
                </c:pt>
                <c:pt idx="157">
                  <c:v>44326</c:v>
                </c:pt>
                <c:pt idx="158">
                  <c:v>44327</c:v>
                </c:pt>
                <c:pt idx="159">
                  <c:v>44328</c:v>
                </c:pt>
                <c:pt idx="160">
                  <c:v>44329</c:v>
                </c:pt>
                <c:pt idx="161">
                  <c:v>44332</c:v>
                </c:pt>
                <c:pt idx="162">
                  <c:v>44333</c:v>
                </c:pt>
                <c:pt idx="163">
                  <c:v>44334</c:v>
                </c:pt>
                <c:pt idx="164">
                  <c:v>44335</c:v>
                </c:pt>
                <c:pt idx="165">
                  <c:v>44336</c:v>
                </c:pt>
                <c:pt idx="166">
                  <c:v>44337</c:v>
                </c:pt>
                <c:pt idx="167">
                  <c:v>44338</c:v>
                </c:pt>
                <c:pt idx="168">
                  <c:v>44339</c:v>
                </c:pt>
                <c:pt idx="169">
                  <c:v>44340</c:v>
                </c:pt>
                <c:pt idx="170">
                  <c:v>44341</c:v>
                </c:pt>
                <c:pt idx="171">
                  <c:v>44342</c:v>
                </c:pt>
                <c:pt idx="172">
                  <c:v>44343</c:v>
                </c:pt>
                <c:pt idx="173">
                  <c:v>44344</c:v>
                </c:pt>
                <c:pt idx="174">
                  <c:v>44345</c:v>
                </c:pt>
                <c:pt idx="175">
                  <c:v>44346</c:v>
                </c:pt>
                <c:pt idx="176">
                  <c:v>44347</c:v>
                </c:pt>
                <c:pt idx="177">
                  <c:v>44349</c:v>
                </c:pt>
                <c:pt idx="178">
                  <c:v>44350</c:v>
                </c:pt>
                <c:pt idx="179">
                  <c:v>44355</c:v>
                </c:pt>
                <c:pt idx="180">
                  <c:v>44356</c:v>
                </c:pt>
                <c:pt idx="181">
                  <c:v>44357</c:v>
                </c:pt>
                <c:pt idx="182">
                  <c:v>44358</c:v>
                </c:pt>
                <c:pt idx="183">
                  <c:v>44359</c:v>
                </c:pt>
                <c:pt idx="184">
                  <c:v>44360</c:v>
                </c:pt>
                <c:pt idx="185">
                  <c:v>44361</c:v>
                </c:pt>
                <c:pt idx="186">
                  <c:v>44371</c:v>
                </c:pt>
                <c:pt idx="187">
                  <c:v>44372</c:v>
                </c:pt>
                <c:pt idx="188">
                  <c:v>44373</c:v>
                </c:pt>
                <c:pt idx="189">
                  <c:v>44376</c:v>
                </c:pt>
                <c:pt idx="190">
                  <c:v>44377</c:v>
                </c:pt>
                <c:pt idx="191">
                  <c:v>44378</c:v>
                </c:pt>
                <c:pt idx="192">
                  <c:v>44379</c:v>
                </c:pt>
                <c:pt idx="193">
                  <c:v>44380</c:v>
                </c:pt>
                <c:pt idx="194">
                  <c:v>44381</c:v>
                </c:pt>
                <c:pt idx="195">
                  <c:v>44382</c:v>
                </c:pt>
                <c:pt idx="196">
                  <c:v>44383</c:v>
                </c:pt>
                <c:pt idx="197">
                  <c:v>44384</c:v>
                </c:pt>
                <c:pt idx="198">
                  <c:v>44385</c:v>
                </c:pt>
                <c:pt idx="199">
                  <c:v>44386</c:v>
                </c:pt>
                <c:pt idx="200">
                  <c:v>44387</c:v>
                </c:pt>
                <c:pt idx="201">
                  <c:v>44388</c:v>
                </c:pt>
                <c:pt idx="202">
                  <c:v>44389</c:v>
                </c:pt>
                <c:pt idx="203">
                  <c:v>44390</c:v>
                </c:pt>
                <c:pt idx="204">
                  <c:v>44391</c:v>
                </c:pt>
                <c:pt idx="205">
                  <c:v>44392</c:v>
                </c:pt>
                <c:pt idx="206">
                  <c:v>44393</c:v>
                </c:pt>
                <c:pt idx="207">
                  <c:v>44394</c:v>
                </c:pt>
                <c:pt idx="208">
                  <c:v>44395</c:v>
                </c:pt>
                <c:pt idx="209">
                  <c:v>44396</c:v>
                </c:pt>
                <c:pt idx="210">
                  <c:v>44397</c:v>
                </c:pt>
                <c:pt idx="211">
                  <c:v>44398</c:v>
                </c:pt>
                <c:pt idx="212">
                  <c:v>44399</c:v>
                </c:pt>
                <c:pt idx="213">
                  <c:v>44400</c:v>
                </c:pt>
                <c:pt idx="214">
                  <c:v>44401</c:v>
                </c:pt>
                <c:pt idx="215">
                  <c:v>44402</c:v>
                </c:pt>
                <c:pt idx="216">
                  <c:v>44403</c:v>
                </c:pt>
                <c:pt idx="217">
                  <c:v>44404</c:v>
                </c:pt>
                <c:pt idx="218">
                  <c:v>44405</c:v>
                </c:pt>
                <c:pt idx="219">
                  <c:v>44406</c:v>
                </c:pt>
                <c:pt idx="220">
                  <c:v>44407</c:v>
                </c:pt>
                <c:pt idx="221">
                  <c:v>44408</c:v>
                </c:pt>
                <c:pt idx="222">
                  <c:v>44409</c:v>
                </c:pt>
                <c:pt idx="223">
                  <c:v>44410</c:v>
                </c:pt>
                <c:pt idx="224">
                  <c:v>44411</c:v>
                </c:pt>
                <c:pt idx="225">
                  <c:v>44412</c:v>
                </c:pt>
                <c:pt idx="226">
                  <c:v>44413</c:v>
                </c:pt>
                <c:pt idx="227">
                  <c:v>44414</c:v>
                </c:pt>
                <c:pt idx="228">
                  <c:v>44415</c:v>
                </c:pt>
                <c:pt idx="229">
                  <c:v>44416</c:v>
                </c:pt>
                <c:pt idx="230">
                  <c:v>44417</c:v>
                </c:pt>
                <c:pt idx="231">
                  <c:v>44418</c:v>
                </c:pt>
                <c:pt idx="232">
                  <c:v>44419</c:v>
                </c:pt>
                <c:pt idx="233">
                  <c:v>44420</c:v>
                </c:pt>
                <c:pt idx="234">
                  <c:v>44421</c:v>
                </c:pt>
                <c:pt idx="235">
                  <c:v>44422</c:v>
                </c:pt>
                <c:pt idx="236">
                  <c:v>44423</c:v>
                </c:pt>
                <c:pt idx="237">
                  <c:v>44424</c:v>
                </c:pt>
                <c:pt idx="238">
                  <c:v>44425</c:v>
                </c:pt>
                <c:pt idx="239">
                  <c:v>44426</c:v>
                </c:pt>
                <c:pt idx="240">
                  <c:v>44427</c:v>
                </c:pt>
                <c:pt idx="241">
                  <c:v>44428</c:v>
                </c:pt>
                <c:pt idx="242">
                  <c:v>44429</c:v>
                </c:pt>
                <c:pt idx="243">
                  <c:v>44430</c:v>
                </c:pt>
                <c:pt idx="244">
                  <c:v>44431</c:v>
                </c:pt>
                <c:pt idx="245">
                  <c:v>44432</c:v>
                </c:pt>
                <c:pt idx="246">
                  <c:v>44433</c:v>
                </c:pt>
                <c:pt idx="247">
                  <c:v>44434</c:v>
                </c:pt>
                <c:pt idx="248">
                  <c:v>44435</c:v>
                </c:pt>
                <c:pt idx="249">
                  <c:v>44436</c:v>
                </c:pt>
                <c:pt idx="250">
                  <c:v>44437</c:v>
                </c:pt>
                <c:pt idx="251">
                  <c:v>44438</c:v>
                </c:pt>
                <c:pt idx="252">
                  <c:v>44439</c:v>
                </c:pt>
                <c:pt idx="253">
                  <c:v>44440</c:v>
                </c:pt>
                <c:pt idx="254">
                  <c:v>44441</c:v>
                </c:pt>
                <c:pt idx="255">
                  <c:v>44442</c:v>
                </c:pt>
                <c:pt idx="256">
                  <c:v>44443</c:v>
                </c:pt>
                <c:pt idx="257">
                  <c:v>44444</c:v>
                </c:pt>
                <c:pt idx="258">
                  <c:v>44445</c:v>
                </c:pt>
                <c:pt idx="259">
                  <c:v>44446</c:v>
                </c:pt>
                <c:pt idx="260">
                  <c:v>44447</c:v>
                </c:pt>
                <c:pt idx="261">
                  <c:v>44448</c:v>
                </c:pt>
                <c:pt idx="262">
                  <c:v>44449</c:v>
                </c:pt>
                <c:pt idx="263">
                  <c:v>44450</c:v>
                </c:pt>
                <c:pt idx="264">
                  <c:v>44451</c:v>
                </c:pt>
                <c:pt idx="265">
                  <c:v>44452</c:v>
                </c:pt>
                <c:pt idx="266">
                  <c:v>44453</c:v>
                </c:pt>
                <c:pt idx="267">
                  <c:v>44454</c:v>
                </c:pt>
                <c:pt idx="268">
                  <c:v>44455</c:v>
                </c:pt>
                <c:pt idx="269">
                  <c:v>44456</c:v>
                </c:pt>
                <c:pt idx="270">
                  <c:v>44457</c:v>
                </c:pt>
                <c:pt idx="271">
                  <c:v>44458</c:v>
                </c:pt>
                <c:pt idx="272">
                  <c:v>44459</c:v>
                </c:pt>
                <c:pt idx="273">
                  <c:v>44460</c:v>
                </c:pt>
                <c:pt idx="274">
                  <c:v>44461</c:v>
                </c:pt>
                <c:pt idx="275">
                  <c:v>44462</c:v>
                </c:pt>
                <c:pt idx="276">
                  <c:v>44463</c:v>
                </c:pt>
                <c:pt idx="277">
                  <c:v>44464</c:v>
                </c:pt>
                <c:pt idx="278">
                  <c:v>44465</c:v>
                </c:pt>
                <c:pt idx="279">
                  <c:v>44466</c:v>
                </c:pt>
                <c:pt idx="280">
                  <c:v>44467</c:v>
                </c:pt>
                <c:pt idx="281">
                  <c:v>44468</c:v>
                </c:pt>
                <c:pt idx="282">
                  <c:v>44469</c:v>
                </c:pt>
                <c:pt idx="283">
                  <c:v>44470</c:v>
                </c:pt>
                <c:pt idx="284">
                  <c:v>44471</c:v>
                </c:pt>
                <c:pt idx="285">
                  <c:v>44472</c:v>
                </c:pt>
                <c:pt idx="286">
                  <c:v>44473</c:v>
                </c:pt>
                <c:pt idx="287">
                  <c:v>44474</c:v>
                </c:pt>
                <c:pt idx="288">
                  <c:v>44475</c:v>
                </c:pt>
                <c:pt idx="289">
                  <c:v>44476</c:v>
                </c:pt>
                <c:pt idx="290">
                  <c:v>44477</c:v>
                </c:pt>
                <c:pt idx="291">
                  <c:v>44478</c:v>
                </c:pt>
                <c:pt idx="292">
                  <c:v>44479</c:v>
                </c:pt>
                <c:pt idx="293">
                  <c:v>44480</c:v>
                </c:pt>
                <c:pt idx="294">
                  <c:v>44481</c:v>
                </c:pt>
                <c:pt idx="295">
                  <c:v>44482</c:v>
                </c:pt>
                <c:pt idx="296">
                  <c:v>44483</c:v>
                </c:pt>
                <c:pt idx="297">
                  <c:v>44484</c:v>
                </c:pt>
                <c:pt idx="298">
                  <c:v>44485</c:v>
                </c:pt>
                <c:pt idx="299">
                  <c:v>44486</c:v>
                </c:pt>
                <c:pt idx="300">
                  <c:v>44487</c:v>
                </c:pt>
                <c:pt idx="301">
                  <c:v>44488</c:v>
                </c:pt>
                <c:pt idx="302">
                  <c:v>44489</c:v>
                </c:pt>
                <c:pt idx="303">
                  <c:v>44490</c:v>
                </c:pt>
                <c:pt idx="304">
                  <c:v>44491</c:v>
                </c:pt>
                <c:pt idx="305">
                  <c:v>44492</c:v>
                </c:pt>
                <c:pt idx="306">
                  <c:v>44493</c:v>
                </c:pt>
                <c:pt idx="307">
                  <c:v>44494</c:v>
                </c:pt>
                <c:pt idx="308">
                  <c:v>44495</c:v>
                </c:pt>
                <c:pt idx="309">
                  <c:v>44496</c:v>
                </c:pt>
                <c:pt idx="310">
                  <c:v>44497</c:v>
                </c:pt>
                <c:pt idx="311">
                  <c:v>44498</c:v>
                </c:pt>
                <c:pt idx="312">
                  <c:v>44499</c:v>
                </c:pt>
                <c:pt idx="313">
                  <c:v>44500</c:v>
                </c:pt>
                <c:pt idx="314">
                  <c:v>44501</c:v>
                </c:pt>
                <c:pt idx="315">
                  <c:v>44502</c:v>
                </c:pt>
                <c:pt idx="316">
                  <c:v>44503</c:v>
                </c:pt>
                <c:pt idx="317">
                  <c:v>44504</c:v>
                </c:pt>
                <c:pt idx="318">
                  <c:v>44505</c:v>
                </c:pt>
                <c:pt idx="319">
                  <c:v>44506</c:v>
                </c:pt>
                <c:pt idx="320">
                  <c:v>44507</c:v>
                </c:pt>
                <c:pt idx="321">
                  <c:v>44508</c:v>
                </c:pt>
                <c:pt idx="322">
                  <c:v>44509</c:v>
                </c:pt>
                <c:pt idx="323">
                  <c:v>44510</c:v>
                </c:pt>
                <c:pt idx="324">
                  <c:v>44511</c:v>
                </c:pt>
                <c:pt idx="325">
                  <c:v>44512</c:v>
                </c:pt>
                <c:pt idx="326">
                  <c:v>44513</c:v>
                </c:pt>
                <c:pt idx="327">
                  <c:v>44514</c:v>
                </c:pt>
                <c:pt idx="328">
                  <c:v>44515</c:v>
                </c:pt>
                <c:pt idx="329">
                  <c:v>44516</c:v>
                </c:pt>
                <c:pt idx="330">
                  <c:v>44517</c:v>
                </c:pt>
                <c:pt idx="331">
                  <c:v>44518</c:v>
                </c:pt>
                <c:pt idx="332">
                  <c:v>44519</c:v>
                </c:pt>
                <c:pt idx="333">
                  <c:v>44520</c:v>
                </c:pt>
                <c:pt idx="334">
                  <c:v>44521</c:v>
                </c:pt>
                <c:pt idx="335">
                  <c:v>44522</c:v>
                </c:pt>
                <c:pt idx="336">
                  <c:v>44523</c:v>
                </c:pt>
                <c:pt idx="337">
                  <c:v>44524</c:v>
                </c:pt>
                <c:pt idx="338">
                  <c:v>44525</c:v>
                </c:pt>
                <c:pt idx="339">
                  <c:v>44526</c:v>
                </c:pt>
                <c:pt idx="340">
                  <c:v>44527</c:v>
                </c:pt>
                <c:pt idx="341">
                  <c:v>44528</c:v>
                </c:pt>
                <c:pt idx="342">
                  <c:v>44529</c:v>
                </c:pt>
                <c:pt idx="343">
                  <c:v>44530</c:v>
                </c:pt>
                <c:pt idx="344">
                  <c:v>44531</c:v>
                </c:pt>
                <c:pt idx="345">
                  <c:v>44532</c:v>
                </c:pt>
                <c:pt idx="346">
                  <c:v>44533</c:v>
                </c:pt>
                <c:pt idx="347">
                  <c:v>44534</c:v>
                </c:pt>
                <c:pt idx="348">
                  <c:v>44535</c:v>
                </c:pt>
                <c:pt idx="349">
                  <c:v>44536</c:v>
                </c:pt>
                <c:pt idx="350">
                  <c:v>44537</c:v>
                </c:pt>
                <c:pt idx="351">
                  <c:v>44538</c:v>
                </c:pt>
                <c:pt idx="352">
                  <c:v>44539</c:v>
                </c:pt>
                <c:pt idx="353">
                  <c:v>44540</c:v>
                </c:pt>
                <c:pt idx="354">
                  <c:v>44541</c:v>
                </c:pt>
                <c:pt idx="355">
                  <c:v>44542</c:v>
                </c:pt>
                <c:pt idx="356">
                  <c:v>44543</c:v>
                </c:pt>
                <c:pt idx="357">
                  <c:v>44544</c:v>
                </c:pt>
                <c:pt idx="358">
                  <c:v>44545</c:v>
                </c:pt>
                <c:pt idx="359">
                  <c:v>44546</c:v>
                </c:pt>
                <c:pt idx="360">
                  <c:v>44547</c:v>
                </c:pt>
                <c:pt idx="361">
                  <c:v>44548</c:v>
                </c:pt>
                <c:pt idx="362">
                  <c:v>44549</c:v>
                </c:pt>
                <c:pt idx="363">
                  <c:v>44550</c:v>
                </c:pt>
                <c:pt idx="364">
                  <c:v>44551</c:v>
                </c:pt>
                <c:pt idx="365">
                  <c:v>44552</c:v>
                </c:pt>
                <c:pt idx="366">
                  <c:v>44553</c:v>
                </c:pt>
                <c:pt idx="367">
                  <c:v>44554</c:v>
                </c:pt>
                <c:pt idx="368">
                  <c:v>44555</c:v>
                </c:pt>
                <c:pt idx="369">
                  <c:v>44556</c:v>
                </c:pt>
                <c:pt idx="370">
                  <c:v>44557</c:v>
                </c:pt>
                <c:pt idx="371">
                  <c:v>44558</c:v>
                </c:pt>
                <c:pt idx="372">
                  <c:v>44559</c:v>
                </c:pt>
                <c:pt idx="373">
                  <c:v>44560</c:v>
                </c:pt>
                <c:pt idx="374">
                  <c:v>44561</c:v>
                </c:pt>
                <c:pt idx="375">
                  <c:v>44562</c:v>
                </c:pt>
                <c:pt idx="376">
                  <c:v>44563</c:v>
                </c:pt>
                <c:pt idx="377">
                  <c:v>44564</c:v>
                </c:pt>
                <c:pt idx="378">
                  <c:v>44565</c:v>
                </c:pt>
                <c:pt idx="379">
                  <c:v>44566</c:v>
                </c:pt>
                <c:pt idx="380">
                  <c:v>44567</c:v>
                </c:pt>
                <c:pt idx="381">
                  <c:v>44568</c:v>
                </c:pt>
                <c:pt idx="382">
                  <c:v>44569</c:v>
                </c:pt>
                <c:pt idx="383">
                  <c:v>44570</c:v>
                </c:pt>
                <c:pt idx="384">
                  <c:v>44571</c:v>
                </c:pt>
                <c:pt idx="385">
                  <c:v>44572</c:v>
                </c:pt>
                <c:pt idx="386">
                  <c:v>44573</c:v>
                </c:pt>
                <c:pt idx="387">
                  <c:v>44574</c:v>
                </c:pt>
                <c:pt idx="388">
                  <c:v>44575</c:v>
                </c:pt>
                <c:pt idx="389">
                  <c:v>44576</c:v>
                </c:pt>
                <c:pt idx="390">
                  <c:v>44577</c:v>
                </c:pt>
                <c:pt idx="391">
                  <c:v>44578</c:v>
                </c:pt>
                <c:pt idx="392">
                  <c:v>44579</c:v>
                </c:pt>
                <c:pt idx="393">
                  <c:v>44580</c:v>
                </c:pt>
                <c:pt idx="394">
                  <c:v>44581</c:v>
                </c:pt>
                <c:pt idx="395">
                  <c:v>44582</c:v>
                </c:pt>
                <c:pt idx="396">
                  <c:v>44583</c:v>
                </c:pt>
                <c:pt idx="397">
                  <c:v>44584</c:v>
                </c:pt>
                <c:pt idx="398">
                  <c:v>44585</c:v>
                </c:pt>
                <c:pt idx="399">
                  <c:v>44586</c:v>
                </c:pt>
                <c:pt idx="400">
                  <c:v>44587</c:v>
                </c:pt>
                <c:pt idx="401">
                  <c:v>44588</c:v>
                </c:pt>
                <c:pt idx="402">
                  <c:v>44589</c:v>
                </c:pt>
                <c:pt idx="403">
                  <c:v>44590</c:v>
                </c:pt>
                <c:pt idx="404">
                  <c:v>44591</c:v>
                </c:pt>
                <c:pt idx="405">
                  <c:v>44592</c:v>
                </c:pt>
                <c:pt idx="406">
                  <c:v>44593</c:v>
                </c:pt>
                <c:pt idx="407">
                  <c:v>44594</c:v>
                </c:pt>
                <c:pt idx="408">
                  <c:v>44595</c:v>
                </c:pt>
                <c:pt idx="409">
                  <c:v>44596</c:v>
                </c:pt>
                <c:pt idx="410">
                  <c:v>44597</c:v>
                </c:pt>
                <c:pt idx="411">
                  <c:v>44598</c:v>
                </c:pt>
                <c:pt idx="412">
                  <c:v>44599</c:v>
                </c:pt>
                <c:pt idx="413">
                  <c:v>44600</c:v>
                </c:pt>
                <c:pt idx="414">
                  <c:v>44601</c:v>
                </c:pt>
                <c:pt idx="415">
                  <c:v>44602</c:v>
                </c:pt>
                <c:pt idx="416">
                  <c:v>44603</c:v>
                </c:pt>
                <c:pt idx="417">
                  <c:v>44604</c:v>
                </c:pt>
                <c:pt idx="418">
                  <c:v>44605</c:v>
                </c:pt>
                <c:pt idx="419">
                  <c:v>44606</c:v>
                </c:pt>
              </c:numCache>
            </c:numRef>
          </c:cat>
          <c:val>
            <c:numRef>
              <c:f>'일반 생치병상 통계'!$D$2:$D$421</c:f>
              <c:numCache>
                <c:formatCode>General</c:formatCode>
                <c:ptCount val="4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170</c:v>
                </c:pt>
                <c:pt idx="40">
                  <c:v>170</c:v>
                </c:pt>
                <c:pt idx="41">
                  <c:v>170</c:v>
                </c:pt>
                <c:pt idx="42">
                  <c:v>290</c:v>
                </c:pt>
                <c:pt idx="43">
                  <c:v>290</c:v>
                </c:pt>
                <c:pt idx="44">
                  <c:v>290</c:v>
                </c:pt>
                <c:pt idx="45">
                  <c:v>290</c:v>
                </c:pt>
                <c:pt idx="46">
                  <c:v>375</c:v>
                </c:pt>
                <c:pt idx="47">
                  <c:v>375</c:v>
                </c:pt>
                <c:pt idx="48">
                  <c:v>375</c:v>
                </c:pt>
                <c:pt idx="49">
                  <c:v>205</c:v>
                </c:pt>
                <c:pt idx="50">
                  <c:v>411</c:v>
                </c:pt>
                <c:pt idx="51">
                  <c:v>411</c:v>
                </c:pt>
                <c:pt idx="52">
                  <c:v>411</c:v>
                </c:pt>
                <c:pt idx="53">
                  <c:v>411</c:v>
                </c:pt>
                <c:pt idx="54">
                  <c:v>411</c:v>
                </c:pt>
                <c:pt idx="55">
                  <c:v>411</c:v>
                </c:pt>
                <c:pt idx="56">
                  <c:v>411</c:v>
                </c:pt>
                <c:pt idx="57">
                  <c:v>411</c:v>
                </c:pt>
                <c:pt idx="58">
                  <c:v>411</c:v>
                </c:pt>
                <c:pt idx="59">
                  <c:v>411</c:v>
                </c:pt>
                <c:pt idx="60">
                  <c:v>411</c:v>
                </c:pt>
                <c:pt idx="61">
                  <c:v>411</c:v>
                </c:pt>
                <c:pt idx="62">
                  <c:v>411</c:v>
                </c:pt>
                <c:pt idx="63">
                  <c:v>411</c:v>
                </c:pt>
                <c:pt idx="64">
                  <c:v>411</c:v>
                </c:pt>
                <c:pt idx="65">
                  <c:v>308</c:v>
                </c:pt>
                <c:pt idx="66">
                  <c:v>308</c:v>
                </c:pt>
                <c:pt idx="67">
                  <c:v>308</c:v>
                </c:pt>
                <c:pt idx="68">
                  <c:v>308</c:v>
                </c:pt>
                <c:pt idx="69">
                  <c:v>308</c:v>
                </c:pt>
                <c:pt idx="70">
                  <c:v>308</c:v>
                </c:pt>
                <c:pt idx="71">
                  <c:v>308</c:v>
                </c:pt>
                <c:pt idx="72">
                  <c:v>308</c:v>
                </c:pt>
                <c:pt idx="73">
                  <c:v>233</c:v>
                </c:pt>
                <c:pt idx="74">
                  <c:v>233</c:v>
                </c:pt>
                <c:pt idx="75">
                  <c:v>233</c:v>
                </c:pt>
                <c:pt idx="76">
                  <c:v>233</c:v>
                </c:pt>
                <c:pt idx="77">
                  <c:v>233</c:v>
                </c:pt>
                <c:pt idx="78">
                  <c:v>233</c:v>
                </c:pt>
                <c:pt idx="79">
                  <c:v>233</c:v>
                </c:pt>
                <c:pt idx="80">
                  <c:v>233</c:v>
                </c:pt>
                <c:pt idx="81">
                  <c:v>233</c:v>
                </c:pt>
                <c:pt idx="82">
                  <c:v>233</c:v>
                </c:pt>
                <c:pt idx="83">
                  <c:v>233</c:v>
                </c:pt>
                <c:pt idx="84">
                  <c:v>233</c:v>
                </c:pt>
                <c:pt idx="85">
                  <c:v>233</c:v>
                </c:pt>
                <c:pt idx="86">
                  <c:v>233</c:v>
                </c:pt>
                <c:pt idx="87">
                  <c:v>233</c:v>
                </c:pt>
                <c:pt idx="88">
                  <c:v>233</c:v>
                </c:pt>
                <c:pt idx="89">
                  <c:v>233</c:v>
                </c:pt>
                <c:pt idx="90">
                  <c:v>233</c:v>
                </c:pt>
                <c:pt idx="91">
                  <c:v>233</c:v>
                </c:pt>
                <c:pt idx="92">
                  <c:v>233</c:v>
                </c:pt>
                <c:pt idx="93">
                  <c:v>233</c:v>
                </c:pt>
                <c:pt idx="94">
                  <c:v>233</c:v>
                </c:pt>
                <c:pt idx="95">
                  <c:v>233</c:v>
                </c:pt>
                <c:pt idx="96">
                  <c:v>233</c:v>
                </c:pt>
                <c:pt idx="97">
                  <c:v>233</c:v>
                </c:pt>
                <c:pt idx="98">
                  <c:v>233</c:v>
                </c:pt>
                <c:pt idx="99">
                  <c:v>233</c:v>
                </c:pt>
                <c:pt idx="100">
                  <c:v>233</c:v>
                </c:pt>
                <c:pt idx="101">
                  <c:v>233</c:v>
                </c:pt>
                <c:pt idx="102">
                  <c:v>233</c:v>
                </c:pt>
                <c:pt idx="103">
                  <c:v>233</c:v>
                </c:pt>
                <c:pt idx="104">
                  <c:v>233</c:v>
                </c:pt>
                <c:pt idx="105">
                  <c:v>233</c:v>
                </c:pt>
                <c:pt idx="106">
                  <c:v>233</c:v>
                </c:pt>
                <c:pt idx="107">
                  <c:v>233</c:v>
                </c:pt>
                <c:pt idx="108">
                  <c:v>233</c:v>
                </c:pt>
                <c:pt idx="109">
                  <c:v>130</c:v>
                </c:pt>
                <c:pt idx="110">
                  <c:v>130</c:v>
                </c:pt>
                <c:pt idx="111">
                  <c:v>130</c:v>
                </c:pt>
                <c:pt idx="112">
                  <c:v>130</c:v>
                </c:pt>
                <c:pt idx="113">
                  <c:v>130</c:v>
                </c:pt>
                <c:pt idx="114">
                  <c:v>130</c:v>
                </c:pt>
                <c:pt idx="115">
                  <c:v>130</c:v>
                </c:pt>
                <c:pt idx="116">
                  <c:v>130</c:v>
                </c:pt>
                <c:pt idx="117">
                  <c:v>130</c:v>
                </c:pt>
                <c:pt idx="118">
                  <c:v>130</c:v>
                </c:pt>
                <c:pt idx="119">
                  <c:v>130</c:v>
                </c:pt>
                <c:pt idx="120">
                  <c:v>130</c:v>
                </c:pt>
                <c:pt idx="121">
                  <c:v>130</c:v>
                </c:pt>
                <c:pt idx="122">
                  <c:v>130</c:v>
                </c:pt>
                <c:pt idx="123">
                  <c:v>130</c:v>
                </c:pt>
                <c:pt idx="124">
                  <c:v>140</c:v>
                </c:pt>
                <c:pt idx="125">
                  <c:v>267</c:v>
                </c:pt>
                <c:pt idx="126">
                  <c:v>164</c:v>
                </c:pt>
                <c:pt idx="127">
                  <c:v>267</c:v>
                </c:pt>
                <c:pt idx="128">
                  <c:v>267</c:v>
                </c:pt>
                <c:pt idx="129">
                  <c:v>370</c:v>
                </c:pt>
                <c:pt idx="130">
                  <c:v>370</c:v>
                </c:pt>
                <c:pt idx="131">
                  <c:v>370</c:v>
                </c:pt>
                <c:pt idx="132">
                  <c:v>370</c:v>
                </c:pt>
                <c:pt idx="133">
                  <c:v>370</c:v>
                </c:pt>
                <c:pt idx="134">
                  <c:v>482</c:v>
                </c:pt>
                <c:pt idx="135">
                  <c:v>482</c:v>
                </c:pt>
                <c:pt idx="136">
                  <c:v>466</c:v>
                </c:pt>
                <c:pt idx="137">
                  <c:v>466</c:v>
                </c:pt>
                <c:pt idx="138">
                  <c:v>466</c:v>
                </c:pt>
                <c:pt idx="139">
                  <c:v>466</c:v>
                </c:pt>
                <c:pt idx="140">
                  <c:v>466</c:v>
                </c:pt>
                <c:pt idx="141">
                  <c:v>466</c:v>
                </c:pt>
                <c:pt idx="142">
                  <c:v>546</c:v>
                </c:pt>
                <c:pt idx="143">
                  <c:v>546</c:v>
                </c:pt>
                <c:pt idx="144">
                  <c:v>546</c:v>
                </c:pt>
                <c:pt idx="145">
                  <c:v>546</c:v>
                </c:pt>
                <c:pt idx="146">
                  <c:v>546</c:v>
                </c:pt>
                <c:pt idx="147">
                  <c:v>334</c:v>
                </c:pt>
                <c:pt idx="148">
                  <c:v>334</c:v>
                </c:pt>
                <c:pt idx="149">
                  <c:v>334</c:v>
                </c:pt>
                <c:pt idx="150">
                  <c:v>334</c:v>
                </c:pt>
                <c:pt idx="151">
                  <c:v>334</c:v>
                </c:pt>
                <c:pt idx="152">
                  <c:v>334</c:v>
                </c:pt>
                <c:pt idx="153">
                  <c:v>334</c:v>
                </c:pt>
                <c:pt idx="154">
                  <c:v>334</c:v>
                </c:pt>
                <c:pt idx="155">
                  <c:v>334</c:v>
                </c:pt>
                <c:pt idx="156">
                  <c:v>334</c:v>
                </c:pt>
                <c:pt idx="157">
                  <c:v>334</c:v>
                </c:pt>
                <c:pt idx="158">
                  <c:v>334</c:v>
                </c:pt>
                <c:pt idx="159">
                  <c:v>334</c:v>
                </c:pt>
                <c:pt idx="160">
                  <c:v>334</c:v>
                </c:pt>
                <c:pt idx="161">
                  <c:v>334</c:v>
                </c:pt>
                <c:pt idx="162">
                  <c:v>334</c:v>
                </c:pt>
                <c:pt idx="163">
                  <c:v>334</c:v>
                </c:pt>
                <c:pt idx="164">
                  <c:v>334</c:v>
                </c:pt>
                <c:pt idx="165">
                  <c:v>334</c:v>
                </c:pt>
                <c:pt idx="166">
                  <c:v>334</c:v>
                </c:pt>
                <c:pt idx="167">
                  <c:v>334</c:v>
                </c:pt>
                <c:pt idx="168">
                  <c:v>334</c:v>
                </c:pt>
                <c:pt idx="169">
                  <c:v>334</c:v>
                </c:pt>
                <c:pt idx="170">
                  <c:v>334</c:v>
                </c:pt>
                <c:pt idx="171">
                  <c:v>334</c:v>
                </c:pt>
                <c:pt idx="172">
                  <c:v>334</c:v>
                </c:pt>
                <c:pt idx="173">
                  <c:v>334</c:v>
                </c:pt>
                <c:pt idx="174">
                  <c:v>334</c:v>
                </c:pt>
                <c:pt idx="175">
                  <c:v>334</c:v>
                </c:pt>
                <c:pt idx="176">
                  <c:v>334</c:v>
                </c:pt>
                <c:pt idx="177">
                  <c:v>334</c:v>
                </c:pt>
                <c:pt idx="178">
                  <c:v>334</c:v>
                </c:pt>
                <c:pt idx="179">
                  <c:v>334</c:v>
                </c:pt>
                <c:pt idx="180">
                  <c:v>334</c:v>
                </c:pt>
                <c:pt idx="181">
                  <c:v>334</c:v>
                </c:pt>
                <c:pt idx="182">
                  <c:v>334</c:v>
                </c:pt>
                <c:pt idx="183">
                  <c:v>334</c:v>
                </c:pt>
                <c:pt idx="184">
                  <c:v>334</c:v>
                </c:pt>
                <c:pt idx="185">
                  <c:v>334</c:v>
                </c:pt>
                <c:pt idx="186">
                  <c:v>334</c:v>
                </c:pt>
                <c:pt idx="187">
                  <c:v>334</c:v>
                </c:pt>
                <c:pt idx="188">
                  <c:v>334</c:v>
                </c:pt>
                <c:pt idx="189">
                  <c:v>334</c:v>
                </c:pt>
                <c:pt idx="190">
                  <c:v>334</c:v>
                </c:pt>
                <c:pt idx="191">
                  <c:v>334</c:v>
                </c:pt>
                <c:pt idx="192">
                  <c:v>334</c:v>
                </c:pt>
                <c:pt idx="193">
                  <c:v>334</c:v>
                </c:pt>
                <c:pt idx="194">
                  <c:v>334</c:v>
                </c:pt>
                <c:pt idx="195">
                  <c:v>334</c:v>
                </c:pt>
                <c:pt idx="196">
                  <c:v>334</c:v>
                </c:pt>
                <c:pt idx="197">
                  <c:v>334</c:v>
                </c:pt>
                <c:pt idx="198">
                  <c:v>334</c:v>
                </c:pt>
                <c:pt idx="199">
                  <c:v>334</c:v>
                </c:pt>
                <c:pt idx="200">
                  <c:v>374</c:v>
                </c:pt>
                <c:pt idx="201">
                  <c:v>374</c:v>
                </c:pt>
                <c:pt idx="202">
                  <c:v>374</c:v>
                </c:pt>
                <c:pt idx="203">
                  <c:v>374</c:v>
                </c:pt>
                <c:pt idx="204">
                  <c:v>394</c:v>
                </c:pt>
                <c:pt idx="205">
                  <c:v>394</c:v>
                </c:pt>
                <c:pt idx="206">
                  <c:v>394</c:v>
                </c:pt>
                <c:pt idx="207">
                  <c:v>500</c:v>
                </c:pt>
                <c:pt idx="208">
                  <c:v>500</c:v>
                </c:pt>
                <c:pt idx="209">
                  <c:v>500</c:v>
                </c:pt>
                <c:pt idx="210" formatCode="0_);[Red]\(0\)">
                  <c:v>500</c:v>
                </c:pt>
                <c:pt idx="211">
                  <c:v>556</c:v>
                </c:pt>
                <c:pt idx="212">
                  <c:v>580</c:v>
                </c:pt>
                <c:pt idx="213">
                  <c:v>580</c:v>
                </c:pt>
                <c:pt idx="214">
                  <c:v>850</c:v>
                </c:pt>
                <c:pt idx="215">
                  <c:v>850</c:v>
                </c:pt>
                <c:pt idx="216">
                  <c:v>850</c:v>
                </c:pt>
                <c:pt idx="217">
                  <c:v>850</c:v>
                </c:pt>
                <c:pt idx="218">
                  <c:v>850</c:v>
                </c:pt>
                <c:pt idx="219">
                  <c:v>850</c:v>
                </c:pt>
                <c:pt idx="220">
                  <c:v>1150</c:v>
                </c:pt>
                <c:pt idx="221">
                  <c:v>1150</c:v>
                </c:pt>
                <c:pt idx="222">
                  <c:v>1150</c:v>
                </c:pt>
                <c:pt idx="223">
                  <c:v>1150</c:v>
                </c:pt>
                <c:pt idx="224">
                  <c:v>1150</c:v>
                </c:pt>
                <c:pt idx="225">
                  <c:v>1150</c:v>
                </c:pt>
                <c:pt idx="226">
                  <c:v>1150</c:v>
                </c:pt>
                <c:pt idx="227">
                  <c:v>1150</c:v>
                </c:pt>
                <c:pt idx="228">
                  <c:v>1150</c:v>
                </c:pt>
                <c:pt idx="229">
                  <c:v>1150</c:v>
                </c:pt>
                <c:pt idx="230">
                  <c:v>1150</c:v>
                </c:pt>
                <c:pt idx="231">
                  <c:v>1150</c:v>
                </c:pt>
                <c:pt idx="232">
                  <c:v>1150</c:v>
                </c:pt>
                <c:pt idx="233">
                  <c:v>1150</c:v>
                </c:pt>
                <c:pt idx="234">
                  <c:v>1150</c:v>
                </c:pt>
                <c:pt idx="235">
                  <c:v>1289</c:v>
                </c:pt>
                <c:pt idx="236">
                  <c:v>1289</c:v>
                </c:pt>
                <c:pt idx="237">
                  <c:v>1289</c:v>
                </c:pt>
                <c:pt idx="238">
                  <c:v>1289</c:v>
                </c:pt>
                <c:pt idx="239">
                  <c:v>1839</c:v>
                </c:pt>
                <c:pt idx="240">
                  <c:v>1839</c:v>
                </c:pt>
                <c:pt idx="241">
                  <c:v>1839</c:v>
                </c:pt>
                <c:pt idx="242">
                  <c:v>1839</c:v>
                </c:pt>
                <c:pt idx="243">
                  <c:v>1839</c:v>
                </c:pt>
                <c:pt idx="244">
                  <c:v>1839</c:v>
                </c:pt>
                <c:pt idx="245">
                  <c:v>1839</c:v>
                </c:pt>
                <c:pt idx="246">
                  <c:v>1839</c:v>
                </c:pt>
                <c:pt idx="247">
                  <c:v>1839</c:v>
                </c:pt>
                <c:pt idx="248">
                  <c:v>1839</c:v>
                </c:pt>
                <c:pt idx="249">
                  <c:v>1839</c:v>
                </c:pt>
                <c:pt idx="250">
                  <c:v>1839</c:v>
                </c:pt>
                <c:pt idx="251">
                  <c:v>1839</c:v>
                </c:pt>
                <c:pt idx="252">
                  <c:v>1839</c:v>
                </c:pt>
                <c:pt idx="253">
                  <c:v>1661</c:v>
                </c:pt>
                <c:pt idx="254">
                  <c:v>1661</c:v>
                </c:pt>
                <c:pt idx="255">
                  <c:v>1661</c:v>
                </c:pt>
                <c:pt idx="256">
                  <c:v>1661</c:v>
                </c:pt>
                <c:pt idx="257">
                  <c:v>1661</c:v>
                </c:pt>
                <c:pt idx="258">
                  <c:v>1661</c:v>
                </c:pt>
                <c:pt idx="259">
                  <c:v>1658</c:v>
                </c:pt>
                <c:pt idx="260">
                  <c:v>1658</c:v>
                </c:pt>
                <c:pt idx="261">
                  <c:v>1658</c:v>
                </c:pt>
                <c:pt idx="262">
                  <c:v>1658</c:v>
                </c:pt>
                <c:pt idx="263">
                  <c:v>1658</c:v>
                </c:pt>
                <c:pt idx="264">
                  <c:v>1658</c:v>
                </c:pt>
                <c:pt idx="265">
                  <c:v>1658</c:v>
                </c:pt>
                <c:pt idx="266">
                  <c:v>1658</c:v>
                </c:pt>
                <c:pt idx="267">
                  <c:v>1658</c:v>
                </c:pt>
                <c:pt idx="268">
                  <c:v>1658</c:v>
                </c:pt>
                <c:pt idx="269">
                  <c:v>1658</c:v>
                </c:pt>
                <c:pt idx="270">
                  <c:v>1658</c:v>
                </c:pt>
                <c:pt idx="271">
                  <c:v>1108</c:v>
                </c:pt>
                <c:pt idx="272">
                  <c:v>1108</c:v>
                </c:pt>
                <c:pt idx="273">
                  <c:v>1108</c:v>
                </c:pt>
                <c:pt idx="274">
                  <c:v>1108</c:v>
                </c:pt>
                <c:pt idx="275">
                  <c:v>1108</c:v>
                </c:pt>
                <c:pt idx="276">
                  <c:v>1108</c:v>
                </c:pt>
                <c:pt idx="277">
                  <c:v>1108</c:v>
                </c:pt>
                <c:pt idx="278">
                  <c:v>1108</c:v>
                </c:pt>
                <c:pt idx="279">
                  <c:v>1108</c:v>
                </c:pt>
                <c:pt idx="280">
                  <c:v>1108</c:v>
                </c:pt>
                <c:pt idx="281">
                  <c:v>1108</c:v>
                </c:pt>
                <c:pt idx="282">
                  <c:v>1108</c:v>
                </c:pt>
                <c:pt idx="283">
                  <c:v>1108</c:v>
                </c:pt>
                <c:pt idx="284">
                  <c:v>1108</c:v>
                </c:pt>
                <c:pt idx="285">
                  <c:v>1108</c:v>
                </c:pt>
                <c:pt idx="286">
                  <c:v>1108</c:v>
                </c:pt>
                <c:pt idx="287">
                  <c:v>1108</c:v>
                </c:pt>
                <c:pt idx="288">
                  <c:v>1108</c:v>
                </c:pt>
                <c:pt idx="289">
                  <c:v>1108</c:v>
                </c:pt>
                <c:pt idx="290">
                  <c:v>1108</c:v>
                </c:pt>
                <c:pt idx="291">
                  <c:v>1108</c:v>
                </c:pt>
                <c:pt idx="292">
                  <c:v>1108</c:v>
                </c:pt>
                <c:pt idx="293">
                  <c:v>1108</c:v>
                </c:pt>
                <c:pt idx="294">
                  <c:v>1108</c:v>
                </c:pt>
                <c:pt idx="295">
                  <c:v>1108</c:v>
                </c:pt>
                <c:pt idx="296">
                  <c:v>1108</c:v>
                </c:pt>
                <c:pt idx="297">
                  <c:v>1108</c:v>
                </c:pt>
                <c:pt idx="298">
                  <c:v>1108</c:v>
                </c:pt>
                <c:pt idx="299">
                  <c:v>1108</c:v>
                </c:pt>
                <c:pt idx="300">
                  <c:v>1108</c:v>
                </c:pt>
                <c:pt idx="301">
                  <c:v>1108</c:v>
                </c:pt>
                <c:pt idx="302">
                  <c:v>1108</c:v>
                </c:pt>
                <c:pt idx="303">
                  <c:v>1108</c:v>
                </c:pt>
                <c:pt idx="304">
                  <c:v>1108</c:v>
                </c:pt>
                <c:pt idx="305">
                  <c:v>1108</c:v>
                </c:pt>
                <c:pt idx="306">
                  <c:v>1108</c:v>
                </c:pt>
                <c:pt idx="307">
                  <c:v>1108</c:v>
                </c:pt>
                <c:pt idx="308">
                  <c:v>1108</c:v>
                </c:pt>
                <c:pt idx="309">
                  <c:v>1108</c:v>
                </c:pt>
                <c:pt idx="310">
                  <c:v>1108</c:v>
                </c:pt>
                <c:pt idx="311">
                  <c:v>1108</c:v>
                </c:pt>
                <c:pt idx="312">
                  <c:v>1108</c:v>
                </c:pt>
                <c:pt idx="313">
                  <c:v>1108</c:v>
                </c:pt>
                <c:pt idx="314">
                  <c:v>1108</c:v>
                </c:pt>
                <c:pt idx="315">
                  <c:v>1108</c:v>
                </c:pt>
                <c:pt idx="316">
                  <c:v>1108</c:v>
                </c:pt>
                <c:pt idx="317">
                  <c:v>1108</c:v>
                </c:pt>
                <c:pt idx="318">
                  <c:v>1108</c:v>
                </c:pt>
                <c:pt idx="319">
                  <c:v>1108</c:v>
                </c:pt>
                <c:pt idx="320">
                  <c:v>1108</c:v>
                </c:pt>
                <c:pt idx="321">
                  <c:v>1108</c:v>
                </c:pt>
                <c:pt idx="322">
                  <c:v>1108</c:v>
                </c:pt>
                <c:pt idx="323">
                  <c:v>1108</c:v>
                </c:pt>
                <c:pt idx="324">
                  <c:v>1108</c:v>
                </c:pt>
                <c:pt idx="325">
                  <c:v>1108</c:v>
                </c:pt>
                <c:pt idx="326">
                  <c:v>1108</c:v>
                </c:pt>
                <c:pt idx="327">
                  <c:v>1108</c:v>
                </c:pt>
                <c:pt idx="328">
                  <c:v>1108</c:v>
                </c:pt>
                <c:pt idx="329">
                  <c:v>1108</c:v>
                </c:pt>
                <c:pt idx="330">
                  <c:v>1108</c:v>
                </c:pt>
                <c:pt idx="331">
                  <c:v>1108</c:v>
                </c:pt>
                <c:pt idx="332">
                  <c:v>1108</c:v>
                </c:pt>
                <c:pt idx="333">
                  <c:v>1108</c:v>
                </c:pt>
                <c:pt idx="334">
                  <c:v>1108</c:v>
                </c:pt>
                <c:pt idx="335">
                  <c:v>1108</c:v>
                </c:pt>
                <c:pt idx="336">
                  <c:v>1108</c:v>
                </c:pt>
                <c:pt idx="337">
                  <c:v>1108</c:v>
                </c:pt>
                <c:pt idx="338">
                  <c:v>1108</c:v>
                </c:pt>
                <c:pt idx="339">
                  <c:v>1108</c:v>
                </c:pt>
                <c:pt idx="340">
                  <c:v>1108</c:v>
                </c:pt>
                <c:pt idx="341">
                  <c:v>1108</c:v>
                </c:pt>
                <c:pt idx="342">
                  <c:v>1108</c:v>
                </c:pt>
                <c:pt idx="343">
                  <c:v>1108</c:v>
                </c:pt>
                <c:pt idx="344">
                  <c:v>1108</c:v>
                </c:pt>
                <c:pt idx="345">
                  <c:v>1108</c:v>
                </c:pt>
                <c:pt idx="346">
                  <c:v>1108</c:v>
                </c:pt>
                <c:pt idx="347">
                  <c:v>1108</c:v>
                </c:pt>
                <c:pt idx="348">
                  <c:v>1108</c:v>
                </c:pt>
                <c:pt idx="349">
                  <c:v>1108</c:v>
                </c:pt>
                <c:pt idx="350">
                  <c:v>1108</c:v>
                </c:pt>
                <c:pt idx="351">
                  <c:v>1108</c:v>
                </c:pt>
                <c:pt idx="352">
                  <c:v>1108</c:v>
                </c:pt>
                <c:pt idx="353">
                  <c:v>1108</c:v>
                </c:pt>
                <c:pt idx="354">
                  <c:v>1108</c:v>
                </c:pt>
                <c:pt idx="355">
                  <c:v>1108</c:v>
                </c:pt>
                <c:pt idx="356">
                  <c:v>1108</c:v>
                </c:pt>
                <c:pt idx="357">
                  <c:v>1108</c:v>
                </c:pt>
                <c:pt idx="358">
                  <c:v>1405</c:v>
                </c:pt>
                <c:pt idx="359">
                  <c:v>1405</c:v>
                </c:pt>
                <c:pt idx="360">
                  <c:v>1405</c:v>
                </c:pt>
                <c:pt idx="361">
                  <c:v>1405</c:v>
                </c:pt>
                <c:pt idx="362">
                  <c:v>1405</c:v>
                </c:pt>
                <c:pt idx="363">
                  <c:v>1405</c:v>
                </c:pt>
                <c:pt idx="364">
                  <c:v>1405</c:v>
                </c:pt>
                <c:pt idx="365">
                  <c:v>1405</c:v>
                </c:pt>
                <c:pt idx="366">
                  <c:v>1405</c:v>
                </c:pt>
                <c:pt idx="367">
                  <c:v>1405</c:v>
                </c:pt>
                <c:pt idx="368">
                  <c:v>1405</c:v>
                </c:pt>
                <c:pt idx="369">
                  <c:v>1405</c:v>
                </c:pt>
                <c:pt idx="370">
                  <c:v>1405</c:v>
                </c:pt>
                <c:pt idx="371">
                  <c:v>1405</c:v>
                </c:pt>
                <c:pt idx="372">
                  <c:v>1405</c:v>
                </c:pt>
                <c:pt idx="373">
                  <c:v>1405</c:v>
                </c:pt>
                <c:pt idx="374">
                  <c:v>1405</c:v>
                </c:pt>
                <c:pt idx="375">
                  <c:v>1405</c:v>
                </c:pt>
                <c:pt idx="376">
                  <c:v>1405</c:v>
                </c:pt>
                <c:pt idx="377">
                  <c:v>1405</c:v>
                </c:pt>
                <c:pt idx="378">
                  <c:v>1405</c:v>
                </c:pt>
                <c:pt idx="379">
                  <c:v>1405</c:v>
                </c:pt>
                <c:pt idx="380">
                  <c:v>1405</c:v>
                </c:pt>
                <c:pt idx="381">
                  <c:v>1405</c:v>
                </c:pt>
                <c:pt idx="382">
                  <c:v>1405</c:v>
                </c:pt>
                <c:pt idx="383">
                  <c:v>1405</c:v>
                </c:pt>
                <c:pt idx="384">
                  <c:v>1405</c:v>
                </c:pt>
                <c:pt idx="385">
                  <c:v>1405</c:v>
                </c:pt>
                <c:pt idx="386">
                  <c:v>1405</c:v>
                </c:pt>
                <c:pt idx="387">
                  <c:v>1989</c:v>
                </c:pt>
                <c:pt idx="388">
                  <c:v>1989</c:v>
                </c:pt>
                <c:pt idx="389">
                  <c:v>1989</c:v>
                </c:pt>
                <c:pt idx="390">
                  <c:v>1989</c:v>
                </c:pt>
                <c:pt idx="391">
                  <c:v>1989</c:v>
                </c:pt>
                <c:pt idx="392">
                  <c:v>1989</c:v>
                </c:pt>
                <c:pt idx="393">
                  <c:v>1989</c:v>
                </c:pt>
                <c:pt idx="394">
                  <c:v>1989</c:v>
                </c:pt>
                <c:pt idx="395">
                  <c:v>1989</c:v>
                </c:pt>
                <c:pt idx="396">
                  <c:v>1989</c:v>
                </c:pt>
                <c:pt idx="397">
                  <c:v>1989</c:v>
                </c:pt>
                <c:pt idx="398">
                  <c:v>1989</c:v>
                </c:pt>
                <c:pt idx="399">
                  <c:v>1989</c:v>
                </c:pt>
                <c:pt idx="400">
                  <c:v>1989</c:v>
                </c:pt>
                <c:pt idx="401">
                  <c:v>1989</c:v>
                </c:pt>
                <c:pt idx="402">
                  <c:v>1989</c:v>
                </c:pt>
                <c:pt idx="403">
                  <c:v>1989</c:v>
                </c:pt>
                <c:pt idx="404">
                  <c:v>1989</c:v>
                </c:pt>
                <c:pt idx="405">
                  <c:v>1989</c:v>
                </c:pt>
                <c:pt idx="406">
                  <c:v>1989</c:v>
                </c:pt>
                <c:pt idx="407">
                  <c:v>1989</c:v>
                </c:pt>
                <c:pt idx="408">
                  <c:v>1989</c:v>
                </c:pt>
                <c:pt idx="409">
                  <c:v>1989</c:v>
                </c:pt>
                <c:pt idx="410">
                  <c:v>1989</c:v>
                </c:pt>
                <c:pt idx="411">
                  <c:v>1989</c:v>
                </c:pt>
                <c:pt idx="412">
                  <c:v>1989</c:v>
                </c:pt>
                <c:pt idx="413">
                  <c:v>1989</c:v>
                </c:pt>
                <c:pt idx="414">
                  <c:v>1989</c:v>
                </c:pt>
                <c:pt idx="415">
                  <c:v>1989</c:v>
                </c:pt>
                <c:pt idx="416">
                  <c:v>1989</c:v>
                </c:pt>
                <c:pt idx="417">
                  <c:v>1989</c:v>
                </c:pt>
                <c:pt idx="418">
                  <c:v>1989</c:v>
                </c:pt>
                <c:pt idx="419">
                  <c:v>1989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37-40CE-A4D8-83FD613F9907}"/>
            </c:ext>
          </c:extLst>
        </c:ser>
        <c:ser>
          <c:idx val="3"/>
          <c:order val="1"/>
          <c:tx>
            <c:strRef>
              <c:f>'일반 생치병상 통계'!$E$1</c:f>
              <c:strCache>
                <c:ptCount val="1"/>
                <c:pt idx="0">
                  <c:v>생치사용병상</c:v>
                </c:pt>
              </c:strCache>
            </c:strRef>
          </c:tx>
          <c:spPr>
            <a:ln w="1905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40"/>
              <c:layout>
                <c:manualLayout>
                  <c:x val="-3.1472542879161756E-2"/>
                  <c:y val="-0.27590069714416704"/>
                </c:manualLayout>
              </c:layout>
              <c:tx>
                <c:rich>
                  <a:bodyPr/>
                  <a:lstStyle/>
                  <a:p>
                    <a:pPr>
                      <a:defRPr sz="1400" b="1"/>
                    </a:pPr>
                    <a:r>
                      <a:rPr lang="en-US" sz="1400" b="1" dirty="0"/>
                      <a:t>20.12.2 (170)</a:t>
                    </a:r>
                  </a:p>
                  <a:p>
                    <a:pPr>
                      <a:defRPr sz="1400" b="1"/>
                    </a:pPr>
                    <a:r>
                      <a:rPr lang="en-US" sz="1400" b="1" dirty="0"/>
                      <a:t>20.12.8(290)</a:t>
                    </a:r>
                  </a:p>
                  <a:p>
                    <a:pPr>
                      <a:defRPr sz="1400" b="1"/>
                    </a:pPr>
                    <a:r>
                      <a:rPr lang="en-US" sz="1400" b="1" dirty="0"/>
                      <a:t>20.12.21(411)</a:t>
                    </a:r>
                    <a:endParaRPr lang="en-US" dirty="0"/>
                  </a:p>
                </c:rich>
              </c:tx>
              <c:spPr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AB8-4272-95AD-35E270EFEA91}"/>
                </c:ext>
              </c:extLst>
            </c:dLbl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  <c:txPr>
              <a:bodyPr/>
              <a:lstStyle/>
              <a:p>
                <a:pPr>
                  <a:defRPr sz="1400" b="1"/>
                </a:pPr>
                <a:endParaRPr lang="ko-K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'일반 생치병상 통계'!$A$2:$A$421</c:f>
              <c:numCache>
                <c:formatCode>yy"-"m"-"d;@</c:formatCode>
                <c:ptCount val="420"/>
                <c:pt idx="0">
                  <c:v>43972</c:v>
                </c:pt>
                <c:pt idx="1">
                  <c:v>43976</c:v>
                </c:pt>
                <c:pt idx="2">
                  <c:v>43981</c:v>
                </c:pt>
                <c:pt idx="3">
                  <c:v>43987</c:v>
                </c:pt>
                <c:pt idx="4">
                  <c:v>43992</c:v>
                </c:pt>
                <c:pt idx="5">
                  <c:v>43997</c:v>
                </c:pt>
                <c:pt idx="6">
                  <c:v>44002</c:v>
                </c:pt>
                <c:pt idx="7">
                  <c:v>44007</c:v>
                </c:pt>
                <c:pt idx="8">
                  <c:v>44012</c:v>
                </c:pt>
                <c:pt idx="9">
                  <c:v>44017</c:v>
                </c:pt>
                <c:pt idx="10">
                  <c:v>44022</c:v>
                </c:pt>
                <c:pt idx="11">
                  <c:v>44027</c:v>
                </c:pt>
                <c:pt idx="12">
                  <c:v>44032</c:v>
                </c:pt>
                <c:pt idx="13">
                  <c:v>44037</c:v>
                </c:pt>
                <c:pt idx="14">
                  <c:v>44043</c:v>
                </c:pt>
                <c:pt idx="15">
                  <c:v>44048</c:v>
                </c:pt>
                <c:pt idx="16">
                  <c:v>44053</c:v>
                </c:pt>
                <c:pt idx="17">
                  <c:v>44058</c:v>
                </c:pt>
                <c:pt idx="18">
                  <c:v>44063</c:v>
                </c:pt>
                <c:pt idx="19">
                  <c:v>44068</c:v>
                </c:pt>
                <c:pt idx="20">
                  <c:v>44073</c:v>
                </c:pt>
                <c:pt idx="21">
                  <c:v>44079</c:v>
                </c:pt>
                <c:pt idx="22">
                  <c:v>44084</c:v>
                </c:pt>
                <c:pt idx="23">
                  <c:v>44089</c:v>
                </c:pt>
                <c:pt idx="24">
                  <c:v>44094</c:v>
                </c:pt>
                <c:pt idx="25">
                  <c:v>44099</c:v>
                </c:pt>
                <c:pt idx="26">
                  <c:v>44104</c:v>
                </c:pt>
                <c:pt idx="27">
                  <c:v>44109</c:v>
                </c:pt>
                <c:pt idx="28">
                  <c:v>44115</c:v>
                </c:pt>
                <c:pt idx="29">
                  <c:v>44119</c:v>
                </c:pt>
                <c:pt idx="30">
                  <c:v>44123</c:v>
                </c:pt>
                <c:pt idx="31">
                  <c:v>44128</c:v>
                </c:pt>
                <c:pt idx="32">
                  <c:v>44134</c:v>
                </c:pt>
                <c:pt idx="33">
                  <c:v>44139</c:v>
                </c:pt>
                <c:pt idx="34">
                  <c:v>44145</c:v>
                </c:pt>
                <c:pt idx="35">
                  <c:v>44151</c:v>
                </c:pt>
                <c:pt idx="36">
                  <c:v>44155</c:v>
                </c:pt>
                <c:pt idx="37">
                  <c:v>44160</c:v>
                </c:pt>
                <c:pt idx="38">
                  <c:v>44165</c:v>
                </c:pt>
                <c:pt idx="39">
                  <c:v>44167</c:v>
                </c:pt>
                <c:pt idx="40">
                  <c:v>44168</c:v>
                </c:pt>
                <c:pt idx="41">
                  <c:v>44172</c:v>
                </c:pt>
                <c:pt idx="42">
                  <c:v>44173</c:v>
                </c:pt>
                <c:pt idx="43">
                  <c:v>44174</c:v>
                </c:pt>
                <c:pt idx="44">
                  <c:v>44175</c:v>
                </c:pt>
                <c:pt idx="45">
                  <c:v>44176</c:v>
                </c:pt>
                <c:pt idx="46">
                  <c:v>44179</c:v>
                </c:pt>
                <c:pt idx="47">
                  <c:v>44180</c:v>
                </c:pt>
                <c:pt idx="48">
                  <c:v>44181</c:v>
                </c:pt>
                <c:pt idx="49">
                  <c:v>44183</c:v>
                </c:pt>
                <c:pt idx="50">
                  <c:v>44186</c:v>
                </c:pt>
                <c:pt idx="51">
                  <c:v>44187</c:v>
                </c:pt>
                <c:pt idx="52">
                  <c:v>44188</c:v>
                </c:pt>
                <c:pt idx="53">
                  <c:v>44189</c:v>
                </c:pt>
                <c:pt idx="54">
                  <c:v>44193</c:v>
                </c:pt>
                <c:pt idx="55">
                  <c:v>44194</c:v>
                </c:pt>
                <c:pt idx="56">
                  <c:v>44195</c:v>
                </c:pt>
                <c:pt idx="57">
                  <c:v>44196</c:v>
                </c:pt>
                <c:pt idx="58">
                  <c:v>44201</c:v>
                </c:pt>
                <c:pt idx="59">
                  <c:v>44202</c:v>
                </c:pt>
                <c:pt idx="60">
                  <c:v>44203</c:v>
                </c:pt>
                <c:pt idx="61">
                  <c:v>44204</c:v>
                </c:pt>
                <c:pt idx="62">
                  <c:v>44207</c:v>
                </c:pt>
                <c:pt idx="63">
                  <c:v>44208</c:v>
                </c:pt>
                <c:pt idx="64">
                  <c:v>44209</c:v>
                </c:pt>
                <c:pt idx="65">
                  <c:v>44211</c:v>
                </c:pt>
                <c:pt idx="66">
                  <c:v>44215</c:v>
                </c:pt>
                <c:pt idx="67">
                  <c:v>44216</c:v>
                </c:pt>
                <c:pt idx="68">
                  <c:v>44217</c:v>
                </c:pt>
                <c:pt idx="69">
                  <c:v>44218</c:v>
                </c:pt>
                <c:pt idx="70">
                  <c:v>44221</c:v>
                </c:pt>
                <c:pt idx="71">
                  <c:v>44223</c:v>
                </c:pt>
                <c:pt idx="72">
                  <c:v>44224</c:v>
                </c:pt>
                <c:pt idx="73">
                  <c:v>44228</c:v>
                </c:pt>
                <c:pt idx="74">
                  <c:v>44229</c:v>
                </c:pt>
                <c:pt idx="75">
                  <c:v>44230</c:v>
                </c:pt>
                <c:pt idx="76">
                  <c:v>44231</c:v>
                </c:pt>
                <c:pt idx="77">
                  <c:v>44232</c:v>
                </c:pt>
                <c:pt idx="78">
                  <c:v>44233</c:v>
                </c:pt>
                <c:pt idx="79">
                  <c:v>44234</c:v>
                </c:pt>
                <c:pt idx="80">
                  <c:v>44236</c:v>
                </c:pt>
                <c:pt idx="81">
                  <c:v>44237</c:v>
                </c:pt>
                <c:pt idx="82">
                  <c:v>44238</c:v>
                </c:pt>
                <c:pt idx="83">
                  <c:v>44241</c:v>
                </c:pt>
                <c:pt idx="84">
                  <c:v>44242</c:v>
                </c:pt>
                <c:pt idx="85">
                  <c:v>44243</c:v>
                </c:pt>
                <c:pt idx="86">
                  <c:v>44244</c:v>
                </c:pt>
                <c:pt idx="87">
                  <c:v>44245</c:v>
                </c:pt>
                <c:pt idx="88">
                  <c:v>44246</c:v>
                </c:pt>
                <c:pt idx="89">
                  <c:v>44247</c:v>
                </c:pt>
                <c:pt idx="90">
                  <c:v>44248</c:v>
                </c:pt>
                <c:pt idx="91">
                  <c:v>44249</c:v>
                </c:pt>
                <c:pt idx="92">
                  <c:v>44250</c:v>
                </c:pt>
                <c:pt idx="93">
                  <c:v>44251</c:v>
                </c:pt>
                <c:pt idx="94">
                  <c:v>44252</c:v>
                </c:pt>
                <c:pt idx="95">
                  <c:v>44253</c:v>
                </c:pt>
                <c:pt idx="96">
                  <c:v>44254</c:v>
                </c:pt>
                <c:pt idx="97">
                  <c:v>44255</c:v>
                </c:pt>
                <c:pt idx="98">
                  <c:v>44256</c:v>
                </c:pt>
                <c:pt idx="99">
                  <c:v>44257</c:v>
                </c:pt>
                <c:pt idx="100">
                  <c:v>44258</c:v>
                </c:pt>
                <c:pt idx="101">
                  <c:v>44259</c:v>
                </c:pt>
                <c:pt idx="102">
                  <c:v>44262</c:v>
                </c:pt>
                <c:pt idx="103">
                  <c:v>44263</c:v>
                </c:pt>
                <c:pt idx="104">
                  <c:v>44265</c:v>
                </c:pt>
                <c:pt idx="105">
                  <c:v>44266</c:v>
                </c:pt>
                <c:pt idx="106">
                  <c:v>44267</c:v>
                </c:pt>
                <c:pt idx="107">
                  <c:v>44268</c:v>
                </c:pt>
                <c:pt idx="108">
                  <c:v>44269</c:v>
                </c:pt>
                <c:pt idx="109">
                  <c:v>44270</c:v>
                </c:pt>
                <c:pt idx="110">
                  <c:v>44271</c:v>
                </c:pt>
                <c:pt idx="111">
                  <c:v>44272</c:v>
                </c:pt>
                <c:pt idx="112">
                  <c:v>44273</c:v>
                </c:pt>
                <c:pt idx="113">
                  <c:v>44274</c:v>
                </c:pt>
                <c:pt idx="114">
                  <c:v>44276</c:v>
                </c:pt>
                <c:pt idx="115">
                  <c:v>44277</c:v>
                </c:pt>
                <c:pt idx="116">
                  <c:v>44278</c:v>
                </c:pt>
                <c:pt idx="117">
                  <c:v>44279</c:v>
                </c:pt>
                <c:pt idx="118">
                  <c:v>44280</c:v>
                </c:pt>
                <c:pt idx="119">
                  <c:v>44281</c:v>
                </c:pt>
                <c:pt idx="120">
                  <c:v>44282</c:v>
                </c:pt>
                <c:pt idx="121">
                  <c:v>44283</c:v>
                </c:pt>
                <c:pt idx="122">
                  <c:v>44284</c:v>
                </c:pt>
                <c:pt idx="123">
                  <c:v>44285</c:v>
                </c:pt>
                <c:pt idx="124">
                  <c:v>44286</c:v>
                </c:pt>
                <c:pt idx="125">
                  <c:v>44287</c:v>
                </c:pt>
                <c:pt idx="126">
                  <c:v>44288</c:v>
                </c:pt>
                <c:pt idx="127">
                  <c:v>44289</c:v>
                </c:pt>
                <c:pt idx="128">
                  <c:v>44290</c:v>
                </c:pt>
                <c:pt idx="129">
                  <c:v>44291</c:v>
                </c:pt>
                <c:pt idx="130">
                  <c:v>44292</c:v>
                </c:pt>
                <c:pt idx="131">
                  <c:v>44293</c:v>
                </c:pt>
                <c:pt idx="132">
                  <c:v>44294</c:v>
                </c:pt>
                <c:pt idx="133">
                  <c:v>44297</c:v>
                </c:pt>
                <c:pt idx="134">
                  <c:v>44298</c:v>
                </c:pt>
                <c:pt idx="135">
                  <c:v>44299</c:v>
                </c:pt>
                <c:pt idx="136">
                  <c:v>44300</c:v>
                </c:pt>
                <c:pt idx="137">
                  <c:v>44301</c:v>
                </c:pt>
                <c:pt idx="138">
                  <c:v>44302</c:v>
                </c:pt>
                <c:pt idx="139">
                  <c:v>44304</c:v>
                </c:pt>
                <c:pt idx="140">
                  <c:v>44307</c:v>
                </c:pt>
                <c:pt idx="141">
                  <c:v>44308</c:v>
                </c:pt>
                <c:pt idx="142">
                  <c:v>44309</c:v>
                </c:pt>
                <c:pt idx="143">
                  <c:v>44310</c:v>
                </c:pt>
                <c:pt idx="144">
                  <c:v>44311</c:v>
                </c:pt>
                <c:pt idx="145">
                  <c:v>44312</c:v>
                </c:pt>
                <c:pt idx="146">
                  <c:v>44313</c:v>
                </c:pt>
                <c:pt idx="147">
                  <c:v>44315</c:v>
                </c:pt>
                <c:pt idx="148">
                  <c:v>44316</c:v>
                </c:pt>
                <c:pt idx="149">
                  <c:v>44317</c:v>
                </c:pt>
                <c:pt idx="150">
                  <c:v>44318</c:v>
                </c:pt>
                <c:pt idx="151">
                  <c:v>44319</c:v>
                </c:pt>
                <c:pt idx="152">
                  <c:v>44320</c:v>
                </c:pt>
                <c:pt idx="153">
                  <c:v>44322</c:v>
                </c:pt>
                <c:pt idx="154">
                  <c:v>44323</c:v>
                </c:pt>
                <c:pt idx="155">
                  <c:v>44324</c:v>
                </c:pt>
                <c:pt idx="156">
                  <c:v>44325</c:v>
                </c:pt>
                <c:pt idx="157">
                  <c:v>44326</c:v>
                </c:pt>
                <c:pt idx="158">
                  <c:v>44327</c:v>
                </c:pt>
                <c:pt idx="159">
                  <c:v>44328</c:v>
                </c:pt>
                <c:pt idx="160">
                  <c:v>44329</c:v>
                </c:pt>
                <c:pt idx="161">
                  <c:v>44332</c:v>
                </c:pt>
                <c:pt idx="162">
                  <c:v>44333</c:v>
                </c:pt>
                <c:pt idx="163">
                  <c:v>44334</c:v>
                </c:pt>
                <c:pt idx="164">
                  <c:v>44335</c:v>
                </c:pt>
                <c:pt idx="165">
                  <c:v>44336</c:v>
                </c:pt>
                <c:pt idx="166">
                  <c:v>44337</c:v>
                </c:pt>
                <c:pt idx="167">
                  <c:v>44338</c:v>
                </c:pt>
                <c:pt idx="168">
                  <c:v>44339</c:v>
                </c:pt>
                <c:pt idx="169">
                  <c:v>44340</c:v>
                </c:pt>
                <c:pt idx="170">
                  <c:v>44341</c:v>
                </c:pt>
                <c:pt idx="171">
                  <c:v>44342</c:v>
                </c:pt>
                <c:pt idx="172">
                  <c:v>44343</c:v>
                </c:pt>
                <c:pt idx="173">
                  <c:v>44344</c:v>
                </c:pt>
                <c:pt idx="174">
                  <c:v>44345</c:v>
                </c:pt>
                <c:pt idx="175">
                  <c:v>44346</c:v>
                </c:pt>
                <c:pt idx="176">
                  <c:v>44347</c:v>
                </c:pt>
                <c:pt idx="177">
                  <c:v>44349</c:v>
                </c:pt>
                <c:pt idx="178">
                  <c:v>44350</c:v>
                </c:pt>
                <c:pt idx="179">
                  <c:v>44355</c:v>
                </c:pt>
                <c:pt idx="180">
                  <c:v>44356</c:v>
                </c:pt>
                <c:pt idx="181">
                  <c:v>44357</c:v>
                </c:pt>
                <c:pt idx="182">
                  <c:v>44358</c:v>
                </c:pt>
                <c:pt idx="183">
                  <c:v>44359</c:v>
                </c:pt>
                <c:pt idx="184">
                  <c:v>44360</c:v>
                </c:pt>
                <c:pt idx="185">
                  <c:v>44361</c:v>
                </c:pt>
                <c:pt idx="186">
                  <c:v>44371</c:v>
                </c:pt>
                <c:pt idx="187">
                  <c:v>44372</c:v>
                </c:pt>
                <c:pt idx="188">
                  <c:v>44373</c:v>
                </c:pt>
                <c:pt idx="189">
                  <c:v>44376</c:v>
                </c:pt>
                <c:pt idx="190">
                  <c:v>44377</c:v>
                </c:pt>
                <c:pt idx="191">
                  <c:v>44378</c:v>
                </c:pt>
                <c:pt idx="192">
                  <c:v>44379</c:v>
                </c:pt>
                <c:pt idx="193">
                  <c:v>44380</c:v>
                </c:pt>
                <c:pt idx="194">
                  <c:v>44381</c:v>
                </c:pt>
                <c:pt idx="195">
                  <c:v>44382</c:v>
                </c:pt>
                <c:pt idx="196">
                  <c:v>44383</c:v>
                </c:pt>
                <c:pt idx="197">
                  <c:v>44384</c:v>
                </c:pt>
                <c:pt idx="198">
                  <c:v>44385</c:v>
                </c:pt>
                <c:pt idx="199">
                  <c:v>44386</c:v>
                </c:pt>
                <c:pt idx="200">
                  <c:v>44387</c:v>
                </c:pt>
                <c:pt idx="201">
                  <c:v>44388</c:v>
                </c:pt>
                <c:pt idx="202">
                  <c:v>44389</c:v>
                </c:pt>
                <c:pt idx="203">
                  <c:v>44390</c:v>
                </c:pt>
                <c:pt idx="204">
                  <c:v>44391</c:v>
                </c:pt>
                <c:pt idx="205">
                  <c:v>44392</c:v>
                </c:pt>
                <c:pt idx="206">
                  <c:v>44393</c:v>
                </c:pt>
                <c:pt idx="207">
                  <c:v>44394</c:v>
                </c:pt>
                <c:pt idx="208">
                  <c:v>44395</c:v>
                </c:pt>
                <c:pt idx="209">
                  <c:v>44396</c:v>
                </c:pt>
                <c:pt idx="210">
                  <c:v>44397</c:v>
                </c:pt>
                <c:pt idx="211">
                  <c:v>44398</c:v>
                </c:pt>
                <c:pt idx="212">
                  <c:v>44399</c:v>
                </c:pt>
                <c:pt idx="213">
                  <c:v>44400</c:v>
                </c:pt>
                <c:pt idx="214">
                  <c:v>44401</c:v>
                </c:pt>
                <c:pt idx="215">
                  <c:v>44402</c:v>
                </c:pt>
                <c:pt idx="216">
                  <c:v>44403</c:v>
                </c:pt>
                <c:pt idx="217">
                  <c:v>44404</c:v>
                </c:pt>
                <c:pt idx="218">
                  <c:v>44405</c:v>
                </c:pt>
                <c:pt idx="219">
                  <c:v>44406</c:v>
                </c:pt>
                <c:pt idx="220">
                  <c:v>44407</c:v>
                </c:pt>
                <c:pt idx="221">
                  <c:v>44408</c:v>
                </c:pt>
                <c:pt idx="222">
                  <c:v>44409</c:v>
                </c:pt>
                <c:pt idx="223">
                  <c:v>44410</c:v>
                </c:pt>
                <c:pt idx="224">
                  <c:v>44411</c:v>
                </c:pt>
                <c:pt idx="225">
                  <c:v>44412</c:v>
                </c:pt>
                <c:pt idx="226">
                  <c:v>44413</c:v>
                </c:pt>
                <c:pt idx="227">
                  <c:v>44414</c:v>
                </c:pt>
                <c:pt idx="228">
                  <c:v>44415</c:v>
                </c:pt>
                <c:pt idx="229">
                  <c:v>44416</c:v>
                </c:pt>
                <c:pt idx="230">
                  <c:v>44417</c:v>
                </c:pt>
                <c:pt idx="231">
                  <c:v>44418</c:v>
                </c:pt>
                <c:pt idx="232">
                  <c:v>44419</c:v>
                </c:pt>
                <c:pt idx="233">
                  <c:v>44420</c:v>
                </c:pt>
                <c:pt idx="234">
                  <c:v>44421</c:v>
                </c:pt>
                <c:pt idx="235">
                  <c:v>44422</c:v>
                </c:pt>
                <c:pt idx="236">
                  <c:v>44423</c:v>
                </c:pt>
                <c:pt idx="237">
                  <c:v>44424</c:v>
                </c:pt>
                <c:pt idx="238">
                  <c:v>44425</c:v>
                </c:pt>
                <c:pt idx="239">
                  <c:v>44426</c:v>
                </c:pt>
                <c:pt idx="240">
                  <c:v>44427</c:v>
                </c:pt>
                <c:pt idx="241">
                  <c:v>44428</c:v>
                </c:pt>
                <c:pt idx="242">
                  <c:v>44429</c:v>
                </c:pt>
                <c:pt idx="243">
                  <c:v>44430</c:v>
                </c:pt>
                <c:pt idx="244">
                  <c:v>44431</c:v>
                </c:pt>
                <c:pt idx="245">
                  <c:v>44432</c:v>
                </c:pt>
                <c:pt idx="246">
                  <c:v>44433</c:v>
                </c:pt>
                <c:pt idx="247">
                  <c:v>44434</c:v>
                </c:pt>
                <c:pt idx="248">
                  <c:v>44435</c:v>
                </c:pt>
                <c:pt idx="249">
                  <c:v>44436</c:v>
                </c:pt>
                <c:pt idx="250">
                  <c:v>44437</c:v>
                </c:pt>
                <c:pt idx="251">
                  <c:v>44438</c:v>
                </c:pt>
                <c:pt idx="252">
                  <c:v>44439</c:v>
                </c:pt>
                <c:pt idx="253">
                  <c:v>44440</c:v>
                </c:pt>
                <c:pt idx="254">
                  <c:v>44441</c:v>
                </c:pt>
                <c:pt idx="255">
                  <c:v>44442</c:v>
                </c:pt>
                <c:pt idx="256">
                  <c:v>44443</c:v>
                </c:pt>
                <c:pt idx="257">
                  <c:v>44444</c:v>
                </c:pt>
                <c:pt idx="258">
                  <c:v>44445</c:v>
                </c:pt>
                <c:pt idx="259">
                  <c:v>44446</c:v>
                </c:pt>
                <c:pt idx="260">
                  <c:v>44447</c:v>
                </c:pt>
                <c:pt idx="261">
                  <c:v>44448</c:v>
                </c:pt>
                <c:pt idx="262">
                  <c:v>44449</c:v>
                </c:pt>
                <c:pt idx="263">
                  <c:v>44450</c:v>
                </c:pt>
                <c:pt idx="264">
                  <c:v>44451</c:v>
                </c:pt>
                <c:pt idx="265">
                  <c:v>44452</c:v>
                </c:pt>
                <c:pt idx="266">
                  <c:v>44453</c:v>
                </c:pt>
                <c:pt idx="267">
                  <c:v>44454</c:v>
                </c:pt>
                <c:pt idx="268">
                  <c:v>44455</c:v>
                </c:pt>
                <c:pt idx="269">
                  <c:v>44456</c:v>
                </c:pt>
                <c:pt idx="270">
                  <c:v>44457</c:v>
                </c:pt>
                <c:pt idx="271">
                  <c:v>44458</c:v>
                </c:pt>
                <c:pt idx="272">
                  <c:v>44459</c:v>
                </c:pt>
                <c:pt idx="273">
                  <c:v>44460</c:v>
                </c:pt>
                <c:pt idx="274">
                  <c:v>44461</c:v>
                </c:pt>
                <c:pt idx="275">
                  <c:v>44462</c:v>
                </c:pt>
                <c:pt idx="276">
                  <c:v>44463</c:v>
                </c:pt>
                <c:pt idx="277">
                  <c:v>44464</c:v>
                </c:pt>
                <c:pt idx="278">
                  <c:v>44465</c:v>
                </c:pt>
                <c:pt idx="279">
                  <c:v>44466</c:v>
                </c:pt>
                <c:pt idx="280">
                  <c:v>44467</c:v>
                </c:pt>
                <c:pt idx="281">
                  <c:v>44468</c:v>
                </c:pt>
                <c:pt idx="282">
                  <c:v>44469</c:v>
                </c:pt>
                <c:pt idx="283">
                  <c:v>44470</c:v>
                </c:pt>
                <c:pt idx="284">
                  <c:v>44471</c:v>
                </c:pt>
                <c:pt idx="285">
                  <c:v>44472</c:v>
                </c:pt>
                <c:pt idx="286">
                  <c:v>44473</c:v>
                </c:pt>
                <c:pt idx="287">
                  <c:v>44474</c:v>
                </c:pt>
                <c:pt idx="288">
                  <c:v>44475</c:v>
                </c:pt>
                <c:pt idx="289">
                  <c:v>44476</c:v>
                </c:pt>
                <c:pt idx="290">
                  <c:v>44477</c:v>
                </c:pt>
                <c:pt idx="291">
                  <c:v>44478</c:v>
                </c:pt>
                <c:pt idx="292">
                  <c:v>44479</c:v>
                </c:pt>
                <c:pt idx="293">
                  <c:v>44480</c:v>
                </c:pt>
                <c:pt idx="294">
                  <c:v>44481</c:v>
                </c:pt>
                <c:pt idx="295">
                  <c:v>44482</c:v>
                </c:pt>
                <c:pt idx="296">
                  <c:v>44483</c:v>
                </c:pt>
                <c:pt idx="297">
                  <c:v>44484</c:v>
                </c:pt>
                <c:pt idx="298">
                  <c:v>44485</c:v>
                </c:pt>
                <c:pt idx="299">
                  <c:v>44486</c:v>
                </c:pt>
                <c:pt idx="300">
                  <c:v>44487</c:v>
                </c:pt>
                <c:pt idx="301">
                  <c:v>44488</c:v>
                </c:pt>
                <c:pt idx="302">
                  <c:v>44489</c:v>
                </c:pt>
                <c:pt idx="303">
                  <c:v>44490</c:v>
                </c:pt>
                <c:pt idx="304">
                  <c:v>44491</c:v>
                </c:pt>
                <c:pt idx="305">
                  <c:v>44492</c:v>
                </c:pt>
                <c:pt idx="306">
                  <c:v>44493</c:v>
                </c:pt>
                <c:pt idx="307">
                  <c:v>44494</c:v>
                </c:pt>
                <c:pt idx="308">
                  <c:v>44495</c:v>
                </c:pt>
                <c:pt idx="309">
                  <c:v>44496</c:v>
                </c:pt>
                <c:pt idx="310">
                  <c:v>44497</c:v>
                </c:pt>
                <c:pt idx="311">
                  <c:v>44498</c:v>
                </c:pt>
                <c:pt idx="312">
                  <c:v>44499</c:v>
                </c:pt>
                <c:pt idx="313">
                  <c:v>44500</c:v>
                </c:pt>
                <c:pt idx="314">
                  <c:v>44501</c:v>
                </c:pt>
                <c:pt idx="315">
                  <c:v>44502</c:v>
                </c:pt>
                <c:pt idx="316">
                  <c:v>44503</c:v>
                </c:pt>
                <c:pt idx="317">
                  <c:v>44504</c:v>
                </c:pt>
                <c:pt idx="318">
                  <c:v>44505</c:v>
                </c:pt>
                <c:pt idx="319">
                  <c:v>44506</c:v>
                </c:pt>
                <c:pt idx="320">
                  <c:v>44507</c:v>
                </c:pt>
                <c:pt idx="321">
                  <c:v>44508</c:v>
                </c:pt>
                <c:pt idx="322">
                  <c:v>44509</c:v>
                </c:pt>
                <c:pt idx="323">
                  <c:v>44510</c:v>
                </c:pt>
                <c:pt idx="324">
                  <c:v>44511</c:v>
                </c:pt>
                <c:pt idx="325">
                  <c:v>44512</c:v>
                </c:pt>
                <c:pt idx="326">
                  <c:v>44513</c:v>
                </c:pt>
                <c:pt idx="327">
                  <c:v>44514</c:v>
                </c:pt>
                <c:pt idx="328">
                  <c:v>44515</c:v>
                </c:pt>
                <c:pt idx="329">
                  <c:v>44516</c:v>
                </c:pt>
                <c:pt idx="330">
                  <c:v>44517</c:v>
                </c:pt>
                <c:pt idx="331">
                  <c:v>44518</c:v>
                </c:pt>
                <c:pt idx="332">
                  <c:v>44519</c:v>
                </c:pt>
                <c:pt idx="333">
                  <c:v>44520</c:v>
                </c:pt>
                <c:pt idx="334">
                  <c:v>44521</c:v>
                </c:pt>
                <c:pt idx="335">
                  <c:v>44522</c:v>
                </c:pt>
                <c:pt idx="336">
                  <c:v>44523</c:v>
                </c:pt>
                <c:pt idx="337">
                  <c:v>44524</c:v>
                </c:pt>
                <c:pt idx="338">
                  <c:v>44525</c:v>
                </c:pt>
                <c:pt idx="339">
                  <c:v>44526</c:v>
                </c:pt>
                <c:pt idx="340">
                  <c:v>44527</c:v>
                </c:pt>
                <c:pt idx="341">
                  <c:v>44528</c:v>
                </c:pt>
                <c:pt idx="342">
                  <c:v>44529</c:v>
                </c:pt>
                <c:pt idx="343">
                  <c:v>44530</c:v>
                </c:pt>
                <c:pt idx="344">
                  <c:v>44531</c:v>
                </c:pt>
                <c:pt idx="345">
                  <c:v>44532</c:v>
                </c:pt>
                <c:pt idx="346">
                  <c:v>44533</c:v>
                </c:pt>
                <c:pt idx="347">
                  <c:v>44534</c:v>
                </c:pt>
                <c:pt idx="348">
                  <c:v>44535</c:v>
                </c:pt>
                <c:pt idx="349">
                  <c:v>44536</c:v>
                </c:pt>
                <c:pt idx="350">
                  <c:v>44537</c:v>
                </c:pt>
                <c:pt idx="351">
                  <c:v>44538</c:v>
                </c:pt>
                <c:pt idx="352">
                  <c:v>44539</c:v>
                </c:pt>
                <c:pt idx="353">
                  <c:v>44540</c:v>
                </c:pt>
                <c:pt idx="354">
                  <c:v>44541</c:v>
                </c:pt>
                <c:pt idx="355">
                  <c:v>44542</c:v>
                </c:pt>
                <c:pt idx="356">
                  <c:v>44543</c:v>
                </c:pt>
                <c:pt idx="357">
                  <c:v>44544</c:v>
                </c:pt>
                <c:pt idx="358">
                  <c:v>44545</c:v>
                </c:pt>
                <c:pt idx="359">
                  <c:v>44546</c:v>
                </c:pt>
                <c:pt idx="360">
                  <c:v>44547</c:v>
                </c:pt>
                <c:pt idx="361">
                  <c:v>44548</c:v>
                </c:pt>
                <c:pt idx="362">
                  <c:v>44549</c:v>
                </c:pt>
                <c:pt idx="363">
                  <c:v>44550</c:v>
                </c:pt>
                <c:pt idx="364">
                  <c:v>44551</c:v>
                </c:pt>
                <c:pt idx="365">
                  <c:v>44552</c:v>
                </c:pt>
                <c:pt idx="366">
                  <c:v>44553</c:v>
                </c:pt>
                <c:pt idx="367">
                  <c:v>44554</c:v>
                </c:pt>
                <c:pt idx="368">
                  <c:v>44555</c:v>
                </c:pt>
                <c:pt idx="369">
                  <c:v>44556</c:v>
                </c:pt>
                <c:pt idx="370">
                  <c:v>44557</c:v>
                </c:pt>
                <c:pt idx="371">
                  <c:v>44558</c:v>
                </c:pt>
                <c:pt idx="372">
                  <c:v>44559</c:v>
                </c:pt>
                <c:pt idx="373">
                  <c:v>44560</c:v>
                </c:pt>
                <c:pt idx="374">
                  <c:v>44561</c:v>
                </c:pt>
                <c:pt idx="375">
                  <c:v>44562</c:v>
                </c:pt>
                <c:pt idx="376">
                  <c:v>44563</c:v>
                </c:pt>
                <c:pt idx="377">
                  <c:v>44564</c:v>
                </c:pt>
                <c:pt idx="378">
                  <c:v>44565</c:v>
                </c:pt>
                <c:pt idx="379">
                  <c:v>44566</c:v>
                </c:pt>
                <c:pt idx="380">
                  <c:v>44567</c:v>
                </c:pt>
                <c:pt idx="381">
                  <c:v>44568</c:v>
                </c:pt>
                <c:pt idx="382">
                  <c:v>44569</c:v>
                </c:pt>
                <c:pt idx="383">
                  <c:v>44570</c:v>
                </c:pt>
                <c:pt idx="384">
                  <c:v>44571</c:v>
                </c:pt>
                <c:pt idx="385">
                  <c:v>44572</c:v>
                </c:pt>
                <c:pt idx="386">
                  <c:v>44573</c:v>
                </c:pt>
                <c:pt idx="387">
                  <c:v>44574</c:v>
                </c:pt>
                <c:pt idx="388">
                  <c:v>44575</c:v>
                </c:pt>
                <c:pt idx="389">
                  <c:v>44576</c:v>
                </c:pt>
                <c:pt idx="390">
                  <c:v>44577</c:v>
                </c:pt>
                <c:pt idx="391">
                  <c:v>44578</c:v>
                </c:pt>
                <c:pt idx="392">
                  <c:v>44579</c:v>
                </c:pt>
                <c:pt idx="393">
                  <c:v>44580</c:v>
                </c:pt>
                <c:pt idx="394">
                  <c:v>44581</c:v>
                </c:pt>
                <c:pt idx="395">
                  <c:v>44582</c:v>
                </c:pt>
                <c:pt idx="396">
                  <c:v>44583</c:v>
                </c:pt>
                <c:pt idx="397">
                  <c:v>44584</c:v>
                </c:pt>
                <c:pt idx="398">
                  <c:v>44585</c:v>
                </c:pt>
                <c:pt idx="399">
                  <c:v>44586</c:v>
                </c:pt>
                <c:pt idx="400">
                  <c:v>44587</c:v>
                </c:pt>
                <c:pt idx="401">
                  <c:v>44588</c:v>
                </c:pt>
                <c:pt idx="402">
                  <c:v>44589</c:v>
                </c:pt>
                <c:pt idx="403">
                  <c:v>44590</c:v>
                </c:pt>
                <c:pt idx="404">
                  <c:v>44591</c:v>
                </c:pt>
                <c:pt idx="405">
                  <c:v>44592</c:v>
                </c:pt>
                <c:pt idx="406">
                  <c:v>44593</c:v>
                </c:pt>
                <c:pt idx="407">
                  <c:v>44594</c:v>
                </c:pt>
                <c:pt idx="408">
                  <c:v>44595</c:v>
                </c:pt>
                <c:pt idx="409">
                  <c:v>44596</c:v>
                </c:pt>
                <c:pt idx="410">
                  <c:v>44597</c:v>
                </c:pt>
                <c:pt idx="411">
                  <c:v>44598</c:v>
                </c:pt>
                <c:pt idx="412">
                  <c:v>44599</c:v>
                </c:pt>
                <c:pt idx="413">
                  <c:v>44600</c:v>
                </c:pt>
                <c:pt idx="414">
                  <c:v>44601</c:v>
                </c:pt>
                <c:pt idx="415">
                  <c:v>44602</c:v>
                </c:pt>
                <c:pt idx="416">
                  <c:v>44603</c:v>
                </c:pt>
                <c:pt idx="417">
                  <c:v>44604</c:v>
                </c:pt>
                <c:pt idx="418">
                  <c:v>44605</c:v>
                </c:pt>
                <c:pt idx="419">
                  <c:v>44606</c:v>
                </c:pt>
              </c:numCache>
            </c:numRef>
          </c:cat>
          <c:val>
            <c:numRef>
              <c:f>'일반 생치병상 통계'!$E$2:$E$421</c:f>
              <c:numCache>
                <c:formatCode>0_);[Red]\(0\)</c:formatCode>
                <c:ptCount val="4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22</c:v>
                </c:pt>
                <c:pt idx="41">
                  <c:v>45</c:v>
                </c:pt>
                <c:pt idx="42">
                  <c:v>72</c:v>
                </c:pt>
                <c:pt idx="43">
                  <c:v>112</c:v>
                </c:pt>
                <c:pt idx="44">
                  <c:v>130</c:v>
                </c:pt>
                <c:pt idx="45">
                  <c:v>149</c:v>
                </c:pt>
                <c:pt idx="46">
                  <c:v>187</c:v>
                </c:pt>
                <c:pt idx="47">
                  <c:v>237</c:v>
                </c:pt>
                <c:pt idx="48">
                  <c:v>252</c:v>
                </c:pt>
                <c:pt idx="49">
                  <c:v>169</c:v>
                </c:pt>
                <c:pt idx="50">
                  <c:v>160</c:v>
                </c:pt>
                <c:pt idx="51">
                  <c:v>175</c:v>
                </c:pt>
                <c:pt idx="52">
                  <c:v>173</c:v>
                </c:pt>
                <c:pt idx="53">
                  <c:v>168</c:v>
                </c:pt>
                <c:pt idx="54">
                  <c:v>173</c:v>
                </c:pt>
                <c:pt idx="55">
                  <c:v>163</c:v>
                </c:pt>
                <c:pt idx="56">
                  <c:v>162</c:v>
                </c:pt>
                <c:pt idx="57">
                  <c:v>167</c:v>
                </c:pt>
                <c:pt idx="58">
                  <c:v>151</c:v>
                </c:pt>
                <c:pt idx="59">
                  <c:v>165</c:v>
                </c:pt>
                <c:pt idx="60">
                  <c:v>157</c:v>
                </c:pt>
                <c:pt idx="61">
                  <c:v>156</c:v>
                </c:pt>
                <c:pt idx="62">
                  <c:v>141</c:v>
                </c:pt>
                <c:pt idx="63">
                  <c:v>105</c:v>
                </c:pt>
                <c:pt idx="64">
                  <c:v>102</c:v>
                </c:pt>
                <c:pt idx="65">
                  <c:v>137</c:v>
                </c:pt>
                <c:pt idx="66">
                  <c:v>151</c:v>
                </c:pt>
                <c:pt idx="67">
                  <c:v>138</c:v>
                </c:pt>
                <c:pt idx="68">
                  <c:v>131</c:v>
                </c:pt>
                <c:pt idx="69">
                  <c:v>134</c:v>
                </c:pt>
                <c:pt idx="70">
                  <c:v>104</c:v>
                </c:pt>
                <c:pt idx="71">
                  <c:v>75</c:v>
                </c:pt>
                <c:pt idx="72">
                  <c:v>109</c:v>
                </c:pt>
                <c:pt idx="73">
                  <c:v>116</c:v>
                </c:pt>
                <c:pt idx="74">
                  <c:v>101</c:v>
                </c:pt>
                <c:pt idx="75">
                  <c:v>108</c:v>
                </c:pt>
                <c:pt idx="76">
                  <c:v>109</c:v>
                </c:pt>
                <c:pt idx="77">
                  <c:v>116</c:v>
                </c:pt>
                <c:pt idx="78">
                  <c:v>104</c:v>
                </c:pt>
                <c:pt idx="79">
                  <c:v>91</c:v>
                </c:pt>
                <c:pt idx="80">
                  <c:v>65</c:v>
                </c:pt>
                <c:pt idx="81">
                  <c:v>72</c:v>
                </c:pt>
                <c:pt idx="82">
                  <c:v>72</c:v>
                </c:pt>
                <c:pt idx="83">
                  <c:v>76</c:v>
                </c:pt>
                <c:pt idx="84">
                  <c:v>55</c:v>
                </c:pt>
                <c:pt idx="85">
                  <c:v>56</c:v>
                </c:pt>
                <c:pt idx="86">
                  <c:v>61</c:v>
                </c:pt>
                <c:pt idx="87">
                  <c:v>88</c:v>
                </c:pt>
                <c:pt idx="88">
                  <c:v>88</c:v>
                </c:pt>
                <c:pt idx="89">
                  <c:v>88</c:v>
                </c:pt>
                <c:pt idx="90">
                  <c:v>77</c:v>
                </c:pt>
                <c:pt idx="91">
                  <c:v>74</c:v>
                </c:pt>
                <c:pt idx="92">
                  <c:v>74</c:v>
                </c:pt>
                <c:pt idx="93">
                  <c:v>71</c:v>
                </c:pt>
                <c:pt idx="94">
                  <c:v>75</c:v>
                </c:pt>
                <c:pt idx="95">
                  <c:v>70</c:v>
                </c:pt>
                <c:pt idx="96">
                  <c:v>69</c:v>
                </c:pt>
                <c:pt idx="97">
                  <c:v>51</c:v>
                </c:pt>
                <c:pt idx="98">
                  <c:v>41</c:v>
                </c:pt>
                <c:pt idx="99">
                  <c:v>31</c:v>
                </c:pt>
                <c:pt idx="100">
                  <c:v>32</c:v>
                </c:pt>
                <c:pt idx="101">
                  <c:v>40</c:v>
                </c:pt>
                <c:pt idx="102">
                  <c:v>30</c:v>
                </c:pt>
                <c:pt idx="103">
                  <c:v>27</c:v>
                </c:pt>
                <c:pt idx="104">
                  <c:v>33</c:v>
                </c:pt>
                <c:pt idx="105">
                  <c:v>36</c:v>
                </c:pt>
                <c:pt idx="106">
                  <c:v>32</c:v>
                </c:pt>
                <c:pt idx="107">
                  <c:v>37</c:v>
                </c:pt>
                <c:pt idx="108">
                  <c:v>25</c:v>
                </c:pt>
                <c:pt idx="109">
                  <c:v>22</c:v>
                </c:pt>
                <c:pt idx="110">
                  <c:v>20</c:v>
                </c:pt>
                <c:pt idx="111">
                  <c:v>20</c:v>
                </c:pt>
                <c:pt idx="112">
                  <c:v>18</c:v>
                </c:pt>
                <c:pt idx="113">
                  <c:v>17</c:v>
                </c:pt>
                <c:pt idx="114">
                  <c:v>21</c:v>
                </c:pt>
                <c:pt idx="115">
                  <c:v>24</c:v>
                </c:pt>
                <c:pt idx="116">
                  <c:v>30</c:v>
                </c:pt>
                <c:pt idx="117">
                  <c:v>33</c:v>
                </c:pt>
                <c:pt idx="118">
                  <c:v>39</c:v>
                </c:pt>
                <c:pt idx="119">
                  <c:v>41</c:v>
                </c:pt>
                <c:pt idx="120">
                  <c:v>46</c:v>
                </c:pt>
                <c:pt idx="121">
                  <c:v>46</c:v>
                </c:pt>
                <c:pt idx="122">
                  <c:v>73</c:v>
                </c:pt>
                <c:pt idx="123">
                  <c:v>88</c:v>
                </c:pt>
                <c:pt idx="124">
                  <c:v>130</c:v>
                </c:pt>
                <c:pt idx="125">
                  <c:v>124</c:v>
                </c:pt>
                <c:pt idx="126">
                  <c:v>124</c:v>
                </c:pt>
                <c:pt idx="127">
                  <c:v>159</c:v>
                </c:pt>
                <c:pt idx="128">
                  <c:v>185</c:v>
                </c:pt>
                <c:pt idx="129">
                  <c:v>214</c:v>
                </c:pt>
                <c:pt idx="130">
                  <c:v>232</c:v>
                </c:pt>
                <c:pt idx="131">
                  <c:v>241</c:v>
                </c:pt>
                <c:pt idx="132">
                  <c:v>250</c:v>
                </c:pt>
                <c:pt idx="133">
                  <c:v>266</c:v>
                </c:pt>
                <c:pt idx="134">
                  <c:v>260</c:v>
                </c:pt>
                <c:pt idx="135">
                  <c:v>244</c:v>
                </c:pt>
                <c:pt idx="136">
                  <c:v>274</c:v>
                </c:pt>
                <c:pt idx="137">
                  <c:v>290</c:v>
                </c:pt>
                <c:pt idx="138">
                  <c:v>291</c:v>
                </c:pt>
                <c:pt idx="139">
                  <c:v>266</c:v>
                </c:pt>
                <c:pt idx="140">
                  <c:v>223</c:v>
                </c:pt>
                <c:pt idx="141">
                  <c:v>222</c:v>
                </c:pt>
                <c:pt idx="142">
                  <c:v>225</c:v>
                </c:pt>
                <c:pt idx="143">
                  <c:v>215</c:v>
                </c:pt>
                <c:pt idx="144">
                  <c:v>201</c:v>
                </c:pt>
                <c:pt idx="145">
                  <c:v>179</c:v>
                </c:pt>
                <c:pt idx="146">
                  <c:v>182</c:v>
                </c:pt>
                <c:pt idx="147">
                  <c:v>185</c:v>
                </c:pt>
                <c:pt idx="148">
                  <c:v>181</c:v>
                </c:pt>
                <c:pt idx="149">
                  <c:v>182</c:v>
                </c:pt>
                <c:pt idx="150">
                  <c:v>169</c:v>
                </c:pt>
                <c:pt idx="151">
                  <c:v>152</c:v>
                </c:pt>
                <c:pt idx="152">
                  <c:v>140</c:v>
                </c:pt>
                <c:pt idx="153">
                  <c:v>126</c:v>
                </c:pt>
                <c:pt idx="154">
                  <c:v>126</c:v>
                </c:pt>
                <c:pt idx="155">
                  <c:v>128</c:v>
                </c:pt>
                <c:pt idx="156">
                  <c:v>106</c:v>
                </c:pt>
                <c:pt idx="157">
                  <c:v>118</c:v>
                </c:pt>
                <c:pt idx="158">
                  <c:v>87</c:v>
                </c:pt>
                <c:pt idx="159">
                  <c:v>77</c:v>
                </c:pt>
                <c:pt idx="160">
                  <c:v>79</c:v>
                </c:pt>
                <c:pt idx="161">
                  <c:v>97</c:v>
                </c:pt>
                <c:pt idx="162">
                  <c:v>91</c:v>
                </c:pt>
                <c:pt idx="163">
                  <c:v>88</c:v>
                </c:pt>
                <c:pt idx="164">
                  <c:v>98</c:v>
                </c:pt>
                <c:pt idx="165">
                  <c:v>97</c:v>
                </c:pt>
                <c:pt idx="166">
                  <c:v>90</c:v>
                </c:pt>
                <c:pt idx="167">
                  <c:v>102</c:v>
                </c:pt>
                <c:pt idx="168">
                  <c:v>96</c:v>
                </c:pt>
                <c:pt idx="169">
                  <c:v>94</c:v>
                </c:pt>
                <c:pt idx="170">
                  <c:v>80</c:v>
                </c:pt>
                <c:pt idx="171">
                  <c:v>79</c:v>
                </c:pt>
                <c:pt idx="172">
                  <c:v>80</c:v>
                </c:pt>
                <c:pt idx="173">
                  <c:v>80</c:v>
                </c:pt>
                <c:pt idx="174">
                  <c:v>72</c:v>
                </c:pt>
                <c:pt idx="175">
                  <c:v>64</c:v>
                </c:pt>
                <c:pt idx="176">
                  <c:v>63</c:v>
                </c:pt>
                <c:pt idx="177">
                  <c:v>63</c:v>
                </c:pt>
                <c:pt idx="178">
                  <c:v>70</c:v>
                </c:pt>
                <c:pt idx="179">
                  <c:v>67</c:v>
                </c:pt>
                <c:pt idx="180">
                  <c:v>70</c:v>
                </c:pt>
                <c:pt idx="181">
                  <c:v>71</c:v>
                </c:pt>
                <c:pt idx="182">
                  <c:v>86</c:v>
                </c:pt>
                <c:pt idx="183">
                  <c:v>97</c:v>
                </c:pt>
                <c:pt idx="184">
                  <c:v>90</c:v>
                </c:pt>
                <c:pt idx="185">
                  <c:v>94</c:v>
                </c:pt>
                <c:pt idx="186">
                  <c:v>73</c:v>
                </c:pt>
                <c:pt idx="187">
                  <c:v>77</c:v>
                </c:pt>
                <c:pt idx="188">
                  <c:v>64</c:v>
                </c:pt>
                <c:pt idx="189">
                  <c:v>56</c:v>
                </c:pt>
                <c:pt idx="190">
                  <c:v>63</c:v>
                </c:pt>
                <c:pt idx="191">
                  <c:v>66</c:v>
                </c:pt>
                <c:pt idx="192">
                  <c:v>82</c:v>
                </c:pt>
                <c:pt idx="193">
                  <c:v>83</c:v>
                </c:pt>
                <c:pt idx="194">
                  <c:v>93</c:v>
                </c:pt>
                <c:pt idx="195">
                  <c:v>101</c:v>
                </c:pt>
                <c:pt idx="196">
                  <c:v>100</c:v>
                </c:pt>
                <c:pt idx="197">
                  <c:v>102</c:v>
                </c:pt>
                <c:pt idx="198">
                  <c:v>120</c:v>
                </c:pt>
                <c:pt idx="199">
                  <c:v>150</c:v>
                </c:pt>
                <c:pt idx="200">
                  <c:v>188</c:v>
                </c:pt>
                <c:pt idx="201">
                  <c:v>209</c:v>
                </c:pt>
                <c:pt idx="202">
                  <c:v>223</c:v>
                </c:pt>
                <c:pt idx="203">
                  <c:v>231</c:v>
                </c:pt>
                <c:pt idx="204">
                  <c:v>260</c:v>
                </c:pt>
                <c:pt idx="205">
                  <c:v>281</c:v>
                </c:pt>
                <c:pt idx="206">
                  <c:v>298</c:v>
                </c:pt>
                <c:pt idx="207">
                  <c:v>337</c:v>
                </c:pt>
                <c:pt idx="208">
                  <c:v>336</c:v>
                </c:pt>
                <c:pt idx="209">
                  <c:v>347</c:v>
                </c:pt>
                <c:pt idx="210">
                  <c:v>390</c:v>
                </c:pt>
                <c:pt idx="211">
                  <c:v>430</c:v>
                </c:pt>
                <c:pt idx="212">
                  <c:v>486</c:v>
                </c:pt>
                <c:pt idx="213">
                  <c:v>486</c:v>
                </c:pt>
                <c:pt idx="214">
                  <c:v>548</c:v>
                </c:pt>
                <c:pt idx="215">
                  <c:v>586</c:v>
                </c:pt>
                <c:pt idx="216">
                  <c:v>633</c:v>
                </c:pt>
                <c:pt idx="217">
                  <c:v>660</c:v>
                </c:pt>
                <c:pt idx="218">
                  <c:v>644</c:v>
                </c:pt>
                <c:pt idx="219">
                  <c:v>669</c:v>
                </c:pt>
                <c:pt idx="220">
                  <c:v>678</c:v>
                </c:pt>
                <c:pt idx="221">
                  <c:v>669</c:v>
                </c:pt>
                <c:pt idx="222">
                  <c:v>636</c:v>
                </c:pt>
                <c:pt idx="223">
                  <c:v>607</c:v>
                </c:pt>
                <c:pt idx="224">
                  <c:v>558</c:v>
                </c:pt>
                <c:pt idx="225">
                  <c:v>552</c:v>
                </c:pt>
                <c:pt idx="226">
                  <c:v>567</c:v>
                </c:pt>
                <c:pt idx="227">
                  <c:v>598</c:v>
                </c:pt>
                <c:pt idx="228">
                  <c:v>598</c:v>
                </c:pt>
                <c:pt idx="229">
                  <c:v>662</c:v>
                </c:pt>
                <c:pt idx="230">
                  <c:v>726</c:v>
                </c:pt>
                <c:pt idx="231">
                  <c:v>755</c:v>
                </c:pt>
                <c:pt idx="232">
                  <c:v>816</c:v>
                </c:pt>
                <c:pt idx="233">
                  <c:v>874</c:v>
                </c:pt>
                <c:pt idx="234">
                  <c:v>975</c:v>
                </c:pt>
                <c:pt idx="235">
                  <c:v>1018</c:v>
                </c:pt>
                <c:pt idx="236">
                  <c:v>1066</c:v>
                </c:pt>
                <c:pt idx="237">
                  <c:v>1070</c:v>
                </c:pt>
                <c:pt idx="238">
                  <c:v>1037</c:v>
                </c:pt>
                <c:pt idx="239">
                  <c:v>872</c:v>
                </c:pt>
                <c:pt idx="240">
                  <c:v>1052</c:v>
                </c:pt>
                <c:pt idx="241">
                  <c:v>1067</c:v>
                </c:pt>
                <c:pt idx="242">
                  <c:v>1010</c:v>
                </c:pt>
                <c:pt idx="243">
                  <c:v>994</c:v>
                </c:pt>
                <c:pt idx="244">
                  <c:v>915</c:v>
                </c:pt>
                <c:pt idx="245">
                  <c:v>849</c:v>
                </c:pt>
                <c:pt idx="246">
                  <c:v>815</c:v>
                </c:pt>
                <c:pt idx="247">
                  <c:v>783</c:v>
                </c:pt>
                <c:pt idx="248">
                  <c:v>759</c:v>
                </c:pt>
                <c:pt idx="249">
                  <c:v>728</c:v>
                </c:pt>
                <c:pt idx="250">
                  <c:v>631</c:v>
                </c:pt>
                <c:pt idx="251">
                  <c:v>631</c:v>
                </c:pt>
                <c:pt idx="252">
                  <c:v>538</c:v>
                </c:pt>
                <c:pt idx="253">
                  <c:v>476</c:v>
                </c:pt>
                <c:pt idx="254">
                  <c:v>486</c:v>
                </c:pt>
                <c:pt idx="255">
                  <c:v>473</c:v>
                </c:pt>
                <c:pt idx="256">
                  <c:v>448</c:v>
                </c:pt>
                <c:pt idx="257">
                  <c:v>418</c:v>
                </c:pt>
                <c:pt idx="258">
                  <c:v>398</c:v>
                </c:pt>
                <c:pt idx="259">
                  <c:v>359</c:v>
                </c:pt>
                <c:pt idx="260">
                  <c:v>331</c:v>
                </c:pt>
                <c:pt idx="261">
                  <c:v>313</c:v>
                </c:pt>
                <c:pt idx="262">
                  <c:v>307</c:v>
                </c:pt>
                <c:pt idx="263">
                  <c:v>285</c:v>
                </c:pt>
                <c:pt idx="264">
                  <c:v>264</c:v>
                </c:pt>
                <c:pt idx="265">
                  <c:v>242</c:v>
                </c:pt>
                <c:pt idx="266">
                  <c:v>238</c:v>
                </c:pt>
                <c:pt idx="267">
                  <c:v>235</c:v>
                </c:pt>
                <c:pt idx="268">
                  <c:v>229</c:v>
                </c:pt>
                <c:pt idx="269">
                  <c:v>242</c:v>
                </c:pt>
                <c:pt idx="270">
                  <c:v>252</c:v>
                </c:pt>
                <c:pt idx="271">
                  <c:v>260</c:v>
                </c:pt>
                <c:pt idx="272">
                  <c:v>271</c:v>
                </c:pt>
                <c:pt idx="273">
                  <c:v>277</c:v>
                </c:pt>
                <c:pt idx="274">
                  <c:v>284</c:v>
                </c:pt>
                <c:pt idx="275">
                  <c:v>266</c:v>
                </c:pt>
                <c:pt idx="276">
                  <c:v>199</c:v>
                </c:pt>
                <c:pt idx="277">
                  <c:v>274</c:v>
                </c:pt>
                <c:pt idx="278">
                  <c:v>278</c:v>
                </c:pt>
                <c:pt idx="279">
                  <c:v>282</c:v>
                </c:pt>
                <c:pt idx="280">
                  <c:v>277</c:v>
                </c:pt>
                <c:pt idx="281">
                  <c:v>292</c:v>
                </c:pt>
                <c:pt idx="282">
                  <c:v>291</c:v>
                </c:pt>
                <c:pt idx="283">
                  <c:v>286</c:v>
                </c:pt>
                <c:pt idx="284">
                  <c:v>282</c:v>
                </c:pt>
                <c:pt idx="285">
                  <c:v>295</c:v>
                </c:pt>
                <c:pt idx="286">
                  <c:v>294</c:v>
                </c:pt>
                <c:pt idx="287">
                  <c:v>297</c:v>
                </c:pt>
                <c:pt idx="288">
                  <c:v>276</c:v>
                </c:pt>
                <c:pt idx="289">
                  <c:v>286</c:v>
                </c:pt>
                <c:pt idx="290">
                  <c:v>291</c:v>
                </c:pt>
                <c:pt idx="291">
                  <c:v>283</c:v>
                </c:pt>
                <c:pt idx="292">
                  <c:v>271</c:v>
                </c:pt>
                <c:pt idx="293">
                  <c:v>274</c:v>
                </c:pt>
                <c:pt idx="294">
                  <c:v>265</c:v>
                </c:pt>
                <c:pt idx="295">
                  <c:v>264</c:v>
                </c:pt>
                <c:pt idx="296">
                  <c:v>263</c:v>
                </c:pt>
                <c:pt idx="297">
                  <c:v>260</c:v>
                </c:pt>
                <c:pt idx="298">
                  <c:v>250</c:v>
                </c:pt>
                <c:pt idx="299">
                  <c:v>244</c:v>
                </c:pt>
                <c:pt idx="300">
                  <c:v>244</c:v>
                </c:pt>
                <c:pt idx="301">
                  <c:v>246</c:v>
                </c:pt>
                <c:pt idx="302">
                  <c:v>242</c:v>
                </c:pt>
                <c:pt idx="303">
                  <c:v>222</c:v>
                </c:pt>
                <c:pt idx="304">
                  <c:v>235</c:v>
                </c:pt>
                <c:pt idx="305">
                  <c:v>229</c:v>
                </c:pt>
                <c:pt idx="306">
                  <c:v>216</c:v>
                </c:pt>
                <c:pt idx="307">
                  <c:v>203</c:v>
                </c:pt>
                <c:pt idx="308">
                  <c:v>204</c:v>
                </c:pt>
                <c:pt idx="309">
                  <c:v>206</c:v>
                </c:pt>
                <c:pt idx="310">
                  <c:v>219</c:v>
                </c:pt>
                <c:pt idx="311">
                  <c:v>219</c:v>
                </c:pt>
                <c:pt idx="312">
                  <c:v>224</c:v>
                </c:pt>
                <c:pt idx="313">
                  <c:v>240</c:v>
                </c:pt>
                <c:pt idx="314">
                  <c:v>245</c:v>
                </c:pt>
                <c:pt idx="315">
                  <c:v>235</c:v>
                </c:pt>
                <c:pt idx="316">
                  <c:v>265</c:v>
                </c:pt>
                <c:pt idx="317">
                  <c:v>285</c:v>
                </c:pt>
                <c:pt idx="318">
                  <c:v>283</c:v>
                </c:pt>
                <c:pt idx="319">
                  <c:v>300</c:v>
                </c:pt>
                <c:pt idx="320">
                  <c:v>300</c:v>
                </c:pt>
                <c:pt idx="321">
                  <c:v>302</c:v>
                </c:pt>
                <c:pt idx="322">
                  <c:v>315</c:v>
                </c:pt>
                <c:pt idx="323">
                  <c:v>325</c:v>
                </c:pt>
                <c:pt idx="324">
                  <c:v>342</c:v>
                </c:pt>
                <c:pt idx="325">
                  <c:v>351</c:v>
                </c:pt>
                <c:pt idx="326">
                  <c:v>346</c:v>
                </c:pt>
                <c:pt idx="327">
                  <c:v>342</c:v>
                </c:pt>
                <c:pt idx="328">
                  <c:v>340</c:v>
                </c:pt>
                <c:pt idx="329">
                  <c:v>338</c:v>
                </c:pt>
                <c:pt idx="330">
                  <c:v>380</c:v>
                </c:pt>
                <c:pt idx="331">
                  <c:v>414</c:v>
                </c:pt>
                <c:pt idx="332">
                  <c:v>437</c:v>
                </c:pt>
                <c:pt idx="333">
                  <c:v>438</c:v>
                </c:pt>
                <c:pt idx="334">
                  <c:v>447</c:v>
                </c:pt>
                <c:pt idx="335">
                  <c:v>460</c:v>
                </c:pt>
                <c:pt idx="336">
                  <c:v>446</c:v>
                </c:pt>
                <c:pt idx="337">
                  <c:v>491</c:v>
                </c:pt>
                <c:pt idx="338">
                  <c:v>510</c:v>
                </c:pt>
                <c:pt idx="339">
                  <c:v>548</c:v>
                </c:pt>
                <c:pt idx="340">
                  <c:v>538</c:v>
                </c:pt>
                <c:pt idx="341">
                  <c:v>585</c:v>
                </c:pt>
                <c:pt idx="342">
                  <c:v>622</c:v>
                </c:pt>
                <c:pt idx="343">
                  <c:v>611</c:v>
                </c:pt>
                <c:pt idx="344">
                  <c:v>639</c:v>
                </c:pt>
                <c:pt idx="345">
                  <c:v>664</c:v>
                </c:pt>
                <c:pt idx="346">
                  <c:v>696</c:v>
                </c:pt>
                <c:pt idx="347">
                  <c:v>743</c:v>
                </c:pt>
                <c:pt idx="348">
                  <c:v>778</c:v>
                </c:pt>
                <c:pt idx="349">
                  <c:v>810</c:v>
                </c:pt>
                <c:pt idx="350">
                  <c:v>815</c:v>
                </c:pt>
                <c:pt idx="351">
                  <c:v>853</c:v>
                </c:pt>
                <c:pt idx="352">
                  <c:v>855</c:v>
                </c:pt>
                <c:pt idx="353">
                  <c:v>916</c:v>
                </c:pt>
                <c:pt idx="354">
                  <c:v>952</c:v>
                </c:pt>
                <c:pt idx="355">
                  <c:v>978</c:v>
                </c:pt>
                <c:pt idx="356">
                  <c:v>947</c:v>
                </c:pt>
                <c:pt idx="357">
                  <c:v>938</c:v>
                </c:pt>
                <c:pt idx="358">
                  <c:v>888</c:v>
                </c:pt>
                <c:pt idx="359">
                  <c:v>913</c:v>
                </c:pt>
                <c:pt idx="360">
                  <c:v>927</c:v>
                </c:pt>
                <c:pt idx="361">
                  <c:v>960</c:v>
                </c:pt>
                <c:pt idx="362">
                  <c:v>937</c:v>
                </c:pt>
                <c:pt idx="363">
                  <c:v>925</c:v>
                </c:pt>
                <c:pt idx="364">
                  <c:v>835</c:v>
                </c:pt>
                <c:pt idx="365">
                  <c:v>869</c:v>
                </c:pt>
                <c:pt idx="366">
                  <c:v>848</c:v>
                </c:pt>
                <c:pt idx="367">
                  <c:v>895</c:v>
                </c:pt>
                <c:pt idx="368">
                  <c:v>853</c:v>
                </c:pt>
                <c:pt idx="369">
                  <c:v>854</c:v>
                </c:pt>
                <c:pt idx="370">
                  <c:v>816</c:v>
                </c:pt>
                <c:pt idx="371">
                  <c:v>810</c:v>
                </c:pt>
                <c:pt idx="372">
                  <c:v>820</c:v>
                </c:pt>
                <c:pt idx="373">
                  <c:v>820</c:v>
                </c:pt>
                <c:pt idx="374">
                  <c:v>855</c:v>
                </c:pt>
                <c:pt idx="375">
                  <c:v>842</c:v>
                </c:pt>
                <c:pt idx="376">
                  <c:v>839</c:v>
                </c:pt>
                <c:pt idx="377">
                  <c:v>818</c:v>
                </c:pt>
                <c:pt idx="378">
                  <c:v>792</c:v>
                </c:pt>
                <c:pt idx="379">
                  <c:v>721</c:v>
                </c:pt>
                <c:pt idx="380">
                  <c:v>738</c:v>
                </c:pt>
                <c:pt idx="381">
                  <c:v>751</c:v>
                </c:pt>
                <c:pt idx="382">
                  <c:v>772</c:v>
                </c:pt>
                <c:pt idx="383">
                  <c:v>706</c:v>
                </c:pt>
                <c:pt idx="384">
                  <c:v>739</c:v>
                </c:pt>
                <c:pt idx="385">
                  <c:v>702</c:v>
                </c:pt>
                <c:pt idx="386">
                  <c:v>636</c:v>
                </c:pt>
                <c:pt idx="387">
                  <c:v>637</c:v>
                </c:pt>
                <c:pt idx="388">
                  <c:v>659</c:v>
                </c:pt>
                <c:pt idx="389">
                  <c:v>636</c:v>
                </c:pt>
                <c:pt idx="390">
                  <c:v>582</c:v>
                </c:pt>
                <c:pt idx="391">
                  <c:v>552</c:v>
                </c:pt>
                <c:pt idx="392">
                  <c:v>556</c:v>
                </c:pt>
                <c:pt idx="393">
                  <c:v>576</c:v>
                </c:pt>
                <c:pt idx="394">
                  <c:v>585.33333333333303</c:v>
                </c:pt>
                <c:pt idx="395">
                  <c:v>594.66666666666595</c:v>
                </c:pt>
                <c:pt idx="396">
                  <c:v>666</c:v>
                </c:pt>
                <c:pt idx="397">
                  <c:v>737.33333333333405</c:v>
                </c:pt>
                <c:pt idx="398">
                  <c:v>778</c:v>
                </c:pt>
                <c:pt idx="399">
                  <c:v>883</c:v>
                </c:pt>
                <c:pt idx="400">
                  <c:v>1029</c:v>
                </c:pt>
                <c:pt idx="401">
                  <c:v>1130</c:v>
                </c:pt>
                <c:pt idx="402">
                  <c:v>1205</c:v>
                </c:pt>
                <c:pt idx="403">
                  <c:v>1309</c:v>
                </c:pt>
                <c:pt idx="404">
                  <c:v>1516</c:v>
                </c:pt>
                <c:pt idx="405">
                  <c:v>1552</c:v>
                </c:pt>
                <c:pt idx="406">
                  <c:v>1683</c:v>
                </c:pt>
                <c:pt idx="407">
                  <c:v>1777</c:v>
                </c:pt>
                <c:pt idx="408">
                  <c:v>1766</c:v>
                </c:pt>
                <c:pt idx="409">
                  <c:v>1774</c:v>
                </c:pt>
                <c:pt idx="410">
                  <c:v>1670</c:v>
                </c:pt>
                <c:pt idx="411">
                  <c:v>1585</c:v>
                </c:pt>
                <c:pt idx="412">
                  <c:v>1747</c:v>
                </c:pt>
                <c:pt idx="413">
                  <c:v>1390</c:v>
                </c:pt>
                <c:pt idx="414">
                  <c:v>1290</c:v>
                </c:pt>
                <c:pt idx="415">
                  <c:v>1074</c:v>
                </c:pt>
                <c:pt idx="416">
                  <c:v>998</c:v>
                </c:pt>
                <c:pt idx="417">
                  <c:v>848</c:v>
                </c:pt>
                <c:pt idx="418">
                  <c:v>709</c:v>
                </c:pt>
                <c:pt idx="419">
                  <c:v>709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937-40CE-A4D8-83FD613F99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8771456"/>
        <c:axId val="218772992"/>
      </c:lineChart>
      <c:dateAx>
        <c:axId val="218771456"/>
        <c:scaling>
          <c:orientation val="minMax"/>
        </c:scaling>
        <c:delete val="0"/>
        <c:axPos val="b"/>
        <c:numFmt formatCode="yy&quot;-&quot;m&quot;-&quot;d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b="0"/>
            </a:pPr>
            <a:endParaRPr lang="ko-KR"/>
          </a:p>
        </c:txPr>
        <c:crossAx val="218772992"/>
        <c:crosses val="autoZero"/>
        <c:auto val="1"/>
        <c:lblOffset val="100"/>
        <c:baseTimeUnit val="days"/>
      </c:dateAx>
      <c:valAx>
        <c:axId val="218772992"/>
        <c:scaling>
          <c:orientation val="minMax"/>
          <c:max val="4000"/>
          <c:min val="0"/>
        </c:scaling>
        <c:delete val="0"/>
        <c:axPos val="l"/>
        <c:numFmt formatCode="0_);[Red]\(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 b="0"/>
            </a:pPr>
            <a:endParaRPr lang="ko-KR"/>
          </a:p>
        </c:txPr>
        <c:crossAx val="21877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txPr>
          <a:bodyPr rot="0" vert="horz"/>
          <a:lstStyle/>
          <a:p>
            <a:pPr>
              <a:defRPr sz="1400" b="1">
                <a:solidFill>
                  <a:schemeClr val="tx1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pPr>
            <a:endParaRPr lang="ko-KR"/>
          </a:p>
        </c:txPr>
      </c:legendEntry>
      <c:legendEntry>
        <c:idx val="2"/>
        <c:txPr>
          <a:bodyPr rot="0" vert="horz"/>
          <a:lstStyle/>
          <a:p>
            <a:pPr>
              <a:defRPr sz="1400" b="1">
                <a:solidFill>
                  <a:schemeClr val="tx1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pPr>
            <a:endParaRPr lang="ko-KR"/>
          </a:p>
        </c:txPr>
      </c:legendEntry>
      <c:layout>
        <c:manualLayout>
          <c:xMode val="edge"/>
          <c:yMode val="edge"/>
          <c:x val="2.7147127510984085E-2"/>
          <c:y val="2.6159680863772482E-2"/>
          <c:w val="0.14254955867899113"/>
          <c:h val="0.33104041416838137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400" b="1">
              <a:solidFill>
                <a:schemeClr val="tx1"/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 b="1"/>
      </a:pPr>
      <a:endParaRPr lang="ko-KR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986181791755261E-2"/>
          <c:y val="0.1425972080147985"/>
          <c:w val="0.92568959505967474"/>
          <c:h val="0.748026878343712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'일반 중환자 병상 통계'!$J$1</c:f>
              <c:strCache>
                <c:ptCount val="1"/>
                <c:pt idx="0">
                  <c:v>일별 확진자수(명)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cat>
            <c:numRef>
              <c:f>'일반 중환자 병상 통계'!$I$2:$I$421</c:f>
              <c:numCache>
                <c:formatCode>yy"-"m"-"d;@</c:formatCode>
                <c:ptCount val="420"/>
                <c:pt idx="0">
                  <c:v>43972</c:v>
                </c:pt>
                <c:pt idx="1">
                  <c:v>43976</c:v>
                </c:pt>
                <c:pt idx="2">
                  <c:v>43981</c:v>
                </c:pt>
                <c:pt idx="3">
                  <c:v>43987</c:v>
                </c:pt>
                <c:pt idx="4">
                  <c:v>43992</c:v>
                </c:pt>
                <c:pt idx="5">
                  <c:v>43997</c:v>
                </c:pt>
                <c:pt idx="6">
                  <c:v>44002</c:v>
                </c:pt>
                <c:pt idx="7">
                  <c:v>44007</c:v>
                </c:pt>
                <c:pt idx="8">
                  <c:v>44012</c:v>
                </c:pt>
                <c:pt idx="9">
                  <c:v>44017</c:v>
                </c:pt>
                <c:pt idx="10">
                  <c:v>44022</c:v>
                </c:pt>
                <c:pt idx="11">
                  <c:v>44027</c:v>
                </c:pt>
                <c:pt idx="12">
                  <c:v>44032</c:v>
                </c:pt>
                <c:pt idx="13">
                  <c:v>44037</c:v>
                </c:pt>
                <c:pt idx="14">
                  <c:v>44043</c:v>
                </c:pt>
                <c:pt idx="15">
                  <c:v>44048</c:v>
                </c:pt>
                <c:pt idx="16">
                  <c:v>44053</c:v>
                </c:pt>
                <c:pt idx="17">
                  <c:v>44058</c:v>
                </c:pt>
                <c:pt idx="18">
                  <c:v>44063</c:v>
                </c:pt>
                <c:pt idx="19">
                  <c:v>44068</c:v>
                </c:pt>
                <c:pt idx="20">
                  <c:v>44073</c:v>
                </c:pt>
                <c:pt idx="21">
                  <c:v>44079</c:v>
                </c:pt>
                <c:pt idx="22">
                  <c:v>44084</c:v>
                </c:pt>
                <c:pt idx="23">
                  <c:v>44089</c:v>
                </c:pt>
                <c:pt idx="24">
                  <c:v>44094</c:v>
                </c:pt>
                <c:pt idx="25">
                  <c:v>44099</c:v>
                </c:pt>
                <c:pt idx="26">
                  <c:v>44104</c:v>
                </c:pt>
                <c:pt idx="27">
                  <c:v>44109</c:v>
                </c:pt>
                <c:pt idx="28">
                  <c:v>44115</c:v>
                </c:pt>
                <c:pt idx="29">
                  <c:v>44119</c:v>
                </c:pt>
                <c:pt idx="30">
                  <c:v>44123</c:v>
                </c:pt>
                <c:pt idx="31">
                  <c:v>44128</c:v>
                </c:pt>
                <c:pt idx="32">
                  <c:v>44134</c:v>
                </c:pt>
                <c:pt idx="33">
                  <c:v>44139</c:v>
                </c:pt>
                <c:pt idx="34">
                  <c:v>44145</c:v>
                </c:pt>
                <c:pt idx="35">
                  <c:v>44151</c:v>
                </c:pt>
                <c:pt idx="36">
                  <c:v>44155</c:v>
                </c:pt>
                <c:pt idx="37">
                  <c:v>44160</c:v>
                </c:pt>
                <c:pt idx="38">
                  <c:v>44165</c:v>
                </c:pt>
                <c:pt idx="39">
                  <c:v>44167</c:v>
                </c:pt>
                <c:pt idx="40">
                  <c:v>44168</c:v>
                </c:pt>
                <c:pt idx="41">
                  <c:v>44172</c:v>
                </c:pt>
                <c:pt idx="42">
                  <c:v>44173</c:v>
                </c:pt>
                <c:pt idx="43">
                  <c:v>44174</c:v>
                </c:pt>
                <c:pt idx="44">
                  <c:v>44175</c:v>
                </c:pt>
                <c:pt idx="45">
                  <c:v>44176</c:v>
                </c:pt>
                <c:pt idx="46">
                  <c:v>44179</c:v>
                </c:pt>
                <c:pt idx="47">
                  <c:v>44180</c:v>
                </c:pt>
                <c:pt idx="48">
                  <c:v>44181</c:v>
                </c:pt>
                <c:pt idx="49">
                  <c:v>44183</c:v>
                </c:pt>
                <c:pt idx="50">
                  <c:v>44186</c:v>
                </c:pt>
                <c:pt idx="51">
                  <c:v>44187</c:v>
                </c:pt>
                <c:pt idx="52">
                  <c:v>44188</c:v>
                </c:pt>
                <c:pt idx="53">
                  <c:v>44189</c:v>
                </c:pt>
                <c:pt idx="54">
                  <c:v>44193</c:v>
                </c:pt>
                <c:pt idx="55">
                  <c:v>44194</c:v>
                </c:pt>
                <c:pt idx="56">
                  <c:v>44195</c:v>
                </c:pt>
                <c:pt idx="57">
                  <c:v>44196</c:v>
                </c:pt>
                <c:pt idx="58">
                  <c:v>44201</c:v>
                </c:pt>
                <c:pt idx="59">
                  <c:v>44202</c:v>
                </c:pt>
                <c:pt idx="60">
                  <c:v>44203</c:v>
                </c:pt>
                <c:pt idx="61">
                  <c:v>44204</c:v>
                </c:pt>
                <c:pt idx="62">
                  <c:v>44207</c:v>
                </c:pt>
                <c:pt idx="63">
                  <c:v>44208</c:v>
                </c:pt>
                <c:pt idx="64">
                  <c:v>44209</c:v>
                </c:pt>
                <c:pt idx="65">
                  <c:v>44211</c:v>
                </c:pt>
                <c:pt idx="66">
                  <c:v>44215</c:v>
                </c:pt>
                <c:pt idx="67">
                  <c:v>44216</c:v>
                </c:pt>
                <c:pt idx="68">
                  <c:v>44217</c:v>
                </c:pt>
                <c:pt idx="69">
                  <c:v>44218</c:v>
                </c:pt>
                <c:pt idx="70">
                  <c:v>44221</c:v>
                </c:pt>
                <c:pt idx="71">
                  <c:v>44223</c:v>
                </c:pt>
                <c:pt idx="72">
                  <c:v>44224</c:v>
                </c:pt>
                <c:pt idx="73">
                  <c:v>44228</c:v>
                </c:pt>
                <c:pt idx="74">
                  <c:v>44229</c:v>
                </c:pt>
                <c:pt idx="75">
                  <c:v>44230</c:v>
                </c:pt>
                <c:pt idx="76">
                  <c:v>44231</c:v>
                </c:pt>
                <c:pt idx="77">
                  <c:v>44232</c:v>
                </c:pt>
                <c:pt idx="78">
                  <c:v>44233</c:v>
                </c:pt>
                <c:pt idx="79">
                  <c:v>44234</c:v>
                </c:pt>
                <c:pt idx="80">
                  <c:v>44236</c:v>
                </c:pt>
                <c:pt idx="81">
                  <c:v>44237</c:v>
                </c:pt>
                <c:pt idx="82">
                  <c:v>44238</c:v>
                </c:pt>
                <c:pt idx="83">
                  <c:v>44241</c:v>
                </c:pt>
                <c:pt idx="84">
                  <c:v>44242</c:v>
                </c:pt>
                <c:pt idx="85">
                  <c:v>44243</c:v>
                </c:pt>
                <c:pt idx="86">
                  <c:v>44244</c:v>
                </c:pt>
                <c:pt idx="87">
                  <c:v>44245</c:v>
                </c:pt>
                <c:pt idx="88">
                  <c:v>44246</c:v>
                </c:pt>
                <c:pt idx="89">
                  <c:v>44247</c:v>
                </c:pt>
                <c:pt idx="90">
                  <c:v>44248</c:v>
                </c:pt>
                <c:pt idx="91">
                  <c:v>44249</c:v>
                </c:pt>
                <c:pt idx="92">
                  <c:v>44250</c:v>
                </c:pt>
                <c:pt idx="93">
                  <c:v>44251</c:v>
                </c:pt>
                <c:pt idx="94">
                  <c:v>44252</c:v>
                </c:pt>
                <c:pt idx="95">
                  <c:v>44253</c:v>
                </c:pt>
                <c:pt idx="96">
                  <c:v>44254</c:v>
                </c:pt>
                <c:pt idx="97">
                  <c:v>44255</c:v>
                </c:pt>
                <c:pt idx="98">
                  <c:v>44256</c:v>
                </c:pt>
                <c:pt idx="99">
                  <c:v>44257</c:v>
                </c:pt>
                <c:pt idx="100">
                  <c:v>44258</c:v>
                </c:pt>
                <c:pt idx="101">
                  <c:v>44259</c:v>
                </c:pt>
                <c:pt idx="102">
                  <c:v>44262</c:v>
                </c:pt>
                <c:pt idx="103">
                  <c:v>44263</c:v>
                </c:pt>
                <c:pt idx="104">
                  <c:v>44265</c:v>
                </c:pt>
                <c:pt idx="105">
                  <c:v>44266</c:v>
                </c:pt>
                <c:pt idx="106">
                  <c:v>44267</c:v>
                </c:pt>
                <c:pt idx="107">
                  <c:v>44268</c:v>
                </c:pt>
                <c:pt idx="108">
                  <c:v>44269</c:v>
                </c:pt>
                <c:pt idx="109">
                  <c:v>44270</c:v>
                </c:pt>
                <c:pt idx="110">
                  <c:v>44271</c:v>
                </c:pt>
                <c:pt idx="111">
                  <c:v>44272</c:v>
                </c:pt>
                <c:pt idx="112">
                  <c:v>44273</c:v>
                </c:pt>
                <c:pt idx="113">
                  <c:v>44274</c:v>
                </c:pt>
                <c:pt idx="114">
                  <c:v>44276</c:v>
                </c:pt>
                <c:pt idx="115">
                  <c:v>44277</c:v>
                </c:pt>
                <c:pt idx="116">
                  <c:v>44278</c:v>
                </c:pt>
                <c:pt idx="117">
                  <c:v>44279</c:v>
                </c:pt>
                <c:pt idx="118">
                  <c:v>44280</c:v>
                </c:pt>
                <c:pt idx="119">
                  <c:v>44281</c:v>
                </c:pt>
                <c:pt idx="120">
                  <c:v>44282</c:v>
                </c:pt>
                <c:pt idx="121">
                  <c:v>44283</c:v>
                </c:pt>
                <c:pt idx="122">
                  <c:v>44284</c:v>
                </c:pt>
                <c:pt idx="123">
                  <c:v>44285</c:v>
                </c:pt>
                <c:pt idx="124">
                  <c:v>44286</c:v>
                </c:pt>
                <c:pt idx="125">
                  <c:v>44287</c:v>
                </c:pt>
                <c:pt idx="126">
                  <c:v>44288</c:v>
                </c:pt>
                <c:pt idx="127">
                  <c:v>44289</c:v>
                </c:pt>
                <c:pt idx="128">
                  <c:v>44290</c:v>
                </c:pt>
                <c:pt idx="129">
                  <c:v>44291</c:v>
                </c:pt>
                <c:pt idx="130">
                  <c:v>44292</c:v>
                </c:pt>
                <c:pt idx="131">
                  <c:v>44293</c:v>
                </c:pt>
                <c:pt idx="132">
                  <c:v>44294</c:v>
                </c:pt>
                <c:pt idx="133">
                  <c:v>44297</c:v>
                </c:pt>
                <c:pt idx="134">
                  <c:v>44298</c:v>
                </c:pt>
                <c:pt idx="135">
                  <c:v>44299</c:v>
                </c:pt>
                <c:pt idx="136">
                  <c:v>44300</c:v>
                </c:pt>
                <c:pt idx="137">
                  <c:v>44301</c:v>
                </c:pt>
                <c:pt idx="138">
                  <c:v>44302</c:v>
                </c:pt>
                <c:pt idx="139">
                  <c:v>44304</c:v>
                </c:pt>
                <c:pt idx="140">
                  <c:v>44307</c:v>
                </c:pt>
                <c:pt idx="141">
                  <c:v>44308</c:v>
                </c:pt>
                <c:pt idx="142">
                  <c:v>44309</c:v>
                </c:pt>
                <c:pt idx="143">
                  <c:v>44310</c:v>
                </c:pt>
                <c:pt idx="144">
                  <c:v>44311</c:v>
                </c:pt>
                <c:pt idx="145">
                  <c:v>44312</c:v>
                </c:pt>
                <c:pt idx="146">
                  <c:v>44313</c:v>
                </c:pt>
                <c:pt idx="147">
                  <c:v>44315</c:v>
                </c:pt>
                <c:pt idx="148">
                  <c:v>44316</c:v>
                </c:pt>
                <c:pt idx="149">
                  <c:v>44317</c:v>
                </c:pt>
                <c:pt idx="150">
                  <c:v>44318</c:v>
                </c:pt>
                <c:pt idx="151">
                  <c:v>44319</c:v>
                </c:pt>
                <c:pt idx="152">
                  <c:v>44320</c:v>
                </c:pt>
                <c:pt idx="153">
                  <c:v>44322</c:v>
                </c:pt>
                <c:pt idx="154">
                  <c:v>44323</c:v>
                </c:pt>
                <c:pt idx="155">
                  <c:v>44324</c:v>
                </c:pt>
                <c:pt idx="156">
                  <c:v>44325</c:v>
                </c:pt>
                <c:pt idx="157">
                  <c:v>44326</c:v>
                </c:pt>
                <c:pt idx="158">
                  <c:v>44327</c:v>
                </c:pt>
                <c:pt idx="159">
                  <c:v>44328</c:v>
                </c:pt>
                <c:pt idx="160">
                  <c:v>44329</c:v>
                </c:pt>
                <c:pt idx="161">
                  <c:v>44332</c:v>
                </c:pt>
                <c:pt idx="162">
                  <c:v>44333</c:v>
                </c:pt>
                <c:pt idx="163">
                  <c:v>44334</c:v>
                </c:pt>
                <c:pt idx="164">
                  <c:v>44335</c:v>
                </c:pt>
                <c:pt idx="165">
                  <c:v>44336</c:v>
                </c:pt>
                <c:pt idx="166">
                  <c:v>44337</c:v>
                </c:pt>
                <c:pt idx="167">
                  <c:v>44338</c:v>
                </c:pt>
                <c:pt idx="168">
                  <c:v>44339</c:v>
                </c:pt>
                <c:pt idx="169">
                  <c:v>44340</c:v>
                </c:pt>
                <c:pt idx="170">
                  <c:v>44341</c:v>
                </c:pt>
                <c:pt idx="171">
                  <c:v>44342</c:v>
                </c:pt>
                <c:pt idx="172">
                  <c:v>44343</c:v>
                </c:pt>
                <c:pt idx="173">
                  <c:v>44344</c:v>
                </c:pt>
                <c:pt idx="174">
                  <c:v>44345</c:v>
                </c:pt>
                <c:pt idx="175">
                  <c:v>44346</c:v>
                </c:pt>
                <c:pt idx="176">
                  <c:v>44347</c:v>
                </c:pt>
                <c:pt idx="177">
                  <c:v>44349</c:v>
                </c:pt>
                <c:pt idx="178">
                  <c:v>44350</c:v>
                </c:pt>
                <c:pt idx="179">
                  <c:v>44355</c:v>
                </c:pt>
                <c:pt idx="180">
                  <c:v>44356</c:v>
                </c:pt>
                <c:pt idx="181">
                  <c:v>44357</c:v>
                </c:pt>
                <c:pt idx="182">
                  <c:v>44358</c:v>
                </c:pt>
                <c:pt idx="183">
                  <c:v>44359</c:v>
                </c:pt>
                <c:pt idx="184">
                  <c:v>44360</c:v>
                </c:pt>
                <c:pt idx="185">
                  <c:v>44361</c:v>
                </c:pt>
                <c:pt idx="186">
                  <c:v>44371</c:v>
                </c:pt>
                <c:pt idx="187">
                  <c:v>44372</c:v>
                </c:pt>
                <c:pt idx="188">
                  <c:v>44373</c:v>
                </c:pt>
                <c:pt idx="189">
                  <c:v>44376</c:v>
                </c:pt>
                <c:pt idx="190">
                  <c:v>44377</c:v>
                </c:pt>
                <c:pt idx="191">
                  <c:v>44378</c:v>
                </c:pt>
                <c:pt idx="192">
                  <c:v>44379</c:v>
                </c:pt>
                <c:pt idx="193">
                  <c:v>44380</c:v>
                </c:pt>
                <c:pt idx="194">
                  <c:v>44381</c:v>
                </c:pt>
                <c:pt idx="195">
                  <c:v>44382</c:v>
                </c:pt>
                <c:pt idx="196">
                  <c:v>44383</c:v>
                </c:pt>
                <c:pt idx="197">
                  <c:v>44384</c:v>
                </c:pt>
                <c:pt idx="198">
                  <c:v>44385</c:v>
                </c:pt>
                <c:pt idx="199">
                  <c:v>44386</c:v>
                </c:pt>
                <c:pt idx="200">
                  <c:v>44387</c:v>
                </c:pt>
                <c:pt idx="201">
                  <c:v>44388</c:v>
                </c:pt>
                <c:pt idx="202">
                  <c:v>44389</c:v>
                </c:pt>
                <c:pt idx="203">
                  <c:v>44390</c:v>
                </c:pt>
                <c:pt idx="204">
                  <c:v>44391</c:v>
                </c:pt>
                <c:pt idx="205">
                  <c:v>44392</c:v>
                </c:pt>
                <c:pt idx="206">
                  <c:v>44393</c:v>
                </c:pt>
                <c:pt idx="207">
                  <c:v>44394</c:v>
                </c:pt>
                <c:pt idx="208">
                  <c:v>44395</c:v>
                </c:pt>
                <c:pt idx="209">
                  <c:v>44396</c:v>
                </c:pt>
                <c:pt idx="210">
                  <c:v>44397</c:v>
                </c:pt>
                <c:pt idx="211">
                  <c:v>44398</c:v>
                </c:pt>
                <c:pt idx="212">
                  <c:v>44399</c:v>
                </c:pt>
                <c:pt idx="213">
                  <c:v>44400</c:v>
                </c:pt>
                <c:pt idx="214">
                  <c:v>44401</c:v>
                </c:pt>
                <c:pt idx="215">
                  <c:v>44402</c:v>
                </c:pt>
                <c:pt idx="216">
                  <c:v>44403</c:v>
                </c:pt>
                <c:pt idx="217">
                  <c:v>44404</c:v>
                </c:pt>
                <c:pt idx="218">
                  <c:v>44405</c:v>
                </c:pt>
                <c:pt idx="219">
                  <c:v>44406</c:v>
                </c:pt>
                <c:pt idx="220">
                  <c:v>44407</c:v>
                </c:pt>
                <c:pt idx="221">
                  <c:v>44408</c:v>
                </c:pt>
                <c:pt idx="222">
                  <c:v>44409</c:v>
                </c:pt>
                <c:pt idx="223">
                  <c:v>44410</c:v>
                </c:pt>
                <c:pt idx="224">
                  <c:v>44411</c:v>
                </c:pt>
                <c:pt idx="225">
                  <c:v>44412</c:v>
                </c:pt>
                <c:pt idx="226">
                  <c:v>44413</c:v>
                </c:pt>
                <c:pt idx="227">
                  <c:v>44414</c:v>
                </c:pt>
                <c:pt idx="228">
                  <c:v>44415</c:v>
                </c:pt>
                <c:pt idx="229">
                  <c:v>44416</c:v>
                </c:pt>
                <c:pt idx="230">
                  <c:v>44417</c:v>
                </c:pt>
                <c:pt idx="231">
                  <c:v>44418</c:v>
                </c:pt>
                <c:pt idx="232">
                  <c:v>44419</c:v>
                </c:pt>
                <c:pt idx="233">
                  <c:v>44420</c:v>
                </c:pt>
                <c:pt idx="234">
                  <c:v>44421</c:v>
                </c:pt>
                <c:pt idx="235">
                  <c:v>44422</c:v>
                </c:pt>
                <c:pt idx="236">
                  <c:v>44423</c:v>
                </c:pt>
                <c:pt idx="237">
                  <c:v>44424</c:v>
                </c:pt>
                <c:pt idx="238">
                  <c:v>44425</c:v>
                </c:pt>
                <c:pt idx="239">
                  <c:v>44426</c:v>
                </c:pt>
                <c:pt idx="240">
                  <c:v>44427</c:v>
                </c:pt>
                <c:pt idx="241">
                  <c:v>44428</c:v>
                </c:pt>
                <c:pt idx="242">
                  <c:v>44429</c:v>
                </c:pt>
                <c:pt idx="243">
                  <c:v>44430</c:v>
                </c:pt>
                <c:pt idx="244">
                  <c:v>44431</c:v>
                </c:pt>
                <c:pt idx="245">
                  <c:v>44432</c:v>
                </c:pt>
                <c:pt idx="246">
                  <c:v>44433</c:v>
                </c:pt>
                <c:pt idx="247">
                  <c:v>44434</c:v>
                </c:pt>
                <c:pt idx="248">
                  <c:v>44435</c:v>
                </c:pt>
                <c:pt idx="249">
                  <c:v>44436</c:v>
                </c:pt>
                <c:pt idx="250">
                  <c:v>44437</c:v>
                </c:pt>
                <c:pt idx="251">
                  <c:v>44438</c:v>
                </c:pt>
                <c:pt idx="252">
                  <c:v>44439</c:v>
                </c:pt>
                <c:pt idx="253">
                  <c:v>44440</c:v>
                </c:pt>
                <c:pt idx="254">
                  <c:v>44441</c:v>
                </c:pt>
                <c:pt idx="255">
                  <c:v>44442</c:v>
                </c:pt>
                <c:pt idx="256">
                  <c:v>44443</c:v>
                </c:pt>
                <c:pt idx="257">
                  <c:v>44444</c:v>
                </c:pt>
                <c:pt idx="258">
                  <c:v>44445</c:v>
                </c:pt>
                <c:pt idx="259">
                  <c:v>44446</c:v>
                </c:pt>
                <c:pt idx="260">
                  <c:v>44447</c:v>
                </c:pt>
                <c:pt idx="261">
                  <c:v>44448</c:v>
                </c:pt>
                <c:pt idx="262">
                  <c:v>44449</c:v>
                </c:pt>
                <c:pt idx="263">
                  <c:v>44450</c:v>
                </c:pt>
                <c:pt idx="264">
                  <c:v>44451</c:v>
                </c:pt>
                <c:pt idx="265">
                  <c:v>44452</c:v>
                </c:pt>
                <c:pt idx="266">
                  <c:v>44453</c:v>
                </c:pt>
                <c:pt idx="267">
                  <c:v>44454</c:v>
                </c:pt>
                <c:pt idx="268">
                  <c:v>44455</c:v>
                </c:pt>
                <c:pt idx="269">
                  <c:v>44456</c:v>
                </c:pt>
                <c:pt idx="270">
                  <c:v>44457</c:v>
                </c:pt>
                <c:pt idx="271">
                  <c:v>44458</c:v>
                </c:pt>
                <c:pt idx="272">
                  <c:v>44459</c:v>
                </c:pt>
                <c:pt idx="273">
                  <c:v>44460</c:v>
                </c:pt>
                <c:pt idx="274">
                  <c:v>44461</c:v>
                </c:pt>
                <c:pt idx="275">
                  <c:v>44462</c:v>
                </c:pt>
                <c:pt idx="276">
                  <c:v>44463</c:v>
                </c:pt>
                <c:pt idx="277">
                  <c:v>44464</c:v>
                </c:pt>
                <c:pt idx="278">
                  <c:v>44465</c:v>
                </c:pt>
                <c:pt idx="279">
                  <c:v>44466</c:v>
                </c:pt>
                <c:pt idx="280">
                  <c:v>44467</c:v>
                </c:pt>
                <c:pt idx="281">
                  <c:v>44468</c:v>
                </c:pt>
                <c:pt idx="282">
                  <c:v>44469</c:v>
                </c:pt>
                <c:pt idx="283">
                  <c:v>44470</c:v>
                </c:pt>
                <c:pt idx="284">
                  <c:v>44471</c:v>
                </c:pt>
                <c:pt idx="285">
                  <c:v>44472</c:v>
                </c:pt>
                <c:pt idx="286">
                  <c:v>44473</c:v>
                </c:pt>
                <c:pt idx="287">
                  <c:v>44474</c:v>
                </c:pt>
                <c:pt idx="288">
                  <c:v>44475</c:v>
                </c:pt>
                <c:pt idx="289">
                  <c:v>44476</c:v>
                </c:pt>
                <c:pt idx="290">
                  <c:v>44477</c:v>
                </c:pt>
                <c:pt idx="291">
                  <c:v>44478</c:v>
                </c:pt>
                <c:pt idx="292">
                  <c:v>44479</c:v>
                </c:pt>
                <c:pt idx="293">
                  <c:v>44480</c:v>
                </c:pt>
                <c:pt idx="294">
                  <c:v>44481</c:v>
                </c:pt>
                <c:pt idx="295">
                  <c:v>44482</c:v>
                </c:pt>
                <c:pt idx="296">
                  <c:v>44483</c:v>
                </c:pt>
                <c:pt idx="297">
                  <c:v>44484</c:v>
                </c:pt>
                <c:pt idx="298">
                  <c:v>44485</c:v>
                </c:pt>
                <c:pt idx="299">
                  <c:v>44486</c:v>
                </c:pt>
                <c:pt idx="300">
                  <c:v>44487</c:v>
                </c:pt>
                <c:pt idx="301">
                  <c:v>44488</c:v>
                </c:pt>
                <c:pt idx="302">
                  <c:v>44489</c:v>
                </c:pt>
                <c:pt idx="303">
                  <c:v>44490</c:v>
                </c:pt>
                <c:pt idx="304">
                  <c:v>44491</c:v>
                </c:pt>
                <c:pt idx="305">
                  <c:v>44492</c:v>
                </c:pt>
                <c:pt idx="306">
                  <c:v>44493</c:v>
                </c:pt>
                <c:pt idx="307">
                  <c:v>44494</c:v>
                </c:pt>
                <c:pt idx="308">
                  <c:v>44495</c:v>
                </c:pt>
                <c:pt idx="309">
                  <c:v>44496</c:v>
                </c:pt>
                <c:pt idx="310">
                  <c:v>44497</c:v>
                </c:pt>
                <c:pt idx="311">
                  <c:v>44498</c:v>
                </c:pt>
                <c:pt idx="312">
                  <c:v>44499</c:v>
                </c:pt>
                <c:pt idx="313">
                  <c:v>44500</c:v>
                </c:pt>
                <c:pt idx="314">
                  <c:v>44501</c:v>
                </c:pt>
                <c:pt idx="315">
                  <c:v>44502</c:v>
                </c:pt>
                <c:pt idx="316">
                  <c:v>44503</c:v>
                </c:pt>
                <c:pt idx="317">
                  <c:v>44504</c:v>
                </c:pt>
                <c:pt idx="318">
                  <c:v>44505</c:v>
                </c:pt>
                <c:pt idx="319">
                  <c:v>44506</c:v>
                </c:pt>
                <c:pt idx="320">
                  <c:v>44507</c:v>
                </c:pt>
                <c:pt idx="321">
                  <c:v>44508</c:v>
                </c:pt>
                <c:pt idx="322">
                  <c:v>44509</c:v>
                </c:pt>
                <c:pt idx="323">
                  <c:v>44510</c:v>
                </c:pt>
                <c:pt idx="324">
                  <c:v>44511</c:v>
                </c:pt>
                <c:pt idx="325">
                  <c:v>44512</c:v>
                </c:pt>
                <c:pt idx="326">
                  <c:v>44513</c:v>
                </c:pt>
                <c:pt idx="327">
                  <c:v>44514</c:v>
                </c:pt>
                <c:pt idx="328">
                  <c:v>44515</c:v>
                </c:pt>
                <c:pt idx="329">
                  <c:v>44516</c:v>
                </c:pt>
                <c:pt idx="330">
                  <c:v>44517</c:v>
                </c:pt>
                <c:pt idx="331">
                  <c:v>44518</c:v>
                </c:pt>
                <c:pt idx="332">
                  <c:v>44519</c:v>
                </c:pt>
                <c:pt idx="333">
                  <c:v>44520</c:v>
                </c:pt>
                <c:pt idx="334">
                  <c:v>44521</c:v>
                </c:pt>
                <c:pt idx="335">
                  <c:v>44522</c:v>
                </c:pt>
                <c:pt idx="336">
                  <c:v>44523</c:v>
                </c:pt>
                <c:pt idx="337">
                  <c:v>44524</c:v>
                </c:pt>
                <c:pt idx="338">
                  <c:v>44525</c:v>
                </c:pt>
                <c:pt idx="339">
                  <c:v>44526</c:v>
                </c:pt>
                <c:pt idx="340">
                  <c:v>44527</c:v>
                </c:pt>
                <c:pt idx="341">
                  <c:v>44528</c:v>
                </c:pt>
                <c:pt idx="342">
                  <c:v>44529</c:v>
                </c:pt>
                <c:pt idx="343">
                  <c:v>44530</c:v>
                </c:pt>
                <c:pt idx="344">
                  <c:v>44531</c:v>
                </c:pt>
                <c:pt idx="345">
                  <c:v>44532</c:v>
                </c:pt>
                <c:pt idx="346">
                  <c:v>44533</c:v>
                </c:pt>
                <c:pt idx="347">
                  <c:v>44534</c:v>
                </c:pt>
                <c:pt idx="348">
                  <c:v>44535</c:v>
                </c:pt>
                <c:pt idx="349">
                  <c:v>44536</c:v>
                </c:pt>
                <c:pt idx="350">
                  <c:v>44537</c:v>
                </c:pt>
                <c:pt idx="351">
                  <c:v>44538</c:v>
                </c:pt>
                <c:pt idx="352">
                  <c:v>44539</c:v>
                </c:pt>
                <c:pt idx="353">
                  <c:v>44540</c:v>
                </c:pt>
                <c:pt idx="354">
                  <c:v>44541</c:v>
                </c:pt>
                <c:pt idx="355">
                  <c:v>44542</c:v>
                </c:pt>
                <c:pt idx="356">
                  <c:v>44543</c:v>
                </c:pt>
                <c:pt idx="357">
                  <c:v>44544</c:v>
                </c:pt>
                <c:pt idx="358">
                  <c:v>44545</c:v>
                </c:pt>
                <c:pt idx="359">
                  <c:v>44546</c:v>
                </c:pt>
                <c:pt idx="360">
                  <c:v>44547</c:v>
                </c:pt>
                <c:pt idx="361">
                  <c:v>44548</c:v>
                </c:pt>
                <c:pt idx="362">
                  <c:v>44549</c:v>
                </c:pt>
                <c:pt idx="363">
                  <c:v>44550</c:v>
                </c:pt>
                <c:pt idx="364">
                  <c:v>44551</c:v>
                </c:pt>
                <c:pt idx="365">
                  <c:v>44552</c:v>
                </c:pt>
                <c:pt idx="366">
                  <c:v>44553</c:v>
                </c:pt>
                <c:pt idx="367">
                  <c:v>44554</c:v>
                </c:pt>
                <c:pt idx="368">
                  <c:v>44555</c:v>
                </c:pt>
                <c:pt idx="369">
                  <c:v>44556</c:v>
                </c:pt>
                <c:pt idx="370">
                  <c:v>44557</c:v>
                </c:pt>
                <c:pt idx="371">
                  <c:v>44558</c:v>
                </c:pt>
                <c:pt idx="372">
                  <c:v>44559</c:v>
                </c:pt>
                <c:pt idx="373">
                  <c:v>44560</c:v>
                </c:pt>
                <c:pt idx="374">
                  <c:v>44561</c:v>
                </c:pt>
                <c:pt idx="375">
                  <c:v>44562</c:v>
                </c:pt>
                <c:pt idx="376">
                  <c:v>44563</c:v>
                </c:pt>
                <c:pt idx="377">
                  <c:v>44564</c:v>
                </c:pt>
                <c:pt idx="378">
                  <c:v>44565</c:v>
                </c:pt>
                <c:pt idx="379">
                  <c:v>44566</c:v>
                </c:pt>
                <c:pt idx="380">
                  <c:v>44567</c:v>
                </c:pt>
                <c:pt idx="381">
                  <c:v>44568</c:v>
                </c:pt>
                <c:pt idx="382">
                  <c:v>44569</c:v>
                </c:pt>
                <c:pt idx="383">
                  <c:v>44570</c:v>
                </c:pt>
                <c:pt idx="384">
                  <c:v>44571</c:v>
                </c:pt>
                <c:pt idx="385">
                  <c:v>44572</c:v>
                </c:pt>
                <c:pt idx="386">
                  <c:v>44573</c:v>
                </c:pt>
                <c:pt idx="387">
                  <c:v>44574</c:v>
                </c:pt>
                <c:pt idx="388">
                  <c:v>44575</c:v>
                </c:pt>
                <c:pt idx="389">
                  <c:v>44576</c:v>
                </c:pt>
                <c:pt idx="390">
                  <c:v>44577</c:v>
                </c:pt>
                <c:pt idx="391">
                  <c:v>44578</c:v>
                </c:pt>
                <c:pt idx="392">
                  <c:v>44579</c:v>
                </c:pt>
                <c:pt idx="393">
                  <c:v>44580</c:v>
                </c:pt>
                <c:pt idx="394">
                  <c:v>44581</c:v>
                </c:pt>
                <c:pt idx="395">
                  <c:v>44582</c:v>
                </c:pt>
                <c:pt idx="396">
                  <c:v>44583</c:v>
                </c:pt>
                <c:pt idx="397">
                  <c:v>44584</c:v>
                </c:pt>
                <c:pt idx="398">
                  <c:v>44585</c:v>
                </c:pt>
                <c:pt idx="399">
                  <c:v>44586</c:v>
                </c:pt>
                <c:pt idx="400">
                  <c:v>44587</c:v>
                </c:pt>
                <c:pt idx="401">
                  <c:v>44588</c:v>
                </c:pt>
                <c:pt idx="402">
                  <c:v>44589</c:v>
                </c:pt>
                <c:pt idx="403">
                  <c:v>44590</c:v>
                </c:pt>
                <c:pt idx="404">
                  <c:v>44591</c:v>
                </c:pt>
                <c:pt idx="405">
                  <c:v>44592</c:v>
                </c:pt>
                <c:pt idx="406">
                  <c:v>44593</c:v>
                </c:pt>
                <c:pt idx="407">
                  <c:v>44594</c:v>
                </c:pt>
                <c:pt idx="408">
                  <c:v>44595</c:v>
                </c:pt>
                <c:pt idx="409">
                  <c:v>44596</c:v>
                </c:pt>
                <c:pt idx="410">
                  <c:v>44597</c:v>
                </c:pt>
                <c:pt idx="411">
                  <c:v>44598</c:v>
                </c:pt>
                <c:pt idx="412">
                  <c:v>44599</c:v>
                </c:pt>
                <c:pt idx="413">
                  <c:v>44600</c:v>
                </c:pt>
                <c:pt idx="414">
                  <c:v>44601</c:v>
                </c:pt>
                <c:pt idx="415">
                  <c:v>44602</c:v>
                </c:pt>
                <c:pt idx="416">
                  <c:v>44603</c:v>
                </c:pt>
                <c:pt idx="417">
                  <c:v>44604</c:v>
                </c:pt>
                <c:pt idx="418">
                  <c:v>44605</c:v>
                </c:pt>
                <c:pt idx="419">
                  <c:v>44606</c:v>
                </c:pt>
              </c:numCache>
            </c:numRef>
          </c:cat>
          <c:val>
            <c:numRef>
              <c:f>'일반 중환자 병상 통계'!$J$2:$J$421</c:f>
              <c:numCache>
                <c:formatCode>0_);[Red]\(0\)</c:formatCode>
                <c:ptCount val="42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6</c:v>
                </c:pt>
                <c:pt idx="14">
                  <c:v>0</c:v>
                </c:pt>
                <c:pt idx="15">
                  <c:v>3</c:v>
                </c:pt>
                <c:pt idx="16">
                  <c:v>1</c:v>
                </c:pt>
                <c:pt idx="17">
                  <c:v>4</c:v>
                </c:pt>
                <c:pt idx="18">
                  <c:v>14</c:v>
                </c:pt>
                <c:pt idx="19">
                  <c:v>3</c:v>
                </c:pt>
                <c:pt idx="20">
                  <c:v>7</c:v>
                </c:pt>
                <c:pt idx="21">
                  <c:v>10</c:v>
                </c:pt>
                <c:pt idx="22">
                  <c:v>1</c:v>
                </c:pt>
                <c:pt idx="23">
                  <c:v>4</c:v>
                </c:pt>
                <c:pt idx="24">
                  <c:v>6</c:v>
                </c:pt>
                <c:pt idx="25">
                  <c:v>4</c:v>
                </c:pt>
                <c:pt idx="26">
                  <c:v>5</c:v>
                </c:pt>
                <c:pt idx="27">
                  <c:v>4</c:v>
                </c:pt>
                <c:pt idx="28">
                  <c:v>3</c:v>
                </c:pt>
                <c:pt idx="29">
                  <c:v>55</c:v>
                </c:pt>
                <c:pt idx="30">
                  <c:v>15</c:v>
                </c:pt>
                <c:pt idx="31">
                  <c:v>0</c:v>
                </c:pt>
                <c:pt idx="32">
                  <c:v>0</c:v>
                </c:pt>
                <c:pt idx="33">
                  <c:v>1</c:v>
                </c:pt>
                <c:pt idx="34">
                  <c:v>1</c:v>
                </c:pt>
                <c:pt idx="35">
                  <c:v>0</c:v>
                </c:pt>
                <c:pt idx="36">
                  <c:v>5</c:v>
                </c:pt>
                <c:pt idx="37">
                  <c:v>17</c:v>
                </c:pt>
                <c:pt idx="38">
                  <c:v>52</c:v>
                </c:pt>
                <c:pt idx="39">
                  <c:v>25</c:v>
                </c:pt>
                <c:pt idx="40">
                  <c:v>15</c:v>
                </c:pt>
                <c:pt idx="41">
                  <c:v>35</c:v>
                </c:pt>
                <c:pt idx="42">
                  <c:v>31</c:v>
                </c:pt>
                <c:pt idx="43">
                  <c:v>23</c:v>
                </c:pt>
                <c:pt idx="44">
                  <c:v>24</c:v>
                </c:pt>
                <c:pt idx="45">
                  <c:v>33</c:v>
                </c:pt>
                <c:pt idx="46">
                  <c:v>20</c:v>
                </c:pt>
                <c:pt idx="47">
                  <c:v>42</c:v>
                </c:pt>
                <c:pt idx="48">
                  <c:v>41</c:v>
                </c:pt>
                <c:pt idx="49">
                  <c:v>39</c:v>
                </c:pt>
                <c:pt idx="50">
                  <c:v>22</c:v>
                </c:pt>
                <c:pt idx="51">
                  <c:v>23</c:v>
                </c:pt>
                <c:pt idx="52">
                  <c:v>36</c:v>
                </c:pt>
                <c:pt idx="53">
                  <c:v>40</c:v>
                </c:pt>
                <c:pt idx="54">
                  <c:v>35</c:v>
                </c:pt>
                <c:pt idx="55">
                  <c:v>16</c:v>
                </c:pt>
                <c:pt idx="56">
                  <c:v>39</c:v>
                </c:pt>
                <c:pt idx="57">
                  <c:v>74</c:v>
                </c:pt>
                <c:pt idx="58">
                  <c:v>15</c:v>
                </c:pt>
                <c:pt idx="59">
                  <c:v>38</c:v>
                </c:pt>
                <c:pt idx="60">
                  <c:v>23</c:v>
                </c:pt>
                <c:pt idx="61">
                  <c:v>24</c:v>
                </c:pt>
                <c:pt idx="62">
                  <c:v>19</c:v>
                </c:pt>
                <c:pt idx="63">
                  <c:v>21</c:v>
                </c:pt>
                <c:pt idx="64">
                  <c:v>36</c:v>
                </c:pt>
                <c:pt idx="65">
                  <c:v>43</c:v>
                </c:pt>
                <c:pt idx="66">
                  <c:v>17</c:v>
                </c:pt>
                <c:pt idx="67">
                  <c:v>13</c:v>
                </c:pt>
                <c:pt idx="68">
                  <c:v>19</c:v>
                </c:pt>
                <c:pt idx="69">
                  <c:v>23</c:v>
                </c:pt>
                <c:pt idx="70">
                  <c:v>20</c:v>
                </c:pt>
                <c:pt idx="71">
                  <c:v>32</c:v>
                </c:pt>
                <c:pt idx="72">
                  <c:v>54</c:v>
                </c:pt>
                <c:pt idx="73">
                  <c:v>15</c:v>
                </c:pt>
                <c:pt idx="74">
                  <c:v>12</c:v>
                </c:pt>
                <c:pt idx="75">
                  <c:v>19</c:v>
                </c:pt>
                <c:pt idx="76">
                  <c:v>26</c:v>
                </c:pt>
                <c:pt idx="77">
                  <c:v>33</c:v>
                </c:pt>
                <c:pt idx="78">
                  <c:v>14</c:v>
                </c:pt>
                <c:pt idx="79">
                  <c:v>9</c:v>
                </c:pt>
                <c:pt idx="80">
                  <c:v>9</c:v>
                </c:pt>
                <c:pt idx="81">
                  <c:v>19</c:v>
                </c:pt>
                <c:pt idx="82">
                  <c:v>29</c:v>
                </c:pt>
                <c:pt idx="83">
                  <c:v>15</c:v>
                </c:pt>
                <c:pt idx="84">
                  <c:v>15</c:v>
                </c:pt>
                <c:pt idx="85">
                  <c:v>19</c:v>
                </c:pt>
                <c:pt idx="86">
                  <c:v>19</c:v>
                </c:pt>
                <c:pt idx="87">
                  <c:v>28</c:v>
                </c:pt>
                <c:pt idx="88">
                  <c:v>16</c:v>
                </c:pt>
                <c:pt idx="89">
                  <c:v>14</c:v>
                </c:pt>
                <c:pt idx="90">
                  <c:v>12</c:v>
                </c:pt>
                <c:pt idx="91">
                  <c:v>12</c:v>
                </c:pt>
                <c:pt idx="92">
                  <c:v>12</c:v>
                </c:pt>
                <c:pt idx="93">
                  <c:v>13</c:v>
                </c:pt>
                <c:pt idx="94">
                  <c:v>18</c:v>
                </c:pt>
                <c:pt idx="95">
                  <c:v>11</c:v>
                </c:pt>
                <c:pt idx="96">
                  <c:v>9</c:v>
                </c:pt>
                <c:pt idx="97">
                  <c:v>5</c:v>
                </c:pt>
                <c:pt idx="98">
                  <c:v>16</c:v>
                </c:pt>
                <c:pt idx="99">
                  <c:v>17</c:v>
                </c:pt>
                <c:pt idx="100">
                  <c:v>8</c:v>
                </c:pt>
                <c:pt idx="101">
                  <c:v>18</c:v>
                </c:pt>
                <c:pt idx="102">
                  <c:v>7</c:v>
                </c:pt>
                <c:pt idx="103">
                  <c:v>16</c:v>
                </c:pt>
                <c:pt idx="104">
                  <c:v>7</c:v>
                </c:pt>
                <c:pt idx="105">
                  <c:v>14</c:v>
                </c:pt>
                <c:pt idx="106">
                  <c:v>15</c:v>
                </c:pt>
                <c:pt idx="107">
                  <c:v>17</c:v>
                </c:pt>
                <c:pt idx="108">
                  <c:v>13</c:v>
                </c:pt>
                <c:pt idx="109">
                  <c:v>4</c:v>
                </c:pt>
                <c:pt idx="110">
                  <c:v>7</c:v>
                </c:pt>
                <c:pt idx="111">
                  <c:v>11</c:v>
                </c:pt>
                <c:pt idx="112">
                  <c:v>7</c:v>
                </c:pt>
                <c:pt idx="113">
                  <c:v>7</c:v>
                </c:pt>
                <c:pt idx="114">
                  <c:v>18</c:v>
                </c:pt>
                <c:pt idx="115">
                  <c:v>27</c:v>
                </c:pt>
                <c:pt idx="116">
                  <c:v>8</c:v>
                </c:pt>
                <c:pt idx="117">
                  <c:v>17</c:v>
                </c:pt>
                <c:pt idx="118">
                  <c:v>20</c:v>
                </c:pt>
                <c:pt idx="119">
                  <c:v>11</c:v>
                </c:pt>
                <c:pt idx="120">
                  <c:v>39</c:v>
                </c:pt>
                <c:pt idx="121">
                  <c:v>50</c:v>
                </c:pt>
                <c:pt idx="122">
                  <c:v>53</c:v>
                </c:pt>
                <c:pt idx="123">
                  <c:v>43</c:v>
                </c:pt>
                <c:pt idx="124">
                  <c:v>58</c:v>
                </c:pt>
                <c:pt idx="125">
                  <c:v>54</c:v>
                </c:pt>
                <c:pt idx="126">
                  <c:v>58</c:v>
                </c:pt>
                <c:pt idx="127">
                  <c:v>41</c:v>
                </c:pt>
                <c:pt idx="128">
                  <c:v>61</c:v>
                </c:pt>
                <c:pt idx="129">
                  <c:v>48</c:v>
                </c:pt>
                <c:pt idx="130">
                  <c:v>34</c:v>
                </c:pt>
                <c:pt idx="131">
                  <c:v>38</c:v>
                </c:pt>
                <c:pt idx="132">
                  <c:v>52</c:v>
                </c:pt>
                <c:pt idx="133">
                  <c:v>45</c:v>
                </c:pt>
                <c:pt idx="134">
                  <c:v>47</c:v>
                </c:pt>
                <c:pt idx="135">
                  <c:v>39</c:v>
                </c:pt>
                <c:pt idx="136">
                  <c:v>49</c:v>
                </c:pt>
                <c:pt idx="137">
                  <c:v>54</c:v>
                </c:pt>
                <c:pt idx="138">
                  <c:v>44</c:v>
                </c:pt>
                <c:pt idx="139">
                  <c:v>31</c:v>
                </c:pt>
                <c:pt idx="140">
                  <c:v>33</c:v>
                </c:pt>
                <c:pt idx="141">
                  <c:v>37</c:v>
                </c:pt>
                <c:pt idx="142">
                  <c:v>33</c:v>
                </c:pt>
                <c:pt idx="143">
                  <c:v>44</c:v>
                </c:pt>
                <c:pt idx="144">
                  <c:v>43</c:v>
                </c:pt>
                <c:pt idx="145">
                  <c:v>25</c:v>
                </c:pt>
                <c:pt idx="146">
                  <c:v>30</c:v>
                </c:pt>
                <c:pt idx="147">
                  <c:v>40</c:v>
                </c:pt>
                <c:pt idx="148">
                  <c:v>32</c:v>
                </c:pt>
                <c:pt idx="149">
                  <c:v>29</c:v>
                </c:pt>
                <c:pt idx="150">
                  <c:v>33</c:v>
                </c:pt>
                <c:pt idx="151">
                  <c:v>16</c:v>
                </c:pt>
                <c:pt idx="152">
                  <c:v>16</c:v>
                </c:pt>
                <c:pt idx="153">
                  <c:v>28</c:v>
                </c:pt>
                <c:pt idx="154">
                  <c:v>21</c:v>
                </c:pt>
                <c:pt idx="155">
                  <c:v>27</c:v>
                </c:pt>
                <c:pt idx="156">
                  <c:v>10</c:v>
                </c:pt>
                <c:pt idx="157">
                  <c:v>20</c:v>
                </c:pt>
                <c:pt idx="158">
                  <c:v>14</c:v>
                </c:pt>
                <c:pt idx="159">
                  <c:v>10</c:v>
                </c:pt>
                <c:pt idx="160">
                  <c:v>20</c:v>
                </c:pt>
                <c:pt idx="161">
                  <c:v>31</c:v>
                </c:pt>
                <c:pt idx="162">
                  <c:v>12</c:v>
                </c:pt>
                <c:pt idx="163">
                  <c:v>13</c:v>
                </c:pt>
                <c:pt idx="164">
                  <c:v>27</c:v>
                </c:pt>
                <c:pt idx="165">
                  <c:v>17</c:v>
                </c:pt>
                <c:pt idx="166">
                  <c:v>15</c:v>
                </c:pt>
                <c:pt idx="167">
                  <c:v>28</c:v>
                </c:pt>
                <c:pt idx="168">
                  <c:v>15</c:v>
                </c:pt>
                <c:pt idx="169">
                  <c:v>15</c:v>
                </c:pt>
                <c:pt idx="170">
                  <c:v>16</c:v>
                </c:pt>
                <c:pt idx="171">
                  <c:v>22</c:v>
                </c:pt>
                <c:pt idx="172">
                  <c:v>18</c:v>
                </c:pt>
                <c:pt idx="173">
                  <c:v>13</c:v>
                </c:pt>
                <c:pt idx="174">
                  <c:v>14</c:v>
                </c:pt>
                <c:pt idx="175">
                  <c:v>13</c:v>
                </c:pt>
                <c:pt idx="176">
                  <c:v>17</c:v>
                </c:pt>
                <c:pt idx="177">
                  <c:v>21</c:v>
                </c:pt>
                <c:pt idx="178">
                  <c:v>32</c:v>
                </c:pt>
                <c:pt idx="179">
                  <c:v>15</c:v>
                </c:pt>
                <c:pt idx="180">
                  <c:v>16</c:v>
                </c:pt>
                <c:pt idx="181">
                  <c:v>15</c:v>
                </c:pt>
                <c:pt idx="182">
                  <c:v>28</c:v>
                </c:pt>
                <c:pt idx="183">
                  <c:v>26</c:v>
                </c:pt>
                <c:pt idx="184">
                  <c:v>13</c:v>
                </c:pt>
                <c:pt idx="185">
                  <c:v>17</c:v>
                </c:pt>
                <c:pt idx="186">
                  <c:v>20</c:v>
                </c:pt>
                <c:pt idx="187">
                  <c:v>27</c:v>
                </c:pt>
                <c:pt idx="188">
                  <c:v>31</c:v>
                </c:pt>
                <c:pt idx="189">
                  <c:v>9</c:v>
                </c:pt>
                <c:pt idx="190">
                  <c:v>14</c:v>
                </c:pt>
                <c:pt idx="191">
                  <c:v>18</c:v>
                </c:pt>
                <c:pt idx="192">
                  <c:v>29</c:v>
                </c:pt>
                <c:pt idx="193">
                  <c:v>39</c:v>
                </c:pt>
                <c:pt idx="194">
                  <c:v>28</c:v>
                </c:pt>
                <c:pt idx="195">
                  <c:v>25</c:v>
                </c:pt>
                <c:pt idx="196">
                  <c:v>30</c:v>
                </c:pt>
                <c:pt idx="197">
                  <c:v>33</c:v>
                </c:pt>
                <c:pt idx="198">
                  <c:v>57</c:v>
                </c:pt>
                <c:pt idx="199">
                  <c:v>56</c:v>
                </c:pt>
                <c:pt idx="200">
                  <c:v>61</c:v>
                </c:pt>
                <c:pt idx="201">
                  <c:v>56</c:v>
                </c:pt>
                <c:pt idx="202">
                  <c:v>44</c:v>
                </c:pt>
                <c:pt idx="203">
                  <c:v>51</c:v>
                </c:pt>
                <c:pt idx="204">
                  <c:v>63</c:v>
                </c:pt>
                <c:pt idx="205">
                  <c:v>65</c:v>
                </c:pt>
                <c:pt idx="206">
                  <c:v>50</c:v>
                </c:pt>
                <c:pt idx="207">
                  <c:v>62</c:v>
                </c:pt>
                <c:pt idx="208">
                  <c:v>70</c:v>
                </c:pt>
                <c:pt idx="209">
                  <c:v>65</c:v>
                </c:pt>
                <c:pt idx="210">
                  <c:v>49</c:v>
                </c:pt>
                <c:pt idx="211">
                  <c:v>102</c:v>
                </c:pt>
                <c:pt idx="212">
                  <c:v>104</c:v>
                </c:pt>
                <c:pt idx="213">
                  <c:v>116</c:v>
                </c:pt>
                <c:pt idx="214">
                  <c:v>116</c:v>
                </c:pt>
                <c:pt idx="215">
                  <c:v>108</c:v>
                </c:pt>
                <c:pt idx="216">
                  <c:v>89</c:v>
                </c:pt>
                <c:pt idx="217">
                  <c:v>66</c:v>
                </c:pt>
                <c:pt idx="218">
                  <c:v>102</c:v>
                </c:pt>
                <c:pt idx="219">
                  <c:v>82</c:v>
                </c:pt>
                <c:pt idx="220">
                  <c:v>78</c:v>
                </c:pt>
                <c:pt idx="221">
                  <c:v>72</c:v>
                </c:pt>
                <c:pt idx="222">
                  <c:v>58</c:v>
                </c:pt>
                <c:pt idx="223">
                  <c:v>72</c:v>
                </c:pt>
                <c:pt idx="224">
                  <c:v>69</c:v>
                </c:pt>
                <c:pt idx="225">
                  <c:v>111</c:v>
                </c:pt>
                <c:pt idx="226">
                  <c:v>112</c:v>
                </c:pt>
                <c:pt idx="227">
                  <c:v>107</c:v>
                </c:pt>
                <c:pt idx="228">
                  <c:v>146</c:v>
                </c:pt>
                <c:pt idx="229">
                  <c:v>147</c:v>
                </c:pt>
                <c:pt idx="230">
                  <c:v>123</c:v>
                </c:pt>
                <c:pt idx="231">
                  <c:v>105</c:v>
                </c:pt>
                <c:pt idx="232">
                  <c:v>126</c:v>
                </c:pt>
                <c:pt idx="233">
                  <c:v>132</c:v>
                </c:pt>
                <c:pt idx="234">
                  <c:v>180</c:v>
                </c:pt>
                <c:pt idx="235">
                  <c:v>153</c:v>
                </c:pt>
                <c:pt idx="236">
                  <c:v>156</c:v>
                </c:pt>
                <c:pt idx="237">
                  <c:v>127</c:v>
                </c:pt>
                <c:pt idx="238">
                  <c:v>66</c:v>
                </c:pt>
                <c:pt idx="239">
                  <c:v>124</c:v>
                </c:pt>
                <c:pt idx="240">
                  <c:v>138</c:v>
                </c:pt>
                <c:pt idx="241">
                  <c:v>132</c:v>
                </c:pt>
                <c:pt idx="242">
                  <c:v>86</c:v>
                </c:pt>
                <c:pt idx="243">
                  <c:v>113</c:v>
                </c:pt>
                <c:pt idx="244">
                  <c:v>63</c:v>
                </c:pt>
                <c:pt idx="245">
                  <c:v>61</c:v>
                </c:pt>
                <c:pt idx="246">
                  <c:v>86</c:v>
                </c:pt>
                <c:pt idx="247">
                  <c:v>78</c:v>
                </c:pt>
                <c:pt idx="248">
                  <c:v>68</c:v>
                </c:pt>
                <c:pt idx="249">
                  <c:v>76</c:v>
                </c:pt>
                <c:pt idx="250">
                  <c:v>64</c:v>
                </c:pt>
                <c:pt idx="251">
                  <c:v>57</c:v>
                </c:pt>
                <c:pt idx="252">
                  <c:v>44</c:v>
                </c:pt>
                <c:pt idx="253">
                  <c:v>69</c:v>
                </c:pt>
                <c:pt idx="254">
                  <c:v>71</c:v>
                </c:pt>
                <c:pt idx="255">
                  <c:v>58</c:v>
                </c:pt>
                <c:pt idx="256">
                  <c:v>51</c:v>
                </c:pt>
                <c:pt idx="257">
                  <c:v>39</c:v>
                </c:pt>
                <c:pt idx="258">
                  <c:v>52</c:v>
                </c:pt>
                <c:pt idx="259">
                  <c:v>35</c:v>
                </c:pt>
                <c:pt idx="260">
                  <c:v>31</c:v>
                </c:pt>
                <c:pt idx="261">
                  <c:v>35</c:v>
                </c:pt>
                <c:pt idx="262">
                  <c:v>38</c:v>
                </c:pt>
                <c:pt idx="263">
                  <c:v>35</c:v>
                </c:pt>
                <c:pt idx="264">
                  <c:v>43</c:v>
                </c:pt>
                <c:pt idx="265">
                  <c:v>35</c:v>
                </c:pt>
                <c:pt idx="266">
                  <c:v>38</c:v>
                </c:pt>
                <c:pt idx="267">
                  <c:v>43</c:v>
                </c:pt>
                <c:pt idx="268">
                  <c:v>58</c:v>
                </c:pt>
                <c:pt idx="269">
                  <c:v>52</c:v>
                </c:pt>
                <c:pt idx="270">
                  <c:v>52</c:v>
                </c:pt>
                <c:pt idx="271">
                  <c:v>46</c:v>
                </c:pt>
                <c:pt idx="272">
                  <c:v>47</c:v>
                </c:pt>
                <c:pt idx="273">
                  <c:v>45</c:v>
                </c:pt>
                <c:pt idx="274">
                  <c:v>38</c:v>
                </c:pt>
                <c:pt idx="275">
                  <c:v>24</c:v>
                </c:pt>
                <c:pt idx="276">
                  <c:v>30</c:v>
                </c:pt>
                <c:pt idx="277">
                  <c:v>51</c:v>
                </c:pt>
                <c:pt idx="278">
                  <c:v>46</c:v>
                </c:pt>
                <c:pt idx="279">
                  <c:v>43</c:v>
                </c:pt>
                <c:pt idx="280">
                  <c:v>29</c:v>
                </c:pt>
                <c:pt idx="281">
                  <c:v>52</c:v>
                </c:pt>
                <c:pt idx="282">
                  <c:v>49</c:v>
                </c:pt>
                <c:pt idx="283">
                  <c:v>46</c:v>
                </c:pt>
                <c:pt idx="284">
                  <c:v>42</c:v>
                </c:pt>
                <c:pt idx="285">
                  <c:v>33</c:v>
                </c:pt>
                <c:pt idx="286">
                  <c:v>37</c:v>
                </c:pt>
                <c:pt idx="287">
                  <c:v>47</c:v>
                </c:pt>
                <c:pt idx="288">
                  <c:v>38</c:v>
                </c:pt>
                <c:pt idx="289">
                  <c:v>49</c:v>
                </c:pt>
                <c:pt idx="290">
                  <c:v>34</c:v>
                </c:pt>
                <c:pt idx="291">
                  <c:v>30</c:v>
                </c:pt>
                <c:pt idx="292">
                  <c:v>31</c:v>
                </c:pt>
                <c:pt idx="293">
                  <c:v>49</c:v>
                </c:pt>
                <c:pt idx="294">
                  <c:v>25</c:v>
                </c:pt>
                <c:pt idx="295">
                  <c:v>40</c:v>
                </c:pt>
                <c:pt idx="296">
                  <c:v>47</c:v>
                </c:pt>
                <c:pt idx="297">
                  <c:v>32</c:v>
                </c:pt>
                <c:pt idx="298">
                  <c:v>22</c:v>
                </c:pt>
                <c:pt idx="299">
                  <c:v>36</c:v>
                </c:pt>
                <c:pt idx="300">
                  <c:v>35</c:v>
                </c:pt>
                <c:pt idx="301">
                  <c:v>39</c:v>
                </c:pt>
                <c:pt idx="302">
                  <c:v>35</c:v>
                </c:pt>
                <c:pt idx="303">
                  <c:v>29</c:v>
                </c:pt>
                <c:pt idx="304">
                  <c:v>44</c:v>
                </c:pt>
                <c:pt idx="305">
                  <c:v>40</c:v>
                </c:pt>
                <c:pt idx="306">
                  <c:v>32</c:v>
                </c:pt>
                <c:pt idx="307">
                  <c:v>24</c:v>
                </c:pt>
                <c:pt idx="308">
                  <c:v>33</c:v>
                </c:pt>
                <c:pt idx="309">
                  <c:v>43</c:v>
                </c:pt>
                <c:pt idx="310">
                  <c:v>52</c:v>
                </c:pt>
                <c:pt idx="311">
                  <c:v>43</c:v>
                </c:pt>
                <c:pt idx="312">
                  <c:v>45</c:v>
                </c:pt>
                <c:pt idx="313">
                  <c:v>58</c:v>
                </c:pt>
                <c:pt idx="314">
                  <c:v>55</c:v>
                </c:pt>
                <c:pt idx="315">
                  <c:v>28</c:v>
                </c:pt>
                <c:pt idx="316">
                  <c:v>80</c:v>
                </c:pt>
                <c:pt idx="317">
                  <c:v>59</c:v>
                </c:pt>
                <c:pt idx="318">
                  <c:v>56</c:v>
                </c:pt>
                <c:pt idx="319">
                  <c:v>59</c:v>
                </c:pt>
                <c:pt idx="320">
                  <c:v>40</c:v>
                </c:pt>
                <c:pt idx="321">
                  <c:v>34</c:v>
                </c:pt>
                <c:pt idx="322">
                  <c:v>46</c:v>
                </c:pt>
                <c:pt idx="323">
                  <c:v>74</c:v>
                </c:pt>
                <c:pt idx="324">
                  <c:v>69</c:v>
                </c:pt>
                <c:pt idx="325">
                  <c:v>63</c:v>
                </c:pt>
                <c:pt idx="326">
                  <c:v>64</c:v>
                </c:pt>
                <c:pt idx="327">
                  <c:v>82</c:v>
                </c:pt>
                <c:pt idx="328">
                  <c:v>68</c:v>
                </c:pt>
                <c:pt idx="329">
                  <c:v>87</c:v>
                </c:pt>
                <c:pt idx="330">
                  <c:v>103</c:v>
                </c:pt>
                <c:pt idx="331">
                  <c:v>90</c:v>
                </c:pt>
                <c:pt idx="332">
                  <c:v>77</c:v>
                </c:pt>
                <c:pt idx="333">
                  <c:v>86</c:v>
                </c:pt>
                <c:pt idx="334">
                  <c:v>86</c:v>
                </c:pt>
                <c:pt idx="335">
                  <c:v>90</c:v>
                </c:pt>
                <c:pt idx="336">
                  <c:v>56</c:v>
                </c:pt>
                <c:pt idx="337">
                  <c:v>120</c:v>
                </c:pt>
                <c:pt idx="338">
                  <c:v>97</c:v>
                </c:pt>
                <c:pt idx="339">
                  <c:v>98</c:v>
                </c:pt>
                <c:pt idx="340">
                  <c:v>105</c:v>
                </c:pt>
                <c:pt idx="341">
                  <c:v>148</c:v>
                </c:pt>
                <c:pt idx="342">
                  <c:v>144</c:v>
                </c:pt>
                <c:pt idx="343">
                  <c:v>79</c:v>
                </c:pt>
                <c:pt idx="344">
                  <c:v>143</c:v>
                </c:pt>
                <c:pt idx="345">
                  <c:v>158</c:v>
                </c:pt>
                <c:pt idx="346">
                  <c:v>141</c:v>
                </c:pt>
                <c:pt idx="347">
                  <c:v>201</c:v>
                </c:pt>
                <c:pt idx="348">
                  <c:v>207</c:v>
                </c:pt>
                <c:pt idx="349">
                  <c:v>193</c:v>
                </c:pt>
                <c:pt idx="350">
                  <c:v>160</c:v>
                </c:pt>
                <c:pt idx="351">
                  <c:v>253</c:v>
                </c:pt>
                <c:pt idx="352">
                  <c:v>252</c:v>
                </c:pt>
                <c:pt idx="353">
                  <c:v>303</c:v>
                </c:pt>
                <c:pt idx="354">
                  <c:v>319</c:v>
                </c:pt>
                <c:pt idx="355">
                  <c:v>328</c:v>
                </c:pt>
                <c:pt idx="356">
                  <c:v>241</c:v>
                </c:pt>
                <c:pt idx="357">
                  <c:v>206</c:v>
                </c:pt>
                <c:pt idx="358">
                  <c:v>343</c:v>
                </c:pt>
                <c:pt idx="359">
                  <c:v>346</c:v>
                </c:pt>
                <c:pt idx="360">
                  <c:v>388</c:v>
                </c:pt>
                <c:pt idx="361">
                  <c:v>362</c:v>
                </c:pt>
                <c:pt idx="362">
                  <c:v>363</c:v>
                </c:pt>
                <c:pt idx="363">
                  <c:v>365</c:v>
                </c:pt>
                <c:pt idx="364">
                  <c:v>234</c:v>
                </c:pt>
                <c:pt idx="365">
                  <c:v>432</c:v>
                </c:pt>
                <c:pt idx="366">
                  <c:v>433</c:v>
                </c:pt>
                <c:pt idx="367">
                  <c:v>421</c:v>
                </c:pt>
                <c:pt idx="368">
                  <c:v>340</c:v>
                </c:pt>
                <c:pt idx="369">
                  <c:v>371</c:v>
                </c:pt>
                <c:pt idx="370">
                  <c:v>270</c:v>
                </c:pt>
                <c:pt idx="371">
                  <c:v>237</c:v>
                </c:pt>
                <c:pt idx="372">
                  <c:v>296</c:v>
                </c:pt>
                <c:pt idx="373">
                  <c:v>255</c:v>
                </c:pt>
                <c:pt idx="374">
                  <c:v>260</c:v>
                </c:pt>
                <c:pt idx="375">
                  <c:v>212</c:v>
                </c:pt>
                <c:pt idx="376">
                  <c:v>216</c:v>
                </c:pt>
                <c:pt idx="377">
                  <c:v>173</c:v>
                </c:pt>
                <c:pt idx="378">
                  <c:v>145</c:v>
                </c:pt>
                <c:pt idx="379">
                  <c:v>255</c:v>
                </c:pt>
                <c:pt idx="380">
                  <c:v>228</c:v>
                </c:pt>
                <c:pt idx="381">
                  <c:v>207</c:v>
                </c:pt>
                <c:pt idx="382">
                  <c:v>181</c:v>
                </c:pt>
                <c:pt idx="383">
                  <c:v>158</c:v>
                </c:pt>
                <c:pt idx="384">
                  <c:v>165</c:v>
                </c:pt>
                <c:pt idx="385">
                  <c:v>115</c:v>
                </c:pt>
                <c:pt idx="386">
                  <c:v>164</c:v>
                </c:pt>
                <c:pt idx="387">
                  <c:v>162</c:v>
                </c:pt>
                <c:pt idx="388">
                  <c:v>127</c:v>
                </c:pt>
                <c:pt idx="389">
                  <c:v>143</c:v>
                </c:pt>
                <c:pt idx="390">
                  <c:v>145</c:v>
                </c:pt>
                <c:pt idx="391">
                  <c:v>117</c:v>
                </c:pt>
                <c:pt idx="392">
                  <c:v>114</c:v>
                </c:pt>
                <c:pt idx="393">
                  <c:v>190</c:v>
                </c:pt>
                <c:pt idx="394">
                  <c:v>203</c:v>
                </c:pt>
                <c:pt idx="395">
                  <c:v>216</c:v>
                </c:pt>
                <c:pt idx="396">
                  <c:v>236</c:v>
                </c:pt>
                <c:pt idx="397">
                  <c:v>292</c:v>
                </c:pt>
                <c:pt idx="398">
                  <c:v>298</c:v>
                </c:pt>
                <c:pt idx="399">
                  <c:v>343</c:v>
                </c:pt>
                <c:pt idx="400">
                  <c:v>563</c:v>
                </c:pt>
                <c:pt idx="401">
                  <c:v>741</c:v>
                </c:pt>
                <c:pt idx="402">
                  <c:v>821</c:v>
                </c:pt>
                <c:pt idx="403">
                  <c:v>808</c:v>
                </c:pt>
                <c:pt idx="404">
                  <c:v>851</c:v>
                </c:pt>
                <c:pt idx="405">
                  <c:v>771</c:v>
                </c:pt>
                <c:pt idx="406">
                  <c:v>979</c:v>
                </c:pt>
                <c:pt idx="407">
                  <c:v>1267</c:v>
                </c:pt>
                <c:pt idx="408">
                  <c:v>1280</c:v>
                </c:pt>
                <c:pt idx="409">
                  <c:v>1725</c:v>
                </c:pt>
                <c:pt idx="410">
                  <c:v>1931</c:v>
                </c:pt>
                <c:pt idx="411">
                  <c:v>2174</c:v>
                </c:pt>
                <c:pt idx="412">
                  <c:v>1927</c:v>
                </c:pt>
                <c:pt idx="413">
                  <c:v>1921</c:v>
                </c:pt>
                <c:pt idx="414">
                  <c:v>3035</c:v>
                </c:pt>
                <c:pt idx="415">
                  <c:v>2631</c:v>
                </c:pt>
                <c:pt idx="416">
                  <c:v>3011</c:v>
                </c:pt>
                <c:pt idx="417">
                  <c:v>3051</c:v>
                </c:pt>
                <c:pt idx="418">
                  <c:v>3442</c:v>
                </c:pt>
                <c:pt idx="419">
                  <c:v>3520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62-4F8C-B0A4-35FFED8B07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9039232"/>
        <c:axId val="219040768"/>
      </c:barChart>
      <c:lineChart>
        <c:grouping val="standard"/>
        <c:varyColors val="0"/>
        <c:ser>
          <c:idx val="2"/>
          <c:order val="1"/>
          <c:tx>
            <c:strRef>
              <c:f>'일반 중환자 병상 통계'!$L$1</c:f>
              <c:strCache>
                <c:ptCount val="1"/>
                <c:pt idx="0">
                  <c:v>생치가동율(%)</c:v>
                </c:pt>
              </c:strCache>
            </c:strRef>
          </c:tx>
          <c:spPr>
            <a:ln w="38100" cap="rnd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47"/>
              <c:layout>
                <c:manualLayout>
                  <c:x val="-2.8132709057040729E-2"/>
                  <c:y val="9.3555759810395156E-2"/>
                </c:manualLayout>
              </c:layout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20.12.15</a:t>
                    </a:r>
                  </a:p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63% </a:t>
                    </a:r>
                    <a:endParaRPr lang="en-US" altLang="en-US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CEA-44E4-AE10-1ABC7DBB65C5}"/>
                </c:ext>
              </c:extLst>
            </c:dLbl>
            <c:dLbl>
              <c:idx val="123"/>
              <c:layout>
                <c:manualLayout>
                  <c:x val="-2.7287427351937042E-2"/>
                  <c:y val="0.12797074382021506"/>
                </c:manualLayout>
              </c:layout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21.3.30</a:t>
                    </a:r>
                  </a:p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68% </a:t>
                    </a:r>
                    <a:endParaRPr lang="en-US" altLang="en-US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CEA-44E4-AE10-1ABC7DBB65C5}"/>
                </c:ext>
              </c:extLst>
            </c:dLbl>
            <c:dLbl>
              <c:idx val="124"/>
              <c:layout>
                <c:manualLayout>
                  <c:x val="-2.9393153441648525E-2"/>
                  <c:y val="-6.3974337895836786E-2"/>
                </c:manualLayout>
              </c:layout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21.3.31 max</a:t>
                    </a:r>
                    <a:endParaRPr lang="en-US" altLang="en-US" sz="1400" b="0" dirty="0">
                      <a:solidFill>
                        <a:schemeClr val="tx1"/>
                      </a:solidFill>
                      <a:effectLst/>
                    </a:endParaRPr>
                  </a:p>
                </c:rich>
              </c:tx>
              <c:spPr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CEA-44E4-AE10-1ABC7DBB65C5}"/>
                </c:ext>
              </c:extLst>
            </c:dLbl>
            <c:dLbl>
              <c:idx val="203"/>
              <c:layout>
                <c:manualLayout>
                  <c:x val="-3.1622205326827753E-2"/>
                  <c:y val="8.1995405439987235E-2"/>
                </c:manualLayout>
              </c:layout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21.7.13</a:t>
                    </a:r>
                  </a:p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62% </a:t>
                    </a:r>
                    <a:endParaRPr lang="en-US" altLang="en-US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CEA-44E4-AE10-1ABC7DBB65C5}"/>
                </c:ext>
              </c:extLst>
            </c:dLbl>
            <c:dLbl>
              <c:idx val="2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CEA-44E4-AE10-1ABC7DBB65C5}"/>
                </c:ext>
              </c:extLst>
            </c:dLbl>
            <c:dLbl>
              <c:idx val="2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CEA-44E4-AE10-1ABC7DBB65C5}"/>
                </c:ext>
              </c:extLst>
            </c:dLbl>
            <c:dLbl>
              <c:idx val="234"/>
              <c:layout>
                <c:manualLayout>
                  <c:x val="-8.3914734159019025E-2"/>
                  <c:y val="-6.3961267448187711E-2"/>
                </c:manualLayout>
              </c:layout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21.7.22/8.13 max</a:t>
                    </a:r>
                    <a:endParaRPr lang="en-US" altLang="en-US" sz="1400" b="0" dirty="0">
                      <a:solidFill>
                        <a:schemeClr val="tx1"/>
                      </a:solidFill>
                      <a:effectLst/>
                    </a:endParaRPr>
                  </a:p>
                </c:rich>
              </c:tx>
              <c:spPr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CEA-44E4-AE10-1ABC7DBB65C5}"/>
                </c:ext>
              </c:extLst>
            </c:dLbl>
            <c:dLbl>
              <c:idx val="346"/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21.12.3</a:t>
                    </a:r>
                  </a:p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63% </a:t>
                    </a:r>
                    <a:endParaRPr lang="en-US" altLang="en-US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CEA-44E4-AE10-1ABC7DBB65C5}"/>
                </c:ext>
              </c:extLst>
            </c:dLbl>
            <c:dLbl>
              <c:idx val="355"/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tx1"/>
                        </a:solidFill>
                        <a:effectLst/>
                      </a:defRPr>
                    </a:pPr>
                    <a:r>
                      <a:rPr lang="en-US" altLang="en-US" sz="1400" b="1" dirty="0">
                        <a:solidFill>
                          <a:schemeClr val="tx1"/>
                        </a:solidFill>
                        <a:effectLst/>
                      </a:rPr>
                      <a:t>21.12.12 max </a:t>
                    </a:r>
                    <a:endParaRPr lang="en-US" altLang="en-US" b="0" dirty="0">
                      <a:solidFill>
                        <a:schemeClr val="tx1"/>
                      </a:solidFill>
                      <a:effectLst/>
                    </a:endParaRPr>
                  </a:p>
                </c:rich>
              </c:tx>
              <c:spPr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CEA-44E4-AE10-1ABC7DBB65C5}"/>
                </c:ext>
              </c:extLst>
            </c:dLbl>
            <c:dLbl>
              <c:idx val="40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CEA-44E4-AE10-1ABC7DBB65C5}"/>
                </c:ext>
              </c:extLst>
            </c:dLbl>
            <c:spPr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B050"/>
                    </a:solidFill>
                    <a:effectLst/>
                  </a:defRPr>
                </a:pPr>
                <a:endParaRPr lang="ko-KR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'일반 중환자 병상 통계'!$I$2:$I$421</c:f>
              <c:numCache>
                <c:formatCode>yy"-"m"-"d;@</c:formatCode>
                <c:ptCount val="420"/>
                <c:pt idx="0">
                  <c:v>43972</c:v>
                </c:pt>
                <c:pt idx="1">
                  <c:v>43976</c:v>
                </c:pt>
                <c:pt idx="2">
                  <c:v>43981</c:v>
                </c:pt>
                <c:pt idx="3">
                  <c:v>43987</c:v>
                </c:pt>
                <c:pt idx="4">
                  <c:v>43992</c:v>
                </c:pt>
                <c:pt idx="5">
                  <c:v>43997</c:v>
                </c:pt>
                <c:pt idx="6">
                  <c:v>44002</c:v>
                </c:pt>
                <c:pt idx="7">
                  <c:v>44007</c:v>
                </c:pt>
                <c:pt idx="8">
                  <c:v>44012</c:v>
                </c:pt>
                <c:pt idx="9">
                  <c:v>44017</c:v>
                </c:pt>
                <c:pt idx="10">
                  <c:v>44022</c:v>
                </c:pt>
                <c:pt idx="11">
                  <c:v>44027</c:v>
                </c:pt>
                <c:pt idx="12">
                  <c:v>44032</c:v>
                </c:pt>
                <c:pt idx="13">
                  <c:v>44037</c:v>
                </c:pt>
                <c:pt idx="14">
                  <c:v>44043</c:v>
                </c:pt>
                <c:pt idx="15">
                  <c:v>44048</c:v>
                </c:pt>
                <c:pt idx="16">
                  <c:v>44053</c:v>
                </c:pt>
                <c:pt idx="17">
                  <c:v>44058</c:v>
                </c:pt>
                <c:pt idx="18">
                  <c:v>44063</c:v>
                </c:pt>
                <c:pt idx="19">
                  <c:v>44068</c:v>
                </c:pt>
                <c:pt idx="20">
                  <c:v>44073</c:v>
                </c:pt>
                <c:pt idx="21">
                  <c:v>44079</c:v>
                </c:pt>
                <c:pt idx="22">
                  <c:v>44084</c:v>
                </c:pt>
                <c:pt idx="23">
                  <c:v>44089</c:v>
                </c:pt>
                <c:pt idx="24">
                  <c:v>44094</c:v>
                </c:pt>
                <c:pt idx="25">
                  <c:v>44099</c:v>
                </c:pt>
                <c:pt idx="26">
                  <c:v>44104</c:v>
                </c:pt>
                <c:pt idx="27">
                  <c:v>44109</c:v>
                </c:pt>
                <c:pt idx="28">
                  <c:v>44115</c:v>
                </c:pt>
                <c:pt idx="29">
                  <c:v>44119</c:v>
                </c:pt>
                <c:pt idx="30">
                  <c:v>44123</c:v>
                </c:pt>
                <c:pt idx="31">
                  <c:v>44128</c:v>
                </c:pt>
                <c:pt idx="32">
                  <c:v>44134</c:v>
                </c:pt>
                <c:pt idx="33">
                  <c:v>44139</c:v>
                </c:pt>
                <c:pt idx="34">
                  <c:v>44145</c:v>
                </c:pt>
                <c:pt idx="35">
                  <c:v>44151</c:v>
                </c:pt>
                <c:pt idx="36">
                  <c:v>44155</c:v>
                </c:pt>
                <c:pt idx="37">
                  <c:v>44160</c:v>
                </c:pt>
                <c:pt idx="38">
                  <c:v>44165</c:v>
                </c:pt>
                <c:pt idx="39">
                  <c:v>44167</c:v>
                </c:pt>
                <c:pt idx="40">
                  <c:v>44168</c:v>
                </c:pt>
                <c:pt idx="41">
                  <c:v>44172</c:v>
                </c:pt>
                <c:pt idx="42">
                  <c:v>44173</c:v>
                </c:pt>
                <c:pt idx="43">
                  <c:v>44174</c:v>
                </c:pt>
                <c:pt idx="44">
                  <c:v>44175</c:v>
                </c:pt>
                <c:pt idx="45">
                  <c:v>44176</c:v>
                </c:pt>
                <c:pt idx="46">
                  <c:v>44179</c:v>
                </c:pt>
                <c:pt idx="47">
                  <c:v>44180</c:v>
                </c:pt>
                <c:pt idx="48">
                  <c:v>44181</c:v>
                </c:pt>
                <c:pt idx="49">
                  <c:v>44183</c:v>
                </c:pt>
                <c:pt idx="50">
                  <c:v>44186</c:v>
                </c:pt>
                <c:pt idx="51">
                  <c:v>44187</c:v>
                </c:pt>
                <c:pt idx="52">
                  <c:v>44188</c:v>
                </c:pt>
                <c:pt idx="53">
                  <c:v>44189</c:v>
                </c:pt>
                <c:pt idx="54">
                  <c:v>44193</c:v>
                </c:pt>
                <c:pt idx="55">
                  <c:v>44194</c:v>
                </c:pt>
                <c:pt idx="56">
                  <c:v>44195</c:v>
                </c:pt>
                <c:pt idx="57">
                  <c:v>44196</c:v>
                </c:pt>
                <c:pt idx="58">
                  <c:v>44201</c:v>
                </c:pt>
                <c:pt idx="59">
                  <c:v>44202</c:v>
                </c:pt>
                <c:pt idx="60">
                  <c:v>44203</c:v>
                </c:pt>
                <c:pt idx="61">
                  <c:v>44204</c:v>
                </c:pt>
                <c:pt idx="62">
                  <c:v>44207</c:v>
                </c:pt>
                <c:pt idx="63">
                  <c:v>44208</c:v>
                </c:pt>
                <c:pt idx="64">
                  <c:v>44209</c:v>
                </c:pt>
                <c:pt idx="65">
                  <c:v>44211</c:v>
                </c:pt>
                <c:pt idx="66">
                  <c:v>44215</c:v>
                </c:pt>
                <c:pt idx="67">
                  <c:v>44216</c:v>
                </c:pt>
                <c:pt idx="68">
                  <c:v>44217</c:v>
                </c:pt>
                <c:pt idx="69">
                  <c:v>44218</c:v>
                </c:pt>
                <c:pt idx="70">
                  <c:v>44221</c:v>
                </c:pt>
                <c:pt idx="71">
                  <c:v>44223</c:v>
                </c:pt>
                <c:pt idx="72">
                  <c:v>44224</c:v>
                </c:pt>
                <c:pt idx="73">
                  <c:v>44228</c:v>
                </c:pt>
                <c:pt idx="74">
                  <c:v>44229</c:v>
                </c:pt>
                <c:pt idx="75">
                  <c:v>44230</c:v>
                </c:pt>
                <c:pt idx="76">
                  <c:v>44231</c:v>
                </c:pt>
                <c:pt idx="77">
                  <c:v>44232</c:v>
                </c:pt>
                <c:pt idx="78">
                  <c:v>44233</c:v>
                </c:pt>
                <c:pt idx="79">
                  <c:v>44234</c:v>
                </c:pt>
                <c:pt idx="80">
                  <c:v>44236</c:v>
                </c:pt>
                <c:pt idx="81">
                  <c:v>44237</c:v>
                </c:pt>
                <c:pt idx="82">
                  <c:v>44238</c:v>
                </c:pt>
                <c:pt idx="83">
                  <c:v>44241</c:v>
                </c:pt>
                <c:pt idx="84">
                  <c:v>44242</c:v>
                </c:pt>
                <c:pt idx="85">
                  <c:v>44243</c:v>
                </c:pt>
                <c:pt idx="86">
                  <c:v>44244</c:v>
                </c:pt>
                <c:pt idx="87">
                  <c:v>44245</c:v>
                </c:pt>
                <c:pt idx="88">
                  <c:v>44246</c:v>
                </c:pt>
                <c:pt idx="89">
                  <c:v>44247</c:v>
                </c:pt>
                <c:pt idx="90">
                  <c:v>44248</c:v>
                </c:pt>
                <c:pt idx="91">
                  <c:v>44249</c:v>
                </c:pt>
                <c:pt idx="92">
                  <c:v>44250</c:v>
                </c:pt>
                <c:pt idx="93">
                  <c:v>44251</c:v>
                </c:pt>
                <c:pt idx="94">
                  <c:v>44252</c:v>
                </c:pt>
                <c:pt idx="95">
                  <c:v>44253</c:v>
                </c:pt>
                <c:pt idx="96">
                  <c:v>44254</c:v>
                </c:pt>
                <c:pt idx="97">
                  <c:v>44255</c:v>
                </c:pt>
                <c:pt idx="98">
                  <c:v>44256</c:v>
                </c:pt>
                <c:pt idx="99">
                  <c:v>44257</c:v>
                </c:pt>
                <c:pt idx="100">
                  <c:v>44258</c:v>
                </c:pt>
                <c:pt idx="101">
                  <c:v>44259</c:v>
                </c:pt>
                <c:pt idx="102">
                  <c:v>44262</c:v>
                </c:pt>
                <c:pt idx="103">
                  <c:v>44263</c:v>
                </c:pt>
                <c:pt idx="104">
                  <c:v>44265</c:v>
                </c:pt>
                <c:pt idx="105">
                  <c:v>44266</c:v>
                </c:pt>
                <c:pt idx="106">
                  <c:v>44267</c:v>
                </c:pt>
                <c:pt idx="107">
                  <c:v>44268</c:v>
                </c:pt>
                <c:pt idx="108">
                  <c:v>44269</c:v>
                </c:pt>
                <c:pt idx="109">
                  <c:v>44270</c:v>
                </c:pt>
                <c:pt idx="110">
                  <c:v>44271</c:v>
                </c:pt>
                <c:pt idx="111">
                  <c:v>44272</c:v>
                </c:pt>
                <c:pt idx="112">
                  <c:v>44273</c:v>
                </c:pt>
                <c:pt idx="113">
                  <c:v>44274</c:v>
                </c:pt>
                <c:pt idx="114">
                  <c:v>44276</c:v>
                </c:pt>
                <c:pt idx="115">
                  <c:v>44277</c:v>
                </c:pt>
                <c:pt idx="116">
                  <c:v>44278</c:v>
                </c:pt>
                <c:pt idx="117">
                  <c:v>44279</c:v>
                </c:pt>
                <c:pt idx="118">
                  <c:v>44280</c:v>
                </c:pt>
                <c:pt idx="119">
                  <c:v>44281</c:v>
                </c:pt>
                <c:pt idx="120">
                  <c:v>44282</c:v>
                </c:pt>
                <c:pt idx="121">
                  <c:v>44283</c:v>
                </c:pt>
                <c:pt idx="122">
                  <c:v>44284</c:v>
                </c:pt>
                <c:pt idx="123">
                  <c:v>44285</c:v>
                </c:pt>
                <c:pt idx="124">
                  <c:v>44286</c:v>
                </c:pt>
                <c:pt idx="125">
                  <c:v>44287</c:v>
                </c:pt>
                <c:pt idx="126">
                  <c:v>44288</c:v>
                </c:pt>
                <c:pt idx="127">
                  <c:v>44289</c:v>
                </c:pt>
                <c:pt idx="128">
                  <c:v>44290</c:v>
                </c:pt>
                <c:pt idx="129">
                  <c:v>44291</c:v>
                </c:pt>
                <c:pt idx="130">
                  <c:v>44292</c:v>
                </c:pt>
                <c:pt idx="131">
                  <c:v>44293</c:v>
                </c:pt>
                <c:pt idx="132">
                  <c:v>44294</c:v>
                </c:pt>
                <c:pt idx="133">
                  <c:v>44297</c:v>
                </c:pt>
                <c:pt idx="134">
                  <c:v>44298</c:v>
                </c:pt>
                <c:pt idx="135">
                  <c:v>44299</c:v>
                </c:pt>
                <c:pt idx="136">
                  <c:v>44300</c:v>
                </c:pt>
                <c:pt idx="137">
                  <c:v>44301</c:v>
                </c:pt>
                <c:pt idx="138">
                  <c:v>44302</c:v>
                </c:pt>
                <c:pt idx="139">
                  <c:v>44304</c:v>
                </c:pt>
                <c:pt idx="140">
                  <c:v>44307</c:v>
                </c:pt>
                <c:pt idx="141">
                  <c:v>44308</c:v>
                </c:pt>
                <c:pt idx="142">
                  <c:v>44309</c:v>
                </c:pt>
                <c:pt idx="143">
                  <c:v>44310</c:v>
                </c:pt>
                <c:pt idx="144">
                  <c:v>44311</c:v>
                </c:pt>
                <c:pt idx="145">
                  <c:v>44312</c:v>
                </c:pt>
                <c:pt idx="146">
                  <c:v>44313</c:v>
                </c:pt>
                <c:pt idx="147">
                  <c:v>44315</c:v>
                </c:pt>
                <c:pt idx="148">
                  <c:v>44316</c:v>
                </c:pt>
                <c:pt idx="149">
                  <c:v>44317</c:v>
                </c:pt>
                <c:pt idx="150">
                  <c:v>44318</c:v>
                </c:pt>
                <c:pt idx="151">
                  <c:v>44319</c:v>
                </c:pt>
                <c:pt idx="152">
                  <c:v>44320</c:v>
                </c:pt>
                <c:pt idx="153">
                  <c:v>44322</c:v>
                </c:pt>
                <c:pt idx="154">
                  <c:v>44323</c:v>
                </c:pt>
                <c:pt idx="155">
                  <c:v>44324</c:v>
                </c:pt>
                <c:pt idx="156">
                  <c:v>44325</c:v>
                </c:pt>
                <c:pt idx="157">
                  <c:v>44326</c:v>
                </c:pt>
                <c:pt idx="158">
                  <c:v>44327</c:v>
                </c:pt>
                <c:pt idx="159">
                  <c:v>44328</c:v>
                </c:pt>
                <c:pt idx="160">
                  <c:v>44329</c:v>
                </c:pt>
                <c:pt idx="161">
                  <c:v>44332</c:v>
                </c:pt>
                <c:pt idx="162">
                  <c:v>44333</c:v>
                </c:pt>
                <c:pt idx="163">
                  <c:v>44334</c:v>
                </c:pt>
                <c:pt idx="164">
                  <c:v>44335</c:v>
                </c:pt>
                <c:pt idx="165">
                  <c:v>44336</c:v>
                </c:pt>
                <c:pt idx="166">
                  <c:v>44337</c:v>
                </c:pt>
                <c:pt idx="167">
                  <c:v>44338</c:v>
                </c:pt>
                <c:pt idx="168">
                  <c:v>44339</c:v>
                </c:pt>
                <c:pt idx="169">
                  <c:v>44340</c:v>
                </c:pt>
                <c:pt idx="170">
                  <c:v>44341</c:v>
                </c:pt>
                <c:pt idx="171">
                  <c:v>44342</c:v>
                </c:pt>
                <c:pt idx="172">
                  <c:v>44343</c:v>
                </c:pt>
                <c:pt idx="173">
                  <c:v>44344</c:v>
                </c:pt>
                <c:pt idx="174">
                  <c:v>44345</c:v>
                </c:pt>
                <c:pt idx="175">
                  <c:v>44346</c:v>
                </c:pt>
                <c:pt idx="176">
                  <c:v>44347</c:v>
                </c:pt>
                <c:pt idx="177">
                  <c:v>44349</c:v>
                </c:pt>
                <c:pt idx="178">
                  <c:v>44350</c:v>
                </c:pt>
                <c:pt idx="179">
                  <c:v>44355</c:v>
                </c:pt>
                <c:pt idx="180">
                  <c:v>44356</c:v>
                </c:pt>
                <c:pt idx="181">
                  <c:v>44357</c:v>
                </c:pt>
                <c:pt idx="182">
                  <c:v>44358</c:v>
                </c:pt>
                <c:pt idx="183">
                  <c:v>44359</c:v>
                </c:pt>
                <c:pt idx="184">
                  <c:v>44360</c:v>
                </c:pt>
                <c:pt idx="185">
                  <c:v>44361</c:v>
                </c:pt>
                <c:pt idx="186">
                  <c:v>44371</c:v>
                </c:pt>
                <c:pt idx="187">
                  <c:v>44372</c:v>
                </c:pt>
                <c:pt idx="188">
                  <c:v>44373</c:v>
                </c:pt>
                <c:pt idx="189">
                  <c:v>44376</c:v>
                </c:pt>
                <c:pt idx="190">
                  <c:v>44377</c:v>
                </c:pt>
                <c:pt idx="191">
                  <c:v>44378</c:v>
                </c:pt>
                <c:pt idx="192">
                  <c:v>44379</c:v>
                </c:pt>
                <c:pt idx="193">
                  <c:v>44380</c:v>
                </c:pt>
                <c:pt idx="194">
                  <c:v>44381</c:v>
                </c:pt>
                <c:pt idx="195">
                  <c:v>44382</c:v>
                </c:pt>
                <c:pt idx="196">
                  <c:v>44383</c:v>
                </c:pt>
                <c:pt idx="197">
                  <c:v>44384</c:v>
                </c:pt>
                <c:pt idx="198">
                  <c:v>44385</c:v>
                </c:pt>
                <c:pt idx="199">
                  <c:v>44386</c:v>
                </c:pt>
                <c:pt idx="200">
                  <c:v>44387</c:v>
                </c:pt>
                <c:pt idx="201">
                  <c:v>44388</c:v>
                </c:pt>
                <c:pt idx="202">
                  <c:v>44389</c:v>
                </c:pt>
                <c:pt idx="203">
                  <c:v>44390</c:v>
                </c:pt>
                <c:pt idx="204">
                  <c:v>44391</c:v>
                </c:pt>
                <c:pt idx="205">
                  <c:v>44392</c:v>
                </c:pt>
                <c:pt idx="206">
                  <c:v>44393</c:v>
                </c:pt>
                <c:pt idx="207">
                  <c:v>44394</c:v>
                </c:pt>
                <c:pt idx="208">
                  <c:v>44395</c:v>
                </c:pt>
                <c:pt idx="209">
                  <c:v>44396</c:v>
                </c:pt>
                <c:pt idx="210">
                  <c:v>44397</c:v>
                </c:pt>
                <c:pt idx="211">
                  <c:v>44398</c:v>
                </c:pt>
                <c:pt idx="212">
                  <c:v>44399</c:v>
                </c:pt>
                <c:pt idx="213">
                  <c:v>44400</c:v>
                </c:pt>
                <c:pt idx="214">
                  <c:v>44401</c:v>
                </c:pt>
                <c:pt idx="215">
                  <c:v>44402</c:v>
                </c:pt>
                <c:pt idx="216">
                  <c:v>44403</c:v>
                </c:pt>
                <c:pt idx="217">
                  <c:v>44404</c:v>
                </c:pt>
                <c:pt idx="218">
                  <c:v>44405</c:v>
                </c:pt>
                <c:pt idx="219">
                  <c:v>44406</c:v>
                </c:pt>
                <c:pt idx="220">
                  <c:v>44407</c:v>
                </c:pt>
                <c:pt idx="221">
                  <c:v>44408</c:v>
                </c:pt>
                <c:pt idx="222">
                  <c:v>44409</c:v>
                </c:pt>
                <c:pt idx="223">
                  <c:v>44410</c:v>
                </c:pt>
                <c:pt idx="224">
                  <c:v>44411</c:v>
                </c:pt>
                <c:pt idx="225">
                  <c:v>44412</c:v>
                </c:pt>
                <c:pt idx="226">
                  <c:v>44413</c:v>
                </c:pt>
                <c:pt idx="227">
                  <c:v>44414</c:v>
                </c:pt>
                <c:pt idx="228">
                  <c:v>44415</c:v>
                </c:pt>
                <c:pt idx="229">
                  <c:v>44416</c:v>
                </c:pt>
                <c:pt idx="230">
                  <c:v>44417</c:v>
                </c:pt>
                <c:pt idx="231">
                  <c:v>44418</c:v>
                </c:pt>
                <c:pt idx="232">
                  <c:v>44419</c:v>
                </c:pt>
                <c:pt idx="233">
                  <c:v>44420</c:v>
                </c:pt>
                <c:pt idx="234">
                  <c:v>44421</c:v>
                </c:pt>
                <c:pt idx="235">
                  <c:v>44422</c:v>
                </c:pt>
                <c:pt idx="236">
                  <c:v>44423</c:v>
                </c:pt>
                <c:pt idx="237">
                  <c:v>44424</c:v>
                </c:pt>
                <c:pt idx="238">
                  <c:v>44425</c:v>
                </c:pt>
                <c:pt idx="239">
                  <c:v>44426</c:v>
                </c:pt>
                <c:pt idx="240">
                  <c:v>44427</c:v>
                </c:pt>
                <c:pt idx="241">
                  <c:v>44428</c:v>
                </c:pt>
                <c:pt idx="242">
                  <c:v>44429</c:v>
                </c:pt>
                <c:pt idx="243">
                  <c:v>44430</c:v>
                </c:pt>
                <c:pt idx="244">
                  <c:v>44431</c:v>
                </c:pt>
                <c:pt idx="245">
                  <c:v>44432</c:v>
                </c:pt>
                <c:pt idx="246">
                  <c:v>44433</c:v>
                </c:pt>
                <c:pt idx="247">
                  <c:v>44434</c:v>
                </c:pt>
                <c:pt idx="248">
                  <c:v>44435</c:v>
                </c:pt>
                <c:pt idx="249">
                  <c:v>44436</c:v>
                </c:pt>
                <c:pt idx="250">
                  <c:v>44437</c:v>
                </c:pt>
                <c:pt idx="251">
                  <c:v>44438</c:v>
                </c:pt>
                <c:pt idx="252">
                  <c:v>44439</c:v>
                </c:pt>
                <c:pt idx="253">
                  <c:v>44440</c:v>
                </c:pt>
                <c:pt idx="254">
                  <c:v>44441</c:v>
                </c:pt>
                <c:pt idx="255">
                  <c:v>44442</c:v>
                </c:pt>
                <c:pt idx="256">
                  <c:v>44443</c:v>
                </c:pt>
                <c:pt idx="257">
                  <c:v>44444</c:v>
                </c:pt>
                <c:pt idx="258">
                  <c:v>44445</c:v>
                </c:pt>
                <c:pt idx="259">
                  <c:v>44446</c:v>
                </c:pt>
                <c:pt idx="260">
                  <c:v>44447</c:v>
                </c:pt>
                <c:pt idx="261">
                  <c:v>44448</c:v>
                </c:pt>
                <c:pt idx="262">
                  <c:v>44449</c:v>
                </c:pt>
                <c:pt idx="263">
                  <c:v>44450</c:v>
                </c:pt>
                <c:pt idx="264">
                  <c:v>44451</c:v>
                </c:pt>
                <c:pt idx="265">
                  <c:v>44452</c:v>
                </c:pt>
                <c:pt idx="266">
                  <c:v>44453</c:v>
                </c:pt>
                <c:pt idx="267">
                  <c:v>44454</c:v>
                </c:pt>
                <c:pt idx="268">
                  <c:v>44455</c:v>
                </c:pt>
                <c:pt idx="269">
                  <c:v>44456</c:v>
                </c:pt>
                <c:pt idx="270">
                  <c:v>44457</c:v>
                </c:pt>
                <c:pt idx="271">
                  <c:v>44458</c:v>
                </c:pt>
                <c:pt idx="272">
                  <c:v>44459</c:v>
                </c:pt>
                <c:pt idx="273">
                  <c:v>44460</c:v>
                </c:pt>
                <c:pt idx="274">
                  <c:v>44461</c:v>
                </c:pt>
                <c:pt idx="275">
                  <c:v>44462</c:v>
                </c:pt>
                <c:pt idx="276">
                  <c:v>44463</c:v>
                </c:pt>
                <c:pt idx="277">
                  <c:v>44464</c:v>
                </c:pt>
                <c:pt idx="278">
                  <c:v>44465</c:v>
                </c:pt>
                <c:pt idx="279">
                  <c:v>44466</c:v>
                </c:pt>
                <c:pt idx="280">
                  <c:v>44467</c:v>
                </c:pt>
                <c:pt idx="281">
                  <c:v>44468</c:v>
                </c:pt>
                <c:pt idx="282">
                  <c:v>44469</c:v>
                </c:pt>
                <c:pt idx="283">
                  <c:v>44470</c:v>
                </c:pt>
                <c:pt idx="284">
                  <c:v>44471</c:v>
                </c:pt>
                <c:pt idx="285">
                  <c:v>44472</c:v>
                </c:pt>
                <c:pt idx="286">
                  <c:v>44473</c:v>
                </c:pt>
                <c:pt idx="287">
                  <c:v>44474</c:v>
                </c:pt>
                <c:pt idx="288">
                  <c:v>44475</c:v>
                </c:pt>
                <c:pt idx="289">
                  <c:v>44476</c:v>
                </c:pt>
                <c:pt idx="290">
                  <c:v>44477</c:v>
                </c:pt>
                <c:pt idx="291">
                  <c:v>44478</c:v>
                </c:pt>
                <c:pt idx="292">
                  <c:v>44479</c:v>
                </c:pt>
                <c:pt idx="293">
                  <c:v>44480</c:v>
                </c:pt>
                <c:pt idx="294">
                  <c:v>44481</c:v>
                </c:pt>
                <c:pt idx="295">
                  <c:v>44482</c:v>
                </c:pt>
                <c:pt idx="296">
                  <c:v>44483</c:v>
                </c:pt>
                <c:pt idx="297">
                  <c:v>44484</c:v>
                </c:pt>
                <c:pt idx="298">
                  <c:v>44485</c:v>
                </c:pt>
                <c:pt idx="299">
                  <c:v>44486</c:v>
                </c:pt>
                <c:pt idx="300">
                  <c:v>44487</c:v>
                </c:pt>
                <c:pt idx="301">
                  <c:v>44488</c:v>
                </c:pt>
                <c:pt idx="302">
                  <c:v>44489</c:v>
                </c:pt>
                <c:pt idx="303">
                  <c:v>44490</c:v>
                </c:pt>
                <c:pt idx="304">
                  <c:v>44491</c:v>
                </c:pt>
                <c:pt idx="305">
                  <c:v>44492</c:v>
                </c:pt>
                <c:pt idx="306">
                  <c:v>44493</c:v>
                </c:pt>
                <c:pt idx="307">
                  <c:v>44494</c:v>
                </c:pt>
                <c:pt idx="308">
                  <c:v>44495</c:v>
                </c:pt>
                <c:pt idx="309">
                  <c:v>44496</c:v>
                </c:pt>
                <c:pt idx="310">
                  <c:v>44497</c:v>
                </c:pt>
                <c:pt idx="311">
                  <c:v>44498</c:v>
                </c:pt>
                <c:pt idx="312">
                  <c:v>44499</c:v>
                </c:pt>
                <c:pt idx="313">
                  <c:v>44500</c:v>
                </c:pt>
                <c:pt idx="314">
                  <c:v>44501</c:v>
                </c:pt>
                <c:pt idx="315">
                  <c:v>44502</c:v>
                </c:pt>
                <c:pt idx="316">
                  <c:v>44503</c:v>
                </c:pt>
                <c:pt idx="317">
                  <c:v>44504</c:v>
                </c:pt>
                <c:pt idx="318">
                  <c:v>44505</c:v>
                </c:pt>
                <c:pt idx="319">
                  <c:v>44506</c:v>
                </c:pt>
                <c:pt idx="320">
                  <c:v>44507</c:v>
                </c:pt>
                <c:pt idx="321">
                  <c:v>44508</c:v>
                </c:pt>
                <c:pt idx="322">
                  <c:v>44509</c:v>
                </c:pt>
                <c:pt idx="323">
                  <c:v>44510</c:v>
                </c:pt>
                <c:pt idx="324">
                  <c:v>44511</c:v>
                </c:pt>
                <c:pt idx="325">
                  <c:v>44512</c:v>
                </c:pt>
                <c:pt idx="326">
                  <c:v>44513</c:v>
                </c:pt>
                <c:pt idx="327">
                  <c:v>44514</c:v>
                </c:pt>
                <c:pt idx="328">
                  <c:v>44515</c:v>
                </c:pt>
                <c:pt idx="329">
                  <c:v>44516</c:v>
                </c:pt>
                <c:pt idx="330">
                  <c:v>44517</c:v>
                </c:pt>
                <c:pt idx="331">
                  <c:v>44518</c:v>
                </c:pt>
                <c:pt idx="332">
                  <c:v>44519</c:v>
                </c:pt>
                <c:pt idx="333">
                  <c:v>44520</c:v>
                </c:pt>
                <c:pt idx="334">
                  <c:v>44521</c:v>
                </c:pt>
                <c:pt idx="335">
                  <c:v>44522</c:v>
                </c:pt>
                <c:pt idx="336">
                  <c:v>44523</c:v>
                </c:pt>
                <c:pt idx="337">
                  <c:v>44524</c:v>
                </c:pt>
                <c:pt idx="338">
                  <c:v>44525</c:v>
                </c:pt>
                <c:pt idx="339">
                  <c:v>44526</c:v>
                </c:pt>
                <c:pt idx="340">
                  <c:v>44527</c:v>
                </c:pt>
                <c:pt idx="341">
                  <c:v>44528</c:v>
                </c:pt>
                <c:pt idx="342">
                  <c:v>44529</c:v>
                </c:pt>
                <c:pt idx="343">
                  <c:v>44530</c:v>
                </c:pt>
                <c:pt idx="344">
                  <c:v>44531</c:v>
                </c:pt>
                <c:pt idx="345">
                  <c:v>44532</c:v>
                </c:pt>
                <c:pt idx="346">
                  <c:v>44533</c:v>
                </c:pt>
                <c:pt idx="347">
                  <c:v>44534</c:v>
                </c:pt>
                <c:pt idx="348">
                  <c:v>44535</c:v>
                </c:pt>
                <c:pt idx="349">
                  <c:v>44536</c:v>
                </c:pt>
                <c:pt idx="350">
                  <c:v>44537</c:v>
                </c:pt>
                <c:pt idx="351">
                  <c:v>44538</c:v>
                </c:pt>
                <c:pt idx="352">
                  <c:v>44539</c:v>
                </c:pt>
                <c:pt idx="353">
                  <c:v>44540</c:v>
                </c:pt>
                <c:pt idx="354">
                  <c:v>44541</c:v>
                </c:pt>
                <c:pt idx="355">
                  <c:v>44542</c:v>
                </c:pt>
                <c:pt idx="356">
                  <c:v>44543</c:v>
                </c:pt>
                <c:pt idx="357">
                  <c:v>44544</c:v>
                </c:pt>
                <c:pt idx="358">
                  <c:v>44545</c:v>
                </c:pt>
                <c:pt idx="359">
                  <c:v>44546</c:v>
                </c:pt>
                <c:pt idx="360">
                  <c:v>44547</c:v>
                </c:pt>
                <c:pt idx="361">
                  <c:v>44548</c:v>
                </c:pt>
                <c:pt idx="362">
                  <c:v>44549</c:v>
                </c:pt>
                <c:pt idx="363">
                  <c:v>44550</c:v>
                </c:pt>
                <c:pt idx="364">
                  <c:v>44551</c:v>
                </c:pt>
                <c:pt idx="365">
                  <c:v>44552</c:v>
                </c:pt>
                <c:pt idx="366">
                  <c:v>44553</c:v>
                </c:pt>
                <c:pt idx="367">
                  <c:v>44554</c:v>
                </c:pt>
                <c:pt idx="368">
                  <c:v>44555</c:v>
                </c:pt>
                <c:pt idx="369">
                  <c:v>44556</c:v>
                </c:pt>
                <c:pt idx="370">
                  <c:v>44557</c:v>
                </c:pt>
                <c:pt idx="371">
                  <c:v>44558</c:v>
                </c:pt>
                <c:pt idx="372">
                  <c:v>44559</c:v>
                </c:pt>
                <c:pt idx="373">
                  <c:v>44560</c:v>
                </c:pt>
                <c:pt idx="374">
                  <c:v>44561</c:v>
                </c:pt>
                <c:pt idx="375">
                  <c:v>44562</c:v>
                </c:pt>
                <c:pt idx="376">
                  <c:v>44563</c:v>
                </c:pt>
                <c:pt idx="377">
                  <c:v>44564</c:v>
                </c:pt>
                <c:pt idx="378">
                  <c:v>44565</c:v>
                </c:pt>
                <c:pt idx="379">
                  <c:v>44566</c:v>
                </c:pt>
                <c:pt idx="380">
                  <c:v>44567</c:v>
                </c:pt>
                <c:pt idx="381">
                  <c:v>44568</c:v>
                </c:pt>
                <c:pt idx="382">
                  <c:v>44569</c:v>
                </c:pt>
                <c:pt idx="383">
                  <c:v>44570</c:v>
                </c:pt>
                <c:pt idx="384">
                  <c:v>44571</c:v>
                </c:pt>
                <c:pt idx="385">
                  <c:v>44572</c:v>
                </c:pt>
                <c:pt idx="386">
                  <c:v>44573</c:v>
                </c:pt>
                <c:pt idx="387">
                  <c:v>44574</c:v>
                </c:pt>
                <c:pt idx="388">
                  <c:v>44575</c:v>
                </c:pt>
                <c:pt idx="389">
                  <c:v>44576</c:v>
                </c:pt>
                <c:pt idx="390">
                  <c:v>44577</c:v>
                </c:pt>
                <c:pt idx="391">
                  <c:v>44578</c:v>
                </c:pt>
                <c:pt idx="392">
                  <c:v>44579</c:v>
                </c:pt>
                <c:pt idx="393">
                  <c:v>44580</c:v>
                </c:pt>
                <c:pt idx="394">
                  <c:v>44581</c:v>
                </c:pt>
                <c:pt idx="395">
                  <c:v>44582</c:v>
                </c:pt>
                <c:pt idx="396">
                  <c:v>44583</c:v>
                </c:pt>
                <c:pt idx="397">
                  <c:v>44584</c:v>
                </c:pt>
                <c:pt idx="398">
                  <c:v>44585</c:v>
                </c:pt>
                <c:pt idx="399">
                  <c:v>44586</c:v>
                </c:pt>
                <c:pt idx="400">
                  <c:v>44587</c:v>
                </c:pt>
                <c:pt idx="401">
                  <c:v>44588</c:v>
                </c:pt>
                <c:pt idx="402">
                  <c:v>44589</c:v>
                </c:pt>
                <c:pt idx="403">
                  <c:v>44590</c:v>
                </c:pt>
                <c:pt idx="404">
                  <c:v>44591</c:v>
                </c:pt>
                <c:pt idx="405">
                  <c:v>44592</c:v>
                </c:pt>
                <c:pt idx="406">
                  <c:v>44593</c:v>
                </c:pt>
                <c:pt idx="407">
                  <c:v>44594</c:v>
                </c:pt>
                <c:pt idx="408">
                  <c:v>44595</c:v>
                </c:pt>
                <c:pt idx="409">
                  <c:v>44596</c:v>
                </c:pt>
                <c:pt idx="410">
                  <c:v>44597</c:v>
                </c:pt>
                <c:pt idx="411">
                  <c:v>44598</c:v>
                </c:pt>
                <c:pt idx="412">
                  <c:v>44599</c:v>
                </c:pt>
                <c:pt idx="413">
                  <c:v>44600</c:v>
                </c:pt>
                <c:pt idx="414">
                  <c:v>44601</c:v>
                </c:pt>
                <c:pt idx="415">
                  <c:v>44602</c:v>
                </c:pt>
                <c:pt idx="416">
                  <c:v>44603</c:v>
                </c:pt>
                <c:pt idx="417">
                  <c:v>44604</c:v>
                </c:pt>
                <c:pt idx="418">
                  <c:v>44605</c:v>
                </c:pt>
                <c:pt idx="419">
                  <c:v>44606</c:v>
                </c:pt>
              </c:numCache>
            </c:numRef>
          </c:cat>
          <c:val>
            <c:numRef>
              <c:f>'일반 중환자 병상 통계'!$L$2:$L$421</c:f>
              <c:numCache>
                <c:formatCode>0.0_);[Red]\(0.0\)</c:formatCode>
                <c:ptCount val="4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12.941176470588237</c:v>
                </c:pt>
                <c:pt idx="41">
                  <c:v>26.47058823529412</c:v>
                </c:pt>
                <c:pt idx="42">
                  <c:v>24.827586206896552</c:v>
                </c:pt>
                <c:pt idx="43">
                  <c:v>38.620689655172413</c:v>
                </c:pt>
                <c:pt idx="44">
                  <c:v>44.827586206896555</c:v>
                </c:pt>
                <c:pt idx="45">
                  <c:v>51.379310344827587</c:v>
                </c:pt>
                <c:pt idx="46">
                  <c:v>49.866666666666667</c:v>
                </c:pt>
                <c:pt idx="47">
                  <c:v>63.2</c:v>
                </c:pt>
                <c:pt idx="48">
                  <c:v>67.2</c:v>
                </c:pt>
                <c:pt idx="49">
                  <c:v>82.439024390243901</c:v>
                </c:pt>
                <c:pt idx="50">
                  <c:v>38.929440389294406</c:v>
                </c:pt>
                <c:pt idx="51">
                  <c:v>42.579075425790755</c:v>
                </c:pt>
                <c:pt idx="52">
                  <c:v>42.092457420924575</c:v>
                </c:pt>
                <c:pt idx="53">
                  <c:v>40.875912408759127</c:v>
                </c:pt>
                <c:pt idx="54">
                  <c:v>42.092457420924575</c:v>
                </c:pt>
                <c:pt idx="55">
                  <c:v>39.659367396593673</c:v>
                </c:pt>
                <c:pt idx="56">
                  <c:v>39.416058394160586</c:v>
                </c:pt>
                <c:pt idx="57">
                  <c:v>40.632603406326034</c:v>
                </c:pt>
                <c:pt idx="58">
                  <c:v>36.739659367396591</c:v>
                </c:pt>
                <c:pt idx="59">
                  <c:v>40.145985401459853</c:v>
                </c:pt>
                <c:pt idx="60">
                  <c:v>38.199513381995132</c:v>
                </c:pt>
                <c:pt idx="61">
                  <c:v>37.956204379562038</c:v>
                </c:pt>
                <c:pt idx="62">
                  <c:v>34.306569343065696</c:v>
                </c:pt>
                <c:pt idx="63">
                  <c:v>25.547445255474454</c:v>
                </c:pt>
                <c:pt idx="64">
                  <c:v>24.817518248175183</c:v>
                </c:pt>
                <c:pt idx="65">
                  <c:v>44.480519480519483</c:v>
                </c:pt>
                <c:pt idx="66">
                  <c:v>49.02597402597403</c:v>
                </c:pt>
                <c:pt idx="67">
                  <c:v>44.805194805194802</c:v>
                </c:pt>
                <c:pt idx="68">
                  <c:v>42.532467532467535</c:v>
                </c:pt>
                <c:pt idx="69">
                  <c:v>43.506493506493506</c:v>
                </c:pt>
                <c:pt idx="70">
                  <c:v>33.766233766233768</c:v>
                </c:pt>
                <c:pt idx="71">
                  <c:v>24.350649350649352</c:v>
                </c:pt>
                <c:pt idx="72">
                  <c:v>35.38961038961039</c:v>
                </c:pt>
                <c:pt idx="73">
                  <c:v>49.785407725321889</c:v>
                </c:pt>
                <c:pt idx="74">
                  <c:v>43.347639484978536</c:v>
                </c:pt>
                <c:pt idx="75">
                  <c:v>46.351931330472098</c:v>
                </c:pt>
                <c:pt idx="76">
                  <c:v>46.781115879828327</c:v>
                </c:pt>
                <c:pt idx="77">
                  <c:v>49.785407725321889</c:v>
                </c:pt>
                <c:pt idx="78">
                  <c:v>44.63519313304721</c:v>
                </c:pt>
                <c:pt idx="79">
                  <c:v>39.055793991416309</c:v>
                </c:pt>
                <c:pt idx="80">
                  <c:v>27.896995708154503</c:v>
                </c:pt>
                <c:pt idx="81">
                  <c:v>30.901287553648071</c:v>
                </c:pt>
                <c:pt idx="82">
                  <c:v>30.901287553648071</c:v>
                </c:pt>
                <c:pt idx="83">
                  <c:v>32.618025751072963</c:v>
                </c:pt>
                <c:pt idx="84">
                  <c:v>23.605150214592275</c:v>
                </c:pt>
                <c:pt idx="85">
                  <c:v>24.034334763948497</c:v>
                </c:pt>
                <c:pt idx="86">
                  <c:v>26.180257510729614</c:v>
                </c:pt>
                <c:pt idx="87">
                  <c:v>37.768240343347642</c:v>
                </c:pt>
                <c:pt idx="88">
                  <c:v>37.768240343347642</c:v>
                </c:pt>
                <c:pt idx="89">
                  <c:v>37.768240343347642</c:v>
                </c:pt>
                <c:pt idx="90">
                  <c:v>33.047210300429185</c:v>
                </c:pt>
                <c:pt idx="91">
                  <c:v>31.759656652360512</c:v>
                </c:pt>
                <c:pt idx="92">
                  <c:v>31.759656652360512</c:v>
                </c:pt>
                <c:pt idx="93">
                  <c:v>30.472103004291846</c:v>
                </c:pt>
                <c:pt idx="94">
                  <c:v>32.188841201716741</c:v>
                </c:pt>
                <c:pt idx="95">
                  <c:v>30.042918454935624</c:v>
                </c:pt>
                <c:pt idx="96">
                  <c:v>29.613733905579398</c:v>
                </c:pt>
                <c:pt idx="97">
                  <c:v>21.888412017167383</c:v>
                </c:pt>
                <c:pt idx="98">
                  <c:v>17.596566523605151</c:v>
                </c:pt>
                <c:pt idx="99">
                  <c:v>13.304721030042918</c:v>
                </c:pt>
                <c:pt idx="100">
                  <c:v>13.733905579399142</c:v>
                </c:pt>
                <c:pt idx="101">
                  <c:v>17.167381974248926</c:v>
                </c:pt>
                <c:pt idx="102">
                  <c:v>12.875536480686694</c:v>
                </c:pt>
                <c:pt idx="103">
                  <c:v>11.587982832618025</c:v>
                </c:pt>
                <c:pt idx="104">
                  <c:v>14.163090128755366</c:v>
                </c:pt>
                <c:pt idx="105">
                  <c:v>15.450643776824036</c:v>
                </c:pt>
                <c:pt idx="106">
                  <c:v>13.733905579399142</c:v>
                </c:pt>
                <c:pt idx="107">
                  <c:v>15.879828326180256</c:v>
                </c:pt>
                <c:pt idx="108">
                  <c:v>10.72961373390558</c:v>
                </c:pt>
                <c:pt idx="109">
                  <c:v>16.923076923076923</c:v>
                </c:pt>
                <c:pt idx="110">
                  <c:v>15.384615384615385</c:v>
                </c:pt>
                <c:pt idx="111">
                  <c:v>15.384615384615385</c:v>
                </c:pt>
                <c:pt idx="112">
                  <c:v>13.846153846153847</c:v>
                </c:pt>
                <c:pt idx="113">
                  <c:v>13.076923076923078</c:v>
                </c:pt>
                <c:pt idx="114">
                  <c:v>16.153846153846153</c:v>
                </c:pt>
                <c:pt idx="115">
                  <c:v>18.461538461538463</c:v>
                </c:pt>
                <c:pt idx="116">
                  <c:v>23.076923076923077</c:v>
                </c:pt>
                <c:pt idx="117">
                  <c:v>25.384615384615383</c:v>
                </c:pt>
                <c:pt idx="118">
                  <c:v>30</c:v>
                </c:pt>
                <c:pt idx="119">
                  <c:v>31.538461538461537</c:v>
                </c:pt>
                <c:pt idx="120">
                  <c:v>35.384615384615387</c:v>
                </c:pt>
                <c:pt idx="121">
                  <c:v>35.384615384615387</c:v>
                </c:pt>
                <c:pt idx="122">
                  <c:v>56.153846153846153</c:v>
                </c:pt>
                <c:pt idx="123">
                  <c:v>67.692307692307693</c:v>
                </c:pt>
                <c:pt idx="124">
                  <c:v>92.857142857142861</c:v>
                </c:pt>
                <c:pt idx="125">
                  <c:v>46.441947565543074</c:v>
                </c:pt>
                <c:pt idx="126">
                  <c:v>75.609756097560975</c:v>
                </c:pt>
                <c:pt idx="127">
                  <c:v>59.550561797752813</c:v>
                </c:pt>
                <c:pt idx="128">
                  <c:v>69.288389513108612</c:v>
                </c:pt>
                <c:pt idx="129">
                  <c:v>57.837837837837839</c:v>
                </c:pt>
                <c:pt idx="130">
                  <c:v>62.702702702702709</c:v>
                </c:pt>
                <c:pt idx="131">
                  <c:v>65.13513513513513</c:v>
                </c:pt>
                <c:pt idx="132">
                  <c:v>67.567567567567565</c:v>
                </c:pt>
                <c:pt idx="133">
                  <c:v>71.891891891891888</c:v>
                </c:pt>
                <c:pt idx="134">
                  <c:v>53.941908713692946</c:v>
                </c:pt>
                <c:pt idx="135">
                  <c:v>50.622406639004147</c:v>
                </c:pt>
                <c:pt idx="136">
                  <c:v>58.798283261802574</c:v>
                </c:pt>
                <c:pt idx="137">
                  <c:v>62.231759656652365</c:v>
                </c:pt>
                <c:pt idx="138">
                  <c:v>62.446351931330469</c:v>
                </c:pt>
                <c:pt idx="139">
                  <c:v>57.081545064377679</c:v>
                </c:pt>
                <c:pt idx="140">
                  <c:v>47.854077253218883</c:v>
                </c:pt>
                <c:pt idx="141">
                  <c:v>47.639484978540771</c:v>
                </c:pt>
                <c:pt idx="142">
                  <c:v>41.208791208791204</c:v>
                </c:pt>
                <c:pt idx="143">
                  <c:v>39.37728937728938</c:v>
                </c:pt>
                <c:pt idx="144">
                  <c:v>36.813186813186817</c:v>
                </c:pt>
                <c:pt idx="145">
                  <c:v>32.783882783882781</c:v>
                </c:pt>
                <c:pt idx="146">
                  <c:v>33.333333333333329</c:v>
                </c:pt>
                <c:pt idx="147">
                  <c:v>55.389221556886227</c:v>
                </c:pt>
                <c:pt idx="148">
                  <c:v>54.191616766467064</c:v>
                </c:pt>
                <c:pt idx="149">
                  <c:v>54.491017964071851</c:v>
                </c:pt>
                <c:pt idx="150">
                  <c:v>50.598802395209589</c:v>
                </c:pt>
                <c:pt idx="151">
                  <c:v>45.508982035928142</c:v>
                </c:pt>
                <c:pt idx="152">
                  <c:v>41.916167664670652</c:v>
                </c:pt>
                <c:pt idx="153">
                  <c:v>37.724550898203589</c:v>
                </c:pt>
                <c:pt idx="154">
                  <c:v>37.724550898203589</c:v>
                </c:pt>
                <c:pt idx="155">
                  <c:v>38.323353293413177</c:v>
                </c:pt>
                <c:pt idx="156">
                  <c:v>31.736526946107784</c:v>
                </c:pt>
                <c:pt idx="157">
                  <c:v>35.32934131736527</c:v>
                </c:pt>
                <c:pt idx="158">
                  <c:v>26.047904191616766</c:v>
                </c:pt>
                <c:pt idx="159">
                  <c:v>23.053892215568865</c:v>
                </c:pt>
                <c:pt idx="160">
                  <c:v>23.652694610778443</c:v>
                </c:pt>
                <c:pt idx="161">
                  <c:v>29.041916167664674</c:v>
                </c:pt>
                <c:pt idx="162">
                  <c:v>27.245508982035926</c:v>
                </c:pt>
                <c:pt idx="163">
                  <c:v>26.34730538922156</c:v>
                </c:pt>
                <c:pt idx="164">
                  <c:v>29.341317365269461</c:v>
                </c:pt>
                <c:pt idx="165">
                  <c:v>29.041916167664674</c:v>
                </c:pt>
                <c:pt idx="166">
                  <c:v>26.946107784431138</c:v>
                </c:pt>
                <c:pt idx="167">
                  <c:v>30.538922155688624</c:v>
                </c:pt>
                <c:pt idx="168">
                  <c:v>28.742514970059879</c:v>
                </c:pt>
                <c:pt idx="169">
                  <c:v>28.143712574850298</c:v>
                </c:pt>
                <c:pt idx="170">
                  <c:v>23.952095808383234</c:v>
                </c:pt>
                <c:pt idx="171">
                  <c:v>23.652694610778443</c:v>
                </c:pt>
                <c:pt idx="172">
                  <c:v>23.952095808383234</c:v>
                </c:pt>
                <c:pt idx="173">
                  <c:v>23.952095808383234</c:v>
                </c:pt>
                <c:pt idx="174">
                  <c:v>21.556886227544911</c:v>
                </c:pt>
                <c:pt idx="175">
                  <c:v>19.161676646706589</c:v>
                </c:pt>
                <c:pt idx="176">
                  <c:v>18.862275449101794</c:v>
                </c:pt>
                <c:pt idx="177">
                  <c:v>18.862275449101794</c:v>
                </c:pt>
                <c:pt idx="178">
                  <c:v>20.958083832335326</c:v>
                </c:pt>
                <c:pt idx="179">
                  <c:v>20.059880239520957</c:v>
                </c:pt>
                <c:pt idx="180">
                  <c:v>20.958083832335326</c:v>
                </c:pt>
                <c:pt idx="181">
                  <c:v>21.257485029940121</c:v>
                </c:pt>
                <c:pt idx="182">
                  <c:v>25.748502994011975</c:v>
                </c:pt>
                <c:pt idx="183">
                  <c:v>29.041916167664674</c:v>
                </c:pt>
                <c:pt idx="184">
                  <c:v>26.946107784431138</c:v>
                </c:pt>
                <c:pt idx="185">
                  <c:v>28.143712574850298</c:v>
                </c:pt>
                <c:pt idx="186">
                  <c:v>21.856287425149702</c:v>
                </c:pt>
                <c:pt idx="187">
                  <c:v>23.053892215568865</c:v>
                </c:pt>
                <c:pt idx="188">
                  <c:v>19.161676646706589</c:v>
                </c:pt>
                <c:pt idx="189">
                  <c:v>16.766467065868262</c:v>
                </c:pt>
                <c:pt idx="190">
                  <c:v>18.862275449101794</c:v>
                </c:pt>
                <c:pt idx="191">
                  <c:v>19.760479041916167</c:v>
                </c:pt>
                <c:pt idx="192">
                  <c:v>24.550898203592812</c:v>
                </c:pt>
                <c:pt idx="193">
                  <c:v>24.850299401197603</c:v>
                </c:pt>
                <c:pt idx="194">
                  <c:v>27.844311377245507</c:v>
                </c:pt>
                <c:pt idx="195">
                  <c:v>30.239520958083833</c:v>
                </c:pt>
                <c:pt idx="196">
                  <c:v>29.940119760479039</c:v>
                </c:pt>
                <c:pt idx="197">
                  <c:v>30.538922155688624</c:v>
                </c:pt>
                <c:pt idx="198">
                  <c:v>35.928143712574851</c:v>
                </c:pt>
                <c:pt idx="199">
                  <c:v>44.91017964071856</c:v>
                </c:pt>
                <c:pt idx="200">
                  <c:v>50.267379679144383</c:v>
                </c:pt>
                <c:pt idx="201">
                  <c:v>55.882352941176471</c:v>
                </c:pt>
                <c:pt idx="202">
                  <c:v>59.625668449197867</c:v>
                </c:pt>
                <c:pt idx="203">
                  <c:v>61.764705882352942</c:v>
                </c:pt>
                <c:pt idx="204">
                  <c:v>65.989847715736033</c:v>
                </c:pt>
                <c:pt idx="205">
                  <c:v>71.319796954314711</c:v>
                </c:pt>
                <c:pt idx="206">
                  <c:v>75.634517766497467</c:v>
                </c:pt>
                <c:pt idx="207">
                  <c:v>67.400000000000006</c:v>
                </c:pt>
                <c:pt idx="208">
                  <c:v>67.2</c:v>
                </c:pt>
                <c:pt idx="209">
                  <c:v>69.399999999999991</c:v>
                </c:pt>
                <c:pt idx="210">
                  <c:v>78</c:v>
                </c:pt>
                <c:pt idx="211">
                  <c:v>77.338129496402871</c:v>
                </c:pt>
                <c:pt idx="212">
                  <c:v>83.793103448275858</c:v>
                </c:pt>
                <c:pt idx="213">
                  <c:v>83.793103448275858</c:v>
                </c:pt>
                <c:pt idx="214">
                  <c:v>64.470588235294116</c:v>
                </c:pt>
                <c:pt idx="215">
                  <c:v>68.941176470588232</c:v>
                </c:pt>
                <c:pt idx="216">
                  <c:v>74.470588235294116</c:v>
                </c:pt>
                <c:pt idx="217">
                  <c:v>77.64705882352942</c:v>
                </c:pt>
                <c:pt idx="218">
                  <c:v>75.764705882352942</c:v>
                </c:pt>
                <c:pt idx="219">
                  <c:v>78.705882352941188</c:v>
                </c:pt>
                <c:pt idx="220">
                  <c:v>58.95652173913043</c:v>
                </c:pt>
                <c:pt idx="221">
                  <c:v>58.173913043478265</c:v>
                </c:pt>
                <c:pt idx="222">
                  <c:v>55.304347826086953</c:v>
                </c:pt>
                <c:pt idx="223">
                  <c:v>52.782608695652179</c:v>
                </c:pt>
                <c:pt idx="224">
                  <c:v>48.521739130434781</c:v>
                </c:pt>
                <c:pt idx="225">
                  <c:v>48</c:v>
                </c:pt>
                <c:pt idx="226">
                  <c:v>49.304347826086961</c:v>
                </c:pt>
                <c:pt idx="227">
                  <c:v>52</c:v>
                </c:pt>
                <c:pt idx="228">
                  <c:v>52</c:v>
                </c:pt>
                <c:pt idx="229">
                  <c:v>57.565217391304344</c:v>
                </c:pt>
                <c:pt idx="230">
                  <c:v>63.130434782608688</c:v>
                </c:pt>
                <c:pt idx="231">
                  <c:v>65.65217391304347</c:v>
                </c:pt>
                <c:pt idx="232">
                  <c:v>70.956521739130423</c:v>
                </c:pt>
                <c:pt idx="233">
                  <c:v>76</c:v>
                </c:pt>
                <c:pt idx="234">
                  <c:v>84.782608695652172</c:v>
                </c:pt>
                <c:pt idx="235">
                  <c:v>78.975950349107833</c:v>
                </c:pt>
                <c:pt idx="236">
                  <c:v>82.699767261442986</c:v>
                </c:pt>
                <c:pt idx="237">
                  <c:v>83.010085337470912</c:v>
                </c:pt>
                <c:pt idx="238">
                  <c:v>80.449961210240488</c:v>
                </c:pt>
                <c:pt idx="239">
                  <c:v>47.417074497009246</c:v>
                </c:pt>
                <c:pt idx="240">
                  <c:v>57.205002718868947</c:v>
                </c:pt>
                <c:pt idx="241">
                  <c:v>58.020663404023928</c:v>
                </c:pt>
                <c:pt idx="242">
                  <c:v>54.92115280043501</c:v>
                </c:pt>
                <c:pt idx="243">
                  <c:v>54.05111473626971</c:v>
                </c:pt>
                <c:pt idx="244">
                  <c:v>49.755301794453501</c:v>
                </c:pt>
                <c:pt idx="245">
                  <c:v>46.166394779771615</c:v>
                </c:pt>
                <c:pt idx="246">
                  <c:v>44.317563893420335</c:v>
                </c:pt>
                <c:pt idx="247">
                  <c:v>42.577487765089721</c:v>
                </c:pt>
                <c:pt idx="248">
                  <c:v>41.272430668841764</c:v>
                </c:pt>
                <c:pt idx="249">
                  <c:v>39.586731919521476</c:v>
                </c:pt>
                <c:pt idx="250">
                  <c:v>34.312126155519302</c:v>
                </c:pt>
                <c:pt idx="251">
                  <c:v>34.312126155519302</c:v>
                </c:pt>
                <c:pt idx="252">
                  <c:v>29.255029907558455</c:v>
                </c:pt>
                <c:pt idx="253">
                  <c:v>28.657435279951837</c:v>
                </c:pt>
                <c:pt idx="254">
                  <c:v>29.259482239614691</c:v>
                </c:pt>
                <c:pt idx="255">
                  <c:v>28.476821192052981</c:v>
                </c:pt>
                <c:pt idx="256">
                  <c:v>26.971703792895845</c:v>
                </c:pt>
                <c:pt idx="257">
                  <c:v>25.165562913907287</c:v>
                </c:pt>
                <c:pt idx="258">
                  <c:v>23.961468994581576</c:v>
                </c:pt>
                <c:pt idx="259">
                  <c:v>21.652593486127866</c:v>
                </c:pt>
                <c:pt idx="260">
                  <c:v>19.963811821471651</c:v>
                </c:pt>
                <c:pt idx="261">
                  <c:v>18.878166465621231</c:v>
                </c:pt>
                <c:pt idx="262">
                  <c:v>18.516284680337755</c:v>
                </c:pt>
                <c:pt idx="263">
                  <c:v>17.189384800965019</c:v>
                </c:pt>
                <c:pt idx="264">
                  <c:v>15.922798552472859</c:v>
                </c:pt>
                <c:pt idx="265">
                  <c:v>14.595898673100121</c:v>
                </c:pt>
                <c:pt idx="266">
                  <c:v>14.354644149577805</c:v>
                </c:pt>
                <c:pt idx="267">
                  <c:v>14.173703256936069</c:v>
                </c:pt>
                <c:pt idx="268">
                  <c:v>13.811821471652594</c:v>
                </c:pt>
                <c:pt idx="269">
                  <c:v>14.595898673100121</c:v>
                </c:pt>
                <c:pt idx="270">
                  <c:v>15.199034981905909</c:v>
                </c:pt>
                <c:pt idx="271">
                  <c:v>23.465703971119133</c:v>
                </c:pt>
                <c:pt idx="272">
                  <c:v>24.458483754512635</c:v>
                </c:pt>
                <c:pt idx="273">
                  <c:v>25</c:v>
                </c:pt>
                <c:pt idx="274">
                  <c:v>25.63176895306859</c:v>
                </c:pt>
                <c:pt idx="275">
                  <c:v>24.007220216606498</c:v>
                </c:pt>
                <c:pt idx="276">
                  <c:v>17.960288808664259</c:v>
                </c:pt>
                <c:pt idx="277">
                  <c:v>24.729241877256317</c:v>
                </c:pt>
                <c:pt idx="278">
                  <c:v>25.090252707581229</c:v>
                </c:pt>
                <c:pt idx="279">
                  <c:v>25.451263537906136</c:v>
                </c:pt>
                <c:pt idx="280">
                  <c:v>25</c:v>
                </c:pt>
                <c:pt idx="281">
                  <c:v>26.353790613718413</c:v>
                </c:pt>
                <c:pt idx="282">
                  <c:v>26.263537906137184</c:v>
                </c:pt>
                <c:pt idx="283">
                  <c:v>25.812274368231048</c:v>
                </c:pt>
                <c:pt idx="284">
                  <c:v>25.451263537906136</c:v>
                </c:pt>
                <c:pt idx="285">
                  <c:v>26.624548736462096</c:v>
                </c:pt>
                <c:pt idx="286">
                  <c:v>26.534296028880867</c:v>
                </c:pt>
                <c:pt idx="287">
                  <c:v>26.805054151624546</c:v>
                </c:pt>
                <c:pt idx="288">
                  <c:v>24.909747292418771</c:v>
                </c:pt>
                <c:pt idx="289">
                  <c:v>25.812274368231048</c:v>
                </c:pt>
                <c:pt idx="290">
                  <c:v>26.263537906137184</c:v>
                </c:pt>
                <c:pt idx="291">
                  <c:v>25.541516245487365</c:v>
                </c:pt>
                <c:pt idx="292">
                  <c:v>24.458483754512635</c:v>
                </c:pt>
                <c:pt idx="293">
                  <c:v>24.729241877256317</c:v>
                </c:pt>
                <c:pt idx="294">
                  <c:v>23.916967509025273</c:v>
                </c:pt>
                <c:pt idx="295">
                  <c:v>23.826714801444044</c:v>
                </c:pt>
                <c:pt idx="296">
                  <c:v>23.736462093862816</c:v>
                </c:pt>
                <c:pt idx="297">
                  <c:v>23.465703971119133</c:v>
                </c:pt>
                <c:pt idx="298">
                  <c:v>22.563176895306857</c:v>
                </c:pt>
                <c:pt idx="299">
                  <c:v>22.021660649819495</c:v>
                </c:pt>
                <c:pt idx="300">
                  <c:v>22.021660649819495</c:v>
                </c:pt>
                <c:pt idx="301">
                  <c:v>22.202166064981949</c:v>
                </c:pt>
                <c:pt idx="302">
                  <c:v>21.841155234657037</c:v>
                </c:pt>
                <c:pt idx="303">
                  <c:v>20.036101083032491</c:v>
                </c:pt>
                <c:pt idx="304">
                  <c:v>21.209386281588447</c:v>
                </c:pt>
                <c:pt idx="305">
                  <c:v>20.667870036101082</c:v>
                </c:pt>
                <c:pt idx="306">
                  <c:v>19.494584837545126</c:v>
                </c:pt>
                <c:pt idx="307">
                  <c:v>18.321299638989171</c:v>
                </c:pt>
                <c:pt idx="308">
                  <c:v>18.411552346570399</c:v>
                </c:pt>
                <c:pt idx="309">
                  <c:v>18.592057761732853</c:v>
                </c:pt>
                <c:pt idx="310">
                  <c:v>19.765342960288809</c:v>
                </c:pt>
                <c:pt idx="311">
                  <c:v>19.765342960288809</c:v>
                </c:pt>
                <c:pt idx="312">
                  <c:v>20.216606498194945</c:v>
                </c:pt>
                <c:pt idx="313">
                  <c:v>21.660649819494584</c:v>
                </c:pt>
                <c:pt idx="314">
                  <c:v>22.111913357400724</c:v>
                </c:pt>
                <c:pt idx="315">
                  <c:v>21.209386281588447</c:v>
                </c:pt>
                <c:pt idx="316">
                  <c:v>23.916967509025273</c:v>
                </c:pt>
                <c:pt idx="317">
                  <c:v>25.722021660649819</c:v>
                </c:pt>
                <c:pt idx="318">
                  <c:v>25.541516245487365</c:v>
                </c:pt>
                <c:pt idx="319">
                  <c:v>27.075812274368232</c:v>
                </c:pt>
                <c:pt idx="320">
                  <c:v>27.075812274368232</c:v>
                </c:pt>
                <c:pt idx="321">
                  <c:v>27.256317689530686</c:v>
                </c:pt>
                <c:pt idx="322">
                  <c:v>28.429602888086642</c:v>
                </c:pt>
                <c:pt idx="323">
                  <c:v>29.332129963898918</c:v>
                </c:pt>
                <c:pt idx="324">
                  <c:v>30.866425992779785</c:v>
                </c:pt>
                <c:pt idx="325">
                  <c:v>31.678700361010829</c:v>
                </c:pt>
                <c:pt idx="326">
                  <c:v>31.227436823104693</c:v>
                </c:pt>
                <c:pt idx="327">
                  <c:v>30.866425992779785</c:v>
                </c:pt>
                <c:pt idx="328">
                  <c:v>30.685920577617328</c:v>
                </c:pt>
                <c:pt idx="329">
                  <c:v>30.505415162454874</c:v>
                </c:pt>
                <c:pt idx="330">
                  <c:v>34.296028880866423</c:v>
                </c:pt>
                <c:pt idx="331">
                  <c:v>37.364620938628157</c:v>
                </c:pt>
                <c:pt idx="332">
                  <c:v>39.440433212996389</c:v>
                </c:pt>
                <c:pt idx="333">
                  <c:v>39.530685920577618</c:v>
                </c:pt>
                <c:pt idx="334">
                  <c:v>40.342960288808669</c:v>
                </c:pt>
                <c:pt idx="335">
                  <c:v>41.516245487364621</c:v>
                </c:pt>
                <c:pt idx="336">
                  <c:v>40.25270758122744</c:v>
                </c:pt>
                <c:pt idx="337">
                  <c:v>44.314079422382676</c:v>
                </c:pt>
                <c:pt idx="338">
                  <c:v>46.028880866425993</c:v>
                </c:pt>
                <c:pt idx="339">
                  <c:v>49.458483754512635</c:v>
                </c:pt>
                <c:pt idx="340">
                  <c:v>48.555956678700362</c:v>
                </c:pt>
                <c:pt idx="341">
                  <c:v>52.797833935018048</c:v>
                </c:pt>
                <c:pt idx="342">
                  <c:v>56.137184115523468</c:v>
                </c:pt>
                <c:pt idx="343">
                  <c:v>55.144404332129959</c:v>
                </c:pt>
                <c:pt idx="344">
                  <c:v>57.671480144404327</c:v>
                </c:pt>
                <c:pt idx="345">
                  <c:v>59.927797833935017</c:v>
                </c:pt>
                <c:pt idx="346">
                  <c:v>62.815884476534301</c:v>
                </c:pt>
                <c:pt idx="347">
                  <c:v>67.057761732851986</c:v>
                </c:pt>
                <c:pt idx="348">
                  <c:v>70.216606498194949</c:v>
                </c:pt>
                <c:pt idx="349">
                  <c:v>73.104693140794225</c:v>
                </c:pt>
                <c:pt idx="350">
                  <c:v>73.555956678700369</c:v>
                </c:pt>
                <c:pt idx="351">
                  <c:v>76.985559566787003</c:v>
                </c:pt>
                <c:pt idx="352">
                  <c:v>77.166064981949461</c:v>
                </c:pt>
                <c:pt idx="353">
                  <c:v>82.671480144404327</c:v>
                </c:pt>
                <c:pt idx="354">
                  <c:v>85.920577617328519</c:v>
                </c:pt>
                <c:pt idx="355">
                  <c:v>88.267148014440437</c:v>
                </c:pt>
                <c:pt idx="356">
                  <c:v>85.469314079422389</c:v>
                </c:pt>
                <c:pt idx="357">
                  <c:v>84.657039711191345</c:v>
                </c:pt>
                <c:pt idx="358">
                  <c:v>63.202846975088967</c:v>
                </c:pt>
                <c:pt idx="359">
                  <c:v>64.982206405693958</c:v>
                </c:pt>
                <c:pt idx="360">
                  <c:v>65.97864768683273</c:v>
                </c:pt>
                <c:pt idx="361">
                  <c:v>68.327402135231324</c:v>
                </c:pt>
                <c:pt idx="362">
                  <c:v>66.690391459074732</c:v>
                </c:pt>
                <c:pt idx="363">
                  <c:v>65.836298932384338</c:v>
                </c:pt>
                <c:pt idx="364">
                  <c:v>59.430604982206404</c:v>
                </c:pt>
                <c:pt idx="365">
                  <c:v>61.85053380782918</c:v>
                </c:pt>
                <c:pt idx="366">
                  <c:v>60.355871886120994</c:v>
                </c:pt>
                <c:pt idx="367">
                  <c:v>63.70106761565836</c:v>
                </c:pt>
                <c:pt idx="368">
                  <c:v>60.711743772241988</c:v>
                </c:pt>
                <c:pt idx="369">
                  <c:v>60.782918149466191</c:v>
                </c:pt>
                <c:pt idx="370">
                  <c:v>58.078291814946617</c:v>
                </c:pt>
                <c:pt idx="371">
                  <c:v>57.651245551601427</c:v>
                </c:pt>
                <c:pt idx="372">
                  <c:v>58.362989323843415</c:v>
                </c:pt>
                <c:pt idx="373">
                  <c:v>58.362989323843415</c:v>
                </c:pt>
                <c:pt idx="374">
                  <c:v>60.854092526690394</c:v>
                </c:pt>
                <c:pt idx="375">
                  <c:v>59.928825622775804</c:v>
                </c:pt>
                <c:pt idx="376">
                  <c:v>59.715302491103209</c:v>
                </c:pt>
                <c:pt idx="377">
                  <c:v>58.220640569395023</c:v>
                </c:pt>
                <c:pt idx="378">
                  <c:v>56.370106761565843</c:v>
                </c:pt>
                <c:pt idx="379">
                  <c:v>51.316725978647682</c:v>
                </c:pt>
                <c:pt idx="380">
                  <c:v>52.526690391459077</c:v>
                </c:pt>
                <c:pt idx="381">
                  <c:v>53.451957295373667</c:v>
                </c:pt>
                <c:pt idx="382">
                  <c:v>54.946619217081846</c:v>
                </c:pt>
                <c:pt idx="383">
                  <c:v>50.249110320284693</c:v>
                </c:pt>
                <c:pt idx="384">
                  <c:v>52.59786476868328</c:v>
                </c:pt>
                <c:pt idx="385">
                  <c:v>49.964412811387895</c:v>
                </c:pt>
                <c:pt idx="386">
                  <c:v>45.266903914590742</c:v>
                </c:pt>
                <c:pt idx="387">
                  <c:v>32.026143790849673</c:v>
                </c:pt>
                <c:pt idx="388">
                  <c:v>33.132227249874305</c:v>
                </c:pt>
                <c:pt idx="389">
                  <c:v>31.975867269984914</c:v>
                </c:pt>
                <c:pt idx="390">
                  <c:v>29.260935143288087</c:v>
                </c:pt>
                <c:pt idx="391">
                  <c:v>27.752639517345401</c:v>
                </c:pt>
                <c:pt idx="392">
                  <c:v>27.953745600804424</c:v>
                </c:pt>
                <c:pt idx="393">
                  <c:v>28.959276018099551</c:v>
                </c:pt>
                <c:pt idx="394">
                  <c:v>29.428523546170588</c:v>
                </c:pt>
                <c:pt idx="395">
                  <c:v>29.897771074241625</c:v>
                </c:pt>
                <c:pt idx="396">
                  <c:v>33.484162895927597</c:v>
                </c:pt>
                <c:pt idx="397">
                  <c:v>37.070554717613582</c:v>
                </c:pt>
                <c:pt idx="398">
                  <c:v>39.115133232780295</c:v>
                </c:pt>
                <c:pt idx="399">
                  <c:v>44.394167923579687</c:v>
                </c:pt>
                <c:pt idx="400">
                  <c:v>51.734539969834096</c:v>
                </c:pt>
                <c:pt idx="401">
                  <c:v>56.812468577174457</c:v>
                </c:pt>
                <c:pt idx="402">
                  <c:v>60.583207642031169</c:v>
                </c:pt>
                <c:pt idx="403">
                  <c:v>65.811965811965806</c:v>
                </c:pt>
                <c:pt idx="404">
                  <c:v>76.219205630970336</c:v>
                </c:pt>
                <c:pt idx="405">
                  <c:v>78.029160382101566</c:v>
                </c:pt>
                <c:pt idx="406">
                  <c:v>84.615384615384613</c:v>
                </c:pt>
                <c:pt idx="407">
                  <c:v>89.341377576671704</c:v>
                </c:pt>
                <c:pt idx="408">
                  <c:v>88.788335847159374</c:v>
                </c:pt>
                <c:pt idx="409">
                  <c:v>89.190548014077436</c:v>
                </c:pt>
                <c:pt idx="410">
                  <c:v>83.961789844142785</c:v>
                </c:pt>
                <c:pt idx="411">
                  <c:v>79.688285570638513</c:v>
                </c:pt>
                <c:pt idx="412">
                  <c:v>87.83308195072901</c:v>
                </c:pt>
                <c:pt idx="413">
                  <c:v>69.884364002011054</c:v>
                </c:pt>
                <c:pt idx="414">
                  <c:v>64.856711915535442</c:v>
                </c:pt>
                <c:pt idx="415">
                  <c:v>53.996983408748115</c:v>
                </c:pt>
                <c:pt idx="416">
                  <c:v>50.175967823026646</c:v>
                </c:pt>
                <c:pt idx="417">
                  <c:v>42.63448969331322</c:v>
                </c:pt>
                <c:pt idx="418">
                  <c:v>35.646053293112118</c:v>
                </c:pt>
                <c:pt idx="419">
                  <c:v>35.646053293112118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62-4F8C-B0A4-35FFED8B07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9068672"/>
        <c:axId val="219067136"/>
      </c:lineChart>
      <c:dateAx>
        <c:axId val="219039232"/>
        <c:scaling>
          <c:orientation val="minMax"/>
          <c:min val="43972"/>
        </c:scaling>
        <c:delete val="0"/>
        <c:axPos val="b"/>
        <c:numFmt formatCode="yy&quot;-&quot;m&quot;-&quot;d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9040768"/>
        <c:crosses val="autoZero"/>
        <c:auto val="1"/>
        <c:lblOffset val="100"/>
        <c:baseTimeUnit val="days"/>
      </c:dateAx>
      <c:valAx>
        <c:axId val="219040768"/>
        <c:scaling>
          <c:orientation val="minMax"/>
        </c:scaling>
        <c:delete val="0"/>
        <c:axPos val="l"/>
        <c:numFmt formatCode="0_);[Red]\(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9039232"/>
        <c:crosses val="autoZero"/>
        <c:crossBetween val="between"/>
      </c:valAx>
      <c:valAx>
        <c:axId val="219067136"/>
        <c:scaling>
          <c:orientation val="minMax"/>
          <c:max val="100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9068672"/>
        <c:crosses val="max"/>
        <c:crossBetween val="between"/>
      </c:valAx>
      <c:dateAx>
        <c:axId val="219068672"/>
        <c:scaling>
          <c:orientation val="minMax"/>
        </c:scaling>
        <c:delete val="1"/>
        <c:axPos val="b"/>
        <c:numFmt formatCode="yy&quot;-&quot;m&quot;-&quot;d;@" sourceLinked="1"/>
        <c:majorTickMark val="out"/>
        <c:minorTickMark val="none"/>
        <c:tickLblPos val="nextTo"/>
        <c:crossAx val="219067136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pPr>
            <a:endParaRPr lang="ko-KR"/>
          </a:p>
        </c:txPr>
      </c:legendEntry>
      <c:layout>
        <c:manualLayout>
          <c:xMode val="edge"/>
          <c:yMode val="edge"/>
          <c:x val="3.0343445824234993E-2"/>
          <c:y val="3.1695491589854859E-2"/>
          <c:w val="0.17150848427765009"/>
          <c:h val="0.25025642154532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733240009135779E-2"/>
          <c:y val="4.1768384293054399E-2"/>
          <c:w val="0.89986017314136502"/>
          <c:h val="0.87890965680859046"/>
        </c:manualLayout>
      </c:layout>
      <c:areaChart>
        <c:grouping val="standard"/>
        <c:varyColors val="0"/>
        <c:ser>
          <c:idx val="0"/>
          <c:order val="0"/>
          <c:tx>
            <c:strRef>
              <c:f>'Sheet1 (3)'!$B$1</c:f>
              <c:strCache>
                <c:ptCount val="1"/>
                <c:pt idx="0">
                  <c:v>일일확진자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cat>
            <c:numRef>
              <c:f>'Sheet1 (3)'!$A$2:$A$110</c:f>
              <c:numCache>
                <c:formatCode>yy"-"m"-"d;@</c:formatCode>
                <c:ptCount val="109"/>
                <c:pt idx="0">
                  <c:v>44564</c:v>
                </c:pt>
                <c:pt idx="1">
                  <c:v>44566</c:v>
                </c:pt>
                <c:pt idx="2">
                  <c:v>44571</c:v>
                </c:pt>
                <c:pt idx="3">
                  <c:v>44573</c:v>
                </c:pt>
                <c:pt idx="4">
                  <c:v>44575</c:v>
                </c:pt>
                <c:pt idx="5">
                  <c:v>44578</c:v>
                </c:pt>
                <c:pt idx="6">
                  <c:v>44580</c:v>
                </c:pt>
                <c:pt idx="7">
                  <c:v>44582</c:v>
                </c:pt>
                <c:pt idx="8">
                  <c:v>44587</c:v>
                </c:pt>
                <c:pt idx="9">
                  <c:v>44589</c:v>
                </c:pt>
                <c:pt idx="10">
                  <c:v>44590</c:v>
                </c:pt>
                <c:pt idx="11">
                  <c:v>44591</c:v>
                </c:pt>
                <c:pt idx="12">
                  <c:v>44593</c:v>
                </c:pt>
                <c:pt idx="13">
                  <c:v>44596</c:v>
                </c:pt>
                <c:pt idx="14">
                  <c:v>44599</c:v>
                </c:pt>
                <c:pt idx="15">
                  <c:v>44600</c:v>
                </c:pt>
                <c:pt idx="16">
                  <c:v>44601</c:v>
                </c:pt>
                <c:pt idx="17">
                  <c:v>44602</c:v>
                </c:pt>
                <c:pt idx="18">
                  <c:v>44603</c:v>
                </c:pt>
                <c:pt idx="19">
                  <c:v>44607</c:v>
                </c:pt>
                <c:pt idx="20">
                  <c:v>44608</c:v>
                </c:pt>
                <c:pt idx="21">
                  <c:v>44609</c:v>
                </c:pt>
                <c:pt idx="22">
                  <c:v>44610</c:v>
                </c:pt>
                <c:pt idx="23">
                  <c:v>44613</c:v>
                </c:pt>
                <c:pt idx="24">
                  <c:v>44614</c:v>
                </c:pt>
                <c:pt idx="25">
                  <c:v>44615</c:v>
                </c:pt>
                <c:pt idx="26">
                  <c:v>44616</c:v>
                </c:pt>
                <c:pt idx="27">
                  <c:v>44617</c:v>
                </c:pt>
                <c:pt idx="28">
                  <c:v>44622</c:v>
                </c:pt>
                <c:pt idx="29">
                  <c:v>44623</c:v>
                </c:pt>
                <c:pt idx="30">
                  <c:v>44624</c:v>
                </c:pt>
                <c:pt idx="31">
                  <c:v>44627</c:v>
                </c:pt>
                <c:pt idx="32">
                  <c:v>44631</c:v>
                </c:pt>
                <c:pt idx="33">
                  <c:v>44634</c:v>
                </c:pt>
                <c:pt idx="34">
                  <c:v>44635</c:v>
                </c:pt>
                <c:pt idx="35">
                  <c:v>44636</c:v>
                </c:pt>
                <c:pt idx="36">
                  <c:v>44638</c:v>
                </c:pt>
                <c:pt idx="37">
                  <c:v>44641</c:v>
                </c:pt>
                <c:pt idx="38">
                  <c:v>44643</c:v>
                </c:pt>
                <c:pt idx="39">
                  <c:v>44645</c:v>
                </c:pt>
                <c:pt idx="40">
                  <c:v>44650</c:v>
                </c:pt>
                <c:pt idx="41">
                  <c:v>44659</c:v>
                </c:pt>
                <c:pt idx="42">
                  <c:v>44663</c:v>
                </c:pt>
                <c:pt idx="43">
                  <c:v>44665</c:v>
                </c:pt>
                <c:pt idx="44">
                  <c:v>44671</c:v>
                </c:pt>
                <c:pt idx="45">
                  <c:v>44673</c:v>
                </c:pt>
                <c:pt idx="46">
                  <c:v>44680</c:v>
                </c:pt>
                <c:pt idx="47">
                  <c:v>44685</c:v>
                </c:pt>
                <c:pt idx="48">
                  <c:v>44687</c:v>
                </c:pt>
                <c:pt idx="49">
                  <c:v>44692</c:v>
                </c:pt>
                <c:pt idx="50">
                  <c:v>44694</c:v>
                </c:pt>
                <c:pt idx="51">
                  <c:v>44701</c:v>
                </c:pt>
                <c:pt idx="52">
                  <c:v>44708</c:v>
                </c:pt>
                <c:pt idx="53">
                  <c:v>44712</c:v>
                </c:pt>
                <c:pt idx="54">
                  <c:v>44715</c:v>
                </c:pt>
                <c:pt idx="55">
                  <c:v>44720</c:v>
                </c:pt>
                <c:pt idx="56">
                  <c:v>44722</c:v>
                </c:pt>
                <c:pt idx="57">
                  <c:v>44729</c:v>
                </c:pt>
                <c:pt idx="58">
                  <c:v>44741</c:v>
                </c:pt>
                <c:pt idx="59">
                  <c:v>44743</c:v>
                </c:pt>
                <c:pt idx="60">
                  <c:v>44750</c:v>
                </c:pt>
                <c:pt idx="61">
                  <c:v>44762</c:v>
                </c:pt>
                <c:pt idx="62">
                  <c:v>44769</c:v>
                </c:pt>
                <c:pt idx="63">
                  <c:v>44774</c:v>
                </c:pt>
                <c:pt idx="64">
                  <c:v>44778</c:v>
                </c:pt>
                <c:pt idx="65">
                  <c:v>44785</c:v>
                </c:pt>
                <c:pt idx="66">
                  <c:v>44788</c:v>
                </c:pt>
                <c:pt idx="67">
                  <c:v>44792</c:v>
                </c:pt>
                <c:pt idx="68">
                  <c:v>44795</c:v>
                </c:pt>
                <c:pt idx="69">
                  <c:v>44798</c:v>
                </c:pt>
                <c:pt idx="70">
                  <c:v>44802</c:v>
                </c:pt>
                <c:pt idx="71">
                  <c:v>44804</c:v>
                </c:pt>
                <c:pt idx="72">
                  <c:v>44805</c:v>
                </c:pt>
                <c:pt idx="73">
                  <c:v>44809</c:v>
                </c:pt>
                <c:pt idx="74">
                  <c:v>44811</c:v>
                </c:pt>
                <c:pt idx="75">
                  <c:v>44813</c:v>
                </c:pt>
                <c:pt idx="76">
                  <c:v>44817</c:v>
                </c:pt>
                <c:pt idx="77">
                  <c:v>44820</c:v>
                </c:pt>
                <c:pt idx="78">
                  <c:v>44826</c:v>
                </c:pt>
                <c:pt idx="79">
                  <c:v>44827</c:v>
                </c:pt>
                <c:pt idx="80">
                  <c:v>44832</c:v>
                </c:pt>
                <c:pt idx="81">
                  <c:v>44834</c:v>
                </c:pt>
                <c:pt idx="82">
                  <c:v>44836</c:v>
                </c:pt>
                <c:pt idx="83">
                  <c:v>44841</c:v>
                </c:pt>
                <c:pt idx="84">
                  <c:v>44843</c:v>
                </c:pt>
                <c:pt idx="85">
                  <c:v>44846</c:v>
                </c:pt>
                <c:pt idx="86">
                  <c:v>44853</c:v>
                </c:pt>
                <c:pt idx="87">
                  <c:v>44855</c:v>
                </c:pt>
                <c:pt idx="88">
                  <c:v>44858</c:v>
                </c:pt>
                <c:pt idx="89">
                  <c:v>44860</c:v>
                </c:pt>
                <c:pt idx="90">
                  <c:v>44862</c:v>
                </c:pt>
                <c:pt idx="91">
                  <c:v>44865</c:v>
                </c:pt>
                <c:pt idx="92">
                  <c:v>44866</c:v>
                </c:pt>
                <c:pt idx="93">
                  <c:v>44869</c:v>
                </c:pt>
                <c:pt idx="94">
                  <c:v>44875</c:v>
                </c:pt>
                <c:pt idx="95">
                  <c:v>44883</c:v>
                </c:pt>
                <c:pt idx="96">
                  <c:v>44885</c:v>
                </c:pt>
                <c:pt idx="97">
                  <c:v>44888</c:v>
                </c:pt>
                <c:pt idx="98">
                  <c:v>44891</c:v>
                </c:pt>
                <c:pt idx="99">
                  <c:v>44895</c:v>
                </c:pt>
                <c:pt idx="100">
                  <c:v>44896</c:v>
                </c:pt>
                <c:pt idx="101">
                  <c:v>44900</c:v>
                </c:pt>
                <c:pt idx="102">
                  <c:v>44904</c:v>
                </c:pt>
                <c:pt idx="103">
                  <c:v>44907</c:v>
                </c:pt>
                <c:pt idx="104">
                  <c:v>44911</c:v>
                </c:pt>
                <c:pt idx="105">
                  <c:v>44914</c:v>
                </c:pt>
                <c:pt idx="106">
                  <c:v>44921</c:v>
                </c:pt>
                <c:pt idx="107">
                  <c:v>44925</c:v>
                </c:pt>
                <c:pt idx="108">
                  <c:v>44926</c:v>
                </c:pt>
              </c:numCache>
            </c:numRef>
          </c:cat>
          <c:val>
            <c:numRef>
              <c:f>'Sheet1 (3)'!$B$2:$B$110</c:f>
              <c:numCache>
                <c:formatCode>_(* #,##0_);_(* \(#,##0\);_(* "-"_);_(@_)</c:formatCode>
                <c:ptCount val="109"/>
                <c:pt idx="0">
                  <c:v>173</c:v>
                </c:pt>
                <c:pt idx="1">
                  <c:v>255</c:v>
                </c:pt>
                <c:pt idx="2">
                  <c:v>165</c:v>
                </c:pt>
                <c:pt idx="3">
                  <c:v>164</c:v>
                </c:pt>
                <c:pt idx="4">
                  <c:v>127</c:v>
                </c:pt>
                <c:pt idx="5">
                  <c:v>117</c:v>
                </c:pt>
                <c:pt idx="6">
                  <c:v>190</c:v>
                </c:pt>
                <c:pt idx="7">
                  <c:v>216</c:v>
                </c:pt>
                <c:pt idx="8">
                  <c:v>563</c:v>
                </c:pt>
                <c:pt idx="9">
                  <c:v>821</c:v>
                </c:pt>
                <c:pt idx="10">
                  <c:v>808</c:v>
                </c:pt>
                <c:pt idx="11">
                  <c:v>851</c:v>
                </c:pt>
                <c:pt idx="12">
                  <c:v>979</c:v>
                </c:pt>
                <c:pt idx="13">
                  <c:v>1725</c:v>
                </c:pt>
                <c:pt idx="14">
                  <c:v>1927</c:v>
                </c:pt>
                <c:pt idx="15">
                  <c:v>1921</c:v>
                </c:pt>
                <c:pt idx="16">
                  <c:v>3035</c:v>
                </c:pt>
                <c:pt idx="17">
                  <c:v>2631</c:v>
                </c:pt>
                <c:pt idx="18">
                  <c:v>3011</c:v>
                </c:pt>
                <c:pt idx="19">
                  <c:v>3090</c:v>
                </c:pt>
                <c:pt idx="20">
                  <c:v>6483</c:v>
                </c:pt>
                <c:pt idx="21">
                  <c:v>6219</c:v>
                </c:pt>
                <c:pt idx="22">
                  <c:v>6577</c:v>
                </c:pt>
                <c:pt idx="23">
                  <c:v>7541</c:v>
                </c:pt>
                <c:pt idx="24">
                  <c:v>6139</c:v>
                </c:pt>
                <c:pt idx="25">
                  <c:v>12816</c:v>
                </c:pt>
                <c:pt idx="26">
                  <c:v>11836</c:v>
                </c:pt>
                <c:pt idx="27">
                  <c:v>12736</c:v>
                </c:pt>
                <c:pt idx="28">
                  <c:v>16104</c:v>
                </c:pt>
                <c:pt idx="29">
                  <c:v>14259</c:v>
                </c:pt>
                <c:pt idx="30">
                  <c:v>23198</c:v>
                </c:pt>
                <c:pt idx="31">
                  <c:v>26456</c:v>
                </c:pt>
                <c:pt idx="32">
                  <c:v>22920</c:v>
                </c:pt>
                <c:pt idx="33">
                  <c:v>27758</c:v>
                </c:pt>
                <c:pt idx="34">
                  <c:v>26150</c:v>
                </c:pt>
                <c:pt idx="35">
                  <c:v>39438</c:v>
                </c:pt>
                <c:pt idx="36">
                  <c:v>25504</c:v>
                </c:pt>
                <c:pt idx="37">
                  <c:v>8963</c:v>
                </c:pt>
                <c:pt idx="38">
                  <c:v>26015</c:v>
                </c:pt>
                <c:pt idx="39">
                  <c:v>16682</c:v>
                </c:pt>
                <c:pt idx="40">
                  <c:v>16443</c:v>
                </c:pt>
                <c:pt idx="41">
                  <c:v>7471</c:v>
                </c:pt>
                <c:pt idx="42">
                  <c:v>6369</c:v>
                </c:pt>
                <c:pt idx="43">
                  <c:v>4587</c:v>
                </c:pt>
                <c:pt idx="44">
                  <c:v>3749</c:v>
                </c:pt>
                <c:pt idx="45">
                  <c:v>3128</c:v>
                </c:pt>
                <c:pt idx="46">
                  <c:v>2253</c:v>
                </c:pt>
                <c:pt idx="47">
                  <c:v>2171</c:v>
                </c:pt>
                <c:pt idx="48">
                  <c:v>866</c:v>
                </c:pt>
                <c:pt idx="49">
                  <c:v>1994</c:v>
                </c:pt>
                <c:pt idx="50">
                  <c:v>1600</c:v>
                </c:pt>
                <c:pt idx="51">
                  <c:v>1083</c:v>
                </c:pt>
                <c:pt idx="52">
                  <c:v>808</c:v>
                </c:pt>
                <c:pt idx="53">
                  <c:v>884</c:v>
                </c:pt>
                <c:pt idx="54">
                  <c:v>605</c:v>
                </c:pt>
                <c:pt idx="55">
                  <c:v>815</c:v>
                </c:pt>
                <c:pt idx="56">
                  <c:v>493</c:v>
                </c:pt>
                <c:pt idx="57">
                  <c:v>474</c:v>
                </c:pt>
                <c:pt idx="58">
                  <c:v>595</c:v>
                </c:pt>
                <c:pt idx="59">
                  <c:v>584</c:v>
                </c:pt>
                <c:pt idx="60">
                  <c:v>1240</c:v>
                </c:pt>
                <c:pt idx="61">
                  <c:v>4412</c:v>
                </c:pt>
                <c:pt idx="62">
                  <c:v>5287</c:v>
                </c:pt>
                <c:pt idx="63">
                  <c:v>2071</c:v>
                </c:pt>
                <c:pt idx="64">
                  <c:v>6637</c:v>
                </c:pt>
                <c:pt idx="65">
                  <c:v>7392</c:v>
                </c:pt>
                <c:pt idx="66">
                  <c:v>2929</c:v>
                </c:pt>
                <c:pt idx="67">
                  <c:v>8763</c:v>
                </c:pt>
                <c:pt idx="68">
                  <c:v>2734</c:v>
                </c:pt>
                <c:pt idx="69">
                  <c:v>7162</c:v>
                </c:pt>
                <c:pt idx="70">
                  <c:v>1798</c:v>
                </c:pt>
                <c:pt idx="71">
                  <c:v>5849</c:v>
                </c:pt>
                <c:pt idx="72">
                  <c:v>4486</c:v>
                </c:pt>
                <c:pt idx="73">
                  <c:v>1392</c:v>
                </c:pt>
                <c:pt idx="74">
                  <c:v>3672</c:v>
                </c:pt>
                <c:pt idx="75">
                  <c:v>3606</c:v>
                </c:pt>
                <c:pt idx="76">
                  <c:v>3200</c:v>
                </c:pt>
                <c:pt idx="77">
                  <c:v>2499</c:v>
                </c:pt>
                <c:pt idx="78">
                  <c:v>1521</c:v>
                </c:pt>
                <c:pt idx="79">
                  <c:v>1274</c:v>
                </c:pt>
                <c:pt idx="80">
                  <c:v>1621</c:v>
                </c:pt>
                <c:pt idx="81">
                  <c:v>1266</c:v>
                </c:pt>
                <c:pt idx="82">
                  <c:v>1020</c:v>
                </c:pt>
                <c:pt idx="83">
                  <c:v>1052</c:v>
                </c:pt>
                <c:pt idx="84">
                  <c:v>884</c:v>
                </c:pt>
                <c:pt idx="85">
                  <c:v>1691</c:v>
                </c:pt>
                <c:pt idx="86">
                  <c:v>1411</c:v>
                </c:pt>
                <c:pt idx="87">
                  <c:v>1204</c:v>
                </c:pt>
                <c:pt idx="88">
                  <c:v>495</c:v>
                </c:pt>
                <c:pt idx="89">
                  <c:v>1851</c:v>
                </c:pt>
                <c:pt idx="90">
                  <c:v>1674</c:v>
                </c:pt>
                <c:pt idx="91">
                  <c:v>685</c:v>
                </c:pt>
                <c:pt idx="92">
                  <c:v>3031</c:v>
                </c:pt>
                <c:pt idx="93">
                  <c:v>2090</c:v>
                </c:pt>
                <c:pt idx="94">
                  <c:v>2468</c:v>
                </c:pt>
                <c:pt idx="95">
                  <c:v>2549</c:v>
                </c:pt>
                <c:pt idx="96">
                  <c:v>2623</c:v>
                </c:pt>
                <c:pt idx="97">
                  <c:v>4026</c:v>
                </c:pt>
                <c:pt idx="98">
                  <c:v>2983</c:v>
                </c:pt>
                <c:pt idx="99">
                  <c:v>3798</c:v>
                </c:pt>
                <c:pt idx="100">
                  <c:v>3149</c:v>
                </c:pt>
                <c:pt idx="101">
                  <c:v>992</c:v>
                </c:pt>
                <c:pt idx="102">
                  <c:v>3783</c:v>
                </c:pt>
                <c:pt idx="103">
                  <c:v>1114</c:v>
                </c:pt>
                <c:pt idx="104">
                  <c:v>4304</c:v>
                </c:pt>
                <c:pt idx="105">
                  <c:v>1213</c:v>
                </c:pt>
                <c:pt idx="106">
                  <c:v>1216</c:v>
                </c:pt>
                <c:pt idx="107">
                  <c:v>4804</c:v>
                </c:pt>
                <c:pt idx="108">
                  <c:v>4480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91-43D6-8A78-C6E5F728C3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864192"/>
        <c:axId val="187865728"/>
      </c:areaChart>
      <c:lineChart>
        <c:grouping val="standard"/>
        <c:varyColors val="0"/>
        <c:ser>
          <c:idx val="1"/>
          <c:order val="1"/>
          <c:tx>
            <c:strRef>
              <c:f>'Sheet1 (3)'!$C$1</c:f>
              <c:strCache>
                <c:ptCount val="1"/>
                <c:pt idx="0">
                  <c:v>중증가동율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28"/>
              <c:tx>
                <c:rich>
                  <a:bodyPr/>
                  <a:lstStyle/>
                  <a:p>
                    <a:r>
                      <a:rPr lang="en-US" altLang="en-US" sz="1400" dirty="0"/>
                      <a:t>20.3.3</a:t>
                    </a:r>
                  </a:p>
                  <a:p>
                    <a:r>
                      <a:rPr lang="en-US" altLang="en-US" sz="1400" dirty="0"/>
                      <a:t>63%</a:t>
                    </a:r>
                    <a:endParaRPr lang="en-US" altLang="en-US" dirty="0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8E7-4A8A-ACCC-1E1FFECC9A36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 altLang="en-US" sz="1400" dirty="0"/>
                      <a:t>20.4.12</a:t>
                    </a:r>
                  </a:p>
                  <a:p>
                    <a:r>
                      <a:rPr lang="en-US" altLang="en-US" sz="1400" dirty="0"/>
                      <a:t>62%</a:t>
                    </a:r>
                    <a:endParaRPr lang="en-US" altLang="en-US" dirty="0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8E7-4A8A-ACCC-1E1FFECC9A36}"/>
                </c:ext>
              </c:extLst>
            </c:dLbl>
            <c:spPr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c:spPr>
            <c:txPr>
              <a:bodyPr/>
              <a:lstStyle/>
              <a:p>
                <a:pPr>
                  <a:defRPr sz="1400"/>
                </a:pPr>
                <a:endParaRPr lang="ko-KR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'Sheet1 (3)'!$A$2:$A$110</c:f>
              <c:numCache>
                <c:formatCode>yy"-"m"-"d;@</c:formatCode>
                <c:ptCount val="109"/>
                <c:pt idx="0">
                  <c:v>44564</c:v>
                </c:pt>
                <c:pt idx="1">
                  <c:v>44566</c:v>
                </c:pt>
                <c:pt idx="2">
                  <c:v>44571</c:v>
                </c:pt>
                <c:pt idx="3">
                  <c:v>44573</c:v>
                </c:pt>
                <c:pt idx="4">
                  <c:v>44575</c:v>
                </c:pt>
                <c:pt idx="5">
                  <c:v>44578</c:v>
                </c:pt>
                <c:pt idx="6">
                  <c:v>44580</c:v>
                </c:pt>
                <c:pt idx="7">
                  <c:v>44582</c:v>
                </c:pt>
                <c:pt idx="8">
                  <c:v>44587</c:v>
                </c:pt>
                <c:pt idx="9">
                  <c:v>44589</c:v>
                </c:pt>
                <c:pt idx="10">
                  <c:v>44590</c:v>
                </c:pt>
                <c:pt idx="11">
                  <c:v>44591</c:v>
                </c:pt>
                <c:pt idx="12">
                  <c:v>44593</c:v>
                </c:pt>
                <c:pt idx="13">
                  <c:v>44596</c:v>
                </c:pt>
                <c:pt idx="14">
                  <c:v>44599</c:v>
                </c:pt>
                <c:pt idx="15">
                  <c:v>44600</c:v>
                </c:pt>
                <c:pt idx="16">
                  <c:v>44601</c:v>
                </c:pt>
                <c:pt idx="17">
                  <c:v>44602</c:v>
                </c:pt>
                <c:pt idx="18">
                  <c:v>44603</c:v>
                </c:pt>
                <c:pt idx="19">
                  <c:v>44607</c:v>
                </c:pt>
                <c:pt idx="20">
                  <c:v>44608</c:v>
                </c:pt>
                <c:pt idx="21">
                  <c:v>44609</c:v>
                </c:pt>
                <c:pt idx="22">
                  <c:v>44610</c:v>
                </c:pt>
                <c:pt idx="23">
                  <c:v>44613</c:v>
                </c:pt>
                <c:pt idx="24">
                  <c:v>44614</c:v>
                </c:pt>
                <c:pt idx="25">
                  <c:v>44615</c:v>
                </c:pt>
                <c:pt idx="26">
                  <c:v>44616</c:v>
                </c:pt>
                <c:pt idx="27">
                  <c:v>44617</c:v>
                </c:pt>
                <c:pt idx="28">
                  <c:v>44622</c:v>
                </c:pt>
                <c:pt idx="29">
                  <c:v>44623</c:v>
                </c:pt>
                <c:pt idx="30">
                  <c:v>44624</c:v>
                </c:pt>
                <c:pt idx="31">
                  <c:v>44627</c:v>
                </c:pt>
                <c:pt idx="32">
                  <c:v>44631</c:v>
                </c:pt>
                <c:pt idx="33">
                  <c:v>44634</c:v>
                </c:pt>
                <c:pt idx="34">
                  <c:v>44635</c:v>
                </c:pt>
                <c:pt idx="35">
                  <c:v>44636</c:v>
                </c:pt>
                <c:pt idx="36">
                  <c:v>44638</c:v>
                </c:pt>
                <c:pt idx="37">
                  <c:v>44641</c:v>
                </c:pt>
                <c:pt idx="38">
                  <c:v>44643</c:v>
                </c:pt>
                <c:pt idx="39">
                  <c:v>44645</c:v>
                </c:pt>
                <c:pt idx="40">
                  <c:v>44650</c:v>
                </c:pt>
                <c:pt idx="41">
                  <c:v>44659</c:v>
                </c:pt>
                <c:pt idx="42">
                  <c:v>44663</c:v>
                </c:pt>
                <c:pt idx="43">
                  <c:v>44665</c:v>
                </c:pt>
                <c:pt idx="44">
                  <c:v>44671</c:v>
                </c:pt>
                <c:pt idx="45">
                  <c:v>44673</c:v>
                </c:pt>
                <c:pt idx="46">
                  <c:v>44680</c:v>
                </c:pt>
                <c:pt idx="47">
                  <c:v>44685</c:v>
                </c:pt>
                <c:pt idx="48">
                  <c:v>44687</c:v>
                </c:pt>
                <c:pt idx="49">
                  <c:v>44692</c:v>
                </c:pt>
                <c:pt idx="50">
                  <c:v>44694</c:v>
                </c:pt>
                <c:pt idx="51">
                  <c:v>44701</c:v>
                </c:pt>
                <c:pt idx="52">
                  <c:v>44708</c:v>
                </c:pt>
                <c:pt idx="53">
                  <c:v>44712</c:v>
                </c:pt>
                <c:pt idx="54">
                  <c:v>44715</c:v>
                </c:pt>
                <c:pt idx="55">
                  <c:v>44720</c:v>
                </c:pt>
                <c:pt idx="56">
                  <c:v>44722</c:v>
                </c:pt>
                <c:pt idx="57">
                  <c:v>44729</c:v>
                </c:pt>
                <c:pt idx="58">
                  <c:v>44741</c:v>
                </c:pt>
                <c:pt idx="59">
                  <c:v>44743</c:v>
                </c:pt>
                <c:pt idx="60">
                  <c:v>44750</c:v>
                </c:pt>
                <c:pt idx="61">
                  <c:v>44762</c:v>
                </c:pt>
                <c:pt idx="62">
                  <c:v>44769</c:v>
                </c:pt>
                <c:pt idx="63">
                  <c:v>44774</c:v>
                </c:pt>
                <c:pt idx="64">
                  <c:v>44778</c:v>
                </c:pt>
                <c:pt idx="65">
                  <c:v>44785</c:v>
                </c:pt>
                <c:pt idx="66">
                  <c:v>44788</c:v>
                </c:pt>
                <c:pt idx="67">
                  <c:v>44792</c:v>
                </c:pt>
                <c:pt idx="68">
                  <c:v>44795</c:v>
                </c:pt>
                <c:pt idx="69">
                  <c:v>44798</c:v>
                </c:pt>
                <c:pt idx="70">
                  <c:v>44802</c:v>
                </c:pt>
                <c:pt idx="71">
                  <c:v>44804</c:v>
                </c:pt>
                <c:pt idx="72">
                  <c:v>44805</c:v>
                </c:pt>
                <c:pt idx="73">
                  <c:v>44809</c:v>
                </c:pt>
                <c:pt idx="74">
                  <c:v>44811</c:v>
                </c:pt>
                <c:pt idx="75">
                  <c:v>44813</c:v>
                </c:pt>
                <c:pt idx="76">
                  <c:v>44817</c:v>
                </c:pt>
                <c:pt idx="77">
                  <c:v>44820</c:v>
                </c:pt>
                <c:pt idx="78">
                  <c:v>44826</c:v>
                </c:pt>
                <c:pt idx="79">
                  <c:v>44827</c:v>
                </c:pt>
                <c:pt idx="80">
                  <c:v>44832</c:v>
                </c:pt>
                <c:pt idx="81">
                  <c:v>44834</c:v>
                </c:pt>
                <c:pt idx="82">
                  <c:v>44836</c:v>
                </c:pt>
                <c:pt idx="83">
                  <c:v>44841</c:v>
                </c:pt>
                <c:pt idx="84">
                  <c:v>44843</c:v>
                </c:pt>
                <c:pt idx="85">
                  <c:v>44846</c:v>
                </c:pt>
                <c:pt idx="86">
                  <c:v>44853</c:v>
                </c:pt>
                <c:pt idx="87">
                  <c:v>44855</c:v>
                </c:pt>
                <c:pt idx="88">
                  <c:v>44858</c:v>
                </c:pt>
                <c:pt idx="89">
                  <c:v>44860</c:v>
                </c:pt>
                <c:pt idx="90">
                  <c:v>44862</c:v>
                </c:pt>
                <c:pt idx="91">
                  <c:v>44865</c:v>
                </c:pt>
                <c:pt idx="92">
                  <c:v>44866</c:v>
                </c:pt>
                <c:pt idx="93">
                  <c:v>44869</c:v>
                </c:pt>
                <c:pt idx="94">
                  <c:v>44875</c:v>
                </c:pt>
                <c:pt idx="95">
                  <c:v>44883</c:v>
                </c:pt>
                <c:pt idx="96">
                  <c:v>44885</c:v>
                </c:pt>
                <c:pt idx="97">
                  <c:v>44888</c:v>
                </c:pt>
                <c:pt idx="98">
                  <c:v>44891</c:v>
                </c:pt>
                <c:pt idx="99">
                  <c:v>44895</c:v>
                </c:pt>
                <c:pt idx="100">
                  <c:v>44896</c:v>
                </c:pt>
                <c:pt idx="101">
                  <c:v>44900</c:v>
                </c:pt>
                <c:pt idx="102">
                  <c:v>44904</c:v>
                </c:pt>
                <c:pt idx="103">
                  <c:v>44907</c:v>
                </c:pt>
                <c:pt idx="104">
                  <c:v>44911</c:v>
                </c:pt>
                <c:pt idx="105">
                  <c:v>44914</c:v>
                </c:pt>
                <c:pt idx="106">
                  <c:v>44921</c:v>
                </c:pt>
                <c:pt idx="107">
                  <c:v>44925</c:v>
                </c:pt>
                <c:pt idx="108">
                  <c:v>44926</c:v>
                </c:pt>
              </c:numCache>
            </c:numRef>
          </c:cat>
          <c:val>
            <c:numRef>
              <c:f>'Sheet1 (3)'!$C$2:$C$110</c:f>
              <c:numCache>
                <c:formatCode>0%</c:formatCode>
                <c:ptCount val="109"/>
                <c:pt idx="0">
                  <c:v>0.87301587301587302</c:v>
                </c:pt>
                <c:pt idx="1">
                  <c:v>0.87301587301587302</c:v>
                </c:pt>
                <c:pt idx="2">
                  <c:v>0.77777777777777779</c:v>
                </c:pt>
                <c:pt idx="3">
                  <c:v>0.61904761904761907</c:v>
                </c:pt>
                <c:pt idx="4">
                  <c:v>0.61904761904761907</c:v>
                </c:pt>
                <c:pt idx="5">
                  <c:v>0.58730158730158732</c:v>
                </c:pt>
                <c:pt idx="6">
                  <c:v>0.37662337662337664</c:v>
                </c:pt>
                <c:pt idx="7">
                  <c:v>0.33766233766233766</c:v>
                </c:pt>
                <c:pt idx="8">
                  <c:v>0.18181818181818182</c:v>
                </c:pt>
                <c:pt idx="9">
                  <c:v>0.20779220779220781</c:v>
                </c:pt>
                <c:pt idx="10">
                  <c:v>0.22352941176470589</c:v>
                </c:pt>
                <c:pt idx="11">
                  <c:v>0.22352941176470589</c:v>
                </c:pt>
                <c:pt idx="12">
                  <c:v>0.24705882352941178</c:v>
                </c:pt>
                <c:pt idx="13">
                  <c:v>0.17647058823529413</c:v>
                </c:pt>
                <c:pt idx="14">
                  <c:v>0.14117647058823529</c:v>
                </c:pt>
                <c:pt idx="15">
                  <c:v>0.15294117647058825</c:v>
                </c:pt>
                <c:pt idx="16">
                  <c:v>0.11702127659574468</c:v>
                </c:pt>
                <c:pt idx="17">
                  <c:v>0.10638297872340426</c:v>
                </c:pt>
                <c:pt idx="18">
                  <c:v>0.11702127659574468</c:v>
                </c:pt>
                <c:pt idx="19">
                  <c:v>0.25531914893617019</c:v>
                </c:pt>
                <c:pt idx="20">
                  <c:v>0.34042553191489361</c:v>
                </c:pt>
                <c:pt idx="21">
                  <c:v>0.32978723404255317</c:v>
                </c:pt>
                <c:pt idx="22">
                  <c:v>0.32978723404255317</c:v>
                </c:pt>
                <c:pt idx="23">
                  <c:v>0.42553191489361702</c:v>
                </c:pt>
                <c:pt idx="24">
                  <c:v>0.45744680851063829</c:v>
                </c:pt>
                <c:pt idx="25">
                  <c:v>0.46808510638297873</c:v>
                </c:pt>
                <c:pt idx="26">
                  <c:v>0.45454545454545453</c:v>
                </c:pt>
                <c:pt idx="27">
                  <c:v>0.51515151515151514</c:v>
                </c:pt>
                <c:pt idx="28">
                  <c:v>0.6262626262626263</c:v>
                </c:pt>
                <c:pt idx="29">
                  <c:v>0.63636363636363635</c:v>
                </c:pt>
                <c:pt idx="30">
                  <c:v>0.6262626262626263</c:v>
                </c:pt>
                <c:pt idx="31">
                  <c:v>0.70707070707070707</c:v>
                </c:pt>
                <c:pt idx="32">
                  <c:v>0.82828282828282829</c:v>
                </c:pt>
                <c:pt idx="33">
                  <c:v>0.78787878787878785</c:v>
                </c:pt>
                <c:pt idx="34">
                  <c:v>0.78787878787878785</c:v>
                </c:pt>
                <c:pt idx="35">
                  <c:v>0.80808080808080807</c:v>
                </c:pt>
                <c:pt idx="36">
                  <c:v>0.78787878787878785</c:v>
                </c:pt>
                <c:pt idx="37">
                  <c:v>0.77777777777777779</c:v>
                </c:pt>
                <c:pt idx="38">
                  <c:v>0.77777777777777779</c:v>
                </c:pt>
                <c:pt idx="39">
                  <c:v>0.80808080808080807</c:v>
                </c:pt>
                <c:pt idx="40">
                  <c:v>0.91919191919191923</c:v>
                </c:pt>
                <c:pt idx="41">
                  <c:v>0.71717171717171713</c:v>
                </c:pt>
                <c:pt idx="42">
                  <c:v>0.61599999999999999</c:v>
                </c:pt>
                <c:pt idx="43">
                  <c:v>0.48499999999999999</c:v>
                </c:pt>
                <c:pt idx="44">
                  <c:v>0.34343434343434343</c:v>
                </c:pt>
                <c:pt idx="45">
                  <c:v>0.26262626262626265</c:v>
                </c:pt>
                <c:pt idx="46">
                  <c:v>0.18181818181818182</c:v>
                </c:pt>
                <c:pt idx="47">
                  <c:v>0.12121212121212122</c:v>
                </c:pt>
                <c:pt idx="48">
                  <c:v>0.15151515151515152</c:v>
                </c:pt>
                <c:pt idx="49">
                  <c:v>0.17073170731707318</c:v>
                </c:pt>
                <c:pt idx="50">
                  <c:v>0.13414634146341464</c:v>
                </c:pt>
                <c:pt idx="51">
                  <c:v>0.14634146341463414</c:v>
                </c:pt>
                <c:pt idx="52">
                  <c:v>0.22413793103448276</c:v>
                </c:pt>
                <c:pt idx="53">
                  <c:v>0.27586206896551724</c:v>
                </c:pt>
                <c:pt idx="54">
                  <c:v>0.15517241379310345</c:v>
                </c:pt>
                <c:pt idx="55">
                  <c:v>0.2</c:v>
                </c:pt>
                <c:pt idx="56">
                  <c:v>0.2</c:v>
                </c:pt>
                <c:pt idx="57">
                  <c:v>0.125</c:v>
                </c:pt>
                <c:pt idx="58">
                  <c:v>0.20833333333333334</c:v>
                </c:pt>
                <c:pt idx="59">
                  <c:v>0.25</c:v>
                </c:pt>
                <c:pt idx="60">
                  <c:v>0.125</c:v>
                </c:pt>
                <c:pt idx="61">
                  <c:v>0.25</c:v>
                </c:pt>
                <c:pt idx="62">
                  <c:v>0.25</c:v>
                </c:pt>
                <c:pt idx="63">
                  <c:v>0.56097560975609762</c:v>
                </c:pt>
                <c:pt idx="64">
                  <c:v>0.54347826086956519</c:v>
                </c:pt>
                <c:pt idx="65">
                  <c:v>0.3968253968253968</c:v>
                </c:pt>
                <c:pt idx="66">
                  <c:v>0.49206349206349204</c:v>
                </c:pt>
                <c:pt idx="67">
                  <c:v>0.50793650793650791</c:v>
                </c:pt>
                <c:pt idx="68">
                  <c:v>0.68253968253968256</c:v>
                </c:pt>
                <c:pt idx="69">
                  <c:v>0.65079365079365081</c:v>
                </c:pt>
                <c:pt idx="70">
                  <c:v>0.69841269841269837</c:v>
                </c:pt>
                <c:pt idx="71">
                  <c:v>0.63492063492063489</c:v>
                </c:pt>
                <c:pt idx="72">
                  <c:v>0.52380952380952384</c:v>
                </c:pt>
                <c:pt idx="73">
                  <c:v>0.53968253968253965</c:v>
                </c:pt>
                <c:pt idx="74">
                  <c:v>0.4098360655737705</c:v>
                </c:pt>
                <c:pt idx="75">
                  <c:v>0.39344262295081966</c:v>
                </c:pt>
                <c:pt idx="76">
                  <c:v>0.31147540983606559</c:v>
                </c:pt>
                <c:pt idx="77">
                  <c:v>0.31147540983606559</c:v>
                </c:pt>
                <c:pt idx="78">
                  <c:v>0.36065573770491804</c:v>
                </c:pt>
                <c:pt idx="79">
                  <c:v>0.34426229508196721</c:v>
                </c:pt>
                <c:pt idx="80">
                  <c:v>0.31147540983606559</c:v>
                </c:pt>
                <c:pt idx="81">
                  <c:v>0.31147540983606559</c:v>
                </c:pt>
                <c:pt idx="82">
                  <c:v>0.34426229508196721</c:v>
                </c:pt>
                <c:pt idx="83">
                  <c:v>0.36065573770491804</c:v>
                </c:pt>
                <c:pt idx="84">
                  <c:v>0.27868852459016391</c:v>
                </c:pt>
                <c:pt idx="85">
                  <c:v>0.17391304347826086</c:v>
                </c:pt>
                <c:pt idx="86">
                  <c:v>0.13043478260869565</c:v>
                </c:pt>
                <c:pt idx="87">
                  <c:v>0.2</c:v>
                </c:pt>
                <c:pt idx="88">
                  <c:v>0.32500000000000001</c:v>
                </c:pt>
                <c:pt idx="89">
                  <c:v>0.4</c:v>
                </c:pt>
                <c:pt idx="90">
                  <c:v>0.3</c:v>
                </c:pt>
                <c:pt idx="91">
                  <c:v>0.47499999999999998</c:v>
                </c:pt>
                <c:pt idx="92">
                  <c:v>0.52500000000000002</c:v>
                </c:pt>
                <c:pt idx="93">
                  <c:v>0.5</c:v>
                </c:pt>
                <c:pt idx="94">
                  <c:v>0.47499999999999998</c:v>
                </c:pt>
                <c:pt idx="95">
                  <c:v>0.52500000000000002</c:v>
                </c:pt>
                <c:pt idx="96">
                  <c:v>0.67500000000000004</c:v>
                </c:pt>
                <c:pt idx="97">
                  <c:v>0.65</c:v>
                </c:pt>
                <c:pt idx="98">
                  <c:v>0.6</c:v>
                </c:pt>
                <c:pt idx="99">
                  <c:v>0.57499999999999996</c:v>
                </c:pt>
                <c:pt idx="100">
                  <c:v>0.60869565217391308</c:v>
                </c:pt>
                <c:pt idx="101">
                  <c:v>0.45833333333333331</c:v>
                </c:pt>
                <c:pt idx="102">
                  <c:v>0.4375</c:v>
                </c:pt>
                <c:pt idx="103">
                  <c:v>0.5</c:v>
                </c:pt>
                <c:pt idx="104">
                  <c:v>0.625</c:v>
                </c:pt>
                <c:pt idx="105">
                  <c:v>0.5625</c:v>
                </c:pt>
                <c:pt idx="106">
                  <c:v>0.66666666666666663</c:v>
                </c:pt>
                <c:pt idx="107">
                  <c:v>0.83333333333333337</c:v>
                </c:pt>
                <c:pt idx="108">
                  <c:v>0.70833333333333337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91-43D6-8A78-C6E5F728C36F}"/>
            </c:ext>
          </c:extLst>
        </c:ser>
        <c:ser>
          <c:idx val="2"/>
          <c:order val="2"/>
          <c:tx>
            <c:strRef>
              <c:f>'Sheet1 (3)'!$D$1</c:f>
              <c:strCache>
                <c:ptCount val="1"/>
                <c:pt idx="0">
                  <c:v>준중증가동율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'Sheet1 (3)'!$A$2:$A$110</c:f>
              <c:numCache>
                <c:formatCode>yy"-"m"-"d;@</c:formatCode>
                <c:ptCount val="109"/>
                <c:pt idx="0">
                  <c:v>44564</c:v>
                </c:pt>
                <c:pt idx="1">
                  <c:v>44566</c:v>
                </c:pt>
                <c:pt idx="2">
                  <c:v>44571</c:v>
                </c:pt>
                <c:pt idx="3">
                  <c:v>44573</c:v>
                </c:pt>
                <c:pt idx="4">
                  <c:v>44575</c:v>
                </c:pt>
                <c:pt idx="5">
                  <c:v>44578</c:v>
                </c:pt>
                <c:pt idx="6">
                  <c:v>44580</c:v>
                </c:pt>
                <c:pt idx="7">
                  <c:v>44582</c:v>
                </c:pt>
                <c:pt idx="8">
                  <c:v>44587</c:v>
                </c:pt>
                <c:pt idx="9">
                  <c:v>44589</c:v>
                </c:pt>
                <c:pt idx="10">
                  <c:v>44590</c:v>
                </c:pt>
                <c:pt idx="11">
                  <c:v>44591</c:v>
                </c:pt>
                <c:pt idx="12">
                  <c:v>44593</c:v>
                </c:pt>
                <c:pt idx="13">
                  <c:v>44596</c:v>
                </c:pt>
                <c:pt idx="14">
                  <c:v>44599</c:v>
                </c:pt>
                <c:pt idx="15">
                  <c:v>44600</c:v>
                </c:pt>
                <c:pt idx="16">
                  <c:v>44601</c:v>
                </c:pt>
                <c:pt idx="17">
                  <c:v>44602</c:v>
                </c:pt>
                <c:pt idx="18">
                  <c:v>44603</c:v>
                </c:pt>
                <c:pt idx="19">
                  <c:v>44607</c:v>
                </c:pt>
                <c:pt idx="20">
                  <c:v>44608</c:v>
                </c:pt>
                <c:pt idx="21">
                  <c:v>44609</c:v>
                </c:pt>
                <c:pt idx="22">
                  <c:v>44610</c:v>
                </c:pt>
                <c:pt idx="23">
                  <c:v>44613</c:v>
                </c:pt>
                <c:pt idx="24">
                  <c:v>44614</c:v>
                </c:pt>
                <c:pt idx="25">
                  <c:v>44615</c:v>
                </c:pt>
                <c:pt idx="26">
                  <c:v>44616</c:v>
                </c:pt>
                <c:pt idx="27">
                  <c:v>44617</c:v>
                </c:pt>
                <c:pt idx="28">
                  <c:v>44622</c:v>
                </c:pt>
                <c:pt idx="29">
                  <c:v>44623</c:v>
                </c:pt>
                <c:pt idx="30">
                  <c:v>44624</c:v>
                </c:pt>
                <c:pt idx="31">
                  <c:v>44627</c:v>
                </c:pt>
                <c:pt idx="32">
                  <c:v>44631</c:v>
                </c:pt>
                <c:pt idx="33">
                  <c:v>44634</c:v>
                </c:pt>
                <c:pt idx="34">
                  <c:v>44635</c:v>
                </c:pt>
                <c:pt idx="35">
                  <c:v>44636</c:v>
                </c:pt>
                <c:pt idx="36">
                  <c:v>44638</c:v>
                </c:pt>
                <c:pt idx="37">
                  <c:v>44641</c:v>
                </c:pt>
                <c:pt idx="38">
                  <c:v>44643</c:v>
                </c:pt>
                <c:pt idx="39">
                  <c:v>44645</c:v>
                </c:pt>
                <c:pt idx="40">
                  <c:v>44650</c:v>
                </c:pt>
                <c:pt idx="41">
                  <c:v>44659</c:v>
                </c:pt>
                <c:pt idx="42">
                  <c:v>44663</c:v>
                </c:pt>
                <c:pt idx="43">
                  <c:v>44665</c:v>
                </c:pt>
                <c:pt idx="44">
                  <c:v>44671</c:v>
                </c:pt>
                <c:pt idx="45">
                  <c:v>44673</c:v>
                </c:pt>
                <c:pt idx="46">
                  <c:v>44680</c:v>
                </c:pt>
                <c:pt idx="47">
                  <c:v>44685</c:v>
                </c:pt>
                <c:pt idx="48">
                  <c:v>44687</c:v>
                </c:pt>
                <c:pt idx="49">
                  <c:v>44692</c:v>
                </c:pt>
                <c:pt idx="50">
                  <c:v>44694</c:v>
                </c:pt>
                <c:pt idx="51">
                  <c:v>44701</c:v>
                </c:pt>
                <c:pt idx="52">
                  <c:v>44708</c:v>
                </c:pt>
                <c:pt idx="53">
                  <c:v>44712</c:v>
                </c:pt>
                <c:pt idx="54">
                  <c:v>44715</c:v>
                </c:pt>
                <c:pt idx="55">
                  <c:v>44720</c:v>
                </c:pt>
                <c:pt idx="56">
                  <c:v>44722</c:v>
                </c:pt>
                <c:pt idx="57">
                  <c:v>44729</c:v>
                </c:pt>
                <c:pt idx="58">
                  <c:v>44741</c:v>
                </c:pt>
                <c:pt idx="59">
                  <c:v>44743</c:v>
                </c:pt>
                <c:pt idx="60">
                  <c:v>44750</c:v>
                </c:pt>
                <c:pt idx="61">
                  <c:v>44762</c:v>
                </c:pt>
                <c:pt idx="62">
                  <c:v>44769</c:v>
                </c:pt>
                <c:pt idx="63">
                  <c:v>44774</c:v>
                </c:pt>
                <c:pt idx="64">
                  <c:v>44778</c:v>
                </c:pt>
                <c:pt idx="65">
                  <c:v>44785</c:v>
                </c:pt>
                <c:pt idx="66">
                  <c:v>44788</c:v>
                </c:pt>
                <c:pt idx="67">
                  <c:v>44792</c:v>
                </c:pt>
                <c:pt idx="68">
                  <c:v>44795</c:v>
                </c:pt>
                <c:pt idx="69">
                  <c:v>44798</c:v>
                </c:pt>
                <c:pt idx="70">
                  <c:v>44802</c:v>
                </c:pt>
                <c:pt idx="71">
                  <c:v>44804</c:v>
                </c:pt>
                <c:pt idx="72">
                  <c:v>44805</c:v>
                </c:pt>
                <c:pt idx="73">
                  <c:v>44809</c:v>
                </c:pt>
                <c:pt idx="74">
                  <c:v>44811</c:v>
                </c:pt>
                <c:pt idx="75">
                  <c:v>44813</c:v>
                </c:pt>
                <c:pt idx="76">
                  <c:v>44817</c:v>
                </c:pt>
                <c:pt idx="77">
                  <c:v>44820</c:v>
                </c:pt>
                <c:pt idx="78">
                  <c:v>44826</c:v>
                </c:pt>
                <c:pt idx="79">
                  <c:v>44827</c:v>
                </c:pt>
                <c:pt idx="80">
                  <c:v>44832</c:v>
                </c:pt>
                <c:pt idx="81">
                  <c:v>44834</c:v>
                </c:pt>
                <c:pt idx="82">
                  <c:v>44836</c:v>
                </c:pt>
                <c:pt idx="83">
                  <c:v>44841</c:v>
                </c:pt>
                <c:pt idx="84">
                  <c:v>44843</c:v>
                </c:pt>
                <c:pt idx="85">
                  <c:v>44846</c:v>
                </c:pt>
                <c:pt idx="86">
                  <c:v>44853</c:v>
                </c:pt>
                <c:pt idx="87">
                  <c:v>44855</c:v>
                </c:pt>
                <c:pt idx="88">
                  <c:v>44858</c:v>
                </c:pt>
                <c:pt idx="89">
                  <c:v>44860</c:v>
                </c:pt>
                <c:pt idx="90">
                  <c:v>44862</c:v>
                </c:pt>
                <c:pt idx="91">
                  <c:v>44865</c:v>
                </c:pt>
                <c:pt idx="92">
                  <c:v>44866</c:v>
                </c:pt>
                <c:pt idx="93">
                  <c:v>44869</c:v>
                </c:pt>
                <c:pt idx="94">
                  <c:v>44875</c:v>
                </c:pt>
                <c:pt idx="95">
                  <c:v>44883</c:v>
                </c:pt>
                <c:pt idx="96">
                  <c:v>44885</c:v>
                </c:pt>
                <c:pt idx="97">
                  <c:v>44888</c:v>
                </c:pt>
                <c:pt idx="98">
                  <c:v>44891</c:v>
                </c:pt>
                <c:pt idx="99">
                  <c:v>44895</c:v>
                </c:pt>
                <c:pt idx="100">
                  <c:v>44896</c:v>
                </c:pt>
                <c:pt idx="101">
                  <c:v>44900</c:v>
                </c:pt>
                <c:pt idx="102">
                  <c:v>44904</c:v>
                </c:pt>
                <c:pt idx="103">
                  <c:v>44907</c:v>
                </c:pt>
                <c:pt idx="104">
                  <c:v>44911</c:v>
                </c:pt>
                <c:pt idx="105">
                  <c:v>44914</c:v>
                </c:pt>
                <c:pt idx="106">
                  <c:v>44921</c:v>
                </c:pt>
                <c:pt idx="107">
                  <c:v>44925</c:v>
                </c:pt>
                <c:pt idx="108">
                  <c:v>44926</c:v>
                </c:pt>
              </c:numCache>
            </c:numRef>
          </c:cat>
          <c:val>
            <c:numRef>
              <c:f>'Sheet1 (3)'!$D$2:$D$110</c:f>
              <c:numCache>
                <c:formatCode>0%</c:formatCode>
                <c:ptCount val="109"/>
                <c:pt idx="0">
                  <c:v>0.59722222222222221</c:v>
                </c:pt>
                <c:pt idx="1">
                  <c:v>0.3888888888888889</c:v>
                </c:pt>
                <c:pt idx="2">
                  <c:v>0.52</c:v>
                </c:pt>
                <c:pt idx="3">
                  <c:v>0.50666666666666671</c:v>
                </c:pt>
                <c:pt idx="4">
                  <c:v>0.37333333333333335</c:v>
                </c:pt>
                <c:pt idx="5">
                  <c:v>0.45333333333333331</c:v>
                </c:pt>
                <c:pt idx="6">
                  <c:v>0.37333333333333335</c:v>
                </c:pt>
                <c:pt idx="7">
                  <c:v>0.28000000000000003</c:v>
                </c:pt>
                <c:pt idx="8">
                  <c:v>0.21333333333333335</c:v>
                </c:pt>
                <c:pt idx="9">
                  <c:v>0.17333333333333334</c:v>
                </c:pt>
                <c:pt idx="10">
                  <c:v>0.25333333333333335</c:v>
                </c:pt>
                <c:pt idx="11">
                  <c:v>0.36</c:v>
                </c:pt>
                <c:pt idx="12">
                  <c:v>0.48</c:v>
                </c:pt>
                <c:pt idx="13">
                  <c:v>0.53333333333333333</c:v>
                </c:pt>
                <c:pt idx="14">
                  <c:v>0.58666666666666667</c:v>
                </c:pt>
                <c:pt idx="15">
                  <c:v>0.61333333333333329</c:v>
                </c:pt>
                <c:pt idx="16">
                  <c:v>0.57333333333333336</c:v>
                </c:pt>
                <c:pt idx="17">
                  <c:v>0.68</c:v>
                </c:pt>
                <c:pt idx="18">
                  <c:v>0.69333333333333336</c:v>
                </c:pt>
                <c:pt idx="19">
                  <c:v>0.77333333333333332</c:v>
                </c:pt>
                <c:pt idx="20">
                  <c:v>0.66666666666666663</c:v>
                </c:pt>
                <c:pt idx="21">
                  <c:v>0.6785714285714286</c:v>
                </c:pt>
                <c:pt idx="22">
                  <c:v>0.65476190476190477</c:v>
                </c:pt>
                <c:pt idx="23">
                  <c:v>0.67441860465116277</c:v>
                </c:pt>
                <c:pt idx="24">
                  <c:v>0.63953488372093026</c:v>
                </c:pt>
                <c:pt idx="25">
                  <c:v>0.63953488372093026</c:v>
                </c:pt>
                <c:pt idx="26">
                  <c:v>0.72093023255813948</c:v>
                </c:pt>
                <c:pt idx="27">
                  <c:v>0.80232558139534882</c:v>
                </c:pt>
                <c:pt idx="28">
                  <c:v>0.77551020408163263</c:v>
                </c:pt>
                <c:pt idx="29">
                  <c:v>0.55882352941176472</c:v>
                </c:pt>
                <c:pt idx="30">
                  <c:v>0.6588235294117647</c:v>
                </c:pt>
                <c:pt idx="31">
                  <c:v>0.754601226993865</c:v>
                </c:pt>
                <c:pt idx="32">
                  <c:v>0.61382113821138207</c:v>
                </c:pt>
                <c:pt idx="33">
                  <c:v>0.76806083650190116</c:v>
                </c:pt>
                <c:pt idx="34">
                  <c:v>0.75899280575539574</c:v>
                </c:pt>
                <c:pt idx="35">
                  <c:v>0.73741007194244601</c:v>
                </c:pt>
                <c:pt idx="36">
                  <c:v>0.27697841726618705</c:v>
                </c:pt>
                <c:pt idx="37">
                  <c:v>0.30935251798561153</c:v>
                </c:pt>
                <c:pt idx="38">
                  <c:v>0.22661870503597123</c:v>
                </c:pt>
                <c:pt idx="39">
                  <c:v>0.25539568345323743</c:v>
                </c:pt>
                <c:pt idx="40">
                  <c:v>0.27697841726618705</c:v>
                </c:pt>
                <c:pt idx="41">
                  <c:v>0.18705035971223022</c:v>
                </c:pt>
                <c:pt idx="42">
                  <c:v>0.57899999999999996</c:v>
                </c:pt>
                <c:pt idx="43">
                  <c:v>0.52900000000000003</c:v>
                </c:pt>
                <c:pt idx="44">
                  <c:v>0.34693877551020408</c:v>
                </c:pt>
                <c:pt idx="45">
                  <c:v>0.39795918367346939</c:v>
                </c:pt>
                <c:pt idx="46">
                  <c:v>0.25510204081632654</c:v>
                </c:pt>
                <c:pt idx="47">
                  <c:v>0.26530612244897961</c:v>
                </c:pt>
                <c:pt idx="48">
                  <c:v>0.15306122448979592</c:v>
                </c:pt>
                <c:pt idx="49">
                  <c:v>0.19767441860465115</c:v>
                </c:pt>
                <c:pt idx="50">
                  <c:v>0.18604651162790697</c:v>
                </c:pt>
                <c:pt idx="51">
                  <c:v>8.3333333333333329E-2</c:v>
                </c:pt>
                <c:pt idx="52">
                  <c:v>0.25</c:v>
                </c:pt>
                <c:pt idx="53">
                  <c:v>0.3611111111111111</c:v>
                </c:pt>
                <c:pt idx="54">
                  <c:v>0.22222222222222221</c:v>
                </c:pt>
                <c:pt idx="55">
                  <c:v>0.14285714285714285</c:v>
                </c:pt>
                <c:pt idx="56">
                  <c:v>0.22857142857142856</c:v>
                </c:pt>
                <c:pt idx="57">
                  <c:v>0.27777777777777779</c:v>
                </c:pt>
                <c:pt idx="58">
                  <c:v>0.22222222222222221</c:v>
                </c:pt>
                <c:pt idx="59">
                  <c:v>0.16666666666666666</c:v>
                </c:pt>
                <c:pt idx="60">
                  <c:v>0.44444444444444442</c:v>
                </c:pt>
                <c:pt idx="61">
                  <c:v>0.61111111111111116</c:v>
                </c:pt>
                <c:pt idx="62">
                  <c:v>0.39130434782608697</c:v>
                </c:pt>
                <c:pt idx="63">
                  <c:v>0.45454545454545453</c:v>
                </c:pt>
                <c:pt idx="64">
                  <c:v>0.48484848484848486</c:v>
                </c:pt>
                <c:pt idx="65">
                  <c:v>0.55102040816326525</c:v>
                </c:pt>
                <c:pt idx="66">
                  <c:v>0.63265306122448983</c:v>
                </c:pt>
                <c:pt idx="67">
                  <c:v>0.59183673469387754</c:v>
                </c:pt>
                <c:pt idx="68">
                  <c:v>0.53061224489795922</c:v>
                </c:pt>
                <c:pt idx="69">
                  <c:v>0.53061224489795922</c:v>
                </c:pt>
                <c:pt idx="70">
                  <c:v>0.55102040816326525</c:v>
                </c:pt>
                <c:pt idx="71">
                  <c:v>0.55102040816326525</c:v>
                </c:pt>
                <c:pt idx="72">
                  <c:v>0.61224489795918369</c:v>
                </c:pt>
                <c:pt idx="73">
                  <c:v>0.46938775510204084</c:v>
                </c:pt>
                <c:pt idx="74">
                  <c:v>0.40816326530612246</c:v>
                </c:pt>
                <c:pt idx="75">
                  <c:v>0.30612244897959184</c:v>
                </c:pt>
                <c:pt idx="76">
                  <c:v>0.32653061224489793</c:v>
                </c:pt>
                <c:pt idx="77">
                  <c:v>0.32653061224489793</c:v>
                </c:pt>
                <c:pt idx="78">
                  <c:v>0.30612244897959184</c:v>
                </c:pt>
                <c:pt idx="79">
                  <c:v>0.32653061224489793</c:v>
                </c:pt>
                <c:pt idx="80">
                  <c:v>0.22448979591836735</c:v>
                </c:pt>
                <c:pt idx="81">
                  <c:v>0.20408163265306123</c:v>
                </c:pt>
                <c:pt idx="82">
                  <c:v>0.18367346938775511</c:v>
                </c:pt>
                <c:pt idx="83">
                  <c:v>0.16326530612244897</c:v>
                </c:pt>
                <c:pt idx="84">
                  <c:v>0.20408163265306123</c:v>
                </c:pt>
                <c:pt idx="85">
                  <c:v>0.125</c:v>
                </c:pt>
                <c:pt idx="86">
                  <c:v>0.1875</c:v>
                </c:pt>
                <c:pt idx="87">
                  <c:v>0.21875</c:v>
                </c:pt>
                <c:pt idx="88">
                  <c:v>0.3125</c:v>
                </c:pt>
                <c:pt idx="89">
                  <c:v>0.28125</c:v>
                </c:pt>
                <c:pt idx="90">
                  <c:v>0.125</c:v>
                </c:pt>
                <c:pt idx="91">
                  <c:v>0.25</c:v>
                </c:pt>
                <c:pt idx="92">
                  <c:v>0.34375</c:v>
                </c:pt>
                <c:pt idx="93">
                  <c:v>0.34375</c:v>
                </c:pt>
                <c:pt idx="94">
                  <c:v>0.5</c:v>
                </c:pt>
                <c:pt idx="95">
                  <c:v>0.75</c:v>
                </c:pt>
                <c:pt idx="96">
                  <c:v>0.5625</c:v>
                </c:pt>
                <c:pt idx="97">
                  <c:v>0.40625</c:v>
                </c:pt>
                <c:pt idx="98">
                  <c:v>0.46875</c:v>
                </c:pt>
                <c:pt idx="99">
                  <c:v>0.5625</c:v>
                </c:pt>
                <c:pt idx="100">
                  <c:v>0.45</c:v>
                </c:pt>
                <c:pt idx="101">
                  <c:v>0.46153846153846156</c:v>
                </c:pt>
                <c:pt idx="102">
                  <c:v>0.41025641025641024</c:v>
                </c:pt>
                <c:pt idx="103">
                  <c:v>0.35897435897435898</c:v>
                </c:pt>
                <c:pt idx="104">
                  <c:v>0.46153846153846156</c:v>
                </c:pt>
                <c:pt idx="105">
                  <c:v>0.41025641025641024</c:v>
                </c:pt>
                <c:pt idx="106">
                  <c:v>0.51282051282051277</c:v>
                </c:pt>
                <c:pt idx="107">
                  <c:v>0.61538461538461542</c:v>
                </c:pt>
                <c:pt idx="108">
                  <c:v>0.64102564102564108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D91-43D6-8A78-C6E5F728C36F}"/>
            </c:ext>
          </c:extLst>
        </c:ser>
        <c:ser>
          <c:idx val="3"/>
          <c:order val="3"/>
          <c:tx>
            <c:strRef>
              <c:f>'Sheet1 (3)'!$E$1</c:f>
              <c:strCache>
                <c:ptCount val="1"/>
                <c:pt idx="0">
                  <c:v>중등증가동율</c:v>
                </c:pt>
              </c:strCache>
            </c:strRef>
          </c:tx>
          <c:spPr>
            <a:ln w="1270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'Sheet1 (3)'!$A$2:$A$110</c:f>
              <c:numCache>
                <c:formatCode>yy"-"m"-"d;@</c:formatCode>
                <c:ptCount val="109"/>
                <c:pt idx="0">
                  <c:v>44564</c:v>
                </c:pt>
                <c:pt idx="1">
                  <c:v>44566</c:v>
                </c:pt>
                <c:pt idx="2">
                  <c:v>44571</c:v>
                </c:pt>
                <c:pt idx="3">
                  <c:v>44573</c:v>
                </c:pt>
                <c:pt idx="4">
                  <c:v>44575</c:v>
                </c:pt>
                <c:pt idx="5">
                  <c:v>44578</c:v>
                </c:pt>
                <c:pt idx="6">
                  <c:v>44580</c:v>
                </c:pt>
                <c:pt idx="7">
                  <c:v>44582</c:v>
                </c:pt>
                <c:pt idx="8">
                  <c:v>44587</c:v>
                </c:pt>
                <c:pt idx="9">
                  <c:v>44589</c:v>
                </c:pt>
                <c:pt idx="10">
                  <c:v>44590</c:v>
                </c:pt>
                <c:pt idx="11">
                  <c:v>44591</c:v>
                </c:pt>
                <c:pt idx="12">
                  <c:v>44593</c:v>
                </c:pt>
                <c:pt idx="13">
                  <c:v>44596</c:v>
                </c:pt>
                <c:pt idx="14">
                  <c:v>44599</c:v>
                </c:pt>
                <c:pt idx="15">
                  <c:v>44600</c:v>
                </c:pt>
                <c:pt idx="16">
                  <c:v>44601</c:v>
                </c:pt>
                <c:pt idx="17">
                  <c:v>44602</c:v>
                </c:pt>
                <c:pt idx="18">
                  <c:v>44603</c:v>
                </c:pt>
                <c:pt idx="19">
                  <c:v>44607</c:v>
                </c:pt>
                <c:pt idx="20">
                  <c:v>44608</c:v>
                </c:pt>
                <c:pt idx="21">
                  <c:v>44609</c:v>
                </c:pt>
                <c:pt idx="22">
                  <c:v>44610</c:v>
                </c:pt>
                <c:pt idx="23">
                  <c:v>44613</c:v>
                </c:pt>
                <c:pt idx="24">
                  <c:v>44614</c:v>
                </c:pt>
                <c:pt idx="25">
                  <c:v>44615</c:v>
                </c:pt>
                <c:pt idx="26">
                  <c:v>44616</c:v>
                </c:pt>
                <c:pt idx="27">
                  <c:v>44617</c:v>
                </c:pt>
                <c:pt idx="28">
                  <c:v>44622</c:v>
                </c:pt>
                <c:pt idx="29">
                  <c:v>44623</c:v>
                </c:pt>
                <c:pt idx="30">
                  <c:v>44624</c:v>
                </c:pt>
                <c:pt idx="31">
                  <c:v>44627</c:v>
                </c:pt>
                <c:pt idx="32">
                  <c:v>44631</c:v>
                </c:pt>
                <c:pt idx="33">
                  <c:v>44634</c:v>
                </c:pt>
                <c:pt idx="34">
                  <c:v>44635</c:v>
                </c:pt>
                <c:pt idx="35">
                  <c:v>44636</c:v>
                </c:pt>
                <c:pt idx="36">
                  <c:v>44638</c:v>
                </c:pt>
                <c:pt idx="37">
                  <c:v>44641</c:v>
                </c:pt>
                <c:pt idx="38">
                  <c:v>44643</c:v>
                </c:pt>
                <c:pt idx="39">
                  <c:v>44645</c:v>
                </c:pt>
                <c:pt idx="40">
                  <c:v>44650</c:v>
                </c:pt>
                <c:pt idx="41">
                  <c:v>44659</c:v>
                </c:pt>
                <c:pt idx="42">
                  <c:v>44663</c:v>
                </c:pt>
                <c:pt idx="43">
                  <c:v>44665</c:v>
                </c:pt>
                <c:pt idx="44">
                  <c:v>44671</c:v>
                </c:pt>
                <c:pt idx="45">
                  <c:v>44673</c:v>
                </c:pt>
                <c:pt idx="46">
                  <c:v>44680</c:v>
                </c:pt>
                <c:pt idx="47">
                  <c:v>44685</c:v>
                </c:pt>
                <c:pt idx="48">
                  <c:v>44687</c:v>
                </c:pt>
                <c:pt idx="49">
                  <c:v>44692</c:v>
                </c:pt>
                <c:pt idx="50">
                  <c:v>44694</c:v>
                </c:pt>
                <c:pt idx="51">
                  <c:v>44701</c:v>
                </c:pt>
                <c:pt idx="52">
                  <c:v>44708</c:v>
                </c:pt>
                <c:pt idx="53">
                  <c:v>44712</c:v>
                </c:pt>
                <c:pt idx="54">
                  <c:v>44715</c:v>
                </c:pt>
                <c:pt idx="55">
                  <c:v>44720</c:v>
                </c:pt>
                <c:pt idx="56">
                  <c:v>44722</c:v>
                </c:pt>
                <c:pt idx="57">
                  <c:v>44729</c:v>
                </c:pt>
                <c:pt idx="58">
                  <c:v>44741</c:v>
                </c:pt>
                <c:pt idx="59">
                  <c:v>44743</c:v>
                </c:pt>
                <c:pt idx="60">
                  <c:v>44750</c:v>
                </c:pt>
                <c:pt idx="61">
                  <c:v>44762</c:v>
                </c:pt>
                <c:pt idx="62">
                  <c:v>44769</c:v>
                </c:pt>
                <c:pt idx="63">
                  <c:v>44774</c:v>
                </c:pt>
                <c:pt idx="64">
                  <c:v>44778</c:v>
                </c:pt>
                <c:pt idx="65">
                  <c:v>44785</c:v>
                </c:pt>
                <c:pt idx="66">
                  <c:v>44788</c:v>
                </c:pt>
                <c:pt idx="67">
                  <c:v>44792</c:v>
                </c:pt>
                <c:pt idx="68">
                  <c:v>44795</c:v>
                </c:pt>
                <c:pt idx="69">
                  <c:v>44798</c:v>
                </c:pt>
                <c:pt idx="70">
                  <c:v>44802</c:v>
                </c:pt>
                <c:pt idx="71">
                  <c:v>44804</c:v>
                </c:pt>
                <c:pt idx="72">
                  <c:v>44805</c:v>
                </c:pt>
                <c:pt idx="73">
                  <c:v>44809</c:v>
                </c:pt>
                <c:pt idx="74">
                  <c:v>44811</c:v>
                </c:pt>
                <c:pt idx="75">
                  <c:v>44813</c:v>
                </c:pt>
                <c:pt idx="76">
                  <c:v>44817</c:v>
                </c:pt>
                <c:pt idx="77">
                  <c:v>44820</c:v>
                </c:pt>
                <c:pt idx="78">
                  <c:v>44826</c:v>
                </c:pt>
                <c:pt idx="79">
                  <c:v>44827</c:v>
                </c:pt>
                <c:pt idx="80">
                  <c:v>44832</c:v>
                </c:pt>
                <c:pt idx="81">
                  <c:v>44834</c:v>
                </c:pt>
                <c:pt idx="82">
                  <c:v>44836</c:v>
                </c:pt>
                <c:pt idx="83">
                  <c:v>44841</c:v>
                </c:pt>
                <c:pt idx="84">
                  <c:v>44843</c:v>
                </c:pt>
                <c:pt idx="85">
                  <c:v>44846</c:v>
                </c:pt>
                <c:pt idx="86">
                  <c:v>44853</c:v>
                </c:pt>
                <c:pt idx="87">
                  <c:v>44855</c:v>
                </c:pt>
                <c:pt idx="88">
                  <c:v>44858</c:v>
                </c:pt>
                <c:pt idx="89">
                  <c:v>44860</c:v>
                </c:pt>
                <c:pt idx="90">
                  <c:v>44862</c:v>
                </c:pt>
                <c:pt idx="91">
                  <c:v>44865</c:v>
                </c:pt>
                <c:pt idx="92">
                  <c:v>44866</c:v>
                </c:pt>
                <c:pt idx="93">
                  <c:v>44869</c:v>
                </c:pt>
                <c:pt idx="94">
                  <c:v>44875</c:v>
                </c:pt>
                <c:pt idx="95">
                  <c:v>44883</c:v>
                </c:pt>
                <c:pt idx="96">
                  <c:v>44885</c:v>
                </c:pt>
                <c:pt idx="97">
                  <c:v>44888</c:v>
                </c:pt>
                <c:pt idx="98">
                  <c:v>44891</c:v>
                </c:pt>
                <c:pt idx="99">
                  <c:v>44895</c:v>
                </c:pt>
                <c:pt idx="100">
                  <c:v>44896</c:v>
                </c:pt>
                <c:pt idx="101">
                  <c:v>44900</c:v>
                </c:pt>
                <c:pt idx="102">
                  <c:v>44904</c:v>
                </c:pt>
                <c:pt idx="103">
                  <c:v>44907</c:v>
                </c:pt>
                <c:pt idx="104">
                  <c:v>44911</c:v>
                </c:pt>
                <c:pt idx="105">
                  <c:v>44914</c:v>
                </c:pt>
                <c:pt idx="106">
                  <c:v>44921</c:v>
                </c:pt>
                <c:pt idx="107">
                  <c:v>44925</c:v>
                </c:pt>
                <c:pt idx="108">
                  <c:v>44926</c:v>
                </c:pt>
              </c:numCache>
            </c:numRef>
          </c:cat>
          <c:val>
            <c:numRef>
              <c:f>'Sheet1 (3)'!$E$2:$E$110</c:f>
              <c:numCache>
                <c:formatCode>0%</c:formatCode>
                <c:ptCount val="109"/>
                <c:pt idx="0">
                  <c:v>0.68386023294509146</c:v>
                </c:pt>
                <c:pt idx="1">
                  <c:v>0.6308943089430894</c:v>
                </c:pt>
                <c:pt idx="2">
                  <c:v>0.73659305993690849</c:v>
                </c:pt>
                <c:pt idx="3">
                  <c:v>0.55114503816793892</c:v>
                </c:pt>
                <c:pt idx="4">
                  <c:v>0.50687022900763357</c:v>
                </c:pt>
                <c:pt idx="5">
                  <c:v>0.43053435114503819</c:v>
                </c:pt>
                <c:pt idx="6">
                  <c:v>0.39389534883720928</c:v>
                </c:pt>
                <c:pt idx="7">
                  <c:v>0.34072022160664822</c:v>
                </c:pt>
                <c:pt idx="8">
                  <c:v>0.32271468144044324</c:v>
                </c:pt>
                <c:pt idx="9">
                  <c:v>0.32686980609418281</c:v>
                </c:pt>
                <c:pt idx="10">
                  <c:v>0.33743169398907102</c:v>
                </c:pt>
                <c:pt idx="11">
                  <c:v>0.3797814207650273</c:v>
                </c:pt>
                <c:pt idx="12">
                  <c:v>0.42098445595854922</c:v>
                </c:pt>
                <c:pt idx="13">
                  <c:v>0.46975546975546978</c:v>
                </c:pt>
                <c:pt idx="14">
                  <c:v>0.53667953667953672</c:v>
                </c:pt>
                <c:pt idx="15">
                  <c:v>0.59974259974259969</c:v>
                </c:pt>
                <c:pt idx="16">
                  <c:v>0.60984848484848486</c:v>
                </c:pt>
                <c:pt idx="17">
                  <c:v>0.61111111111111116</c:v>
                </c:pt>
                <c:pt idx="18">
                  <c:v>0.55303030303030298</c:v>
                </c:pt>
                <c:pt idx="19">
                  <c:v>0.54545454545454541</c:v>
                </c:pt>
                <c:pt idx="20">
                  <c:v>0.59653465346534651</c:v>
                </c:pt>
                <c:pt idx="21">
                  <c:v>0.59282178217821779</c:v>
                </c:pt>
                <c:pt idx="22">
                  <c:v>0.63593380614657213</c:v>
                </c:pt>
                <c:pt idx="23">
                  <c:v>0.71445497630331756</c:v>
                </c:pt>
                <c:pt idx="24">
                  <c:v>0.6400937866354045</c:v>
                </c:pt>
                <c:pt idx="25">
                  <c:v>0.63540445486518171</c:v>
                </c:pt>
                <c:pt idx="26">
                  <c:v>0.70994152046783621</c:v>
                </c:pt>
                <c:pt idx="27">
                  <c:v>0.63274853801169595</c:v>
                </c:pt>
                <c:pt idx="28">
                  <c:v>0.6423766816143498</c:v>
                </c:pt>
                <c:pt idx="29">
                  <c:v>0.60096153846153844</c:v>
                </c:pt>
                <c:pt idx="30">
                  <c:v>0.57857142857142863</c:v>
                </c:pt>
                <c:pt idx="31">
                  <c:v>0.60891590678824725</c:v>
                </c:pt>
                <c:pt idx="32">
                  <c:v>0.67146017699115046</c:v>
                </c:pt>
                <c:pt idx="33">
                  <c:v>0.6877113866967306</c:v>
                </c:pt>
                <c:pt idx="34">
                  <c:v>0.66628440366972475</c:v>
                </c:pt>
                <c:pt idx="35">
                  <c:v>0.92660550458715596</c:v>
                </c:pt>
                <c:pt idx="36">
                  <c:v>0.54729109274563825</c:v>
                </c:pt>
                <c:pt idx="37">
                  <c:v>0.60514233241505966</c:v>
                </c:pt>
                <c:pt idx="38">
                  <c:v>0.53259871441689621</c:v>
                </c:pt>
                <c:pt idx="39">
                  <c:v>0.53535353535353536</c:v>
                </c:pt>
                <c:pt idx="40">
                  <c:v>0.48760330578512395</c:v>
                </c:pt>
                <c:pt idx="41">
                  <c:v>0.33608815426997246</c:v>
                </c:pt>
                <c:pt idx="42">
                  <c:v>0.30499999999999999</c:v>
                </c:pt>
                <c:pt idx="43">
                  <c:v>0.29099999999999998</c:v>
                </c:pt>
                <c:pt idx="44">
                  <c:v>0.34958217270194986</c:v>
                </c:pt>
                <c:pt idx="45">
                  <c:v>0.29944289693593312</c:v>
                </c:pt>
                <c:pt idx="46">
                  <c:v>0.21866295264623956</c:v>
                </c:pt>
                <c:pt idx="47">
                  <c:v>0.12674094707520892</c:v>
                </c:pt>
                <c:pt idx="48">
                  <c:v>0.11420612813370473</c:v>
                </c:pt>
                <c:pt idx="49">
                  <c:v>0.14963503649634999</c:v>
                </c:pt>
                <c:pt idx="50">
                  <c:v>0.17335766423357665</c:v>
                </c:pt>
                <c:pt idx="51">
                  <c:v>0.19708029197080293</c:v>
                </c:pt>
                <c:pt idx="52">
                  <c:v>0.13761467889908258</c:v>
                </c:pt>
                <c:pt idx="53">
                  <c:v>7.3394495412844041E-2</c:v>
                </c:pt>
                <c:pt idx="54">
                  <c:v>6.0240963855421686E-2</c:v>
                </c:pt>
                <c:pt idx="55">
                  <c:v>2.9411764705882353E-2</c:v>
                </c:pt>
                <c:pt idx="56">
                  <c:v>4.4117647058823532E-2</c:v>
                </c:pt>
                <c:pt idx="57">
                  <c:v>0.15625</c:v>
                </c:pt>
                <c:pt idx="58">
                  <c:v>0.25</c:v>
                </c:pt>
                <c:pt idx="59">
                  <c:v>0.28125</c:v>
                </c:pt>
                <c:pt idx="60">
                  <c:v>0.17391304347826086</c:v>
                </c:pt>
                <c:pt idx="61">
                  <c:v>0.21739130434782608</c:v>
                </c:pt>
                <c:pt idx="62">
                  <c:v>0.60869565217391308</c:v>
                </c:pt>
                <c:pt idx="63">
                  <c:v>0.43478260869565216</c:v>
                </c:pt>
                <c:pt idx="64">
                  <c:v>0.32075471698113206</c:v>
                </c:pt>
                <c:pt idx="65">
                  <c:v>0.56603773584905659</c:v>
                </c:pt>
                <c:pt idx="66">
                  <c:v>0.50943396226415094</c:v>
                </c:pt>
                <c:pt idx="67">
                  <c:v>0.39622641509433965</c:v>
                </c:pt>
                <c:pt idx="68">
                  <c:v>0.32075471698113206</c:v>
                </c:pt>
                <c:pt idx="69">
                  <c:v>0.22641509433962265</c:v>
                </c:pt>
                <c:pt idx="70">
                  <c:v>0.37735849056603776</c:v>
                </c:pt>
                <c:pt idx="71">
                  <c:v>0.30188679245283018</c:v>
                </c:pt>
                <c:pt idx="72">
                  <c:v>0.26415094339622641</c:v>
                </c:pt>
                <c:pt idx="73">
                  <c:v>0.39622641509433965</c:v>
                </c:pt>
                <c:pt idx="74">
                  <c:v>0.20754716981132076</c:v>
                </c:pt>
                <c:pt idx="75">
                  <c:v>0.16981132075471697</c:v>
                </c:pt>
                <c:pt idx="76">
                  <c:v>0.24528301886792453</c:v>
                </c:pt>
                <c:pt idx="77">
                  <c:v>0.28301886792452829</c:v>
                </c:pt>
                <c:pt idx="78">
                  <c:v>0.18867924528301888</c:v>
                </c:pt>
                <c:pt idx="79">
                  <c:v>0.18867924528301888</c:v>
                </c:pt>
                <c:pt idx="80">
                  <c:v>0.26415094339622641</c:v>
                </c:pt>
                <c:pt idx="81">
                  <c:v>0.20754716981132076</c:v>
                </c:pt>
                <c:pt idx="82">
                  <c:v>8.3333333333333329E-2</c:v>
                </c:pt>
                <c:pt idx="83">
                  <c:v>5.2631578947368418E-2</c:v>
                </c:pt>
                <c:pt idx="84">
                  <c:v>0.21052631578947367</c:v>
                </c:pt>
                <c:pt idx="85">
                  <c:v>0.10526315789473684</c:v>
                </c:pt>
                <c:pt idx="86">
                  <c:v>7.8947368421052627E-2</c:v>
                </c:pt>
                <c:pt idx="87">
                  <c:v>5.2631578947368418E-2</c:v>
                </c:pt>
                <c:pt idx="88">
                  <c:v>2.6315789473684209E-2</c:v>
                </c:pt>
                <c:pt idx="89">
                  <c:v>0.15789473684210525</c:v>
                </c:pt>
                <c:pt idx="90">
                  <c:v>0.23684210526315788</c:v>
                </c:pt>
                <c:pt idx="91">
                  <c:v>0.28947368421052633</c:v>
                </c:pt>
                <c:pt idx="92">
                  <c:v>0.31578947368421051</c:v>
                </c:pt>
                <c:pt idx="93">
                  <c:v>0.34210526315789475</c:v>
                </c:pt>
                <c:pt idx="94">
                  <c:v>0.47368421052631576</c:v>
                </c:pt>
                <c:pt idx="95">
                  <c:v>0.28947368421052633</c:v>
                </c:pt>
                <c:pt idx="96">
                  <c:v>0.18421052631578946</c:v>
                </c:pt>
                <c:pt idx="97">
                  <c:v>0.21052631578947367</c:v>
                </c:pt>
                <c:pt idx="98">
                  <c:v>0.39473684210526316</c:v>
                </c:pt>
                <c:pt idx="99">
                  <c:v>0.36842105263157893</c:v>
                </c:pt>
                <c:pt idx="100">
                  <c:v>0.37209302325581395</c:v>
                </c:pt>
                <c:pt idx="101">
                  <c:v>0.2558139534883721</c:v>
                </c:pt>
                <c:pt idx="102">
                  <c:v>0.18604651162790697</c:v>
                </c:pt>
                <c:pt idx="103">
                  <c:v>0.27906976744186046</c:v>
                </c:pt>
                <c:pt idx="104">
                  <c:v>0.23255813953488372</c:v>
                </c:pt>
                <c:pt idx="105">
                  <c:v>0.27906976744186046</c:v>
                </c:pt>
                <c:pt idx="106">
                  <c:v>0.16279069767441862</c:v>
                </c:pt>
                <c:pt idx="107">
                  <c:v>0.18604651162790697</c:v>
                </c:pt>
                <c:pt idx="108">
                  <c:v>0.20930232558139536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D91-43D6-8A78-C6E5F728C3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885440"/>
        <c:axId val="187883904"/>
      </c:lineChart>
      <c:dateAx>
        <c:axId val="187864192"/>
        <c:scaling>
          <c:orientation val="minMax"/>
        </c:scaling>
        <c:delete val="0"/>
        <c:axPos val="b"/>
        <c:numFmt formatCode="yy&quot;-&quot;m&quot;-&quot;d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7865728"/>
        <c:crosses val="autoZero"/>
        <c:auto val="1"/>
        <c:lblOffset val="100"/>
        <c:baseTimeUnit val="days"/>
      </c:dateAx>
      <c:valAx>
        <c:axId val="187865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7864192"/>
        <c:crosses val="autoZero"/>
        <c:crossBetween val="between"/>
      </c:valAx>
      <c:valAx>
        <c:axId val="187883904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7885440"/>
        <c:crosses val="max"/>
        <c:crossBetween val="between"/>
      </c:valAx>
      <c:dateAx>
        <c:axId val="187885440"/>
        <c:scaling>
          <c:orientation val="minMax"/>
        </c:scaling>
        <c:delete val="1"/>
        <c:axPos val="b"/>
        <c:numFmt formatCode="yy&quot;-&quot;m&quot;-&quot;d;@" sourceLinked="1"/>
        <c:majorTickMark val="out"/>
        <c:minorTickMark val="none"/>
        <c:tickLblPos val="nextTo"/>
        <c:crossAx val="187883904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78589358923509"/>
          <c:y val="5.1889070107799473E-2"/>
          <c:w val="0.56280253013611381"/>
          <c:h val="7.09748597380581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1"/>
      </a:pPr>
      <a:endParaRPr lang="ko-KR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0.34357</cdr:x>
      <cdr:y>0.71937</cdr:y>
    </cdr:from>
    <cdr:to>
      <cdr:x>0.34804</cdr:x>
      <cdr:y>0.78592</cdr:y>
    </cdr:to>
    <cdr:cxnSp macro="">
      <cdr:nvCxnSpPr>
        <cdr:cNvPr id="3" name="직선 연결선 2">
          <a:extLst xmlns:a="http://schemas.openxmlformats.org/drawingml/2006/main">
            <a:ext uri="{FF2B5EF4-FFF2-40B4-BE49-F238E27FC236}">
              <a16:creationId xmlns:a16="http://schemas.microsoft.com/office/drawing/2014/main" id="{5BC3E318-5AB3-4879-89FD-75973BA2C730}"/>
            </a:ext>
          </a:extLst>
        </cdr:cNvPr>
        <cdr:cNvCxnSpPr/>
      </cdr:nvCxnSpPr>
      <cdr:spPr>
        <a:xfrm xmlns:a="http://schemas.openxmlformats.org/drawingml/2006/main">
          <a:off x="4054230" y="1995854"/>
          <a:ext cx="52754" cy="184639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0.92251</cdr:x>
      <cdr:y>0.40123</cdr:y>
    </cdr:from>
    <cdr:to>
      <cdr:x>0.9235</cdr:x>
      <cdr:y>0.45317</cdr:y>
    </cdr:to>
    <cdr:cxnSp macro="">
      <cdr:nvCxnSpPr>
        <cdr:cNvPr id="4" name="직선 연결선 3">
          <a:extLst xmlns:a="http://schemas.openxmlformats.org/drawingml/2006/main">
            <a:ext uri="{FF2B5EF4-FFF2-40B4-BE49-F238E27FC236}">
              <a16:creationId xmlns:a16="http://schemas.microsoft.com/office/drawing/2014/main" id="{6F6538A3-7B17-4526-8075-0CDFB7EF1B46}"/>
            </a:ext>
          </a:extLst>
        </cdr:cNvPr>
        <cdr:cNvCxnSpPr/>
      </cdr:nvCxnSpPr>
      <cdr:spPr>
        <a:xfrm xmlns:a="http://schemas.openxmlformats.org/drawingml/2006/main" flipH="1">
          <a:off x="10885853" y="1113202"/>
          <a:ext cx="11726" cy="144098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69B06BB8-A5AB-4C88-89B1-1045B4A770CE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0868"/>
            <a:ext cx="2919565" cy="493867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0868"/>
            <a:ext cx="2919565" cy="493867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44EAF316-5B52-446C-BA06-44D7502B5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4251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E5527162-4FA5-3940-8C9E-CACED3A0C366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C4E65C2B-F83C-5B41-B5D7-950265EEF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23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안녕하십니까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부산시 코로나</a:t>
            </a:r>
            <a:r>
              <a:rPr lang="en-US" altLang="ko-K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 </a:t>
            </a:r>
            <a:r>
              <a:rPr lang="ko-KR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유행에 대한 전반적인 내용을 발표하게 된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부산시청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감염병대응팀장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이정민이라고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14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순서입니다</a:t>
            </a:r>
            <a:r>
              <a:rPr lang="en-US" altLang="ko-KR" dirty="0"/>
              <a:t>.</a:t>
            </a:r>
            <a:r>
              <a:rPr lang="en-US" altLang="ko-KR" baseline="0" dirty="0"/>
              <a:t> </a:t>
            </a:r>
            <a:r>
              <a:rPr lang="ko-KR" altLang="en-US" baseline="0" dirty="0"/>
              <a:t>발표하기 전에 먼저 지난 </a:t>
            </a:r>
            <a:r>
              <a:rPr lang="en-US" altLang="ko-KR" baseline="0" dirty="0"/>
              <a:t>2022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12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6</a:t>
            </a:r>
            <a:r>
              <a:rPr lang="ko-KR" altLang="en-US" baseline="0" dirty="0"/>
              <a:t>일 한양대 김동현 교수님께서 </a:t>
            </a:r>
            <a:r>
              <a:rPr lang="ko-KR" altLang="en-US" baseline="0" dirty="0" err="1"/>
              <a:t>강의하실때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말씀중에</a:t>
            </a:r>
            <a:r>
              <a:rPr lang="ko-KR" altLang="en-US" baseline="0" dirty="0"/>
              <a:t> 어떤 유행이든 유행발생양상이 의료대응체계를 넘어서면 무너지면 </a:t>
            </a:r>
            <a:r>
              <a:rPr lang="ko-KR" altLang="en-US" baseline="0" dirty="0" err="1"/>
              <a:t>안된다고</a:t>
            </a:r>
            <a:r>
              <a:rPr lang="ko-KR" altLang="en-US" baseline="0" dirty="0"/>
              <a:t> 하였고</a:t>
            </a:r>
            <a:r>
              <a:rPr lang="en-US" altLang="ko-KR" baseline="0"/>
              <a:t>, </a:t>
            </a:r>
            <a:r>
              <a:rPr lang="ko-KR" altLang="en-US" baseline="0"/>
              <a:t>대유행시 </a:t>
            </a:r>
            <a:r>
              <a:rPr lang="ko-KR" altLang="en-US" baseline="0" dirty="0"/>
              <a:t>정책은 모든 인구를 고려해야 한다고 하셨습니다</a:t>
            </a:r>
            <a:r>
              <a:rPr lang="en-US" altLang="ko-KR" baseline="0" dirty="0"/>
              <a:t>. 2022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5</a:t>
            </a:r>
            <a:r>
              <a:rPr lang="ko-KR" altLang="en-US" baseline="0" dirty="0" err="1"/>
              <a:t>월달에</a:t>
            </a:r>
            <a:r>
              <a:rPr lang="ko-KR" altLang="en-US" baseline="0" dirty="0"/>
              <a:t> 우리나라 초과사망의 </a:t>
            </a:r>
            <a:r>
              <a:rPr lang="en-US" altLang="ko-KR" baseline="0" dirty="0"/>
              <a:t>68%</a:t>
            </a:r>
            <a:r>
              <a:rPr lang="ko-KR" altLang="en-US" baseline="0" dirty="0"/>
              <a:t>이상이 대부분 요양시설의 노인이었다고 합니다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3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6</a:t>
            </a:r>
            <a:r>
              <a:rPr lang="ko-KR" altLang="en-US" baseline="0" dirty="0"/>
              <a:t>개월간에 </a:t>
            </a:r>
            <a:r>
              <a:rPr lang="ko-KR" altLang="en-US" baseline="0" dirty="0" err="1"/>
              <a:t>감염병관리과</a:t>
            </a:r>
            <a:r>
              <a:rPr lang="ko-KR" altLang="en-US" baseline="0" dirty="0"/>
              <a:t> 및 </a:t>
            </a:r>
            <a:r>
              <a:rPr lang="ko-KR" altLang="en-US" baseline="0" dirty="0" err="1"/>
              <a:t>그외에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여러부서에서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감염병에</a:t>
            </a:r>
            <a:r>
              <a:rPr lang="ko-KR" altLang="en-US" baseline="0" dirty="0"/>
              <a:t> 대한 대응을 같이 헌신적으로 </a:t>
            </a:r>
            <a:r>
              <a:rPr lang="ko-KR" altLang="en-US" baseline="0" dirty="0" err="1"/>
              <a:t>해온것은</a:t>
            </a:r>
            <a:r>
              <a:rPr lang="ko-KR" altLang="en-US" baseline="0" dirty="0"/>
              <a:t> 저도 </a:t>
            </a:r>
            <a:r>
              <a:rPr lang="ko-KR" altLang="en-US" baseline="0" dirty="0" err="1"/>
              <a:t>익히알고</a:t>
            </a:r>
            <a:r>
              <a:rPr lang="ko-KR" altLang="en-US" baseline="0" dirty="0"/>
              <a:t> 있지만</a:t>
            </a:r>
            <a:r>
              <a:rPr lang="en-US" altLang="ko-KR" baseline="0" dirty="0"/>
              <a:t>, </a:t>
            </a:r>
            <a:r>
              <a:rPr lang="ko-KR" altLang="en-US" baseline="0" dirty="0"/>
              <a:t>제가 오늘 </a:t>
            </a:r>
            <a:r>
              <a:rPr lang="ko-KR" altLang="en-US" baseline="0" dirty="0" err="1"/>
              <a:t>말씀드리고자</a:t>
            </a:r>
            <a:r>
              <a:rPr lang="ko-KR" altLang="en-US" baseline="0" dirty="0"/>
              <a:t> 하는 </a:t>
            </a:r>
            <a:r>
              <a:rPr lang="ko-KR" altLang="en-US" baseline="0" dirty="0" err="1"/>
              <a:t>내용중에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반이상은</a:t>
            </a:r>
            <a:r>
              <a:rPr lang="ko-KR" altLang="en-US" baseline="0" dirty="0"/>
              <a:t> 의료대응에 관한 것으로 구성할 수밖에 없음은 제가 의료대응 즉 병상배정을 총괄해온 담당팀장인 점을 고려하기 전에 그만큼 이번 </a:t>
            </a:r>
            <a:r>
              <a:rPr lang="ko-KR" altLang="en-US" baseline="0" dirty="0" err="1"/>
              <a:t>판데믹에서는</a:t>
            </a:r>
            <a:r>
              <a:rPr lang="ko-KR" altLang="en-US" baseline="0" dirty="0"/>
              <a:t> 특히 </a:t>
            </a:r>
            <a:r>
              <a:rPr lang="ko-KR" altLang="en-US" baseline="0" dirty="0" err="1"/>
              <a:t>오미크론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유행시에</a:t>
            </a:r>
            <a:r>
              <a:rPr lang="ko-KR" altLang="en-US" baseline="0" dirty="0"/>
              <a:t> 의료대응이 방역대응만큼 체계적으로 이행되지 못하였음에 대한 사실을 공유하여 다음 </a:t>
            </a:r>
            <a:r>
              <a:rPr lang="ko-KR" altLang="en-US" baseline="0" dirty="0" err="1"/>
              <a:t>유행때에는</a:t>
            </a:r>
            <a:r>
              <a:rPr lang="ko-KR" altLang="en-US" baseline="0" dirty="0"/>
              <a:t> 부산시가 좀더 시민들을 안전하게 보호할 수 있는 정책과 대안을 마련하기 위함임을 양해해주시길 </a:t>
            </a:r>
            <a:r>
              <a:rPr lang="ko-KR" altLang="en-US" baseline="0" dirty="0" err="1"/>
              <a:t>부탁드립니다</a:t>
            </a:r>
            <a:r>
              <a:rPr lang="en-US" altLang="ko-KR" baseline="0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월부터 </a:t>
            </a:r>
            <a:r>
              <a:rPr lang="en-US" altLang="ko-KR" dirty="0"/>
              <a:t>4</a:t>
            </a:r>
            <a:r>
              <a:rPr lang="ko-KR" altLang="en-US" dirty="0"/>
              <a:t>급전환전까지인 </a:t>
            </a:r>
            <a:r>
              <a:rPr lang="en-US" altLang="ko-KR" dirty="0"/>
              <a:t>2023</a:t>
            </a:r>
            <a:r>
              <a:rPr lang="ko-KR" altLang="en-US" dirty="0"/>
              <a:t>년 </a:t>
            </a:r>
            <a:r>
              <a:rPr lang="en-US" altLang="ko-KR" dirty="0"/>
              <a:t>8</a:t>
            </a:r>
            <a:r>
              <a:rPr lang="ko-KR" altLang="en-US" dirty="0"/>
              <a:t>월까지 </a:t>
            </a:r>
            <a:r>
              <a:rPr lang="en-US" altLang="ko-KR" dirty="0"/>
              <a:t>3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 err="1"/>
              <a:t>개월동안의</a:t>
            </a:r>
            <a:r>
              <a:rPr lang="ko-KR" altLang="en-US" dirty="0"/>
              <a:t> 유행양상그래프입니다</a:t>
            </a:r>
            <a:r>
              <a:rPr lang="en-US" altLang="ko-KR" dirty="0"/>
              <a:t>. </a:t>
            </a:r>
            <a:r>
              <a:rPr lang="ko-KR" altLang="en-US" dirty="0"/>
              <a:t>부산시는 </a:t>
            </a:r>
            <a:r>
              <a:rPr lang="en-US" altLang="ko-KR" dirty="0"/>
              <a:t>1</a:t>
            </a:r>
            <a:r>
              <a:rPr lang="ko-KR" altLang="en-US" dirty="0"/>
              <a:t>차 유행시기인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월에서 </a:t>
            </a:r>
            <a:r>
              <a:rPr lang="en-US" altLang="ko-KR" dirty="0"/>
              <a:t>5</a:t>
            </a:r>
            <a:r>
              <a:rPr lang="ko-KR" altLang="en-US" dirty="0"/>
              <a:t>월은 온천교회</a:t>
            </a:r>
            <a:r>
              <a:rPr lang="ko-KR" altLang="en-US" baseline="0" dirty="0"/>
              <a:t> 및 </a:t>
            </a:r>
            <a:r>
              <a:rPr lang="ko-KR" altLang="en-US" baseline="0" dirty="0" err="1"/>
              <a:t>아시아드요양병원에서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확진자가</a:t>
            </a:r>
            <a:r>
              <a:rPr lang="ko-KR" altLang="en-US" baseline="0" dirty="0"/>
              <a:t> 발생한 사례가 있은 이후 조용하다가 </a:t>
            </a:r>
            <a:r>
              <a:rPr lang="en-US" altLang="ko-KR" baseline="0" dirty="0"/>
              <a:t>2</a:t>
            </a:r>
            <a:r>
              <a:rPr lang="ko-KR" altLang="en-US" baseline="0" dirty="0"/>
              <a:t>차 유행시기인 </a:t>
            </a:r>
            <a:r>
              <a:rPr lang="en-US" altLang="ko-KR" baseline="0" dirty="0"/>
              <a:t>8</a:t>
            </a:r>
            <a:r>
              <a:rPr lang="ko-KR" altLang="en-US" baseline="0" dirty="0"/>
              <a:t>월에서 </a:t>
            </a:r>
            <a:r>
              <a:rPr lang="en-US" altLang="ko-KR" baseline="0" dirty="0"/>
              <a:t>10</a:t>
            </a:r>
            <a:r>
              <a:rPr lang="ko-KR" altLang="en-US" baseline="0" dirty="0" err="1"/>
              <a:t>월달에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감천항</a:t>
            </a:r>
            <a:r>
              <a:rPr lang="ko-KR" altLang="en-US" baseline="0" dirty="0"/>
              <a:t> 러시아 선박에서 연이어 </a:t>
            </a:r>
            <a:r>
              <a:rPr lang="ko-KR" altLang="en-US" baseline="0" dirty="0" err="1"/>
              <a:t>확진자가</a:t>
            </a:r>
            <a:r>
              <a:rPr lang="ko-KR" altLang="en-US" baseline="0" dirty="0"/>
              <a:t> 발생한 이후 여러분이 잘 아시는 </a:t>
            </a:r>
            <a:r>
              <a:rPr lang="ko-KR" altLang="en-US" baseline="0" dirty="0" err="1"/>
              <a:t>페트르선박에서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확진자</a:t>
            </a:r>
            <a:r>
              <a:rPr lang="ko-KR" altLang="en-US" baseline="0" dirty="0"/>
              <a:t> 대량 </a:t>
            </a:r>
            <a:r>
              <a:rPr lang="ko-KR" altLang="en-US" baseline="0" dirty="0" err="1"/>
              <a:t>발생이후</a:t>
            </a:r>
            <a:r>
              <a:rPr lang="ko-KR" altLang="en-US" baseline="0" dirty="0"/>
              <a:t> 해당선박을 고치던 수리공으로 전파되고 그의 가족에 이어 </a:t>
            </a:r>
            <a:r>
              <a:rPr lang="ko-KR" altLang="en-US" baseline="0" dirty="0" err="1"/>
              <a:t>부경보건고와</a:t>
            </a:r>
            <a:r>
              <a:rPr lang="ko-KR" altLang="en-US" baseline="0" dirty="0"/>
              <a:t> 부산기계공고로의 유행전파가 대표적인 사례였습니다</a:t>
            </a:r>
            <a:r>
              <a:rPr lang="en-US" altLang="ko-KR" baseline="0" dirty="0"/>
              <a:t>. </a:t>
            </a:r>
            <a:r>
              <a:rPr lang="ko-KR" altLang="en-US" baseline="0" dirty="0" err="1"/>
              <a:t>그달부터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온천등</a:t>
            </a:r>
            <a:r>
              <a:rPr lang="ko-KR" altLang="en-US" baseline="0" dirty="0"/>
              <a:t> 다중이용시설 및 북구 만덕동의 산발적 유행이 이어지다가 </a:t>
            </a:r>
            <a:r>
              <a:rPr lang="en-US" altLang="ko-KR" baseline="0" dirty="0"/>
              <a:t>10</a:t>
            </a:r>
            <a:r>
              <a:rPr lang="ko-KR" altLang="en-US" baseline="0" dirty="0"/>
              <a:t>월에 북구 </a:t>
            </a:r>
            <a:r>
              <a:rPr lang="ko-KR" altLang="en-US" baseline="0" dirty="0" err="1"/>
              <a:t>해뜨락요양병원에서</a:t>
            </a:r>
            <a:r>
              <a:rPr lang="ko-KR" altLang="en-US" baseline="0" dirty="0"/>
              <a:t> 간호조무사 </a:t>
            </a:r>
            <a:r>
              <a:rPr lang="ko-KR" altLang="en-US" baseline="0" dirty="0" err="1"/>
              <a:t>한명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확진후</a:t>
            </a:r>
            <a:r>
              <a:rPr lang="ko-KR" altLang="en-US" baseline="0" dirty="0"/>
              <a:t> 그 다음날 전수 검사에서 </a:t>
            </a:r>
            <a:r>
              <a:rPr lang="en-US" altLang="ko-KR" baseline="0" dirty="0"/>
              <a:t>52</a:t>
            </a:r>
            <a:r>
              <a:rPr lang="ko-KR" altLang="en-US" baseline="0" dirty="0"/>
              <a:t>명의 </a:t>
            </a:r>
            <a:r>
              <a:rPr lang="ko-KR" altLang="en-US" baseline="0" dirty="0" err="1"/>
              <a:t>확진자가</a:t>
            </a:r>
            <a:r>
              <a:rPr lang="ko-KR" altLang="en-US" baseline="0" dirty="0"/>
              <a:t> 한날 발생하는 사건이 있었습니다</a:t>
            </a:r>
            <a:r>
              <a:rPr lang="en-US" altLang="ko-KR" baseline="0" dirty="0"/>
              <a:t>. 2020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2-3</a:t>
            </a:r>
            <a:r>
              <a:rPr lang="ko-KR" altLang="en-US" baseline="0" dirty="0"/>
              <a:t>월과 </a:t>
            </a:r>
            <a:r>
              <a:rPr lang="en-US" altLang="ko-KR" baseline="0" dirty="0"/>
              <a:t>8</a:t>
            </a:r>
            <a:r>
              <a:rPr lang="ko-KR" altLang="en-US" baseline="0" dirty="0"/>
              <a:t>월</a:t>
            </a:r>
            <a:r>
              <a:rPr lang="en-US" altLang="ko-KR" baseline="0" dirty="0"/>
              <a:t>~11</a:t>
            </a:r>
            <a:r>
              <a:rPr lang="ko-KR" altLang="en-US" baseline="0" dirty="0" err="1"/>
              <a:t>월사이의</a:t>
            </a:r>
            <a:r>
              <a:rPr lang="ko-KR" altLang="en-US" baseline="0" dirty="0"/>
              <a:t> 특징은 </a:t>
            </a:r>
            <a:r>
              <a:rPr lang="en-US" altLang="ko-KR" baseline="0" dirty="0"/>
              <a:t>2-3</a:t>
            </a:r>
            <a:r>
              <a:rPr lang="ko-KR" altLang="en-US" baseline="0" dirty="0"/>
              <a:t>월에는 </a:t>
            </a:r>
            <a:r>
              <a:rPr lang="ko-KR" altLang="en-US" baseline="0" dirty="0" err="1"/>
              <a:t>확진자</a:t>
            </a:r>
            <a:r>
              <a:rPr lang="ko-KR" altLang="en-US" baseline="0" dirty="0"/>
              <a:t> 연령별 분포가 </a:t>
            </a:r>
            <a:r>
              <a:rPr lang="en-US" altLang="ko-KR" baseline="0" dirty="0"/>
              <a:t>20</a:t>
            </a:r>
            <a:r>
              <a:rPr lang="ko-KR" altLang="en-US" baseline="0" dirty="0"/>
              <a:t>대가 </a:t>
            </a:r>
            <a:r>
              <a:rPr lang="en-US" altLang="ko-KR" baseline="0" dirty="0"/>
              <a:t>36.1%</a:t>
            </a:r>
            <a:r>
              <a:rPr lang="ko-KR" altLang="en-US" baseline="0" dirty="0"/>
              <a:t>로 많았으며 </a:t>
            </a:r>
            <a:r>
              <a:rPr lang="en-US" altLang="ko-KR" baseline="0" dirty="0"/>
              <a:t>8</a:t>
            </a:r>
            <a:r>
              <a:rPr lang="ko-KR" altLang="en-US" baseline="0" dirty="0"/>
              <a:t>월부터는 </a:t>
            </a:r>
            <a:r>
              <a:rPr lang="en-US" altLang="ko-KR" baseline="0" dirty="0"/>
              <a:t>60</a:t>
            </a:r>
            <a:r>
              <a:rPr lang="ko-KR" altLang="en-US" baseline="0" dirty="0" err="1"/>
              <a:t>대이상이</a:t>
            </a:r>
            <a:r>
              <a:rPr lang="ko-KR" altLang="en-US" baseline="0" dirty="0"/>
              <a:t> </a:t>
            </a:r>
            <a:r>
              <a:rPr lang="en-US" altLang="ko-KR" baseline="0" dirty="0"/>
              <a:t>49.7%</a:t>
            </a:r>
            <a:r>
              <a:rPr lang="ko-KR" altLang="en-US" baseline="0" dirty="0"/>
              <a:t>로 </a:t>
            </a:r>
            <a:r>
              <a:rPr lang="ko-KR" altLang="en-US" baseline="0" dirty="0" err="1"/>
              <a:t>많은것이었습니다</a:t>
            </a:r>
            <a:r>
              <a:rPr lang="en-US" altLang="ko-KR" baseline="0" dirty="0"/>
              <a:t>. </a:t>
            </a:r>
          </a:p>
          <a:p>
            <a:pPr marL="0" indent="0">
              <a:buNone/>
            </a:pPr>
            <a:r>
              <a:rPr lang="ko-KR" altLang="en-US" baseline="0" dirty="0"/>
              <a:t>그렇게 </a:t>
            </a:r>
            <a:r>
              <a:rPr lang="en-US" altLang="ko-KR" baseline="0" dirty="0"/>
              <a:t>2020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11</a:t>
            </a:r>
            <a:r>
              <a:rPr lang="ko-KR" altLang="en-US" baseline="0" dirty="0"/>
              <a:t>월부터는 감염취약시설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의료기관</a:t>
            </a:r>
            <a:r>
              <a:rPr lang="en-US" altLang="ko-KR" baseline="0" dirty="0"/>
              <a:t>, </a:t>
            </a:r>
            <a:r>
              <a:rPr lang="ko-KR" altLang="en-US" baseline="0" dirty="0"/>
              <a:t>장구관련 </a:t>
            </a:r>
            <a:r>
              <a:rPr lang="ko-KR" altLang="en-US" baseline="0" dirty="0" err="1"/>
              <a:t>음악학원등</a:t>
            </a:r>
            <a:r>
              <a:rPr lang="ko-KR" altLang="en-US" baseline="0" dirty="0"/>
              <a:t> 다양한 집단을 통한 전파가 있었습니다</a:t>
            </a:r>
            <a:r>
              <a:rPr lang="en-US" altLang="ko-KR" baseline="0" dirty="0"/>
              <a:t>. 2020</a:t>
            </a:r>
            <a:r>
              <a:rPr lang="ko-KR" altLang="en-US" baseline="0" dirty="0"/>
              <a:t>년 당시 역학조사가 감염 속도를 따라잡지 못하는 한계에 </a:t>
            </a:r>
            <a:r>
              <a:rPr lang="ko-KR" altLang="en-US" baseline="0" dirty="0" err="1"/>
              <a:t>다달랐습니다</a:t>
            </a:r>
            <a:r>
              <a:rPr lang="en-US" altLang="ko-KR" baseline="0" dirty="0"/>
              <a:t>. 2021</a:t>
            </a:r>
            <a:r>
              <a:rPr lang="ko-KR" altLang="en-US" baseline="0" dirty="0"/>
              <a:t>년</a:t>
            </a:r>
            <a:r>
              <a:rPr lang="en-US" altLang="ko-KR" baseline="0" dirty="0"/>
              <a:t> </a:t>
            </a:r>
            <a:r>
              <a:rPr lang="ko-KR" altLang="en-US" baseline="0" dirty="0"/>
              <a:t>초반에는 영국 알파변이</a:t>
            </a:r>
            <a:r>
              <a:rPr lang="en-US" altLang="ko-KR" baseline="0" dirty="0"/>
              <a:t>, 6</a:t>
            </a:r>
            <a:r>
              <a:rPr lang="ko-KR" altLang="en-US" baseline="0" dirty="0"/>
              <a:t>월부터는 인도 델타변이가 유행을 하였고</a:t>
            </a:r>
            <a:r>
              <a:rPr lang="en-US" altLang="ko-KR" baseline="0" dirty="0"/>
              <a:t>, 6</a:t>
            </a:r>
            <a:r>
              <a:rPr lang="ko-KR" altLang="en-US" baseline="0" dirty="0"/>
              <a:t>월말 당시 코로나에 대한 정책은 제로코로나가 아닌 </a:t>
            </a:r>
            <a:r>
              <a:rPr lang="ko-KR" altLang="en-US" baseline="0" dirty="0" err="1"/>
              <a:t>위드코로나로</a:t>
            </a:r>
            <a:r>
              <a:rPr lang="ko-KR" altLang="en-US" baseline="0" dirty="0"/>
              <a:t> 변경되어야만 한다는 결론을 내리게 됩니다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부산은 </a:t>
            </a:r>
            <a:r>
              <a:rPr lang="ko-KR" altLang="en-US" baseline="0" dirty="0" err="1"/>
              <a:t>델타유행변이때에</a:t>
            </a:r>
            <a:r>
              <a:rPr lang="ko-KR" altLang="en-US" baseline="0" dirty="0"/>
              <a:t> 특히 서구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사하구등지에서</a:t>
            </a:r>
            <a:r>
              <a:rPr lang="ko-KR" altLang="en-US" baseline="0" dirty="0"/>
              <a:t> 관련한 여러 물고기 관련 집단발생과 유흥업소</a:t>
            </a:r>
            <a:r>
              <a:rPr lang="en-US" altLang="ko-KR" baseline="0" dirty="0"/>
              <a:t>, 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의료기관등</a:t>
            </a:r>
            <a:r>
              <a:rPr lang="ko-KR" altLang="en-US" baseline="0" dirty="0"/>
              <a:t> 다양한 곳에서 집단발생이 연이어졌습니다</a:t>
            </a:r>
            <a:r>
              <a:rPr lang="en-US" altLang="ko-KR" baseline="0" dirty="0"/>
              <a:t>. 2022</a:t>
            </a:r>
            <a:r>
              <a:rPr lang="ko-KR" altLang="en-US" baseline="0" dirty="0"/>
              <a:t>년에 들어서는 본격적으로 </a:t>
            </a:r>
            <a:r>
              <a:rPr lang="ko-KR" altLang="en-US" baseline="0" dirty="0" err="1"/>
              <a:t>오미크론</a:t>
            </a:r>
            <a:r>
              <a:rPr lang="ko-KR" altLang="en-US" baseline="0" dirty="0"/>
              <a:t> 변이가 유행을 하면서 </a:t>
            </a:r>
            <a:r>
              <a:rPr lang="en-US" altLang="ko-KR" baseline="0" dirty="0"/>
              <a:t>2</a:t>
            </a:r>
            <a:r>
              <a:rPr lang="ko-KR" altLang="en-US" baseline="0" dirty="0" err="1"/>
              <a:t>월달에</a:t>
            </a:r>
            <a:r>
              <a:rPr lang="ko-KR" altLang="en-US" baseline="0" dirty="0"/>
              <a:t> 자가기입역학조사서를 도입하였고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역학조사를 동거인 및 감염취약시설 </a:t>
            </a:r>
            <a:r>
              <a:rPr lang="en-US" altLang="ko-KR" baseline="0" dirty="0"/>
              <a:t>3</a:t>
            </a:r>
            <a:r>
              <a:rPr lang="ko-KR" altLang="en-US" baseline="0" dirty="0"/>
              <a:t>종만 역학조사를 하는 간소화가 이루어졌습니다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사실상 코로나 </a:t>
            </a:r>
            <a:r>
              <a:rPr lang="en-US" altLang="ko-KR" baseline="0" dirty="0"/>
              <a:t>19 </a:t>
            </a:r>
            <a:r>
              <a:rPr lang="ko-KR" altLang="en-US" baseline="0" dirty="0"/>
              <a:t>유행초기부터 델타유행기간인 </a:t>
            </a:r>
            <a:r>
              <a:rPr lang="en-US" altLang="ko-KR" baseline="0" dirty="0"/>
              <a:t>2021</a:t>
            </a:r>
            <a:r>
              <a:rPr lang="ko-KR" altLang="en-US" baseline="0" dirty="0" err="1"/>
              <a:t>년말까지가</a:t>
            </a:r>
            <a:r>
              <a:rPr lang="ko-KR" altLang="en-US" baseline="0" dirty="0"/>
              <a:t> 실제적으로 역학조사가 주된 축으로 이루어졌던 시기라고 </a:t>
            </a:r>
            <a:r>
              <a:rPr lang="ko-KR" altLang="en-US" baseline="0" dirty="0" err="1"/>
              <a:t>볼수</a:t>
            </a:r>
            <a:r>
              <a:rPr lang="ko-KR" altLang="en-US" baseline="0" dirty="0"/>
              <a:t> 있습니다</a:t>
            </a:r>
            <a:r>
              <a:rPr lang="en-US" altLang="ko-KR" baseline="0" dirty="0"/>
              <a:t>.</a:t>
            </a:r>
            <a:r>
              <a:rPr lang="ko-KR" altLang="en-US" baseline="0" dirty="0"/>
              <a:t> </a:t>
            </a:r>
            <a:endParaRPr lang="en-US" altLang="ko-KR" baseline="0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역학조사</a:t>
            </a:r>
            <a:r>
              <a:rPr lang="en-US" altLang="ko-KR" dirty="0"/>
              <a:t>(</a:t>
            </a:r>
            <a:r>
              <a:rPr lang="ko-KR" altLang="en-US" dirty="0"/>
              <a:t>자료출처</a:t>
            </a:r>
            <a:r>
              <a:rPr lang="en-US" altLang="ko-KR" dirty="0"/>
              <a:t>: </a:t>
            </a:r>
            <a:r>
              <a:rPr lang="ko-KR" altLang="en-US" dirty="0" err="1"/>
              <a:t>질병청</a:t>
            </a:r>
            <a:r>
              <a:rPr lang="ko-KR" altLang="en-US" dirty="0"/>
              <a:t> 제작 코로나 백서내용 일부</a:t>
            </a:r>
            <a:r>
              <a:rPr lang="en-US" altLang="ko-KR" dirty="0"/>
              <a:t>)</a:t>
            </a:r>
          </a:p>
          <a:p>
            <a:pPr marL="228600" indent="-228600">
              <a:buAutoNum type="arabicParenR"/>
            </a:pP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월부터 </a:t>
            </a:r>
            <a:r>
              <a:rPr lang="en-US" altLang="ko-KR" dirty="0"/>
              <a:t>2021</a:t>
            </a:r>
            <a:r>
              <a:rPr lang="ko-KR" altLang="en-US" dirty="0"/>
              <a:t>년</a:t>
            </a:r>
            <a:r>
              <a:rPr lang="ko-KR" altLang="en-US" baseline="0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월까지는 </a:t>
            </a:r>
            <a:r>
              <a:rPr lang="ko-KR" altLang="en-US" dirty="0" err="1"/>
              <a:t>확진자</a:t>
            </a:r>
            <a:r>
              <a:rPr lang="ko-KR" altLang="en-US" dirty="0"/>
              <a:t> 전수에 대하여 감염원을 추적하고 전파가능기간에 만난 </a:t>
            </a:r>
            <a:r>
              <a:rPr lang="ko-KR" altLang="en-US" dirty="0" err="1"/>
              <a:t>접촉자에</a:t>
            </a:r>
            <a:r>
              <a:rPr lang="ko-KR" altLang="en-US" dirty="0"/>
              <a:t> 대하여 신속하게 관리를 하였습니다</a:t>
            </a:r>
            <a:r>
              <a:rPr lang="en-US" altLang="ko-KR" dirty="0"/>
              <a:t>. </a:t>
            </a:r>
            <a:r>
              <a:rPr lang="ko-KR" altLang="en-US" dirty="0"/>
              <a:t>이땐</a:t>
            </a:r>
            <a:r>
              <a:rPr lang="en-US" altLang="ko-KR" dirty="0"/>
              <a:t>, </a:t>
            </a:r>
            <a:r>
              <a:rPr lang="ko-KR" altLang="en-US" dirty="0"/>
              <a:t>최초인지 보건소가 조사를 시행하였으며 해외유입 및 국내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확</a:t>
            </a:r>
            <a:r>
              <a:rPr lang="ko-KR" altLang="en-US" dirty="0" err="1"/>
              <a:t>진자의</a:t>
            </a:r>
            <a:r>
              <a:rPr lang="ko-KR" altLang="en-US" dirty="0"/>
              <a:t> 감염원 및 추정 감염경로를 고려한 전수조사를 이행하였고 </a:t>
            </a:r>
            <a:r>
              <a:rPr lang="ko-KR" altLang="en-US" dirty="0" err="1"/>
              <a:t>확진환자</a:t>
            </a:r>
            <a:r>
              <a:rPr lang="ko-KR" altLang="en-US" dirty="0"/>
              <a:t> 조사 및 관리주체를 명확화하였으며</a:t>
            </a:r>
            <a:r>
              <a:rPr lang="en-US" altLang="ko-KR" dirty="0"/>
              <a:t>, </a:t>
            </a:r>
            <a:r>
              <a:rPr lang="ko-KR" altLang="en-US" dirty="0"/>
              <a:t>집단시설 및 의료기관 발생사례는 시도 </a:t>
            </a:r>
            <a:r>
              <a:rPr lang="ko-KR" altLang="en-US" dirty="0" err="1"/>
              <a:t>즉각대응팀이</a:t>
            </a:r>
            <a:r>
              <a:rPr lang="ko-KR" altLang="en-US" dirty="0"/>
              <a:t> 조사</a:t>
            </a:r>
            <a:r>
              <a:rPr lang="en-US" altLang="ko-KR" baseline="0" dirty="0"/>
              <a:t>/</a:t>
            </a:r>
            <a:r>
              <a:rPr lang="ko-KR" altLang="en-US" baseline="0" dirty="0"/>
              <a:t>관리하도록 구체화하였습니다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이때 자가격리나 </a:t>
            </a:r>
            <a:r>
              <a:rPr lang="ko-KR" altLang="en-US" baseline="0" dirty="0" err="1"/>
              <a:t>코호트</a:t>
            </a:r>
            <a:r>
              <a:rPr lang="ko-KR" altLang="en-US" baseline="0" dirty="0"/>
              <a:t> 격리의 최종 판단은 주로 </a:t>
            </a:r>
            <a:r>
              <a:rPr lang="ko-KR" altLang="en-US" baseline="0" dirty="0" err="1"/>
              <a:t>시역학조사관</a:t>
            </a:r>
            <a:r>
              <a:rPr lang="ko-KR" altLang="en-US" baseline="0" dirty="0"/>
              <a:t> 혹은 </a:t>
            </a:r>
            <a:r>
              <a:rPr lang="ko-KR" altLang="en-US" baseline="0" dirty="0" err="1"/>
              <a:t>방역관이</a:t>
            </a:r>
            <a:r>
              <a:rPr lang="ko-KR" altLang="en-US" baseline="0" dirty="0"/>
              <a:t> 결정을 하곤 하였습니다</a:t>
            </a:r>
            <a:r>
              <a:rPr lang="en-US" altLang="ko-KR" baseline="0" dirty="0"/>
              <a:t>.</a:t>
            </a:r>
          </a:p>
          <a:p>
            <a:pPr marL="228600" indent="-228600">
              <a:buAutoNum type="arabicParenR"/>
            </a:pPr>
            <a:r>
              <a:rPr lang="en-US" altLang="ko-KR" baseline="0" dirty="0"/>
              <a:t>2021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11</a:t>
            </a:r>
            <a:r>
              <a:rPr lang="ko-KR" altLang="en-US" baseline="0" dirty="0"/>
              <a:t>월부터 </a:t>
            </a:r>
            <a:r>
              <a:rPr lang="en-US" altLang="ko-KR" baseline="0" dirty="0"/>
              <a:t>2022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</a:t>
            </a:r>
            <a:r>
              <a:rPr lang="ko-KR" altLang="en-US" baseline="0" dirty="0"/>
              <a:t>월</a:t>
            </a:r>
            <a:r>
              <a:rPr lang="en-US" altLang="ko-KR" baseline="0" dirty="0"/>
              <a:t>: </a:t>
            </a:r>
            <a:r>
              <a:rPr lang="ko-KR" altLang="en-US" baseline="0" dirty="0"/>
              <a:t>델타 변이바이러스</a:t>
            </a:r>
            <a:r>
              <a:rPr lang="en-US" altLang="ko-KR" baseline="0" dirty="0"/>
              <a:t>(</a:t>
            </a:r>
            <a:r>
              <a:rPr lang="ko-KR" altLang="en-US" baseline="0" dirty="0"/>
              <a:t>참고로 부산은 </a:t>
            </a:r>
            <a:r>
              <a:rPr lang="en-US" altLang="ko-KR" baseline="0" dirty="0"/>
              <a:t>2021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6</a:t>
            </a:r>
            <a:r>
              <a:rPr lang="ko-KR" altLang="en-US" baseline="0" dirty="0"/>
              <a:t>월부터 델타변이바이러스 유입되어 유행시작으로 봄</a:t>
            </a:r>
            <a:r>
              <a:rPr lang="en-US" altLang="ko-KR" baseline="0" dirty="0"/>
              <a:t>)</a:t>
            </a:r>
            <a:r>
              <a:rPr lang="ko-KR" altLang="en-US" baseline="0" dirty="0"/>
              <a:t>로 인한 </a:t>
            </a:r>
            <a:r>
              <a:rPr lang="ko-KR" altLang="en-US" baseline="0" dirty="0" err="1"/>
              <a:t>유행확산기로</a:t>
            </a:r>
            <a:r>
              <a:rPr lang="ko-KR" altLang="en-US" baseline="0" dirty="0"/>
              <a:t> 역학조사를 위험도가 높은 집단 우선 조사로 효율화하게 됩니다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최초인지 보건소가 조사하는 것은 기존과 동일하나 우선순위를 정하여 </a:t>
            </a:r>
            <a:r>
              <a:rPr lang="ko-KR" altLang="en-US" baseline="0" dirty="0" err="1"/>
              <a:t>그중</a:t>
            </a:r>
            <a:r>
              <a:rPr lang="ko-KR" altLang="en-US" baseline="0" dirty="0"/>
              <a:t> </a:t>
            </a:r>
            <a:r>
              <a:rPr lang="en-US" altLang="ko-KR" baseline="0" dirty="0"/>
              <a:t>1</a:t>
            </a:r>
            <a:r>
              <a:rPr lang="ko-KR" altLang="en-US" baseline="0" dirty="0"/>
              <a:t>순위를 </a:t>
            </a:r>
            <a:r>
              <a:rPr lang="en-US" altLang="ko-KR" baseline="0" dirty="0"/>
              <a:t>24</a:t>
            </a:r>
            <a:r>
              <a:rPr lang="ko-KR" altLang="en-US" baseline="0" dirty="0"/>
              <a:t>시간 이내에 조사완료하기도 합니다</a:t>
            </a:r>
            <a:r>
              <a:rPr lang="en-US" altLang="ko-KR" baseline="0" dirty="0"/>
              <a:t>. 1</a:t>
            </a:r>
            <a:r>
              <a:rPr lang="ko-KR" altLang="en-US" baseline="0" dirty="0"/>
              <a:t>순위는 가족</a:t>
            </a:r>
            <a:r>
              <a:rPr lang="en-US" altLang="ko-KR" baseline="0" dirty="0"/>
              <a:t>,</a:t>
            </a:r>
            <a:r>
              <a:rPr lang="ko-KR" altLang="en-US" baseline="0" dirty="0"/>
              <a:t>동료</a:t>
            </a:r>
            <a:r>
              <a:rPr lang="en-US" altLang="ko-KR" baseline="0" dirty="0"/>
              <a:t>, </a:t>
            </a:r>
            <a:r>
              <a:rPr lang="ko-KR" altLang="en-US" baseline="0" dirty="0"/>
              <a:t>감염취약시설이며 </a:t>
            </a:r>
            <a:r>
              <a:rPr lang="en-US" altLang="ko-KR" baseline="0" dirty="0"/>
              <a:t>2</a:t>
            </a:r>
            <a:r>
              <a:rPr lang="ko-KR" altLang="en-US" baseline="0" dirty="0"/>
              <a:t>순위는 </a:t>
            </a:r>
            <a:r>
              <a:rPr lang="ko-KR" altLang="en-US" baseline="0" dirty="0" err="1"/>
              <a:t>유흥시설등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고위험시설</a:t>
            </a:r>
            <a:r>
              <a:rPr lang="en-US" altLang="ko-KR" baseline="0" dirty="0"/>
              <a:t>, 3</a:t>
            </a:r>
            <a:r>
              <a:rPr lang="ko-KR" altLang="en-US" baseline="0" dirty="0"/>
              <a:t>순위는 기타시설입니다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이때 </a:t>
            </a:r>
            <a:r>
              <a:rPr lang="ko-KR" altLang="en-US" baseline="0" dirty="0" err="1"/>
              <a:t>접촉자에</a:t>
            </a:r>
            <a:r>
              <a:rPr lang="ko-KR" altLang="en-US" baseline="0" dirty="0"/>
              <a:t> 대한 격리 및 감시기간을 </a:t>
            </a:r>
            <a:r>
              <a:rPr lang="en-US" altLang="ko-KR" baseline="0" dirty="0"/>
              <a:t>14</a:t>
            </a:r>
            <a:r>
              <a:rPr lang="ko-KR" altLang="en-US" baseline="0" dirty="0"/>
              <a:t>일에서 </a:t>
            </a:r>
            <a:r>
              <a:rPr lang="en-US" altLang="ko-KR" baseline="0" dirty="0"/>
              <a:t>10</a:t>
            </a:r>
            <a:r>
              <a:rPr lang="ko-KR" altLang="en-US" baseline="0" dirty="0"/>
              <a:t>일로 축소합니다</a:t>
            </a:r>
            <a:r>
              <a:rPr lang="en-US" altLang="ko-KR" baseline="0" dirty="0"/>
              <a:t>.</a:t>
            </a:r>
          </a:p>
          <a:p>
            <a:pPr marL="228600" indent="-228600">
              <a:buAutoNum type="arabicParenR"/>
            </a:pPr>
            <a:r>
              <a:rPr lang="en-US" altLang="ko-KR" baseline="0" dirty="0"/>
              <a:t>2022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2</a:t>
            </a:r>
            <a:r>
              <a:rPr lang="ko-KR" altLang="en-US" baseline="0" dirty="0"/>
              <a:t>월부터 </a:t>
            </a:r>
            <a:r>
              <a:rPr lang="en-US" altLang="ko-KR" baseline="0" dirty="0"/>
              <a:t>12</a:t>
            </a:r>
            <a:r>
              <a:rPr lang="ko-KR" altLang="en-US" baseline="0" dirty="0"/>
              <a:t>월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오미크론</a:t>
            </a:r>
            <a:r>
              <a:rPr lang="ko-KR" altLang="en-US" baseline="0" dirty="0"/>
              <a:t> 변이바이러스로 인한 </a:t>
            </a:r>
            <a:r>
              <a:rPr lang="ko-KR" altLang="en-US" baseline="0" dirty="0" err="1"/>
              <a:t>유행확산기에는</a:t>
            </a:r>
            <a:r>
              <a:rPr lang="ko-KR" altLang="en-US" baseline="0" dirty="0"/>
              <a:t> 고위험군 집중 조사 및 관리로 유행의 규모가 급증함에 따라 역학조사를 간소화합니다</a:t>
            </a:r>
            <a:r>
              <a:rPr lang="en-US" altLang="ko-KR" baseline="0" dirty="0"/>
              <a:t>. 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2</a:t>
            </a:r>
            <a:r>
              <a:rPr lang="ko-KR" altLang="en-US" baseline="0" dirty="0"/>
              <a:t>월에 </a:t>
            </a:r>
            <a:r>
              <a:rPr lang="ko-KR" altLang="en-US" baseline="0" dirty="0" err="1"/>
              <a:t>확진자</a:t>
            </a:r>
            <a:r>
              <a:rPr lang="ko-KR" altLang="en-US" baseline="0" dirty="0"/>
              <a:t> 본인이 기입하는 자가기입역학조사서를 적용하기 시작하며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이 과정에서 미완성된 대상은 </a:t>
            </a:r>
            <a:r>
              <a:rPr lang="ko-KR" altLang="en-US" baseline="0" dirty="0" err="1"/>
              <a:t>실거주지</a:t>
            </a:r>
            <a:r>
              <a:rPr lang="ko-KR" altLang="en-US" baseline="0" dirty="0"/>
              <a:t> 관할 보건소가 조사를 하는 것으로 변경이 되며 대상은 동거인 및 감염취약시설 </a:t>
            </a:r>
            <a:r>
              <a:rPr lang="en-US" altLang="ko-KR" baseline="0" dirty="0"/>
              <a:t>3</a:t>
            </a:r>
            <a:r>
              <a:rPr lang="ko-KR" altLang="en-US" baseline="0" dirty="0"/>
              <a:t>종</a:t>
            </a:r>
            <a:r>
              <a:rPr lang="en-US" altLang="ko-KR" baseline="0" dirty="0"/>
              <a:t>(</a:t>
            </a:r>
            <a:r>
              <a:rPr lang="ko-KR" altLang="en-US" baseline="0" dirty="0"/>
              <a:t>장기교양기관</a:t>
            </a:r>
            <a:r>
              <a:rPr lang="en-US" altLang="ko-KR" baseline="0" dirty="0"/>
              <a:t>, </a:t>
            </a:r>
            <a:r>
              <a:rPr lang="ko-KR" altLang="en-US" baseline="0" dirty="0"/>
              <a:t>정신건강시설</a:t>
            </a:r>
            <a:r>
              <a:rPr lang="en-US" altLang="ko-KR" baseline="0" dirty="0"/>
              <a:t>, </a:t>
            </a:r>
            <a:r>
              <a:rPr lang="ko-KR" altLang="en-US" baseline="0" dirty="0"/>
              <a:t>장애인시설</a:t>
            </a:r>
            <a:r>
              <a:rPr lang="en-US" altLang="ko-KR" baseline="0" dirty="0"/>
              <a:t>) </a:t>
            </a:r>
            <a:r>
              <a:rPr lang="ko-KR" altLang="en-US" baseline="0" dirty="0"/>
              <a:t>구성원만 조사를 하여 </a:t>
            </a:r>
            <a:r>
              <a:rPr lang="ko-KR" altLang="en-US" baseline="0" dirty="0" err="1"/>
              <a:t>접촉자에</a:t>
            </a:r>
            <a:r>
              <a:rPr lang="ko-KR" altLang="en-US" baseline="0" dirty="0"/>
              <a:t> 대한 격리 감시기간을 </a:t>
            </a:r>
            <a:r>
              <a:rPr lang="en-US" altLang="ko-KR" baseline="0" dirty="0"/>
              <a:t>10</a:t>
            </a:r>
            <a:r>
              <a:rPr lang="ko-KR" altLang="en-US" baseline="0" dirty="0"/>
              <a:t>일에서 </a:t>
            </a:r>
            <a:r>
              <a:rPr lang="en-US" altLang="ko-KR" baseline="0" dirty="0"/>
              <a:t>7</a:t>
            </a:r>
            <a:r>
              <a:rPr lang="ko-KR" altLang="en-US" baseline="0" dirty="0"/>
              <a:t>일로 축소합니다</a:t>
            </a:r>
            <a:r>
              <a:rPr lang="en-US" altLang="ko-KR" baseline="0" dirty="0"/>
              <a:t>. </a:t>
            </a:r>
          </a:p>
          <a:p>
            <a:pPr marL="228600" indent="-228600">
              <a:buAutoNum type="arabicParenR"/>
            </a:pPr>
            <a:r>
              <a:rPr lang="en-US" altLang="ko-KR" baseline="0" dirty="0"/>
              <a:t>2022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12</a:t>
            </a:r>
            <a:r>
              <a:rPr lang="ko-KR" altLang="en-US" baseline="0" dirty="0"/>
              <a:t>월부터는 </a:t>
            </a:r>
            <a:r>
              <a:rPr lang="ko-KR" altLang="en-US" baseline="0" dirty="0" err="1"/>
              <a:t>확진자조사를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간략화합니다</a:t>
            </a:r>
            <a:r>
              <a:rPr lang="en-US" altLang="ko-KR" baseline="0" dirty="0"/>
              <a:t>.</a:t>
            </a:r>
            <a:r>
              <a:rPr lang="ko-KR" altLang="en-US" baseline="0" dirty="0"/>
              <a:t> 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사회적거리두기</a:t>
            </a:r>
            <a:r>
              <a:rPr lang="en-US" altLang="ko-KR" dirty="0"/>
              <a:t>(</a:t>
            </a:r>
            <a:r>
              <a:rPr lang="ko-KR" altLang="en-US" dirty="0"/>
              <a:t>자료 출처 부산시 코로나</a:t>
            </a:r>
            <a:r>
              <a:rPr lang="en-US" altLang="ko-KR" dirty="0"/>
              <a:t>19 </a:t>
            </a:r>
            <a:r>
              <a:rPr lang="ko-KR" altLang="en-US" dirty="0"/>
              <a:t>대응기록 보고서</a:t>
            </a:r>
            <a:r>
              <a:rPr lang="en-US" altLang="ko-KR" dirty="0"/>
              <a:t>, 2023.9.20</a:t>
            </a:r>
            <a:r>
              <a:rPr lang="en-US" altLang="ko-KR" baseline="0" dirty="0"/>
              <a:t> </a:t>
            </a:r>
            <a:r>
              <a:rPr lang="ko-KR" altLang="en-US" baseline="0" dirty="0"/>
              <a:t>제작</a:t>
            </a:r>
            <a:r>
              <a:rPr lang="en-US" altLang="ko-KR" baseline="0" dirty="0"/>
              <a:t>/ 32~59</a:t>
            </a:r>
            <a:r>
              <a:rPr lang="ko-KR" altLang="en-US" baseline="0" dirty="0"/>
              <a:t>페이지</a:t>
            </a:r>
            <a:r>
              <a:rPr lang="en-US" altLang="ko-KR" baseline="0" dirty="0"/>
              <a:t>)</a:t>
            </a:r>
            <a:r>
              <a:rPr lang="en-US" altLang="ko-KR" dirty="0"/>
              <a:t>: 2020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en-US" altLang="ko-KR" dirty="0"/>
              <a:t>23</a:t>
            </a:r>
            <a:r>
              <a:rPr lang="ko-KR" altLang="en-US" dirty="0"/>
              <a:t>일 정부는 신천지 </a:t>
            </a:r>
            <a:r>
              <a:rPr lang="ko-KR" altLang="en-US" dirty="0" err="1"/>
              <a:t>대규교회를</a:t>
            </a:r>
            <a:r>
              <a:rPr lang="ko-KR" altLang="en-US" dirty="0"/>
              <a:t> 매개로 </a:t>
            </a:r>
            <a:r>
              <a:rPr lang="en-US" altLang="ko-KR" dirty="0"/>
              <a:t>556</a:t>
            </a:r>
            <a:r>
              <a:rPr lang="ko-KR" altLang="en-US" dirty="0"/>
              <a:t>명의 </a:t>
            </a:r>
            <a:r>
              <a:rPr lang="ko-KR" altLang="en-US" dirty="0" err="1"/>
              <a:t>확진자가</a:t>
            </a:r>
            <a:r>
              <a:rPr lang="ko-KR" altLang="en-US" dirty="0"/>
              <a:t> 발생함에 따라 전국적 확산 가능성을 </a:t>
            </a:r>
            <a:r>
              <a:rPr lang="ko-KR" altLang="en-US" dirty="0" err="1"/>
              <a:t>염두하여</a:t>
            </a:r>
            <a:r>
              <a:rPr lang="ko-KR" altLang="en-US" dirty="0"/>
              <a:t> </a:t>
            </a:r>
            <a:r>
              <a:rPr lang="ko-KR" altLang="en-US" dirty="0" err="1"/>
              <a:t>감염병위기경보를</a:t>
            </a:r>
            <a:r>
              <a:rPr lang="ko-KR" altLang="en-US" dirty="0"/>
              <a:t> 심각단계로 격상하고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월</a:t>
            </a:r>
            <a:r>
              <a:rPr lang="ko-KR" altLang="en-US" baseline="0" dirty="0"/>
              <a:t> </a:t>
            </a:r>
            <a:r>
              <a:rPr lang="en-US" altLang="ko-KR" baseline="0" dirty="0"/>
              <a:t>29</a:t>
            </a:r>
            <a:r>
              <a:rPr lang="ko-KR" altLang="en-US" baseline="0" dirty="0"/>
              <a:t>일부터 사회적 </a:t>
            </a:r>
            <a:r>
              <a:rPr lang="ko-KR" altLang="en-US" baseline="0" dirty="0" err="1"/>
              <a:t>거리두기가</a:t>
            </a:r>
            <a:r>
              <a:rPr lang="ko-KR" altLang="en-US" baseline="0" dirty="0"/>
              <a:t> 시작되었습니다</a:t>
            </a:r>
            <a:r>
              <a:rPr lang="en-US" altLang="ko-KR" baseline="0" dirty="0"/>
              <a:t>. </a:t>
            </a:r>
            <a:r>
              <a:rPr lang="ko-KR" altLang="en-US" baseline="0" dirty="0" err="1"/>
              <a:t>그이후</a:t>
            </a:r>
            <a:r>
              <a:rPr lang="ko-KR" altLang="en-US" baseline="0" dirty="0"/>
              <a:t> 유행에 따라 강화</a:t>
            </a:r>
            <a:r>
              <a:rPr lang="en-US" altLang="ko-KR" baseline="0" dirty="0"/>
              <a:t>/</a:t>
            </a:r>
            <a:r>
              <a:rPr lang="ko-KR" altLang="en-US" baseline="0" dirty="0"/>
              <a:t>완화</a:t>
            </a:r>
            <a:r>
              <a:rPr lang="en-US" altLang="ko-KR" baseline="0" dirty="0"/>
              <a:t>/</a:t>
            </a:r>
            <a:r>
              <a:rPr lang="ko-KR" altLang="en-US" baseline="0" dirty="0" err="1"/>
              <a:t>생활속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거리두기의</a:t>
            </a:r>
            <a:r>
              <a:rPr lang="ko-KR" altLang="en-US" baseline="0" dirty="0"/>
              <a:t> 형태로 탄력적으로 조정을 하였습니다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또한 </a:t>
            </a:r>
            <a:r>
              <a:rPr lang="en-US" altLang="ko-KR" baseline="0" dirty="0"/>
              <a:t>2020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10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13</a:t>
            </a:r>
            <a:r>
              <a:rPr lang="ko-KR" altLang="en-US" baseline="0" dirty="0"/>
              <a:t>일에 마스크착용을 의무화 행정명령을 시행하였습니다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</a:t>
            </a:r>
            <a:r>
              <a:rPr lang="ko-KR" altLang="en-US" baseline="0" dirty="0"/>
              <a:t> </a:t>
            </a:r>
            <a:r>
              <a:rPr lang="en-US" altLang="ko-KR" baseline="0" dirty="0"/>
              <a:t>4</a:t>
            </a:r>
            <a:r>
              <a:rPr lang="ko-KR" altLang="en-US" baseline="0" dirty="0"/>
              <a:t>일</a:t>
            </a:r>
            <a:r>
              <a:rPr lang="ko-KR" altLang="en-US" dirty="0"/>
              <a:t> </a:t>
            </a:r>
            <a:r>
              <a:rPr lang="ko-KR" altLang="en-US" dirty="0" err="1"/>
              <a:t>중대본에서는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 err="1"/>
              <a:t>차유행</a:t>
            </a:r>
            <a:r>
              <a:rPr lang="en-US" altLang="ko-KR" dirty="0"/>
              <a:t>(BA</a:t>
            </a:r>
            <a:r>
              <a:rPr lang="en-US" altLang="ko-KR" baseline="0" dirty="0"/>
              <a:t> 1,2 </a:t>
            </a:r>
            <a:r>
              <a:rPr lang="ko-KR" altLang="en-US" baseline="0" dirty="0" err="1"/>
              <a:t>오미크론</a:t>
            </a:r>
            <a:r>
              <a:rPr lang="en-US" altLang="ko-KR" baseline="0" dirty="0"/>
              <a:t>)</a:t>
            </a:r>
            <a:r>
              <a:rPr lang="ko-KR" altLang="en-US" baseline="0" dirty="0"/>
              <a:t>의 정점이 지나고 있는 것으로 평가하고 영업시간과 </a:t>
            </a:r>
            <a:r>
              <a:rPr lang="ko-KR" altLang="en-US" baseline="0" dirty="0" err="1"/>
              <a:t>사적모임</a:t>
            </a:r>
            <a:r>
              <a:rPr lang="ko-KR" altLang="en-US" baseline="0" dirty="0"/>
              <a:t> 기준을 부분적으로 조정하였고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그 이후 </a:t>
            </a:r>
            <a:r>
              <a:rPr lang="ko-KR" altLang="en-US" baseline="0" dirty="0" err="1"/>
              <a:t>확진자</a:t>
            </a:r>
            <a:r>
              <a:rPr lang="ko-KR" altLang="en-US" baseline="0" dirty="0"/>
              <a:t> 및 </a:t>
            </a:r>
            <a:r>
              <a:rPr lang="ko-KR" altLang="en-US" baseline="0" dirty="0" err="1"/>
              <a:t>위중증</a:t>
            </a:r>
            <a:r>
              <a:rPr lang="ko-KR" altLang="en-US" baseline="0" dirty="0"/>
              <a:t> 환자 규모가 감소세로 전환되고 의료체계 여력이 안정화되면서 새로운 일상을 준비하기 위한 방역완화조치로 </a:t>
            </a:r>
            <a:r>
              <a:rPr lang="ko-KR" altLang="en-US" baseline="0" dirty="0" err="1"/>
              <a:t>실내외</a:t>
            </a:r>
            <a:r>
              <a:rPr lang="ko-KR" altLang="en-US" baseline="0" dirty="0"/>
              <a:t> 마스크 착용의무를 제외한 </a:t>
            </a:r>
            <a:r>
              <a:rPr lang="ko-KR" altLang="en-US" baseline="0" dirty="0" err="1"/>
              <a:t>사적모임등</a:t>
            </a:r>
            <a:r>
              <a:rPr lang="ko-KR" altLang="en-US" baseline="0" dirty="0"/>
              <a:t> 모임</a:t>
            </a:r>
            <a:r>
              <a:rPr lang="en-US" altLang="ko-KR" baseline="0" dirty="0"/>
              <a:t>/</a:t>
            </a:r>
            <a:r>
              <a:rPr lang="ko-KR" altLang="en-US" baseline="0" dirty="0"/>
              <a:t>행사제한</a:t>
            </a:r>
            <a:r>
              <a:rPr lang="en-US" altLang="ko-KR" baseline="0" dirty="0"/>
              <a:t>, </a:t>
            </a:r>
            <a:r>
              <a:rPr lang="ko-KR" altLang="en-US" baseline="0" dirty="0"/>
              <a:t>다중이용시설에 대한 운영시간 </a:t>
            </a:r>
            <a:r>
              <a:rPr lang="ko-KR" altLang="en-US" baseline="0" dirty="0" err="1"/>
              <a:t>제한등</a:t>
            </a:r>
            <a:r>
              <a:rPr lang="ko-KR" altLang="en-US" baseline="0" dirty="0"/>
              <a:t> 활동상 제약을 두었던 모든 </a:t>
            </a:r>
            <a:r>
              <a:rPr lang="ko-KR" altLang="en-US" baseline="0" dirty="0" err="1"/>
              <a:t>거리두기</a:t>
            </a:r>
            <a:r>
              <a:rPr lang="ko-KR" altLang="en-US" baseline="0" dirty="0"/>
              <a:t> 의무화 조치를 약 </a:t>
            </a:r>
            <a:r>
              <a:rPr lang="en-US" altLang="ko-KR" baseline="0" dirty="0"/>
              <a:t>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</a:t>
            </a:r>
            <a:r>
              <a:rPr lang="ko-KR" altLang="en-US" baseline="0" dirty="0"/>
              <a:t>개월만인 </a:t>
            </a:r>
            <a:r>
              <a:rPr lang="en-US" altLang="ko-KR" baseline="0" dirty="0"/>
              <a:t>2022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4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18</a:t>
            </a:r>
            <a:r>
              <a:rPr lang="ko-KR" altLang="en-US" baseline="0" dirty="0"/>
              <a:t>일에 해제하였습니다</a:t>
            </a:r>
            <a:r>
              <a:rPr lang="en-US" altLang="ko-KR" baseline="0" dirty="0"/>
              <a:t>.</a:t>
            </a:r>
            <a:r>
              <a:rPr lang="ko-KR" altLang="en-US" baseline="0" dirty="0"/>
              <a:t> </a:t>
            </a:r>
            <a:r>
              <a:rPr lang="en-US" altLang="ko-KR" baseline="0" dirty="0"/>
              <a:t>2022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9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26</a:t>
            </a:r>
            <a:r>
              <a:rPr lang="ko-KR" altLang="en-US" baseline="0" dirty="0"/>
              <a:t>일부터는 실외마스크 착용의무를 </a:t>
            </a:r>
            <a:r>
              <a:rPr lang="ko-KR" altLang="en-US" baseline="0" dirty="0" err="1"/>
              <a:t>해제하엿고</a:t>
            </a:r>
            <a:r>
              <a:rPr lang="en-US" altLang="ko-KR" baseline="0" dirty="0"/>
              <a:t>, 2023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30</a:t>
            </a:r>
            <a:r>
              <a:rPr lang="ko-KR" altLang="en-US" baseline="0" dirty="0"/>
              <a:t>일엔 실내마스크도 주요 취약시설과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의료기관</a:t>
            </a:r>
            <a:r>
              <a:rPr lang="en-US" altLang="ko-KR" baseline="0" dirty="0"/>
              <a:t>/</a:t>
            </a:r>
            <a:r>
              <a:rPr lang="ko-KR" altLang="en-US" baseline="0" dirty="0"/>
              <a:t>약국</a:t>
            </a:r>
            <a:r>
              <a:rPr lang="en-US" altLang="ko-KR" baseline="0" dirty="0"/>
              <a:t>, </a:t>
            </a:r>
            <a:r>
              <a:rPr lang="ko-KR" altLang="en-US" baseline="0" dirty="0"/>
              <a:t>대중교통수단 실내에서만 착용하도록 하다가 </a:t>
            </a:r>
            <a:r>
              <a:rPr lang="en-US" altLang="ko-KR" baseline="0" dirty="0"/>
              <a:t>3</a:t>
            </a:r>
            <a:r>
              <a:rPr lang="ko-KR" altLang="en-US" baseline="0" dirty="0"/>
              <a:t>월부터는 일상적 관리체계로의 전환되어</a:t>
            </a:r>
            <a:r>
              <a:rPr lang="en-US" altLang="ko-KR" baseline="0" dirty="0"/>
              <a:t> </a:t>
            </a:r>
            <a:r>
              <a:rPr lang="ko-KR" altLang="en-US" baseline="0" dirty="0"/>
              <a:t>대중교통수단과 개방형 약국에서는 실내마스크 의무를 해제하였으며</a:t>
            </a:r>
            <a:r>
              <a:rPr lang="en-US" altLang="ko-KR" baseline="0" dirty="0"/>
              <a:t> 5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26</a:t>
            </a:r>
            <a:r>
              <a:rPr lang="ko-KR" altLang="en-US" baseline="0" dirty="0"/>
              <a:t>일에는 </a:t>
            </a:r>
            <a:r>
              <a:rPr lang="ko-KR" altLang="en-US" baseline="0" dirty="0" err="1"/>
              <a:t>감염취약시설중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입소형시설과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병원급</a:t>
            </a:r>
            <a:r>
              <a:rPr lang="ko-KR" altLang="en-US" baseline="0" dirty="0"/>
              <a:t> 의료기관 실내에서만 마스크를 의무화하도록 하였습니다</a:t>
            </a:r>
            <a:r>
              <a:rPr lang="en-US" altLang="ko-KR" baseline="0" dirty="0"/>
              <a:t>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32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의료대응에는</a:t>
            </a:r>
            <a:r>
              <a:rPr lang="ko-KR" altLang="en-US" baseline="0" dirty="0"/>
              <a:t> 진단을 위한 검사와 치료를 위한 시설 및 치료제</a:t>
            </a:r>
            <a:r>
              <a:rPr lang="en-US" altLang="ko-KR" baseline="0" dirty="0"/>
              <a:t>, </a:t>
            </a:r>
            <a:r>
              <a:rPr lang="ko-KR" altLang="en-US" baseline="0" dirty="0"/>
              <a:t>예방접종이 있습니다</a:t>
            </a:r>
            <a:r>
              <a:rPr lang="en-US" altLang="ko-KR" baseline="0" dirty="0"/>
              <a:t>. </a:t>
            </a:r>
            <a:endParaRPr lang="en-US" altLang="ko-KR" dirty="0"/>
          </a:p>
          <a:p>
            <a:r>
              <a:rPr lang="ko-KR" altLang="en-US" dirty="0"/>
              <a:t>코로나 유행의 첫 시기</a:t>
            </a:r>
            <a:r>
              <a:rPr lang="en-US" altLang="ko-KR" dirty="0"/>
              <a:t>(1,2</a:t>
            </a:r>
            <a:r>
              <a:rPr lang="ko-KR" altLang="en-US" dirty="0"/>
              <a:t>차 유행</a:t>
            </a:r>
            <a:r>
              <a:rPr lang="en-US" altLang="ko-KR" dirty="0"/>
              <a:t>)</a:t>
            </a:r>
            <a:r>
              <a:rPr lang="ko-KR" altLang="en-US" dirty="0"/>
              <a:t>인 </a:t>
            </a:r>
            <a:r>
              <a:rPr lang="en-US" altLang="ko-KR" dirty="0"/>
              <a:t>2020</a:t>
            </a:r>
            <a:r>
              <a:rPr lang="ko-KR" altLang="en-US" dirty="0"/>
              <a:t>년은 치료제와 예방접종이 마련되어있지 않은 상태에서 </a:t>
            </a:r>
            <a:r>
              <a:rPr lang="en-US" altLang="ko-KR" dirty="0"/>
              <a:t>1</a:t>
            </a:r>
            <a:r>
              <a:rPr lang="ko-KR" altLang="en-US" dirty="0"/>
              <a:t>급 감염병인 코로나</a:t>
            </a:r>
            <a:r>
              <a:rPr lang="en-US" altLang="ko-KR" dirty="0"/>
              <a:t>19 </a:t>
            </a:r>
            <a:r>
              <a:rPr lang="ko-KR" altLang="en-US" dirty="0"/>
              <a:t>바이러스에 대한 특성을 실시간</a:t>
            </a:r>
            <a:r>
              <a:rPr lang="en-US" altLang="ko-KR" dirty="0"/>
              <a:t>(</a:t>
            </a:r>
            <a:r>
              <a:rPr lang="en-US" altLang="ko-KR" dirty="0" err="1"/>
              <a:t>realtime</a:t>
            </a:r>
            <a:r>
              <a:rPr lang="en-US" altLang="ko-KR" dirty="0"/>
              <a:t>)</a:t>
            </a:r>
            <a:r>
              <a:rPr lang="ko-KR" altLang="en-US" dirty="0"/>
              <a:t>으로 알아가면서 대응하던 시기여서 주로</a:t>
            </a:r>
            <a:r>
              <a:rPr lang="ko-KR" altLang="en-US" baseline="0" dirty="0"/>
              <a:t> 역학조사와 환자</a:t>
            </a:r>
            <a:r>
              <a:rPr lang="en-US" altLang="ko-KR" baseline="0" dirty="0"/>
              <a:t>/</a:t>
            </a:r>
            <a:r>
              <a:rPr lang="ko-KR" altLang="en-US" baseline="0" dirty="0" err="1"/>
              <a:t>접촉자에</a:t>
            </a:r>
            <a:r>
              <a:rPr lang="ko-KR" altLang="en-US" baseline="0" dirty="0"/>
              <a:t> 대한 격리</a:t>
            </a:r>
            <a:r>
              <a:rPr lang="en-US" altLang="ko-KR" baseline="0" dirty="0"/>
              <a:t>, </a:t>
            </a:r>
            <a:r>
              <a:rPr lang="ko-KR" altLang="en-US" baseline="0" dirty="0"/>
              <a:t>사회적 </a:t>
            </a:r>
            <a:r>
              <a:rPr lang="ko-KR" altLang="en-US" baseline="0" dirty="0" err="1"/>
              <a:t>거리두기</a:t>
            </a:r>
            <a:r>
              <a:rPr lang="ko-KR" altLang="en-US" baseline="0" dirty="0"/>
              <a:t> 정책에 </a:t>
            </a:r>
            <a:r>
              <a:rPr lang="ko-KR" altLang="en-US" baseline="0" dirty="0" err="1"/>
              <a:t>무게감이</a:t>
            </a:r>
            <a:r>
              <a:rPr lang="ko-KR" altLang="en-US" baseline="0" dirty="0"/>
              <a:t> 있었던 시절이었습니다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 err="1"/>
              <a:t>그리고나서</a:t>
            </a:r>
            <a:r>
              <a:rPr lang="ko-KR" altLang="en-US" baseline="0" dirty="0"/>
              <a:t> </a:t>
            </a:r>
            <a:r>
              <a:rPr lang="en-US" altLang="ko-KR" baseline="0" dirty="0"/>
              <a:t>2020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12</a:t>
            </a:r>
            <a:r>
              <a:rPr lang="ko-KR" altLang="en-US" baseline="0" dirty="0"/>
              <a:t>월에 경증 </a:t>
            </a:r>
            <a:r>
              <a:rPr lang="ko-KR" altLang="en-US" baseline="0" dirty="0" err="1"/>
              <a:t>확진자</a:t>
            </a:r>
            <a:r>
              <a:rPr lang="ko-KR" altLang="en-US" baseline="0" dirty="0"/>
              <a:t> 수용시설이 급하게 필요하게 되어 부산시는 연달아 </a:t>
            </a:r>
            <a:r>
              <a:rPr lang="en-US" altLang="ko-KR" baseline="0" dirty="0"/>
              <a:t>3</a:t>
            </a:r>
            <a:r>
              <a:rPr lang="ko-KR" altLang="en-US" baseline="0" dirty="0"/>
              <a:t>개의 생활치료센터를 열게 됩니다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그리고 이듬해 </a:t>
            </a:r>
            <a:r>
              <a:rPr lang="en-US" altLang="ko-KR" baseline="0" dirty="0"/>
              <a:t>2021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2</a:t>
            </a:r>
            <a:r>
              <a:rPr lang="ko-KR" altLang="en-US" baseline="0" dirty="0"/>
              <a:t>월에 첫 </a:t>
            </a:r>
            <a:endParaRPr lang="en-US" altLang="ko-KR" baseline="0" dirty="0"/>
          </a:p>
          <a:p>
            <a:r>
              <a:rPr lang="ko-KR" altLang="en-US" baseline="0" dirty="0"/>
              <a:t>주사 항체치료제인 </a:t>
            </a:r>
            <a:r>
              <a:rPr lang="ko-KR" altLang="en-US" baseline="0" dirty="0" err="1"/>
              <a:t>렉키로나주</a:t>
            </a:r>
            <a:r>
              <a:rPr lang="en-US" altLang="ko-KR" baseline="0" dirty="0"/>
              <a:t>(1</a:t>
            </a:r>
            <a:r>
              <a:rPr lang="ko-KR" altLang="en-US" baseline="0" dirty="0" err="1"/>
              <a:t>회요법</a:t>
            </a:r>
            <a:r>
              <a:rPr lang="en-US" altLang="ko-KR" baseline="0" dirty="0"/>
              <a:t>)</a:t>
            </a:r>
            <a:r>
              <a:rPr lang="ko-KR" altLang="en-US" baseline="0" dirty="0"/>
              <a:t>가 중증을 예방하는 효능이 있어서 </a:t>
            </a:r>
            <a:r>
              <a:rPr lang="ko-KR" altLang="en-US" baseline="0" dirty="0" err="1"/>
              <a:t>생활치료센터중</a:t>
            </a:r>
            <a:r>
              <a:rPr lang="ko-KR" altLang="en-US" baseline="0" dirty="0"/>
              <a:t> 특히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의료원이 관할하는 인재개발원에서 치료제 투여가 가능하게 됩니다</a:t>
            </a:r>
            <a:r>
              <a:rPr lang="en-US" altLang="ko-KR" baseline="0" dirty="0"/>
              <a:t>.</a:t>
            </a:r>
          </a:p>
          <a:p>
            <a:r>
              <a:rPr lang="ko-KR" altLang="en-US" dirty="0"/>
              <a:t>해당 </a:t>
            </a:r>
            <a:r>
              <a:rPr lang="en-US" altLang="ko-KR" dirty="0"/>
              <a:t>12</a:t>
            </a:r>
            <a:r>
              <a:rPr lang="ko-KR" altLang="en-US" dirty="0"/>
              <a:t>월에 소아 자가치료가 시작이 되나</a:t>
            </a:r>
            <a:r>
              <a:rPr lang="en-US" altLang="ko-KR" dirty="0"/>
              <a:t>, </a:t>
            </a:r>
            <a:r>
              <a:rPr lang="ko-KR" altLang="en-US" dirty="0"/>
              <a:t>실질적으로 작동은 </a:t>
            </a:r>
            <a:r>
              <a:rPr lang="ko-KR" altLang="en-US" dirty="0" err="1"/>
              <a:t>안하다가</a:t>
            </a:r>
            <a:r>
              <a:rPr lang="ko-KR" altLang="en-US" dirty="0"/>
              <a:t> </a:t>
            </a:r>
            <a:r>
              <a:rPr lang="en-US" altLang="ko-KR" dirty="0"/>
              <a:t>2021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</a:t>
            </a:r>
            <a:r>
              <a:rPr lang="ko-KR" altLang="en-US" baseline="0" dirty="0"/>
              <a:t>에 </a:t>
            </a:r>
            <a:r>
              <a:rPr lang="ko-KR" altLang="en-US" dirty="0"/>
              <a:t>재택치료가 시작되고 </a:t>
            </a:r>
            <a:r>
              <a:rPr lang="en-US" altLang="ko-KR" dirty="0"/>
              <a:t>2022</a:t>
            </a:r>
            <a:r>
              <a:rPr lang="ko-KR" altLang="en-US" dirty="0"/>
              <a:t>년</a:t>
            </a:r>
            <a:r>
              <a:rPr lang="en-US" altLang="ko-KR" baseline="0" dirty="0"/>
              <a:t> 2</a:t>
            </a:r>
            <a:r>
              <a:rPr lang="ko-KR" altLang="en-US" baseline="0" dirty="0"/>
              <a:t>월 </a:t>
            </a:r>
            <a:r>
              <a:rPr lang="ko-KR" altLang="en-US" dirty="0" err="1"/>
              <a:t>오미크론유행때</a:t>
            </a:r>
            <a:r>
              <a:rPr lang="ko-KR" altLang="en-US" dirty="0"/>
              <a:t> 재택 </a:t>
            </a:r>
            <a:r>
              <a:rPr lang="ko-KR" altLang="en-US" dirty="0" err="1"/>
              <a:t>일반관리군과</a:t>
            </a:r>
            <a:r>
              <a:rPr lang="ko-KR" altLang="en-US" dirty="0"/>
              <a:t> </a:t>
            </a:r>
            <a:r>
              <a:rPr lang="ko-KR" altLang="en-US" dirty="0" err="1"/>
              <a:t>집중관리군으로</a:t>
            </a:r>
            <a:r>
              <a:rPr lang="ko-KR" altLang="en-US" dirty="0"/>
              <a:t> 구분하여 관리하게 됩니다</a:t>
            </a:r>
            <a:r>
              <a:rPr lang="en-US" altLang="ko-KR" dirty="0"/>
              <a:t>. 2022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 err="1"/>
              <a:t>월체</a:t>
            </a:r>
            <a:r>
              <a:rPr lang="ko-KR" altLang="en-US" dirty="0"/>
              <a:t> </a:t>
            </a:r>
            <a:r>
              <a:rPr lang="ko-KR" altLang="en-US" dirty="0" err="1"/>
              <a:t>팍스로비드가</a:t>
            </a:r>
            <a:r>
              <a:rPr lang="ko-KR" altLang="en-US" dirty="0"/>
              <a:t> 도입되고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3</a:t>
            </a:r>
            <a:r>
              <a:rPr lang="ko-KR" altLang="en-US" dirty="0"/>
              <a:t>월에 </a:t>
            </a:r>
            <a:r>
              <a:rPr lang="ko-KR" altLang="en-US" dirty="0" err="1"/>
              <a:t>라게브리오가</a:t>
            </a:r>
            <a:r>
              <a:rPr lang="ko-KR" altLang="en-US" dirty="0"/>
              <a:t> 도입이 되어 경증인 </a:t>
            </a:r>
            <a:r>
              <a:rPr lang="ko-KR" altLang="en-US" dirty="0" err="1"/>
              <a:t>고위험환자에게</a:t>
            </a:r>
            <a:r>
              <a:rPr lang="ko-KR" altLang="en-US" dirty="0"/>
              <a:t> 중증예방치료제로 사용하게 됩니다</a:t>
            </a:r>
            <a:r>
              <a:rPr lang="en-US" altLang="ko-KR" dirty="0"/>
              <a:t>. </a:t>
            </a:r>
            <a:r>
              <a:rPr lang="ko-KR" altLang="en-US" dirty="0"/>
              <a:t>이렇게 순차적으로 의료대응이 진행이 되나</a:t>
            </a:r>
            <a:r>
              <a:rPr lang="en-US" altLang="ko-KR" dirty="0"/>
              <a:t>, </a:t>
            </a:r>
            <a:r>
              <a:rPr lang="ko-KR" altLang="en-US" dirty="0"/>
              <a:t>그 당시에 </a:t>
            </a:r>
            <a:r>
              <a:rPr lang="en-US" altLang="ko-KR" dirty="0"/>
              <a:t>2022</a:t>
            </a:r>
            <a:r>
              <a:rPr lang="ko-KR" altLang="en-US" dirty="0"/>
              <a:t>년 초반에 제일 현안이 되었던 것은 </a:t>
            </a:r>
            <a:r>
              <a:rPr lang="ko-KR" altLang="en-US" dirty="0" err="1"/>
              <a:t>오미크론변이가</a:t>
            </a:r>
            <a:r>
              <a:rPr lang="ko-KR" altLang="en-US" dirty="0"/>
              <a:t> </a:t>
            </a:r>
            <a:r>
              <a:rPr lang="ko-KR" altLang="en-US" dirty="0" err="1"/>
              <a:t>치명률이</a:t>
            </a:r>
            <a:r>
              <a:rPr lang="ko-KR" altLang="en-US" dirty="0"/>
              <a:t> 낮으나 전파력이 매우 강한 변이라는 것이 이미 밝혀졌음에도 </a:t>
            </a:r>
            <a:r>
              <a:rPr lang="en-US" altLang="ko-KR" dirty="0"/>
              <a:t>1</a:t>
            </a:r>
            <a:r>
              <a:rPr lang="ko-KR" altLang="en-US" dirty="0"/>
              <a:t>급에서 </a:t>
            </a:r>
            <a:r>
              <a:rPr lang="en-US" altLang="ko-KR" dirty="0"/>
              <a:t>2</a:t>
            </a:r>
            <a:r>
              <a:rPr lang="ko-KR" altLang="en-US" dirty="0"/>
              <a:t>급으로의 하향이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월말에 이행이 되었고</a:t>
            </a:r>
            <a:r>
              <a:rPr lang="en-US" altLang="ko-KR" dirty="0"/>
              <a:t>, </a:t>
            </a:r>
            <a:r>
              <a:rPr lang="ko-KR" altLang="en-US" dirty="0"/>
              <a:t>의료계 현장에서는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1~3</a:t>
            </a:r>
            <a:r>
              <a:rPr lang="ko-KR" altLang="en-US" dirty="0"/>
              <a:t>월에 급증하는 </a:t>
            </a:r>
            <a:r>
              <a:rPr lang="ko-KR" altLang="en-US" dirty="0" err="1"/>
              <a:t>확진자에</a:t>
            </a:r>
            <a:r>
              <a:rPr lang="ko-KR" altLang="en-US" dirty="0"/>
              <a:t> 대한 </a:t>
            </a:r>
            <a:r>
              <a:rPr lang="en-US" altLang="ko-KR" dirty="0"/>
              <a:t>1</a:t>
            </a:r>
            <a:r>
              <a:rPr lang="ko-KR" altLang="en-US" dirty="0"/>
              <a:t>급에 준하는 </a:t>
            </a:r>
            <a:r>
              <a:rPr lang="ko-KR" altLang="en-US" dirty="0" err="1"/>
              <a:t>음압격리실에서의</a:t>
            </a:r>
            <a:r>
              <a:rPr lang="ko-KR" altLang="en-US" dirty="0"/>
              <a:t> 치료를 계속적으로 이행하려고 하였기 때문에</a:t>
            </a:r>
            <a:r>
              <a:rPr lang="en-US" altLang="ko-KR" dirty="0"/>
              <a:t>, </a:t>
            </a:r>
            <a:r>
              <a:rPr lang="ko-KR" altLang="en-US" dirty="0" err="1"/>
              <a:t>음압격리실</a:t>
            </a:r>
            <a:r>
              <a:rPr lang="en-US" altLang="ko-KR" baseline="0" dirty="0"/>
              <a:t>(</a:t>
            </a:r>
            <a:r>
              <a:rPr lang="ko-KR" altLang="en-US" baseline="0" dirty="0"/>
              <a:t>응급실</a:t>
            </a:r>
            <a:r>
              <a:rPr lang="en-US" altLang="ko-KR" baseline="0" dirty="0"/>
              <a:t>) </a:t>
            </a:r>
            <a:r>
              <a:rPr lang="ko-KR" altLang="en-US" baseline="0" dirty="0"/>
              <a:t>혹은 </a:t>
            </a:r>
            <a:r>
              <a:rPr lang="ko-KR" altLang="en-US" baseline="0" dirty="0" err="1"/>
              <a:t>감염병전담병원</a:t>
            </a:r>
            <a:r>
              <a:rPr lang="en-US" altLang="ko-KR" baseline="0" dirty="0"/>
              <a:t>(</a:t>
            </a:r>
            <a:r>
              <a:rPr lang="ko-KR" altLang="en-US" baseline="0" dirty="0" err="1"/>
              <a:t>음압격리실</a:t>
            </a:r>
            <a:r>
              <a:rPr lang="en-US" altLang="ko-KR" baseline="0" dirty="0"/>
              <a:t>)</a:t>
            </a:r>
            <a:r>
              <a:rPr lang="ko-KR" altLang="en-US" baseline="0" dirty="0"/>
              <a:t>의 부족에 따른 코로나</a:t>
            </a:r>
            <a:r>
              <a:rPr lang="en-US" altLang="ko-KR" baseline="0" dirty="0"/>
              <a:t>19 </a:t>
            </a:r>
            <a:r>
              <a:rPr lang="ko-KR" altLang="en-US" baseline="0" dirty="0" err="1"/>
              <a:t>확진자</a:t>
            </a:r>
            <a:r>
              <a:rPr lang="ko-KR" altLang="en-US" baseline="0" dirty="0"/>
              <a:t> 및 </a:t>
            </a:r>
            <a:r>
              <a:rPr lang="ko-KR" altLang="en-US" baseline="0" dirty="0" err="1"/>
              <a:t>비확진</a:t>
            </a:r>
            <a:r>
              <a:rPr lang="ko-KR" altLang="en-US" baseline="0" dirty="0"/>
              <a:t> 중증일반환자의 의료기관으로의 입실</a:t>
            </a:r>
            <a:r>
              <a:rPr lang="en-US" altLang="ko-KR" baseline="0" dirty="0"/>
              <a:t>/</a:t>
            </a:r>
            <a:r>
              <a:rPr lang="ko-KR" altLang="en-US" baseline="0" dirty="0"/>
              <a:t>입원 대기 정체 현상이 유발되었다는 것입니다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한마디로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오미크론</a:t>
            </a:r>
            <a:r>
              <a:rPr lang="ko-KR" altLang="en-US" baseline="0" dirty="0"/>
              <a:t> </a:t>
            </a:r>
            <a:r>
              <a:rPr lang="en-US" altLang="ko-KR" baseline="0" dirty="0"/>
              <a:t>5</a:t>
            </a:r>
            <a:r>
              <a:rPr lang="ko-KR" altLang="en-US" baseline="0" dirty="0"/>
              <a:t>차 유행의 정점을 지난 직후에 일반의료체계로의 전환이 되었다는 것입니다</a:t>
            </a:r>
            <a:r>
              <a:rPr lang="en-US" altLang="ko-KR" baseline="0" dirty="0"/>
              <a:t>.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32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코로나</a:t>
            </a:r>
            <a:r>
              <a:rPr lang="en-US" altLang="ko-KR" dirty="0"/>
              <a:t>19 </a:t>
            </a:r>
            <a:r>
              <a:rPr lang="ko-KR" altLang="en-US" dirty="0"/>
              <a:t>대응을 방역과 의료대응으로 나누어본 전체 </a:t>
            </a:r>
            <a:r>
              <a:rPr lang="ko-KR" altLang="en-US" dirty="0" err="1"/>
              <a:t>현황판입니다</a:t>
            </a:r>
            <a:r>
              <a:rPr lang="en-US" altLang="ko-KR" dirty="0"/>
              <a:t>. </a:t>
            </a:r>
            <a:r>
              <a:rPr lang="ko-KR" altLang="en-US" dirty="0"/>
              <a:t>방역대응은 노란색이고 의료대응은 </a:t>
            </a:r>
            <a:r>
              <a:rPr lang="ko-KR" altLang="en-US" dirty="0" err="1"/>
              <a:t>분홍색칸입니다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ko-KR" altLang="en-US" dirty="0"/>
              <a:t>의료대응에 있어서 </a:t>
            </a:r>
            <a:r>
              <a:rPr lang="en-US" altLang="ko-KR" dirty="0"/>
              <a:t>2022</a:t>
            </a:r>
            <a:r>
              <a:rPr lang="ko-KR" altLang="en-US" dirty="0"/>
              <a:t>년</a:t>
            </a:r>
            <a:r>
              <a:rPr lang="ko-KR" altLang="en-US" baseline="0" dirty="0"/>
              <a:t> </a:t>
            </a:r>
            <a:r>
              <a:rPr lang="ko-KR" altLang="en-US" dirty="0" err="1"/>
              <a:t>상반기때에</a:t>
            </a:r>
            <a:r>
              <a:rPr lang="ko-KR" altLang="en-US" dirty="0"/>
              <a:t> 제가</a:t>
            </a:r>
            <a:r>
              <a:rPr lang="ko-KR" altLang="en-US" baseline="0" dirty="0"/>
              <a:t> 색깔을 넣은 </a:t>
            </a:r>
            <a:r>
              <a:rPr lang="ko-KR" altLang="en-US" baseline="0" dirty="0" err="1"/>
              <a:t>화살표중</a:t>
            </a:r>
            <a:r>
              <a:rPr lang="ko-KR" altLang="en-US" baseline="0" dirty="0"/>
              <a:t> 노란색과 분홍색 화살표의 과정에 있어서 정체가 심했으며</a:t>
            </a:r>
            <a:r>
              <a:rPr lang="en-US" altLang="ko-KR" baseline="0" dirty="0"/>
              <a:t>, 2022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5~6</a:t>
            </a:r>
            <a:r>
              <a:rPr lang="ko-KR" altLang="en-US" baseline="0" dirty="0"/>
              <a:t>월 일반의료체계로의 이행기를 겪으면서 중반기를 지나서는 </a:t>
            </a:r>
            <a:r>
              <a:rPr lang="ko-KR" altLang="en-US" baseline="0" dirty="0" err="1"/>
              <a:t>중등증</a:t>
            </a:r>
            <a:r>
              <a:rPr lang="ko-KR" altLang="en-US" baseline="0" dirty="0"/>
              <a:t> 입원이 필요한 환자는 </a:t>
            </a:r>
            <a:r>
              <a:rPr lang="ko-KR" altLang="en-US" baseline="0" dirty="0" err="1"/>
              <a:t>일반의료체계내에서</a:t>
            </a:r>
            <a:r>
              <a:rPr lang="ko-KR" altLang="en-US" baseline="0" dirty="0"/>
              <a:t> 진행이 되는 것이 안착이 되기 시작하였고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다만 중증 환자에 대한 응급실에서 시에서 관리하고 있는 중증</a:t>
            </a:r>
            <a:r>
              <a:rPr lang="en-US" altLang="ko-KR" baseline="0" dirty="0"/>
              <a:t>/</a:t>
            </a:r>
            <a:r>
              <a:rPr lang="ko-KR" altLang="en-US" baseline="0" dirty="0" err="1"/>
              <a:t>준중증</a:t>
            </a:r>
            <a:r>
              <a:rPr lang="ko-KR" altLang="en-US" baseline="0" dirty="0"/>
              <a:t> 지정격리병상으로의 입원 즉 초록색 화살표의 과정에서 중증</a:t>
            </a:r>
            <a:r>
              <a:rPr lang="en-US" altLang="ko-KR" baseline="0" dirty="0"/>
              <a:t>/</a:t>
            </a:r>
            <a:r>
              <a:rPr lang="ko-KR" altLang="en-US" baseline="0" dirty="0" err="1"/>
              <a:t>준중증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병상가동율에</a:t>
            </a:r>
            <a:r>
              <a:rPr lang="ko-KR" altLang="en-US" baseline="0" dirty="0"/>
              <a:t> 따른 입실 기준을 시에서 조절하는 역할을 하였습니다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개월의 코로나 </a:t>
            </a:r>
            <a:r>
              <a:rPr lang="ko-KR" altLang="en-US" dirty="0" err="1"/>
              <a:t>유행기간동안</a:t>
            </a:r>
            <a:r>
              <a:rPr lang="ko-KR" altLang="en-US" dirty="0"/>
              <a:t> 병상 기준은 </a:t>
            </a:r>
            <a:r>
              <a:rPr lang="en-US" altLang="ko-KR" dirty="0"/>
              <a:t>1</a:t>
            </a:r>
            <a:r>
              <a:rPr lang="ko-KR" altLang="en-US" dirty="0"/>
              <a:t>에서 </a:t>
            </a:r>
            <a:r>
              <a:rPr lang="en-US" altLang="ko-KR" dirty="0"/>
              <a:t>4</a:t>
            </a:r>
            <a:r>
              <a:rPr lang="ko-KR" altLang="en-US" dirty="0"/>
              <a:t>차</a:t>
            </a:r>
            <a:r>
              <a:rPr lang="ko-KR" altLang="en-US" baseline="0" dirty="0"/>
              <a:t> 유행기와 </a:t>
            </a:r>
            <a:r>
              <a:rPr lang="ko-KR" altLang="en-US" baseline="0" dirty="0" err="1"/>
              <a:t>오미크론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유행이후의</a:t>
            </a:r>
            <a:r>
              <a:rPr lang="ko-KR" altLang="en-US" baseline="0" dirty="0"/>
              <a:t> 기간으로 </a:t>
            </a:r>
            <a:r>
              <a:rPr lang="ko-KR" altLang="en-US" baseline="0" dirty="0" err="1"/>
              <a:t>나누어볼수</a:t>
            </a:r>
            <a:r>
              <a:rPr lang="ko-KR" altLang="en-US" baseline="0" dirty="0"/>
              <a:t> 있으며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현재 그림은 </a:t>
            </a:r>
            <a:r>
              <a:rPr lang="ko-KR" altLang="en-US" baseline="0" dirty="0" err="1"/>
              <a:t>오미크론</a:t>
            </a:r>
            <a:r>
              <a:rPr lang="ko-KR" altLang="en-US" baseline="0" dirty="0"/>
              <a:t> 이전의 </a:t>
            </a:r>
            <a:r>
              <a:rPr lang="ko-KR" altLang="en-US" baseline="0" dirty="0" err="1"/>
              <a:t>유행기</a:t>
            </a:r>
            <a:endParaRPr lang="en-US" altLang="ko-KR" baseline="0" dirty="0"/>
          </a:p>
          <a:p>
            <a:r>
              <a:rPr lang="ko-KR" altLang="en-US" baseline="0" dirty="0"/>
              <a:t>때 </a:t>
            </a:r>
            <a:r>
              <a:rPr lang="ko-KR" altLang="en-US" baseline="0" dirty="0" err="1"/>
              <a:t>병상가동율</a:t>
            </a:r>
            <a:r>
              <a:rPr lang="ko-KR" altLang="en-US" baseline="0" dirty="0"/>
              <a:t> 상승에 따른 부산시 일반병상 확보과정을 나타낸 그림입니다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통상적으로 </a:t>
            </a:r>
            <a:r>
              <a:rPr lang="ko-KR" altLang="en-US" baseline="0" dirty="0" err="1"/>
              <a:t>병상가동율</a:t>
            </a:r>
            <a:r>
              <a:rPr lang="ko-KR" altLang="en-US" baseline="0" dirty="0"/>
              <a:t> </a:t>
            </a:r>
            <a:r>
              <a:rPr lang="en-US" altLang="ko-KR" baseline="0" dirty="0"/>
              <a:t>60%</a:t>
            </a:r>
            <a:r>
              <a:rPr lang="ko-KR" altLang="en-US" baseline="0" dirty="0" err="1"/>
              <a:t>이상일때에</a:t>
            </a:r>
            <a:r>
              <a:rPr lang="ko-KR" altLang="en-US" baseline="0" dirty="0"/>
              <a:t> 추가 병상확보에 대한 이행의 필요가 있어서 이행한 것으로 보입니다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8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이것은 </a:t>
            </a:r>
            <a:r>
              <a:rPr lang="en-US" altLang="ko-KR" dirty="0"/>
              <a:t>1~4</a:t>
            </a:r>
            <a:r>
              <a:rPr lang="ko-KR" altLang="en-US" dirty="0" err="1"/>
              <a:t>유행기때의</a:t>
            </a:r>
            <a:r>
              <a:rPr lang="ko-KR" altLang="en-US" dirty="0"/>
              <a:t> 부산시 생활치료센터 확보현황입니다</a:t>
            </a:r>
            <a:r>
              <a:rPr lang="en-US" altLang="ko-KR" dirty="0"/>
              <a:t>. 2020</a:t>
            </a:r>
            <a:r>
              <a:rPr lang="ko-KR" altLang="en-US" dirty="0"/>
              <a:t>년 </a:t>
            </a:r>
            <a:r>
              <a:rPr lang="en-US" altLang="ko-KR" dirty="0"/>
              <a:t>11</a:t>
            </a:r>
            <a:r>
              <a:rPr lang="ko-KR" altLang="en-US" dirty="0"/>
              <a:t>월말에 </a:t>
            </a:r>
            <a:r>
              <a:rPr lang="ko-KR" altLang="en-US" dirty="0" err="1"/>
              <a:t>일반병상가도율이</a:t>
            </a:r>
            <a:r>
              <a:rPr lang="ko-KR" altLang="en-US" dirty="0"/>
              <a:t> </a:t>
            </a:r>
            <a:r>
              <a:rPr lang="en-US" altLang="ko-KR" dirty="0"/>
              <a:t>80%</a:t>
            </a:r>
            <a:r>
              <a:rPr lang="ko-KR" altLang="en-US" dirty="0"/>
              <a:t>를 넘어서 경증 </a:t>
            </a:r>
            <a:r>
              <a:rPr lang="ko-KR" altLang="en-US" dirty="0" err="1"/>
              <a:t>확진자를</a:t>
            </a:r>
            <a:r>
              <a:rPr lang="ko-KR" altLang="en-US" dirty="0"/>
              <a:t> 수용할 생활치료센터를 </a:t>
            </a:r>
            <a:r>
              <a:rPr lang="en-US" altLang="ko-KR" dirty="0"/>
              <a:t>12</a:t>
            </a:r>
            <a:r>
              <a:rPr lang="ko-KR" altLang="en-US" dirty="0"/>
              <a:t>월에 연달아 </a:t>
            </a:r>
            <a:r>
              <a:rPr lang="en-US" altLang="ko-KR" dirty="0"/>
              <a:t>3</a:t>
            </a:r>
            <a:r>
              <a:rPr lang="ko-KR" altLang="en-US" dirty="0"/>
              <a:t>개를 열었습니다</a:t>
            </a:r>
            <a:r>
              <a:rPr lang="en-US" altLang="ko-KR" dirty="0"/>
              <a:t>. </a:t>
            </a:r>
            <a:r>
              <a:rPr lang="ko-KR" altLang="en-US" dirty="0"/>
              <a:t>그 이후 알파</a:t>
            </a:r>
            <a:r>
              <a:rPr lang="en-US" altLang="ko-KR" dirty="0"/>
              <a:t>,</a:t>
            </a:r>
            <a:r>
              <a:rPr lang="ko-KR" altLang="en-US" dirty="0" err="1"/>
              <a:t>델타변이등</a:t>
            </a:r>
            <a:r>
              <a:rPr lang="ko-KR" altLang="en-US" dirty="0"/>
              <a:t> 유행으로 </a:t>
            </a:r>
            <a:r>
              <a:rPr lang="en-US" altLang="ko-KR" dirty="0"/>
              <a:t>21</a:t>
            </a:r>
            <a:r>
              <a:rPr lang="ko-KR" altLang="en-US" dirty="0"/>
              <a:t>년</a:t>
            </a:r>
            <a:r>
              <a:rPr lang="ko-KR" altLang="en-US" baseline="0" dirty="0"/>
              <a:t> </a:t>
            </a:r>
            <a:r>
              <a:rPr lang="en-US" altLang="ko-KR" baseline="0" dirty="0"/>
              <a:t>3</a:t>
            </a:r>
            <a:r>
              <a:rPr lang="ko-KR" altLang="en-US" baseline="0" dirty="0" err="1"/>
              <a:t>월달</a:t>
            </a:r>
            <a:r>
              <a:rPr lang="en-US" altLang="ko-KR" baseline="0" dirty="0"/>
              <a:t>, 7</a:t>
            </a:r>
            <a:r>
              <a:rPr lang="ko-KR" altLang="en-US" baseline="0" dirty="0" err="1"/>
              <a:t>월달에</a:t>
            </a:r>
            <a:r>
              <a:rPr lang="ko-KR" altLang="en-US" baseline="0" dirty="0"/>
              <a:t> 있어 추가로 </a:t>
            </a:r>
            <a:r>
              <a:rPr lang="ko-KR" altLang="en-US" baseline="0" dirty="0" err="1"/>
              <a:t>생치를</a:t>
            </a:r>
            <a:r>
              <a:rPr lang="ko-KR" altLang="en-US" baseline="0" dirty="0"/>
              <a:t> 열었습니다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 err="1"/>
              <a:t>오미크론</a:t>
            </a:r>
            <a:r>
              <a:rPr lang="ko-KR" altLang="en-US" baseline="0" dirty="0"/>
              <a:t> 이후의 </a:t>
            </a:r>
            <a:r>
              <a:rPr lang="ko-KR" altLang="en-US" baseline="0" dirty="0" err="1"/>
              <a:t>병상가동율은</a:t>
            </a:r>
            <a:r>
              <a:rPr lang="ko-KR" altLang="en-US" baseline="0" dirty="0"/>
              <a:t> 이후에 보여드리겠습니다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08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코로나</a:t>
            </a:r>
            <a:r>
              <a:rPr lang="en-US" altLang="ko-KR" dirty="0"/>
              <a:t>19 </a:t>
            </a:r>
            <a:r>
              <a:rPr lang="ko-KR" altLang="en-US" dirty="0"/>
              <a:t>초반입니다</a:t>
            </a:r>
            <a:r>
              <a:rPr lang="en-US" altLang="ko-KR" dirty="0"/>
              <a:t>. 1</a:t>
            </a:r>
            <a:r>
              <a:rPr lang="ko-KR" altLang="en-US" dirty="0"/>
              <a:t>급 </a:t>
            </a:r>
            <a:r>
              <a:rPr lang="ko-KR" altLang="en-US" dirty="0" err="1"/>
              <a:t>신종감염병</a:t>
            </a:r>
            <a:r>
              <a:rPr lang="ko-KR" altLang="en-US" baseline="0" dirty="0"/>
              <a:t> 초기 대응에 있어서 가장 중요한 방역대등은 해당 신종병원체의 특성</a:t>
            </a:r>
            <a:r>
              <a:rPr lang="en-US" altLang="ko-KR" baseline="0" dirty="0"/>
              <a:t>(</a:t>
            </a:r>
            <a:r>
              <a:rPr lang="ko-KR" altLang="en-US" baseline="0" dirty="0"/>
              <a:t>잠복기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전파가능기간</a:t>
            </a:r>
            <a:r>
              <a:rPr lang="en-US" altLang="ko-KR" baseline="0" dirty="0"/>
              <a:t>, </a:t>
            </a:r>
            <a:r>
              <a:rPr lang="ko-KR" altLang="en-US" baseline="0" dirty="0"/>
              <a:t>사람간 전파여부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치명률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중증화율등</a:t>
            </a:r>
            <a:r>
              <a:rPr lang="en-US" altLang="ko-KR" baseline="0" dirty="0"/>
              <a:t>)</a:t>
            </a:r>
            <a:r>
              <a:rPr lang="ko-KR" altLang="en-US" baseline="0" dirty="0"/>
              <a:t>을 평가하는 것입니다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먼저 유행하였던 </a:t>
            </a:r>
            <a:r>
              <a:rPr lang="ko-KR" altLang="en-US" baseline="0" dirty="0" err="1"/>
              <a:t>고위험국에</a:t>
            </a:r>
            <a:r>
              <a:rPr lang="ko-KR" altLang="en-US" baseline="0" dirty="0"/>
              <a:t> 대한 상황평가는 </a:t>
            </a:r>
            <a:r>
              <a:rPr lang="ko-KR" altLang="en-US" baseline="0" dirty="0" err="1"/>
              <a:t>중대본자료에</a:t>
            </a:r>
            <a:r>
              <a:rPr lang="ko-KR" altLang="en-US" baseline="0" dirty="0"/>
              <a:t> 항상 자세히 안내가 되었으며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이를 통해 검역단계에서의 강화정책이 있었습니다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특히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중국등</a:t>
            </a:r>
            <a:r>
              <a:rPr lang="ko-KR" altLang="en-US" baseline="0" dirty="0"/>
              <a:t> 유행국가에서 오는 사람들에 대한 감시 즉 </a:t>
            </a:r>
            <a:r>
              <a:rPr lang="ko-KR" altLang="en-US" baseline="0" dirty="0" err="1"/>
              <a:t>선검사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후격리</a:t>
            </a:r>
            <a:r>
              <a:rPr lang="ko-KR" altLang="en-US" baseline="0" dirty="0"/>
              <a:t> 정책이 있었습니다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이에 부산시는 </a:t>
            </a:r>
            <a:r>
              <a:rPr lang="en-US" altLang="ko-KR" baseline="0" dirty="0"/>
              <a:t>24</a:t>
            </a:r>
            <a:r>
              <a:rPr lang="ko-KR" altLang="en-US" baseline="0" dirty="0"/>
              <a:t>시간 비상근무를 시작하고 비상연락망을 가동하였으며 검사기관</a:t>
            </a:r>
            <a:r>
              <a:rPr lang="en-US" altLang="ko-KR" baseline="0" dirty="0"/>
              <a:t>/</a:t>
            </a:r>
            <a:r>
              <a:rPr lang="ko-KR" altLang="en-US" baseline="0" dirty="0"/>
              <a:t>검사소 및 격리치료병상을 부산의료원과 </a:t>
            </a:r>
            <a:r>
              <a:rPr lang="ko-KR" altLang="en-US" baseline="0" dirty="0" err="1"/>
              <a:t>부산대병원에</a:t>
            </a:r>
            <a:r>
              <a:rPr lang="ko-KR" altLang="en-US" baseline="0" dirty="0"/>
              <a:t> 마련하였습니다</a:t>
            </a:r>
            <a:r>
              <a:rPr lang="en-US" altLang="ko-KR" baseline="0" dirty="0"/>
              <a:t>. 1</a:t>
            </a:r>
            <a:r>
              <a:rPr lang="ko-KR" altLang="en-US" baseline="0" dirty="0"/>
              <a:t>급 </a:t>
            </a:r>
            <a:r>
              <a:rPr lang="ko-KR" altLang="en-US" baseline="0" dirty="0" err="1"/>
              <a:t>감염병에</a:t>
            </a:r>
            <a:r>
              <a:rPr lang="ko-KR" altLang="en-US" baseline="0" dirty="0"/>
              <a:t> 대한 대응은 병원에서 먼저 격리 후에 검사하는 것이며</a:t>
            </a:r>
            <a:endParaRPr lang="en-US" altLang="ko-KR" baseline="0" dirty="0"/>
          </a:p>
          <a:p>
            <a:r>
              <a:rPr lang="en-US" altLang="ko-KR" baseline="0" dirty="0"/>
              <a:t>2020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2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17</a:t>
            </a:r>
            <a:r>
              <a:rPr lang="ko-KR" altLang="en-US" baseline="0" dirty="0"/>
              <a:t>일에 코로나</a:t>
            </a:r>
            <a:r>
              <a:rPr lang="en-US" altLang="ko-KR" baseline="0" dirty="0"/>
              <a:t>19 </a:t>
            </a:r>
            <a:r>
              <a:rPr lang="ko-KR" altLang="en-US" baseline="0" dirty="0"/>
              <a:t>의심환자가 발생하여 검사 및 격리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응급실폐쇄를 이행했던 보고서가 있습니다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신종 병원체에 대한 특성 평가에 대한 부산시 연구 분석 사례입니다</a:t>
            </a:r>
            <a:r>
              <a:rPr lang="en-US" altLang="ko-KR" dirty="0"/>
              <a:t>. </a:t>
            </a:r>
            <a:r>
              <a:rPr lang="ko-KR" altLang="en-US" dirty="0"/>
              <a:t>분석주체는 부산시 </a:t>
            </a:r>
            <a:r>
              <a:rPr lang="ko-KR" altLang="en-US" dirty="0" err="1"/>
              <a:t>감염병관리지원단</a:t>
            </a:r>
            <a:r>
              <a:rPr lang="en-US" altLang="ko-KR" dirty="0"/>
              <a:t>, </a:t>
            </a:r>
            <a:r>
              <a:rPr lang="ko-KR" altLang="en-US" dirty="0"/>
              <a:t>부산의료원 내과 허정훈 기획실장님이며</a:t>
            </a:r>
            <a:endParaRPr lang="en-US" altLang="ko-KR" dirty="0"/>
          </a:p>
          <a:p>
            <a:r>
              <a:rPr lang="en-US" altLang="ko-KR" dirty="0"/>
              <a:t>2020</a:t>
            </a:r>
            <a:r>
              <a:rPr lang="ko-KR" altLang="en-US" dirty="0"/>
              <a:t>년 초반에 코로나</a:t>
            </a:r>
            <a:r>
              <a:rPr lang="en-US" altLang="ko-KR" dirty="0"/>
              <a:t>19</a:t>
            </a:r>
            <a:r>
              <a:rPr lang="ko-KR" altLang="en-US" dirty="0"/>
              <a:t>의 전파기간이 증상발생일 </a:t>
            </a:r>
            <a:r>
              <a:rPr lang="en-US" altLang="ko-KR" dirty="0"/>
              <a:t>1</a:t>
            </a:r>
            <a:r>
              <a:rPr lang="ko-KR" altLang="en-US" dirty="0"/>
              <a:t>일전으로 지침에 소개된 적이 있는데</a:t>
            </a:r>
            <a:r>
              <a:rPr lang="en-US" altLang="ko-KR" dirty="0"/>
              <a:t>, </a:t>
            </a:r>
            <a:r>
              <a:rPr lang="ko-KR" altLang="en-US" dirty="0"/>
              <a:t>추적조사결과 </a:t>
            </a:r>
            <a:r>
              <a:rPr lang="en-US" altLang="ko-KR" dirty="0"/>
              <a:t>1</a:t>
            </a:r>
            <a:r>
              <a:rPr lang="ko-KR" altLang="en-US" dirty="0"/>
              <a:t>일전에서 그 기간을 확대해야 한다는 결론을 내었습니다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</a:t>
            </a:r>
            <a:r>
              <a:rPr lang="en-US" altLang="ko-KR" dirty="0"/>
              <a:t>4</a:t>
            </a:r>
            <a:r>
              <a:rPr lang="ko-KR" altLang="en-US" dirty="0"/>
              <a:t>월에 증상발생 </a:t>
            </a:r>
            <a:r>
              <a:rPr lang="en-US" altLang="ko-KR" dirty="0"/>
              <a:t>2</a:t>
            </a:r>
            <a:r>
              <a:rPr lang="ko-KR" altLang="en-US" dirty="0"/>
              <a:t>일전부터 조사로 지침이 변경이 되었습니다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부산시는 </a:t>
            </a:r>
            <a:r>
              <a:rPr lang="en-US" altLang="ko-KR" dirty="0"/>
              <a:t>2020</a:t>
            </a:r>
            <a:r>
              <a:rPr lang="ko-KR" altLang="en-US" dirty="0"/>
              <a:t>년</a:t>
            </a:r>
            <a:r>
              <a:rPr lang="ko-KR" altLang="en-US" baseline="0" dirty="0"/>
              <a:t> </a:t>
            </a:r>
            <a:r>
              <a:rPr lang="en-US" altLang="ko-KR" baseline="0" dirty="0"/>
              <a:t>2~3</a:t>
            </a:r>
            <a:r>
              <a:rPr lang="ko-KR" altLang="en-US" baseline="0" dirty="0"/>
              <a:t>월에 우리나라 최초 요양병원 종사자 </a:t>
            </a:r>
            <a:r>
              <a:rPr lang="en-US" altLang="ko-KR" baseline="0" dirty="0"/>
              <a:t>2</a:t>
            </a:r>
            <a:r>
              <a:rPr lang="ko-KR" altLang="en-US" baseline="0" dirty="0"/>
              <a:t>명 </a:t>
            </a:r>
            <a:r>
              <a:rPr lang="ko-KR" altLang="en-US" baseline="0" dirty="0" err="1"/>
              <a:t>확진에</a:t>
            </a:r>
            <a:r>
              <a:rPr lang="ko-KR" altLang="en-US" baseline="0" dirty="0"/>
              <a:t> 따른 </a:t>
            </a:r>
            <a:r>
              <a:rPr lang="ko-KR" altLang="en-US" baseline="0" dirty="0" err="1"/>
              <a:t>코호트</a:t>
            </a:r>
            <a:r>
              <a:rPr lang="ko-KR" altLang="en-US" baseline="0" dirty="0"/>
              <a:t> 격리의 사례가 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여러분 잘 아시는 </a:t>
            </a:r>
            <a:r>
              <a:rPr lang="ko-KR" altLang="en-US" baseline="0" dirty="0" err="1"/>
              <a:t>아시아드요양병원입니다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이때에는 접촉자인 직원과 환자 </a:t>
            </a:r>
            <a:r>
              <a:rPr lang="ko-KR" altLang="en-US" baseline="0" dirty="0" err="1"/>
              <a:t>여러명을</a:t>
            </a:r>
            <a:r>
              <a:rPr lang="ko-KR" altLang="en-US" baseline="0" dirty="0"/>
              <a:t> 격리장소를 마련하여 </a:t>
            </a:r>
            <a:r>
              <a:rPr lang="ko-KR" altLang="en-US" baseline="0" dirty="0" err="1"/>
              <a:t>격리시키는것이</a:t>
            </a:r>
            <a:r>
              <a:rPr lang="ko-KR" altLang="en-US" baseline="0" dirty="0"/>
              <a:t> 주요했으며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특히 요양병원 환자 </a:t>
            </a:r>
            <a:r>
              <a:rPr lang="ko-KR" altLang="en-US" baseline="0" dirty="0" err="1"/>
              <a:t>여러명을</a:t>
            </a:r>
            <a:r>
              <a:rPr lang="ko-KR" altLang="en-US" baseline="0" dirty="0"/>
              <a:t> 이송하는 것에 대한 이송계획이 마련되었습니다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주기적 </a:t>
            </a:r>
            <a:r>
              <a:rPr lang="ko-KR" altLang="en-US" baseline="0" dirty="0" err="1"/>
              <a:t>검사이후</a:t>
            </a:r>
            <a:r>
              <a:rPr lang="ko-KR" altLang="en-US" baseline="0" dirty="0"/>
              <a:t> 기존 종사자확진 </a:t>
            </a:r>
            <a:r>
              <a:rPr lang="en-US" altLang="ko-KR" baseline="0" dirty="0"/>
              <a:t>2</a:t>
            </a:r>
            <a:r>
              <a:rPr lang="ko-KR" altLang="en-US" baseline="0" dirty="0" err="1"/>
              <a:t>명이외에는</a:t>
            </a:r>
            <a:r>
              <a:rPr lang="ko-KR" altLang="en-US" baseline="0" dirty="0"/>
              <a:t> 환자에게서는 </a:t>
            </a:r>
            <a:r>
              <a:rPr lang="ko-KR" altLang="en-US" baseline="0" dirty="0" err="1"/>
              <a:t>확진이</a:t>
            </a:r>
            <a:r>
              <a:rPr lang="ko-KR" altLang="en-US" baseline="0" dirty="0"/>
              <a:t> 나오지 않아서 관리가 매우 훌륭한 사례로 </a:t>
            </a:r>
            <a:r>
              <a:rPr lang="ko-KR" altLang="en-US" baseline="0" dirty="0" err="1"/>
              <a:t>평가받고</a:t>
            </a:r>
            <a:r>
              <a:rPr lang="ko-KR" altLang="en-US" baseline="0" dirty="0"/>
              <a:t> 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그리고 나서 </a:t>
            </a:r>
            <a:r>
              <a:rPr lang="en-US" altLang="ko-KR" baseline="0" dirty="0"/>
              <a:t>7</a:t>
            </a:r>
            <a:r>
              <a:rPr lang="ko-KR" altLang="en-US" baseline="0" dirty="0" err="1"/>
              <a:t>개월이후에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아시아드</a:t>
            </a:r>
            <a:r>
              <a:rPr lang="ko-KR" altLang="en-US" baseline="0" dirty="0"/>
              <a:t> 요양병원은 북구 </a:t>
            </a:r>
            <a:r>
              <a:rPr lang="ko-KR" altLang="en-US" baseline="0" dirty="0" err="1"/>
              <a:t>해뜨락</a:t>
            </a:r>
            <a:r>
              <a:rPr lang="ko-KR" altLang="en-US" baseline="0" dirty="0"/>
              <a:t> 요양병원 </a:t>
            </a:r>
            <a:r>
              <a:rPr lang="ko-KR" altLang="en-US" baseline="0" dirty="0" err="1"/>
              <a:t>집단발생때에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접촉자</a:t>
            </a:r>
            <a:r>
              <a:rPr lang="ko-KR" altLang="en-US" baseline="0" dirty="0"/>
              <a:t> 환자 격리를 위한 병원으로서의 역할을 하게 됩니다</a:t>
            </a:r>
            <a:r>
              <a:rPr lang="en-US" altLang="ko-KR" baseline="0" dirty="0"/>
              <a:t>.</a:t>
            </a:r>
            <a:r>
              <a:rPr lang="ko-KR" altLang="en-US" baseline="0" dirty="0"/>
              <a:t> 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2020</a:t>
            </a:r>
            <a:r>
              <a:rPr lang="ko-KR" altLang="en-US" dirty="0"/>
              <a:t>년 상반기에는 해외입국자 관리가 주요한 방역대응의 요소였으며 해당 입국자에 대한 검사</a:t>
            </a:r>
            <a:r>
              <a:rPr lang="en-US" altLang="ko-KR" dirty="0"/>
              <a:t>, </a:t>
            </a:r>
            <a:r>
              <a:rPr lang="ko-KR" altLang="en-US" dirty="0"/>
              <a:t>임시격리시설</a:t>
            </a:r>
            <a:r>
              <a:rPr lang="en-US" altLang="ko-KR" dirty="0"/>
              <a:t>, </a:t>
            </a:r>
            <a:r>
              <a:rPr lang="ko-KR" altLang="en-US" dirty="0"/>
              <a:t>이송 세가지 분야에서 대책을 마련하였습니다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검사부분은 </a:t>
            </a:r>
            <a:r>
              <a:rPr lang="ko-KR" altLang="en-US" dirty="0" err="1"/>
              <a:t>부산형으로</a:t>
            </a:r>
            <a:r>
              <a:rPr lang="ko-KR" altLang="en-US" dirty="0"/>
              <a:t> 선제적으로 부산역에 선별진료소를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 </a:t>
            </a:r>
            <a:r>
              <a:rPr lang="en-US" altLang="ko-KR" dirty="0"/>
              <a:t>6</a:t>
            </a:r>
            <a:r>
              <a:rPr lang="ko-KR" altLang="en-US" dirty="0"/>
              <a:t>일부터 </a:t>
            </a:r>
            <a:r>
              <a:rPr lang="en-US" altLang="ko-KR" dirty="0"/>
              <a:t>22</a:t>
            </a:r>
            <a:r>
              <a:rPr lang="ko-KR" altLang="en-US" dirty="0"/>
              <a:t>년 </a:t>
            </a:r>
            <a:r>
              <a:rPr lang="en-US" altLang="ko-KR" dirty="0"/>
              <a:t>3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일까지 약 </a:t>
            </a:r>
            <a:r>
              <a:rPr lang="en-US" altLang="ko-KR" dirty="0"/>
              <a:t>2</a:t>
            </a:r>
            <a:r>
              <a:rPr lang="ko-KR" altLang="en-US" dirty="0"/>
              <a:t>년간 운영하였으며</a:t>
            </a:r>
            <a:r>
              <a:rPr lang="en-US" altLang="ko-KR" dirty="0"/>
              <a:t>, </a:t>
            </a:r>
            <a:r>
              <a:rPr lang="ko-KR" altLang="en-US" dirty="0"/>
              <a:t>임시격리시설은 인근에 호텔을 지정하여 운영하였고</a:t>
            </a:r>
            <a:r>
              <a:rPr lang="en-US" altLang="ko-KR" dirty="0"/>
              <a:t>, </a:t>
            </a:r>
            <a:r>
              <a:rPr lang="ko-KR" altLang="en-US" dirty="0" err="1"/>
              <a:t>검사이후</a:t>
            </a:r>
            <a:r>
              <a:rPr lang="ko-KR" altLang="en-US" dirty="0"/>
              <a:t> 자가격리장소로의 이동은 김해공항과 부산역에 비상수송계획을 마련하여 이행하였습니다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7</a:t>
            </a:r>
            <a:r>
              <a:rPr lang="ko-KR" altLang="en-US" dirty="0" err="1"/>
              <a:t>월달에</a:t>
            </a:r>
            <a:r>
              <a:rPr lang="ko-KR" altLang="en-US" dirty="0"/>
              <a:t> 러시아 여러 선박</a:t>
            </a:r>
            <a:r>
              <a:rPr lang="en-US" altLang="ko-KR" dirty="0"/>
              <a:t>(</a:t>
            </a:r>
            <a:r>
              <a:rPr lang="ko-KR" altLang="en-US" dirty="0"/>
              <a:t>아이스 </a:t>
            </a:r>
            <a:r>
              <a:rPr lang="ko-KR" altLang="en-US" dirty="0" err="1"/>
              <a:t>스트림</a:t>
            </a:r>
            <a:r>
              <a:rPr lang="en-US" altLang="ko-KR" dirty="0"/>
              <a:t>, </a:t>
            </a:r>
            <a:r>
              <a:rPr lang="ko-KR" altLang="en-US" dirty="0"/>
              <a:t>아이스 </a:t>
            </a:r>
            <a:r>
              <a:rPr lang="ko-KR" altLang="en-US" dirty="0" err="1"/>
              <a:t>크리스찰등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ko-KR" altLang="en-US" dirty="0" err="1"/>
              <a:t>확진자가</a:t>
            </a:r>
            <a:r>
              <a:rPr lang="ko-KR" altLang="en-US" dirty="0"/>
              <a:t> 연이어 발생하여</a:t>
            </a:r>
            <a:r>
              <a:rPr lang="en-US" altLang="ko-KR" dirty="0"/>
              <a:t>, </a:t>
            </a:r>
            <a:r>
              <a:rPr lang="ko-KR" altLang="en-US" baseline="0" dirty="0"/>
              <a:t>본래 선박 선원이 하선하지 않는 조건으로 전자검역</a:t>
            </a:r>
            <a:r>
              <a:rPr lang="en-US" altLang="ko-KR" baseline="0" dirty="0"/>
              <a:t>(</a:t>
            </a:r>
            <a:r>
              <a:rPr lang="ko-KR" altLang="en-US" baseline="0" dirty="0"/>
              <a:t>보건상태와 검역질문서 응답지</a:t>
            </a:r>
            <a:r>
              <a:rPr lang="en-US" altLang="ko-KR" baseline="0" dirty="0"/>
              <a:t>, </a:t>
            </a:r>
            <a:r>
              <a:rPr lang="ko-KR" altLang="en-US" baseline="0" dirty="0"/>
              <a:t>항해일지 등을 전자시스템으로 </a:t>
            </a:r>
            <a:r>
              <a:rPr lang="ko-KR" altLang="en-US" baseline="0" dirty="0" err="1"/>
              <a:t>미리받아</a:t>
            </a:r>
            <a:r>
              <a:rPr lang="ko-KR" altLang="en-US" baseline="0" dirty="0"/>
              <a:t> 검토하는 방법</a:t>
            </a:r>
            <a:r>
              <a:rPr lang="en-US" altLang="ko-KR" baseline="0" dirty="0"/>
              <a:t>)</a:t>
            </a:r>
            <a:r>
              <a:rPr lang="ko-KR" altLang="en-US" baseline="0" dirty="0"/>
              <a:t>을 이행하였는데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선원들이 하선만 하지 않았을 뿐이지 항만에 근무하는 내국인 종사자들과는 접촉이 그대로 이어져서 전자검역 자체가 형식적인 신고라고 판단이 되어</a:t>
            </a:r>
            <a:r>
              <a:rPr lang="en-US" altLang="ko-KR" baseline="0" dirty="0"/>
              <a:t>, </a:t>
            </a:r>
            <a:r>
              <a:rPr lang="ko-KR" altLang="en-US" baseline="0" dirty="0"/>
              <a:t>승선검역</a:t>
            </a:r>
            <a:r>
              <a:rPr lang="en-US" altLang="ko-KR" baseline="0" dirty="0"/>
              <a:t>(</a:t>
            </a:r>
            <a:r>
              <a:rPr lang="ko-KR" altLang="en-US" baseline="0" dirty="0"/>
              <a:t>기존 중국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이란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이탈리아만 시행하고 있는</a:t>
            </a:r>
            <a:r>
              <a:rPr lang="en-US" altLang="ko-KR" baseline="0" dirty="0"/>
              <a:t> </a:t>
            </a:r>
            <a:r>
              <a:rPr lang="ko-KR" altLang="en-US" baseline="0" dirty="0"/>
              <a:t>검역으로 검역직원이 선박에 들어가서 </a:t>
            </a:r>
            <a:r>
              <a:rPr lang="ko-KR" altLang="en-US" baseline="0" dirty="0" err="1"/>
              <a:t>유증상자여부</a:t>
            </a:r>
            <a:r>
              <a:rPr lang="ko-KR" altLang="en-US" baseline="0" dirty="0"/>
              <a:t> 체크하는 검역</a:t>
            </a:r>
            <a:r>
              <a:rPr lang="en-US" altLang="ko-KR" baseline="0" dirty="0"/>
              <a:t>)</a:t>
            </a:r>
            <a:r>
              <a:rPr lang="ko-KR" altLang="en-US" baseline="0" dirty="0"/>
              <a:t>을 </a:t>
            </a:r>
            <a:r>
              <a:rPr lang="en-US" altLang="ko-KR" baseline="0" dirty="0"/>
              <a:t>6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24</a:t>
            </a:r>
            <a:r>
              <a:rPr lang="ko-KR" altLang="en-US" baseline="0" dirty="0"/>
              <a:t>일부터 러시아 선박 대상으로 실시하게 됩니다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그리고 </a:t>
            </a:r>
            <a:r>
              <a:rPr lang="en-US" altLang="ko-KR" baseline="0" dirty="0"/>
              <a:t>7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</a:t>
            </a:r>
            <a:r>
              <a:rPr lang="ko-KR" altLang="en-US" baseline="0" dirty="0"/>
              <a:t>일부터는 러시아 관련 선박에 대하여는 전수 진단검사를 시행하게 되었고 그 과정에서 </a:t>
            </a:r>
            <a:r>
              <a:rPr lang="en-US" altLang="ko-KR" baseline="0" dirty="0"/>
              <a:t>7</a:t>
            </a:r>
            <a:r>
              <a:rPr lang="ko-KR" altLang="en-US" baseline="0" dirty="0"/>
              <a:t>월말에 </a:t>
            </a:r>
            <a:r>
              <a:rPr lang="ko-KR" altLang="en-US" dirty="0" err="1"/>
              <a:t>페트르</a:t>
            </a:r>
            <a:r>
              <a:rPr lang="ko-KR" altLang="en-US" dirty="0"/>
              <a:t> 선박에서 </a:t>
            </a:r>
            <a:r>
              <a:rPr lang="ko-KR" altLang="en-US" dirty="0" err="1"/>
              <a:t>두자릿수의</a:t>
            </a:r>
            <a:r>
              <a:rPr lang="ko-KR" altLang="en-US" dirty="0"/>
              <a:t> 외국인 선원들이 </a:t>
            </a:r>
            <a:r>
              <a:rPr lang="ko-KR" altLang="en-US" dirty="0" err="1"/>
              <a:t>확진이</a:t>
            </a:r>
            <a:r>
              <a:rPr lang="ko-KR" altLang="en-US" dirty="0"/>
              <a:t> 되었으며 해당 선박을 고치던 우리나라 수리공이 </a:t>
            </a:r>
            <a:r>
              <a:rPr lang="ko-KR" altLang="en-US" dirty="0" err="1"/>
              <a:t>확진이</a:t>
            </a:r>
            <a:r>
              <a:rPr lang="ko-KR" altLang="en-US" dirty="0"/>
              <a:t> 되어 가족 및 두 학교로의 </a:t>
            </a:r>
            <a:r>
              <a:rPr lang="en-US" altLang="ko-KR" dirty="0"/>
              <a:t>2</a:t>
            </a:r>
            <a:r>
              <a:rPr lang="ko-KR" altLang="en-US" dirty="0"/>
              <a:t>차 전파가 일어났습니다</a:t>
            </a:r>
            <a:r>
              <a:rPr lang="en-US" altLang="ko-KR" dirty="0"/>
              <a:t>. </a:t>
            </a:r>
            <a:r>
              <a:rPr lang="ko-KR" altLang="en-US" dirty="0"/>
              <a:t>그림은 관련 모식도입니다</a:t>
            </a:r>
            <a:r>
              <a:rPr lang="en-US" altLang="ko-KR" dirty="0"/>
              <a:t>. </a:t>
            </a:r>
            <a:r>
              <a:rPr lang="ko-KR" altLang="en-US" dirty="0"/>
              <a:t>해당 그룹의 </a:t>
            </a:r>
            <a:r>
              <a:rPr lang="ko-KR" altLang="en-US" dirty="0" err="1"/>
              <a:t>확진자에</a:t>
            </a:r>
            <a:r>
              <a:rPr lang="ko-KR" altLang="en-US" dirty="0"/>
              <a:t> 대한 </a:t>
            </a:r>
            <a:r>
              <a:rPr lang="en-US" altLang="ko-KR" dirty="0"/>
              <a:t>NGS</a:t>
            </a:r>
            <a:r>
              <a:rPr lang="en-US" altLang="ko-KR" baseline="0" dirty="0"/>
              <a:t> </a:t>
            </a:r>
            <a:r>
              <a:rPr lang="ko-KR" altLang="en-US" baseline="0" dirty="0"/>
              <a:t>유전자 분석결과 그 전에는 우리나라에서 발견되지 않았던 </a:t>
            </a:r>
            <a:r>
              <a:rPr lang="en-US" altLang="ko-KR" baseline="0" dirty="0"/>
              <a:t>GR </a:t>
            </a:r>
            <a:r>
              <a:rPr lang="ko-KR" altLang="en-US" baseline="0" dirty="0"/>
              <a:t>그룹이 확인이 되어 그 근원이 같음을 </a:t>
            </a:r>
            <a:r>
              <a:rPr lang="ko-KR" altLang="en-US" baseline="0" dirty="0" err="1"/>
              <a:t>확인할수</a:t>
            </a:r>
            <a:r>
              <a:rPr lang="ko-KR" altLang="en-US" baseline="0" dirty="0"/>
              <a:t> 있었습니다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러시아 선원관련 </a:t>
            </a:r>
            <a:r>
              <a:rPr lang="ko-KR" altLang="en-US" baseline="0" dirty="0" err="1"/>
              <a:t>역학조사시에는</a:t>
            </a:r>
            <a:r>
              <a:rPr lang="ko-KR" altLang="en-US" baseline="0" dirty="0"/>
              <a:t> 우선 의료원으로 </a:t>
            </a:r>
            <a:r>
              <a:rPr lang="ko-KR" altLang="en-US" baseline="0" dirty="0" err="1"/>
              <a:t>단체이송후에</a:t>
            </a:r>
            <a:r>
              <a:rPr lang="ko-KR" altLang="en-US" baseline="0" dirty="0"/>
              <a:t> 통역사와 </a:t>
            </a:r>
            <a:r>
              <a:rPr lang="ko-KR" altLang="en-US" baseline="0" dirty="0" err="1"/>
              <a:t>시역학조사관이</a:t>
            </a:r>
            <a:r>
              <a:rPr lang="ko-KR" altLang="en-US" baseline="0" dirty="0"/>
              <a:t> 같이 동행하여 유선으로 비대면 역학조사를 이행하였습니다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또한 </a:t>
            </a:r>
            <a:r>
              <a:rPr lang="ko-KR" altLang="en-US" baseline="0" dirty="0" err="1"/>
              <a:t>접촉자</a:t>
            </a:r>
            <a:r>
              <a:rPr lang="ko-KR" altLang="en-US" baseline="0" dirty="0"/>
              <a:t> 파악과정에서 여러 </a:t>
            </a:r>
            <a:r>
              <a:rPr lang="ko-KR" altLang="en-US" baseline="0" dirty="0" err="1"/>
              <a:t>업체등이</a:t>
            </a:r>
            <a:r>
              <a:rPr lang="ko-KR" altLang="en-US" baseline="0" dirty="0"/>
              <a:t> 해당선박과 교류가 있었고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여러명의</a:t>
            </a:r>
            <a:r>
              <a:rPr lang="ko-KR" altLang="en-US" baseline="0" dirty="0"/>
              <a:t> 러시아 </a:t>
            </a:r>
            <a:r>
              <a:rPr lang="ko-KR" altLang="en-US" baseline="0" dirty="0" err="1"/>
              <a:t>확진자와</a:t>
            </a:r>
            <a:r>
              <a:rPr lang="ko-KR" altLang="en-US" baseline="0" dirty="0"/>
              <a:t> 접촉자간의 </a:t>
            </a:r>
            <a:r>
              <a:rPr lang="ko-KR" altLang="en-US" baseline="0" dirty="0" err="1"/>
              <a:t>접촉력을</a:t>
            </a:r>
            <a:r>
              <a:rPr lang="ko-KR" altLang="en-US" baseline="0" dirty="0"/>
              <a:t> 확인할 수 없어</a:t>
            </a:r>
            <a:r>
              <a:rPr lang="en-US" altLang="ko-KR" baseline="0" dirty="0"/>
              <a:t>(CCTV</a:t>
            </a:r>
            <a:r>
              <a:rPr lang="ko-KR" altLang="en-US" baseline="0" dirty="0"/>
              <a:t>로 </a:t>
            </a:r>
            <a:r>
              <a:rPr lang="ko-KR" altLang="en-US" baseline="0" dirty="0" err="1"/>
              <a:t>확진자와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접촉자</a:t>
            </a:r>
            <a:r>
              <a:rPr lang="ko-KR" altLang="en-US" baseline="0" dirty="0"/>
              <a:t> 얼굴 분간 안되고</a:t>
            </a:r>
            <a:r>
              <a:rPr lang="en-US" altLang="ko-KR" baseline="0" dirty="0"/>
              <a:t>, CCTV </a:t>
            </a:r>
            <a:r>
              <a:rPr lang="ko-KR" altLang="en-US" baseline="0" dirty="0" err="1"/>
              <a:t>사각지대많음</a:t>
            </a:r>
            <a:r>
              <a:rPr lang="en-US" altLang="ko-KR" baseline="0" dirty="0"/>
              <a:t>) </a:t>
            </a:r>
            <a:r>
              <a:rPr lang="ko-KR" altLang="en-US" baseline="0" dirty="0"/>
              <a:t>해당 </a:t>
            </a:r>
            <a:r>
              <a:rPr lang="ko-KR" altLang="en-US" baseline="0" dirty="0" err="1"/>
              <a:t>접촉자</a:t>
            </a:r>
            <a:r>
              <a:rPr lang="ko-KR" altLang="en-US" baseline="0" dirty="0"/>
              <a:t> 명단을 파악하는데 시간이 많이 지체되는 어려움이 있어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회의때</a:t>
            </a:r>
            <a:r>
              <a:rPr lang="ko-KR" altLang="en-US" baseline="0" dirty="0"/>
              <a:t> 대책으로 선박 출입자에 대한 </a:t>
            </a:r>
            <a:r>
              <a:rPr lang="en-US" altLang="ko-KR" baseline="0" dirty="0"/>
              <a:t>QR </a:t>
            </a:r>
            <a:r>
              <a:rPr lang="ko-KR" altLang="en-US" baseline="0" dirty="0"/>
              <a:t>코드 도입 행정명령이 </a:t>
            </a:r>
            <a:r>
              <a:rPr lang="en-US" altLang="ko-KR" baseline="0" dirty="0"/>
              <a:t>8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19</a:t>
            </a:r>
            <a:r>
              <a:rPr lang="ko-KR" altLang="en-US" baseline="0" dirty="0"/>
              <a:t>일에 시행이 됩니다</a:t>
            </a:r>
            <a:r>
              <a:rPr lang="en-US" altLang="ko-KR" baseline="0" dirty="0"/>
              <a:t>.</a:t>
            </a:r>
            <a:r>
              <a:rPr lang="ko-KR" altLang="en-US" baseline="0" dirty="0"/>
              <a:t>러시아 선원을 치료하는 의료원 종사자는 해당 나라의 문화차이로 인한 환자 관리의 어려움이 있었습니다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8</a:t>
            </a:r>
            <a:r>
              <a:rPr lang="ko-KR" altLang="en-US" dirty="0" err="1"/>
              <a:t>월달에는</a:t>
            </a:r>
            <a:r>
              <a:rPr lang="ko-KR" altLang="en-US" dirty="0"/>
              <a:t> 코로나</a:t>
            </a:r>
            <a:r>
              <a:rPr lang="en-US" altLang="ko-KR" dirty="0"/>
              <a:t>19</a:t>
            </a:r>
            <a:r>
              <a:rPr lang="ko-KR" altLang="en-US" dirty="0"/>
              <a:t>가 공기전파의 가능성이 있다는 의견이 대두되었고</a:t>
            </a:r>
            <a:r>
              <a:rPr lang="en-US" altLang="ko-KR" dirty="0"/>
              <a:t>, </a:t>
            </a:r>
            <a:r>
              <a:rPr lang="ko-KR" altLang="en-US" dirty="0"/>
              <a:t>사회적 </a:t>
            </a:r>
            <a:r>
              <a:rPr lang="ko-KR" altLang="en-US" dirty="0" err="1"/>
              <a:t>거리두기가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단계 격상되고 마스크착용이 의무화되었습니다</a:t>
            </a:r>
            <a:r>
              <a:rPr lang="en-US" altLang="ko-KR" dirty="0"/>
              <a:t>. </a:t>
            </a:r>
            <a:r>
              <a:rPr lang="ko-KR" altLang="en-US" dirty="0" err="1"/>
              <a:t>확진환자에</a:t>
            </a:r>
            <a:r>
              <a:rPr lang="ko-KR" altLang="en-US" dirty="0"/>
              <a:t> 대한 역학조사는 신속한 </a:t>
            </a:r>
            <a:r>
              <a:rPr lang="en-US" altLang="ko-KR" dirty="0"/>
              <a:t>3T </a:t>
            </a:r>
            <a:r>
              <a:rPr lang="ko-KR" altLang="en-US" dirty="0"/>
              <a:t>전략이었으며 이때부터 방문지역의 </a:t>
            </a:r>
            <a:r>
              <a:rPr lang="ko-KR" altLang="en-US" dirty="0" err="1"/>
              <a:t>일장접촉자에</a:t>
            </a:r>
            <a:r>
              <a:rPr lang="ko-KR" altLang="en-US" dirty="0"/>
              <a:t> 대한 대규모 검사 및 </a:t>
            </a:r>
            <a:r>
              <a:rPr lang="ko-KR" altLang="en-US" dirty="0" err="1"/>
              <a:t>동선공개수</a:t>
            </a:r>
            <a:r>
              <a:rPr lang="en-US" altLang="ko-KR" dirty="0"/>
              <a:t>, </a:t>
            </a:r>
            <a:r>
              <a:rPr lang="ko-KR" altLang="en-US" dirty="0"/>
              <a:t>자가격리자수 및 </a:t>
            </a:r>
            <a:r>
              <a:rPr lang="ko-KR" altLang="en-US" dirty="0" err="1"/>
              <a:t>일반병상가동율이</a:t>
            </a:r>
            <a:r>
              <a:rPr lang="ko-KR" altLang="en-US" dirty="0"/>
              <a:t> 증가되기 시작하였습니다</a:t>
            </a:r>
            <a:r>
              <a:rPr lang="en-US" altLang="ko-KR" dirty="0"/>
              <a:t>. </a:t>
            </a:r>
            <a:r>
              <a:rPr lang="en-US" altLang="ko-KR" baseline="0" dirty="0"/>
              <a:t>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월에 한국신장장애인협회 회장님이 유선으로 전화하셔서 당시 기준으로 비공식적으로 자가격리자중 투석환자가 비공식적으로 전국에 </a:t>
            </a:r>
            <a:r>
              <a:rPr lang="en-US" altLang="ko-KR" dirty="0"/>
              <a:t>17</a:t>
            </a:r>
            <a:r>
              <a:rPr lang="ko-KR" altLang="en-US" dirty="0" err="1"/>
              <a:t>명가량</a:t>
            </a:r>
            <a:r>
              <a:rPr lang="ko-KR" altLang="en-US" dirty="0"/>
              <a:t> 사망했다고 전해왔습니다</a:t>
            </a:r>
            <a:r>
              <a:rPr lang="en-US" altLang="ko-KR" dirty="0"/>
              <a:t>.</a:t>
            </a:r>
            <a:r>
              <a:rPr lang="en-US" altLang="ko-KR" baseline="0" dirty="0"/>
              <a:t> </a:t>
            </a:r>
            <a:r>
              <a:rPr lang="ko-KR" altLang="en-US" dirty="0" err="1"/>
              <a:t>그외</a:t>
            </a:r>
            <a:r>
              <a:rPr lang="ko-KR" altLang="en-US" dirty="0"/>
              <a:t> 수술해야 하는 환자나 임산부등 </a:t>
            </a:r>
            <a:r>
              <a:rPr lang="ko-KR" altLang="en-US" dirty="0" err="1"/>
              <a:t>자가격리중에</a:t>
            </a:r>
            <a:r>
              <a:rPr lang="ko-KR" altLang="en-US" dirty="0"/>
              <a:t> 발생하는 입원이나 진료를 </a:t>
            </a:r>
            <a:r>
              <a:rPr lang="ko-KR" altLang="en-US" dirty="0" err="1"/>
              <a:t>받아야하는</a:t>
            </a:r>
            <a:r>
              <a:rPr lang="ko-KR" altLang="en-US" dirty="0"/>
              <a:t> </a:t>
            </a:r>
            <a:r>
              <a:rPr lang="ko-KR" altLang="en-US" dirty="0" err="1"/>
              <a:t>접촉자들에</a:t>
            </a:r>
            <a:r>
              <a:rPr lang="ko-KR" altLang="en-US" dirty="0"/>
              <a:t> 대하여 일선 의료기관에서 진료거부현상이 심하여 보건소와 시의 가장 큰 어려움이었습니다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ko-KR" altLang="en-US" dirty="0" err="1"/>
              <a:t>자가격리중</a:t>
            </a:r>
            <a:r>
              <a:rPr lang="ko-KR" altLang="en-US" dirty="0"/>
              <a:t> 발생하는 가족의 사망으로 인한 장례식 참석에 대하여는 부산시 자체로 담당공무원과 동행하여 마스크와 </a:t>
            </a:r>
            <a:r>
              <a:rPr lang="ko-KR" altLang="en-US" dirty="0" err="1"/>
              <a:t>장갑끼고</a:t>
            </a:r>
            <a:r>
              <a:rPr lang="ko-KR" altLang="en-US" dirty="0"/>
              <a:t> </a:t>
            </a:r>
            <a:r>
              <a:rPr lang="ko-KR" altLang="en-US" dirty="0" err="1"/>
              <a:t>신체적접촉없이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미터 거리를 띄워서 목례만 하고 바로 집으로 오도록 하여 이행하였습니다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그달에</a:t>
            </a:r>
            <a:r>
              <a:rPr lang="ko-KR" altLang="en-US" dirty="0"/>
              <a:t> 해운대 대형목욕탕 관련 종사자 </a:t>
            </a:r>
            <a:r>
              <a:rPr lang="en-US" altLang="ko-KR" dirty="0"/>
              <a:t>2</a:t>
            </a:r>
            <a:r>
              <a:rPr lang="ko-KR" altLang="en-US" dirty="0"/>
              <a:t>명 </a:t>
            </a:r>
            <a:r>
              <a:rPr lang="ko-KR" altLang="en-US" dirty="0" err="1"/>
              <a:t>확진에</a:t>
            </a:r>
            <a:r>
              <a:rPr lang="ko-KR" altLang="en-US" dirty="0"/>
              <a:t> 따른 </a:t>
            </a:r>
            <a:r>
              <a:rPr lang="en-US" altLang="ko-KR" dirty="0"/>
              <a:t>1000</a:t>
            </a:r>
            <a:r>
              <a:rPr lang="ko-KR" altLang="en-US" dirty="0"/>
              <a:t>여명의 방문자에 대한 대규모 검사 및 </a:t>
            </a:r>
            <a:r>
              <a:rPr lang="ko-KR" altLang="en-US" dirty="0" err="1"/>
              <a:t>밀접접촉자</a:t>
            </a:r>
            <a:r>
              <a:rPr lang="ko-KR" altLang="en-US" dirty="0"/>
              <a:t> 자가격리 이행한 내용입니다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ko-KR" altLang="en-US" dirty="0" err="1"/>
              <a:t>목욕장에서</a:t>
            </a:r>
            <a:r>
              <a:rPr lang="ko-KR" altLang="en-US" dirty="0"/>
              <a:t> </a:t>
            </a:r>
            <a:r>
              <a:rPr lang="ko-KR" altLang="en-US" dirty="0" err="1"/>
              <a:t>확진자가</a:t>
            </a:r>
            <a:r>
              <a:rPr lang="ko-KR" altLang="en-US" dirty="0"/>
              <a:t> 많이 발생하여 </a:t>
            </a:r>
            <a:r>
              <a:rPr lang="ko-KR" altLang="en-US" dirty="0" err="1"/>
              <a:t>목욕장</a:t>
            </a:r>
            <a:r>
              <a:rPr lang="ko-KR" altLang="en-US" dirty="0"/>
              <a:t> </a:t>
            </a:r>
            <a:r>
              <a:rPr lang="en-US" altLang="ko-KR" dirty="0"/>
              <a:t>819</a:t>
            </a:r>
            <a:r>
              <a:rPr lang="ko-KR" altLang="en-US" dirty="0"/>
              <a:t>곳에 집합금지 행정명령을 이행하였습니다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9~10</a:t>
            </a:r>
            <a:r>
              <a:rPr lang="ko-KR" altLang="en-US" dirty="0"/>
              <a:t>월에 부산시 </a:t>
            </a:r>
            <a:r>
              <a:rPr lang="en-US" altLang="ko-KR" dirty="0"/>
              <a:t>16</a:t>
            </a:r>
            <a:r>
              <a:rPr lang="ko-KR" altLang="en-US" dirty="0" err="1"/>
              <a:t>개구군중</a:t>
            </a:r>
            <a:r>
              <a:rPr lang="ko-KR" altLang="en-US" dirty="0"/>
              <a:t> 특히 북구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만덕동에서</a:t>
            </a:r>
            <a:r>
              <a:rPr lang="ko-KR" altLang="en-US" baseline="0" dirty="0"/>
              <a:t> 인구 </a:t>
            </a:r>
            <a:r>
              <a:rPr lang="en-US" altLang="ko-KR" baseline="0" dirty="0"/>
              <a:t>10</a:t>
            </a:r>
            <a:r>
              <a:rPr lang="ko-KR" altLang="en-US" baseline="0" dirty="0" err="1"/>
              <a:t>만명당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확진자수가</a:t>
            </a:r>
            <a:r>
              <a:rPr lang="ko-KR" altLang="en-US" baseline="0" dirty="0"/>
              <a:t> 부산시는 평균 </a:t>
            </a:r>
            <a:r>
              <a:rPr lang="en-US" altLang="ko-KR" baseline="0" dirty="0"/>
              <a:t>3.6</a:t>
            </a:r>
            <a:r>
              <a:rPr lang="ko-KR" altLang="en-US" baseline="0" dirty="0"/>
              <a:t>명인데 </a:t>
            </a:r>
            <a:r>
              <a:rPr lang="ko-KR" altLang="en-US" baseline="0" dirty="0" err="1"/>
              <a:t>만덕동은</a:t>
            </a:r>
            <a:r>
              <a:rPr lang="ko-KR" altLang="en-US" baseline="0" dirty="0"/>
              <a:t> </a:t>
            </a:r>
            <a:r>
              <a:rPr lang="en-US" altLang="ko-KR" baseline="0" dirty="0"/>
              <a:t>21.8</a:t>
            </a:r>
            <a:r>
              <a:rPr lang="ko-KR" altLang="en-US" baseline="0" dirty="0"/>
              <a:t>명으로 약 </a:t>
            </a:r>
            <a:r>
              <a:rPr lang="en-US" altLang="ko-KR" baseline="0" dirty="0"/>
              <a:t>7</a:t>
            </a:r>
            <a:r>
              <a:rPr lang="ko-KR" altLang="en-US" baseline="0" dirty="0"/>
              <a:t>배가 높은 결과가 있었습니다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또한 </a:t>
            </a:r>
            <a:r>
              <a:rPr lang="ko-KR" altLang="en-US" baseline="0" dirty="0" err="1"/>
              <a:t>감염경로불명율이</a:t>
            </a:r>
            <a:r>
              <a:rPr lang="ko-KR" altLang="en-US" baseline="0" dirty="0"/>
              <a:t> 부산시전체는 </a:t>
            </a:r>
            <a:r>
              <a:rPr lang="en-US" altLang="ko-KR" baseline="0" dirty="0"/>
              <a:t>16,1%</a:t>
            </a:r>
            <a:r>
              <a:rPr lang="ko-KR" altLang="en-US" baseline="0" dirty="0"/>
              <a:t>인데 북구</a:t>
            </a:r>
            <a:r>
              <a:rPr lang="en-US" altLang="ko-KR" baseline="0" dirty="0"/>
              <a:t>/</a:t>
            </a:r>
            <a:r>
              <a:rPr lang="ko-KR" altLang="en-US" baseline="0" dirty="0" err="1"/>
              <a:t>만덕동은</a:t>
            </a:r>
            <a:r>
              <a:rPr lang="ko-KR" altLang="en-US" baseline="0" dirty="0"/>
              <a:t> </a:t>
            </a:r>
            <a:r>
              <a:rPr lang="en-US" altLang="ko-KR" baseline="0" dirty="0"/>
              <a:t> 31%</a:t>
            </a:r>
            <a:r>
              <a:rPr lang="ko-KR" altLang="en-US" baseline="0" dirty="0"/>
              <a:t>로 감염경로를 알 수 없는 경우가 </a:t>
            </a:r>
            <a:r>
              <a:rPr lang="en-US" altLang="ko-KR" baseline="0" dirty="0"/>
              <a:t>30%</a:t>
            </a:r>
            <a:r>
              <a:rPr lang="ko-KR" altLang="en-US" baseline="0" dirty="0"/>
              <a:t>가 넘는 것은 </a:t>
            </a:r>
            <a:r>
              <a:rPr lang="ko-KR" altLang="en-US" baseline="0" dirty="0" err="1"/>
              <a:t>지자체에서</a:t>
            </a:r>
            <a:r>
              <a:rPr lang="ko-KR" altLang="en-US" baseline="0" dirty="0"/>
              <a:t> 역학조사로 관리할 수 있는 수준을 넘은 지표를 나타내었습니다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이에 지원단에서 주요시설 위험도평가를 이행하여 부산시는 </a:t>
            </a:r>
            <a:r>
              <a:rPr lang="ko-KR" altLang="en-US" baseline="0" dirty="0" err="1"/>
              <a:t>만덕동을</a:t>
            </a:r>
            <a:r>
              <a:rPr lang="ko-KR" altLang="en-US" baseline="0" dirty="0"/>
              <a:t> 대상으로 </a:t>
            </a:r>
            <a:r>
              <a:rPr lang="ko-KR" altLang="en-US" baseline="0" dirty="0" err="1"/>
              <a:t>공원등</a:t>
            </a:r>
            <a:r>
              <a:rPr lang="ko-KR" altLang="en-US" baseline="0" dirty="0"/>
              <a:t> 출입제한과 방역수칙 점검강화</a:t>
            </a:r>
            <a:r>
              <a:rPr lang="en-US" altLang="ko-KR" baseline="0" dirty="0"/>
              <a:t>, </a:t>
            </a:r>
            <a:r>
              <a:rPr lang="ko-KR" altLang="en-US" baseline="0" dirty="0"/>
              <a:t>홍보</a:t>
            </a:r>
            <a:r>
              <a:rPr lang="en-US" altLang="ko-KR" baseline="0" dirty="0"/>
              <a:t>/</a:t>
            </a:r>
            <a:r>
              <a:rPr lang="ko-KR" altLang="en-US" baseline="0" dirty="0"/>
              <a:t>소독</a:t>
            </a:r>
            <a:r>
              <a:rPr lang="en-US" altLang="ko-KR" baseline="0" dirty="0"/>
              <a:t>/</a:t>
            </a:r>
            <a:r>
              <a:rPr lang="ko-KR" altLang="en-US" baseline="0" dirty="0"/>
              <a:t>감시체계 강화의 대응방안을 마련하였습니다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 와중에 </a:t>
            </a:r>
            <a:r>
              <a:rPr lang="en-US" altLang="ko-KR" dirty="0"/>
              <a:t>10</a:t>
            </a:r>
            <a:r>
              <a:rPr lang="ko-KR" altLang="en-US" dirty="0"/>
              <a:t>월에 북구 </a:t>
            </a:r>
            <a:r>
              <a:rPr lang="ko-KR" altLang="en-US" dirty="0" err="1"/>
              <a:t>해뜨락</a:t>
            </a:r>
            <a:r>
              <a:rPr lang="ko-KR" altLang="en-US" dirty="0"/>
              <a:t> 요양병원에서</a:t>
            </a:r>
            <a:r>
              <a:rPr lang="ko-KR" altLang="en-US" baseline="0" dirty="0"/>
              <a:t> 간호조무사 </a:t>
            </a:r>
            <a:r>
              <a:rPr lang="en-US" altLang="ko-KR" baseline="0" dirty="0"/>
              <a:t>1</a:t>
            </a:r>
            <a:r>
              <a:rPr lang="ko-KR" altLang="en-US" baseline="0" dirty="0"/>
              <a:t>명 </a:t>
            </a:r>
            <a:r>
              <a:rPr lang="ko-KR" altLang="en-US" baseline="0" dirty="0" err="1"/>
              <a:t>확진으로</a:t>
            </a:r>
            <a:r>
              <a:rPr lang="ko-KR" altLang="en-US" baseline="0" dirty="0"/>
              <a:t> 환자에 대한 전수검사를 이행하였는데</a:t>
            </a:r>
            <a:r>
              <a:rPr lang="en-US" altLang="ko-KR" baseline="0" dirty="0"/>
              <a:t>, 10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14</a:t>
            </a:r>
            <a:r>
              <a:rPr lang="ko-KR" altLang="en-US" baseline="0" dirty="0"/>
              <a:t>일 </a:t>
            </a:r>
            <a:r>
              <a:rPr lang="en-US" altLang="ko-KR" baseline="0" dirty="0"/>
              <a:t>52</a:t>
            </a:r>
            <a:r>
              <a:rPr lang="ko-KR" altLang="en-US" baseline="0" dirty="0"/>
              <a:t>명이 </a:t>
            </a:r>
            <a:r>
              <a:rPr lang="ko-KR" altLang="en-US" baseline="0" dirty="0" err="1"/>
              <a:t>확진이</a:t>
            </a:r>
            <a:r>
              <a:rPr lang="ko-KR" altLang="en-US" baseline="0" dirty="0"/>
              <a:t> 되었고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이 수치는 당시 전국 </a:t>
            </a:r>
            <a:r>
              <a:rPr lang="ko-KR" altLang="en-US" baseline="0" dirty="0" err="1"/>
              <a:t>하루확진자가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두자릿수였던</a:t>
            </a:r>
            <a:r>
              <a:rPr lang="ko-KR" altLang="en-US" baseline="0" dirty="0"/>
              <a:t> 상황이라 부산시가 전국 </a:t>
            </a:r>
            <a:r>
              <a:rPr lang="ko-KR" altLang="en-US" baseline="0" dirty="0" err="1"/>
              <a:t>확진자의</a:t>
            </a:r>
            <a:r>
              <a:rPr lang="ko-KR" altLang="en-US" baseline="0" dirty="0"/>
              <a:t> </a:t>
            </a:r>
            <a:r>
              <a:rPr lang="en-US" altLang="ko-KR" baseline="0" dirty="0"/>
              <a:t>57%</a:t>
            </a:r>
            <a:r>
              <a:rPr lang="ko-KR" altLang="en-US" baseline="0" dirty="0"/>
              <a:t>를 차지하는 날이었습니다</a:t>
            </a:r>
            <a:r>
              <a:rPr lang="en-US" altLang="ko-KR" baseline="0" dirty="0"/>
              <a:t>.(</a:t>
            </a:r>
            <a:r>
              <a:rPr lang="ko-KR" altLang="en-US" baseline="0" dirty="0"/>
              <a:t>코로나 </a:t>
            </a:r>
            <a:r>
              <a:rPr lang="ko-KR" altLang="en-US" baseline="0" dirty="0" err="1"/>
              <a:t>유행기간동안</a:t>
            </a:r>
            <a:r>
              <a:rPr lang="ko-KR" altLang="en-US" baseline="0" dirty="0"/>
              <a:t> 부산시는 전국대비 </a:t>
            </a:r>
            <a:r>
              <a:rPr lang="en-US" altLang="ko-KR" baseline="0" dirty="0"/>
              <a:t>4~6%</a:t>
            </a:r>
            <a:r>
              <a:rPr lang="ko-KR" altLang="en-US" baseline="0" dirty="0"/>
              <a:t>정도의 </a:t>
            </a:r>
            <a:r>
              <a:rPr lang="ko-KR" altLang="en-US" baseline="0" dirty="0" err="1"/>
              <a:t>확진비율을</a:t>
            </a:r>
            <a:r>
              <a:rPr lang="ko-KR" altLang="en-US" baseline="0" dirty="0"/>
              <a:t> 보임</a:t>
            </a:r>
            <a:r>
              <a:rPr lang="en-US" altLang="ko-KR" baseline="0" dirty="0"/>
              <a:t>). </a:t>
            </a:r>
            <a:r>
              <a:rPr lang="ko-KR" altLang="en-US" baseline="0" dirty="0"/>
              <a:t>또한 사회적 </a:t>
            </a:r>
            <a:r>
              <a:rPr lang="ko-KR" altLang="en-US" baseline="0" dirty="0" err="1"/>
              <a:t>거리두기</a:t>
            </a:r>
            <a:r>
              <a:rPr lang="ko-KR" altLang="en-US" baseline="0" dirty="0"/>
              <a:t> </a:t>
            </a:r>
            <a:r>
              <a:rPr lang="en-US" altLang="ko-KR" baseline="0" dirty="0"/>
              <a:t>1</a:t>
            </a:r>
            <a:r>
              <a:rPr lang="ko-KR" altLang="en-US" baseline="0" dirty="0"/>
              <a:t>단계 </a:t>
            </a:r>
            <a:r>
              <a:rPr lang="ko-KR" altLang="en-US" baseline="0" dirty="0" err="1"/>
              <a:t>완화날이</a:t>
            </a:r>
            <a:r>
              <a:rPr lang="ko-KR" altLang="en-US" baseline="0" dirty="0"/>
              <a:t> </a:t>
            </a:r>
            <a:r>
              <a:rPr lang="en-US" altLang="ko-KR" baseline="0" dirty="0"/>
              <a:t>10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12</a:t>
            </a:r>
            <a:r>
              <a:rPr lang="ko-KR" altLang="en-US" baseline="0" dirty="0"/>
              <a:t>일에서 </a:t>
            </a:r>
            <a:r>
              <a:rPr lang="ko-KR" altLang="en-US" baseline="0" dirty="0" err="1"/>
              <a:t>이틀지난</a:t>
            </a:r>
            <a:r>
              <a:rPr lang="ko-KR" altLang="en-US" baseline="0" dirty="0"/>
              <a:t> 상황이라 매우 엄중한 사례로 국무총리님께서 직접 부산에 오셔서 대국민 담화를 발표하였습니다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환자접촉자중 </a:t>
            </a:r>
            <a:r>
              <a:rPr lang="en-US" altLang="ko-KR" baseline="0" dirty="0"/>
              <a:t>18</a:t>
            </a:r>
            <a:r>
              <a:rPr lang="ko-KR" altLang="en-US" baseline="0" dirty="0"/>
              <a:t>명은 </a:t>
            </a:r>
            <a:r>
              <a:rPr lang="ko-KR" altLang="en-US" baseline="0" dirty="0" err="1"/>
              <a:t>아시아드</a:t>
            </a:r>
            <a:r>
              <a:rPr lang="ko-KR" altLang="en-US" baseline="0" dirty="0"/>
              <a:t> 요양병원으로 이송하기도 하였습니다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2020</a:t>
            </a:r>
            <a:r>
              <a:rPr lang="ko-KR" altLang="en-US" dirty="0"/>
              <a:t>년 하반기는 장구 음악학원</a:t>
            </a:r>
            <a:r>
              <a:rPr lang="ko-KR" altLang="en-US" baseline="0" dirty="0"/>
              <a:t> 대규모 발생 및 동구 요양병원으로의 </a:t>
            </a:r>
            <a:r>
              <a:rPr lang="ko-KR" altLang="en-US" baseline="0" dirty="0" err="1"/>
              <a:t>전파등의</a:t>
            </a:r>
            <a:r>
              <a:rPr lang="ko-KR" altLang="en-US" baseline="0" dirty="0"/>
              <a:t> 다양한 경로에서 </a:t>
            </a:r>
            <a:r>
              <a:rPr lang="ko-KR" altLang="en-US" baseline="0" dirty="0" err="1"/>
              <a:t>확진자가</a:t>
            </a:r>
            <a:r>
              <a:rPr lang="ko-KR" altLang="en-US" baseline="0" dirty="0"/>
              <a:t> 발생하면서 일일 </a:t>
            </a:r>
            <a:r>
              <a:rPr lang="ko-KR" altLang="en-US" baseline="0" dirty="0" err="1"/>
              <a:t>확진자수가</a:t>
            </a:r>
            <a:r>
              <a:rPr lang="ko-KR" altLang="en-US" baseline="0" dirty="0"/>
              <a:t> </a:t>
            </a:r>
            <a:r>
              <a:rPr lang="en-US" altLang="ko-KR" baseline="0" dirty="0"/>
              <a:t>11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24</a:t>
            </a:r>
            <a:r>
              <a:rPr lang="ko-KR" altLang="en-US" baseline="0" dirty="0"/>
              <a:t>일에 </a:t>
            </a:r>
            <a:r>
              <a:rPr lang="ko-KR" altLang="en-US" baseline="0" dirty="0" err="1"/>
              <a:t>두자릿수로</a:t>
            </a:r>
            <a:r>
              <a:rPr lang="ko-KR" altLang="en-US" baseline="0" dirty="0"/>
              <a:t> 증가하기 시작하면서 </a:t>
            </a:r>
            <a:r>
              <a:rPr lang="en-US" altLang="ko-KR" baseline="0" dirty="0"/>
              <a:t>11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30</a:t>
            </a:r>
            <a:r>
              <a:rPr lang="ko-KR" altLang="en-US" baseline="0" dirty="0"/>
              <a:t>일 일반병상가동률이 </a:t>
            </a:r>
            <a:r>
              <a:rPr lang="en-US" altLang="ko-KR" baseline="0" dirty="0"/>
              <a:t>98%</a:t>
            </a:r>
            <a:r>
              <a:rPr lang="ko-KR" altLang="en-US" baseline="0" dirty="0"/>
              <a:t>에 다다르는 병상이 없는 상황이 발생하였습니다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9E31D3-87BD-4F39-9D29-381998672CC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575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관련 기사로</a:t>
            </a:r>
            <a:r>
              <a:rPr lang="en-US" altLang="ko-KR" dirty="0"/>
              <a:t>, </a:t>
            </a:r>
            <a:r>
              <a:rPr lang="ko-KR" altLang="en-US" dirty="0"/>
              <a:t>산발적 확산에 방역당국의 역학조사가 감염속도를 따라잡지 못하는 한계에 부딪혔으며</a:t>
            </a:r>
            <a:r>
              <a:rPr lang="en-US" altLang="ko-KR" dirty="0"/>
              <a:t>, </a:t>
            </a:r>
            <a:r>
              <a:rPr lang="ko-KR" altLang="en-US" dirty="0"/>
              <a:t>당시 </a:t>
            </a:r>
            <a:r>
              <a:rPr lang="en-US" altLang="ko-KR" dirty="0"/>
              <a:t>209</a:t>
            </a:r>
            <a:r>
              <a:rPr lang="ko-KR" altLang="en-US" dirty="0"/>
              <a:t>개의 병상이 있었는데 최근 </a:t>
            </a:r>
            <a:r>
              <a:rPr lang="en-US" altLang="ko-KR" dirty="0"/>
              <a:t>6</a:t>
            </a:r>
            <a:r>
              <a:rPr lang="ko-KR" altLang="en-US" dirty="0"/>
              <a:t>일간 </a:t>
            </a:r>
            <a:r>
              <a:rPr lang="en-US" altLang="ko-KR" dirty="0"/>
              <a:t>167</a:t>
            </a:r>
            <a:r>
              <a:rPr lang="ko-KR" altLang="en-US" dirty="0"/>
              <a:t>명의 </a:t>
            </a:r>
            <a:r>
              <a:rPr lang="ko-KR" altLang="en-US" dirty="0" err="1"/>
              <a:t>확진자가</a:t>
            </a:r>
            <a:r>
              <a:rPr lang="ko-KR" altLang="en-US" dirty="0"/>
              <a:t> 발생하면서 병상이 포화되어</a:t>
            </a:r>
            <a:r>
              <a:rPr lang="ko-KR" altLang="en-US" baseline="0" dirty="0"/>
              <a:t> 경증환자 </a:t>
            </a:r>
            <a:r>
              <a:rPr lang="en-US" altLang="ko-KR" baseline="0" dirty="0"/>
              <a:t>20</a:t>
            </a:r>
            <a:r>
              <a:rPr lang="ko-KR" altLang="en-US" baseline="0" dirty="0"/>
              <a:t>여명이 대구 의료기관에 이송이 되었다는 내용입니다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의료원 </a:t>
            </a:r>
            <a:r>
              <a:rPr lang="en-US" altLang="ko-KR" baseline="0" dirty="0"/>
              <a:t>63</a:t>
            </a:r>
            <a:r>
              <a:rPr lang="ko-KR" altLang="en-US" baseline="0" dirty="0"/>
              <a:t>명상 추가 확보 및 </a:t>
            </a:r>
            <a:r>
              <a:rPr lang="ko-KR" altLang="en-US" baseline="0" dirty="0" err="1"/>
              <a:t>며칠후에</a:t>
            </a:r>
            <a:r>
              <a:rPr lang="ko-KR" altLang="en-US" baseline="0" dirty="0"/>
              <a:t> 생활치료센터를 열겠다는 내용도 있습니다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421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대구동산병원 현수막 보시면 </a:t>
            </a:r>
            <a:r>
              <a:rPr lang="en-US" altLang="ko-KR" dirty="0"/>
              <a:t>‘</a:t>
            </a:r>
            <a:r>
              <a:rPr lang="ko-KR" altLang="en-US" dirty="0"/>
              <a:t>부산시민 여러분의 빠른 쾌유를 빕니다</a:t>
            </a:r>
            <a:r>
              <a:rPr lang="en-US" altLang="ko-KR" dirty="0"/>
              <a:t>’</a:t>
            </a:r>
            <a:r>
              <a:rPr lang="ko-KR" altLang="en-US" dirty="0"/>
              <a:t>란 내용이 있습니다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10</a:t>
            </a:r>
            <a:r>
              <a:rPr lang="ko-KR" altLang="en-US" dirty="0" err="1"/>
              <a:t>개월전</a:t>
            </a:r>
            <a:r>
              <a:rPr lang="ko-KR" altLang="en-US" dirty="0"/>
              <a:t> </a:t>
            </a:r>
            <a:r>
              <a:rPr lang="en-US" altLang="ko-KR" dirty="0"/>
              <a:t>20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 err="1"/>
              <a:t>월달에</a:t>
            </a:r>
            <a:r>
              <a:rPr lang="ko-KR" altLang="en-US" dirty="0"/>
              <a:t> 부산대에서 청도대남병원의 </a:t>
            </a:r>
            <a:r>
              <a:rPr lang="ko-KR" altLang="en-US" dirty="0" err="1"/>
              <a:t>확진자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명을 지원한 것이 계기가 된 것으로 보입니다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96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의료대응에 있어서 </a:t>
            </a:r>
            <a:r>
              <a:rPr lang="ko-KR" altLang="en-US" dirty="0" err="1"/>
              <a:t>확진을</a:t>
            </a:r>
            <a:r>
              <a:rPr lang="ko-KR" altLang="en-US" dirty="0"/>
              <a:t> 위한 가장 중요한 단계인 검사관련입니다</a:t>
            </a:r>
            <a:r>
              <a:rPr lang="en-US" altLang="ko-KR" dirty="0"/>
              <a:t>. </a:t>
            </a:r>
            <a:r>
              <a:rPr lang="ko-KR" altLang="en-US" dirty="0"/>
              <a:t>모토는 </a:t>
            </a:r>
            <a:r>
              <a:rPr lang="en-US" altLang="ko-KR" dirty="0"/>
              <a:t>‘</a:t>
            </a:r>
            <a:r>
              <a:rPr lang="ko-KR" altLang="en-US" dirty="0"/>
              <a:t>시민건강</a:t>
            </a:r>
            <a:r>
              <a:rPr lang="en-US" altLang="ko-KR" dirty="0"/>
              <a:t>/</a:t>
            </a:r>
            <a:r>
              <a:rPr lang="ko-KR" altLang="en-US" dirty="0"/>
              <a:t>안전 무한책임 대응</a:t>
            </a:r>
            <a:r>
              <a:rPr lang="en-US" altLang="ko-KR" dirty="0"/>
              <a:t>’</a:t>
            </a:r>
            <a:r>
              <a:rPr lang="ko-KR" altLang="en-US" dirty="0"/>
              <a:t>으로 배경으로는 무증상</a:t>
            </a:r>
            <a:r>
              <a:rPr lang="en-US" altLang="ko-KR" dirty="0"/>
              <a:t>/</a:t>
            </a:r>
            <a:r>
              <a:rPr lang="ko-KR" altLang="en-US" dirty="0"/>
              <a:t>경증 감염원을 조기에 선체적으로 발견하며 </a:t>
            </a:r>
            <a:r>
              <a:rPr lang="ko-KR" altLang="en-US" dirty="0" err="1"/>
              <a:t>부산형</a:t>
            </a:r>
            <a:r>
              <a:rPr lang="ko-KR" altLang="en-US" dirty="0"/>
              <a:t> 방역체계구축에 있습니다</a:t>
            </a:r>
            <a:r>
              <a:rPr lang="en-US" altLang="ko-KR" dirty="0"/>
              <a:t>. </a:t>
            </a:r>
            <a:r>
              <a:rPr lang="ko-KR" altLang="en-US" dirty="0"/>
              <a:t>기간은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 </a:t>
            </a:r>
            <a:r>
              <a:rPr lang="en-US" altLang="ko-KR" dirty="0"/>
              <a:t>19</a:t>
            </a:r>
            <a:r>
              <a:rPr lang="ko-KR" altLang="en-US" dirty="0"/>
              <a:t>일부터 </a:t>
            </a:r>
            <a:r>
              <a:rPr lang="en-US" altLang="ko-KR" dirty="0"/>
              <a:t>23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일까지 운영하였습니다</a:t>
            </a:r>
            <a:r>
              <a:rPr lang="en-US" altLang="ko-KR" dirty="0"/>
              <a:t>. </a:t>
            </a:r>
            <a:r>
              <a:rPr lang="ko-KR" altLang="en-US" dirty="0"/>
              <a:t>검사소에는 총 </a:t>
            </a:r>
            <a:r>
              <a:rPr lang="en-US" altLang="ko-KR" dirty="0"/>
              <a:t>4</a:t>
            </a:r>
            <a:r>
              <a:rPr lang="ko-KR" altLang="en-US" dirty="0"/>
              <a:t>가지 종류로</a:t>
            </a:r>
            <a:r>
              <a:rPr lang="en-US" altLang="ko-KR" dirty="0"/>
              <a:t>, </a:t>
            </a:r>
            <a:r>
              <a:rPr lang="ko-KR" altLang="en-US" dirty="0"/>
              <a:t>첫째는</a:t>
            </a:r>
            <a:r>
              <a:rPr lang="en-US" altLang="ko-KR" dirty="0"/>
              <a:t> 20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 초반에 해외입국자에 대한 </a:t>
            </a:r>
            <a:r>
              <a:rPr lang="ko-KR" altLang="en-US" dirty="0" err="1"/>
              <a:t>선제적대응으로</a:t>
            </a:r>
            <a:r>
              <a:rPr lang="ko-KR" altLang="en-US" dirty="0"/>
              <a:t> 부산역 선별진료소이며</a:t>
            </a:r>
            <a:r>
              <a:rPr lang="en-US" altLang="ko-KR" dirty="0"/>
              <a:t>, </a:t>
            </a:r>
            <a:r>
              <a:rPr lang="ko-KR" altLang="en-US" dirty="0"/>
              <a:t>둘째로는 </a:t>
            </a:r>
            <a:r>
              <a:rPr lang="ko-KR" altLang="en-US" dirty="0" err="1"/>
              <a:t>비수도권</a:t>
            </a:r>
            <a:r>
              <a:rPr lang="ko-KR" altLang="en-US" dirty="0"/>
              <a:t> 최소 시비 </a:t>
            </a:r>
            <a:r>
              <a:rPr lang="en-US" altLang="ko-KR" dirty="0"/>
              <a:t>100%,</a:t>
            </a:r>
            <a:r>
              <a:rPr lang="en-US" altLang="ko-KR" baseline="0" dirty="0"/>
              <a:t> 111</a:t>
            </a:r>
            <a:r>
              <a:rPr lang="ko-KR" altLang="en-US" baseline="0" dirty="0"/>
              <a:t>억을 투입하여 구군 </a:t>
            </a:r>
            <a:r>
              <a:rPr lang="en-US" altLang="ko-KR" baseline="0" dirty="0"/>
              <a:t>15</a:t>
            </a:r>
            <a:r>
              <a:rPr lang="ko-KR" altLang="en-US" baseline="0" dirty="0"/>
              <a:t>개에 임시선별검사소를 </a:t>
            </a:r>
            <a:r>
              <a:rPr lang="en-US" altLang="ko-KR" baseline="0" dirty="0"/>
              <a:t>4</a:t>
            </a:r>
            <a:r>
              <a:rPr lang="ko-KR" altLang="en-US" baseline="0" dirty="0"/>
              <a:t>개월간 운영하였습니다</a:t>
            </a:r>
            <a:r>
              <a:rPr lang="en-US" altLang="ko-KR" baseline="0" dirty="0"/>
              <a:t>(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시비는 보건소 선별진료소 인력지원을 위하여 시비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그만큼 시에서 보건소를 위해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확보노력한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ko-KR" baseline="0" dirty="0"/>
              <a:t>. </a:t>
            </a:r>
            <a:r>
              <a:rPr lang="ko-KR" altLang="en-US" baseline="0" dirty="0"/>
              <a:t>셋째로는 </a:t>
            </a:r>
            <a:r>
              <a:rPr lang="en-US" altLang="ko-KR" baseline="0" dirty="0"/>
              <a:t>21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4</a:t>
            </a:r>
            <a:r>
              <a:rPr lang="ko-KR" altLang="en-US" baseline="0" dirty="0"/>
              <a:t>월부터 보건소업무 과부화 방지 및 선제적 검사체계를 위해 </a:t>
            </a:r>
            <a:r>
              <a:rPr lang="ko-KR" altLang="en-US" baseline="0" dirty="0" err="1"/>
              <a:t>시직영</a:t>
            </a:r>
            <a:r>
              <a:rPr lang="ko-KR" altLang="en-US" baseline="0" dirty="0"/>
              <a:t> 임시선별검사소를 </a:t>
            </a:r>
            <a:r>
              <a:rPr lang="en-US" altLang="ko-KR" baseline="0" dirty="0"/>
              <a:t>10</a:t>
            </a:r>
            <a:r>
              <a:rPr lang="ko-KR" altLang="en-US" baseline="0" dirty="0"/>
              <a:t>개 운영하였습니다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넷째로는 찾아가는 이동형 임시선별검사소를 </a:t>
            </a:r>
            <a:r>
              <a:rPr lang="en-US" altLang="ko-KR" baseline="0" dirty="0"/>
              <a:t>126</a:t>
            </a:r>
            <a:r>
              <a:rPr lang="ko-KR" altLang="en-US" baseline="0" dirty="0"/>
              <a:t>개 여러 고위험군 맞춤으로 운영하였습니다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또한 </a:t>
            </a:r>
            <a:r>
              <a:rPr lang="ko-KR" altLang="en-US" baseline="0" dirty="0" err="1"/>
              <a:t>모바일</a:t>
            </a:r>
            <a:r>
              <a:rPr lang="ko-KR" altLang="en-US" baseline="0" dirty="0"/>
              <a:t> 선별진료소 혼잡도 </a:t>
            </a:r>
            <a:r>
              <a:rPr lang="ko-KR" altLang="en-US" baseline="0" dirty="0" err="1"/>
              <a:t>알림서비스및</a:t>
            </a:r>
            <a:r>
              <a:rPr lang="ko-KR" altLang="en-US" baseline="0" dirty="0"/>
              <a:t> </a:t>
            </a:r>
            <a:r>
              <a:rPr lang="en-US" altLang="ko-KR" baseline="0" dirty="0"/>
              <a:t>PCR </a:t>
            </a:r>
            <a:r>
              <a:rPr lang="ko-KR" altLang="en-US" baseline="0" dirty="0"/>
              <a:t>우선순위 </a:t>
            </a:r>
            <a:r>
              <a:rPr lang="ko-KR" altLang="en-US" baseline="0" dirty="0" err="1"/>
              <a:t>미해당자</a:t>
            </a:r>
            <a:r>
              <a:rPr lang="ko-KR" altLang="en-US" baseline="0" dirty="0"/>
              <a:t> 대상 자가진단키스를 </a:t>
            </a:r>
            <a:r>
              <a:rPr lang="en-US" altLang="ko-KR" baseline="0" dirty="0"/>
              <a:t>130</a:t>
            </a:r>
            <a:r>
              <a:rPr lang="ko-KR" altLang="en-US" baseline="0" dirty="0"/>
              <a:t>만개 </a:t>
            </a:r>
            <a:r>
              <a:rPr lang="en-US" altLang="ko-KR" baseline="0" dirty="0"/>
              <a:t>43</a:t>
            </a:r>
            <a:r>
              <a:rPr lang="ko-KR" altLang="en-US" baseline="0" dirty="0" err="1"/>
              <a:t>억원의</a:t>
            </a:r>
            <a:r>
              <a:rPr lang="ko-KR" altLang="en-US" baseline="0" dirty="0"/>
              <a:t> 비용으로 확보하였습니다</a:t>
            </a:r>
            <a:r>
              <a:rPr lang="en-US" altLang="ko-KR" baseline="0" dirty="0"/>
              <a:t>.</a:t>
            </a:r>
            <a:r>
              <a:rPr lang="ko-KR" altLang="en-US" baseline="0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고정형 임시선별검사소 사진입니다</a:t>
            </a:r>
            <a:r>
              <a:rPr lang="en-US" altLang="ko-KR" dirty="0"/>
              <a:t>. </a:t>
            </a:r>
            <a:r>
              <a:rPr lang="ko-KR" altLang="en-US" dirty="0"/>
              <a:t>부산시청 등대광장의 검사소는 직접 컨테이너 </a:t>
            </a:r>
            <a:r>
              <a:rPr lang="ko-KR" altLang="en-US" dirty="0" err="1"/>
              <a:t>주문제작하여</a:t>
            </a:r>
            <a:r>
              <a:rPr lang="ko-KR" altLang="en-US" dirty="0"/>
              <a:t> 대여한 것으로 이동형 에어컨</a:t>
            </a:r>
            <a:r>
              <a:rPr lang="en-US" altLang="ko-KR" dirty="0"/>
              <a:t>, </a:t>
            </a:r>
            <a:r>
              <a:rPr lang="ko-KR" altLang="en-US" dirty="0"/>
              <a:t>난방기구를 안에 구비하여 다양한 기후에 대비하였으며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dirty="0"/>
              <a:t>문을 </a:t>
            </a:r>
            <a:r>
              <a:rPr lang="ko-KR" altLang="en-US" dirty="0" err="1"/>
              <a:t>자바라로</a:t>
            </a:r>
            <a:r>
              <a:rPr lang="ko-KR" altLang="en-US" dirty="0"/>
              <a:t> </a:t>
            </a:r>
            <a:r>
              <a:rPr lang="ko-KR" altLang="en-US" dirty="0" err="1"/>
              <a:t>여닫을수</a:t>
            </a:r>
            <a:r>
              <a:rPr lang="ko-KR" altLang="en-US" dirty="0"/>
              <a:t> 있게 해서 환기에 용이하게 만들어 감염관리에 도움이 되게 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이동형 임시선별검사소 설치 및 운영 사진입니다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8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왼쪽은 의료기관에 </a:t>
            </a:r>
            <a:r>
              <a:rPr lang="ko-KR" altLang="en-US" dirty="0" err="1"/>
              <a:t>확진자</a:t>
            </a:r>
            <a:r>
              <a:rPr lang="ko-KR" altLang="en-US" dirty="0"/>
              <a:t> 발생시에 </a:t>
            </a:r>
            <a:r>
              <a:rPr lang="ko-KR" altLang="en-US" dirty="0" err="1"/>
              <a:t>접촉자에</a:t>
            </a:r>
            <a:r>
              <a:rPr lang="ko-KR" altLang="en-US" dirty="0"/>
              <a:t> 대한 상세내용</a:t>
            </a:r>
            <a:r>
              <a:rPr lang="en-US" altLang="ko-KR" dirty="0"/>
              <a:t>(</a:t>
            </a:r>
            <a:r>
              <a:rPr lang="ko-KR" altLang="en-US" dirty="0"/>
              <a:t>기관</a:t>
            </a:r>
            <a:r>
              <a:rPr lang="en-US" altLang="ko-KR" dirty="0"/>
              <a:t>, </a:t>
            </a:r>
            <a:r>
              <a:rPr lang="ko-KR" altLang="en-US" dirty="0"/>
              <a:t>직종</a:t>
            </a:r>
            <a:r>
              <a:rPr lang="en-US" altLang="ko-KR" dirty="0"/>
              <a:t>,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 err="1"/>
              <a:t>접촉시</a:t>
            </a:r>
            <a:r>
              <a:rPr lang="ko-KR" altLang="en-US" dirty="0"/>
              <a:t> </a:t>
            </a:r>
            <a:r>
              <a:rPr lang="ko-KR" altLang="en-US" dirty="0" err="1"/>
              <a:t>확진자</a:t>
            </a:r>
            <a:r>
              <a:rPr lang="ko-KR" altLang="en-US" dirty="0"/>
              <a:t> 마스크 착용여부</a:t>
            </a:r>
            <a:r>
              <a:rPr lang="en-US" altLang="ko-KR" dirty="0"/>
              <a:t>, </a:t>
            </a:r>
            <a:r>
              <a:rPr lang="ko-KR" altLang="en-US" dirty="0" err="1"/>
              <a:t>접촉자</a:t>
            </a:r>
            <a:r>
              <a:rPr lang="ko-KR" altLang="en-US" dirty="0"/>
              <a:t> 마스크 착용여부</a:t>
            </a:r>
            <a:r>
              <a:rPr lang="en-US" altLang="ko-KR" dirty="0"/>
              <a:t>, </a:t>
            </a:r>
            <a:r>
              <a:rPr lang="ko-KR" altLang="en-US" dirty="0" err="1"/>
              <a:t>마스크외</a:t>
            </a:r>
            <a:r>
              <a:rPr lang="ko-KR" altLang="en-US" dirty="0"/>
              <a:t> 보호구 착용</a:t>
            </a:r>
            <a:r>
              <a:rPr lang="en-US" altLang="ko-KR" dirty="0"/>
              <a:t>, </a:t>
            </a:r>
            <a:r>
              <a:rPr lang="ko-KR" altLang="en-US" dirty="0"/>
              <a:t>접촉장소</a:t>
            </a:r>
            <a:r>
              <a:rPr lang="en-US" altLang="ko-KR" dirty="0"/>
              <a:t>, </a:t>
            </a:r>
            <a:r>
              <a:rPr lang="ko-KR" altLang="en-US" dirty="0" err="1"/>
              <a:t>접촉시</a:t>
            </a:r>
            <a:r>
              <a:rPr lang="ko-KR" altLang="en-US" dirty="0"/>
              <a:t> 업무</a:t>
            </a:r>
            <a:r>
              <a:rPr lang="en-US" altLang="ko-KR" dirty="0"/>
              <a:t>, </a:t>
            </a:r>
            <a:r>
              <a:rPr lang="ko-KR" altLang="en-US" dirty="0"/>
              <a:t>환자 신체접촉 여부</a:t>
            </a:r>
            <a:r>
              <a:rPr lang="en-US" altLang="ko-KR" dirty="0"/>
              <a:t>, </a:t>
            </a:r>
            <a:r>
              <a:rPr lang="ko-KR" altLang="en-US" dirty="0"/>
              <a:t>누적 접촉시간</a:t>
            </a:r>
            <a:r>
              <a:rPr lang="en-US" altLang="ko-KR" dirty="0"/>
              <a:t>, </a:t>
            </a:r>
            <a:r>
              <a:rPr lang="ko-KR" altLang="en-US" dirty="0"/>
              <a:t>접촉거리</a:t>
            </a:r>
            <a:r>
              <a:rPr lang="en-US" altLang="ko-KR" dirty="0"/>
              <a:t>, </a:t>
            </a:r>
            <a:r>
              <a:rPr lang="ko-KR" altLang="en-US" dirty="0" err="1"/>
              <a:t>손위생적절성</a:t>
            </a:r>
            <a:r>
              <a:rPr lang="en-US" altLang="ko-KR" dirty="0"/>
              <a:t>, </a:t>
            </a:r>
            <a:r>
              <a:rPr lang="ko-KR" altLang="en-US" dirty="0"/>
              <a:t>코로나접종여부</a:t>
            </a:r>
            <a:r>
              <a:rPr lang="en-US" altLang="ko-KR" dirty="0"/>
              <a:t>, </a:t>
            </a:r>
            <a:r>
              <a:rPr lang="ko-KR" altLang="en-US" dirty="0"/>
              <a:t>보건소 조치분류</a:t>
            </a:r>
            <a:r>
              <a:rPr lang="en-US" altLang="ko-KR" dirty="0"/>
              <a:t>, </a:t>
            </a:r>
            <a:r>
              <a:rPr lang="ko-KR" altLang="en-US" dirty="0"/>
              <a:t>시 조치분류</a:t>
            </a:r>
            <a:r>
              <a:rPr lang="en-US" altLang="ko-KR" dirty="0"/>
              <a:t>)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오른쪽은 </a:t>
            </a:r>
            <a:r>
              <a:rPr lang="ko-KR" altLang="en-US" dirty="0" err="1"/>
              <a:t>확진환자와</a:t>
            </a:r>
            <a:r>
              <a:rPr lang="ko-KR" altLang="en-US" dirty="0"/>
              <a:t> 접촉한 사람에 대한 설문지 즉 </a:t>
            </a:r>
            <a:r>
              <a:rPr lang="ko-KR" altLang="en-US" dirty="0" err="1"/>
              <a:t>접촉력</a:t>
            </a:r>
            <a:r>
              <a:rPr lang="ko-KR" altLang="en-US" dirty="0"/>
              <a:t> </a:t>
            </a:r>
            <a:r>
              <a:rPr lang="ko-KR" altLang="en-US" dirty="0" err="1"/>
              <a:t>조사지입니다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당시 초반에 코로나</a:t>
            </a:r>
            <a:r>
              <a:rPr lang="en-US" altLang="ko-KR" dirty="0"/>
              <a:t>19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급감염병이어서 관련하여 자가격리 및 </a:t>
            </a:r>
            <a:r>
              <a:rPr lang="ko-KR" altLang="en-US" dirty="0" err="1"/>
              <a:t>코호트격리등의</a:t>
            </a:r>
            <a:r>
              <a:rPr lang="ko-KR" altLang="en-US" dirty="0"/>
              <a:t> 최종판단을 </a:t>
            </a:r>
            <a:r>
              <a:rPr lang="ko-KR" altLang="en-US" dirty="0" err="1"/>
              <a:t>시역학조사관이</a:t>
            </a:r>
            <a:r>
              <a:rPr lang="ko-KR" altLang="en-US" dirty="0"/>
              <a:t> 초반에는 모두 시행하였습니다</a:t>
            </a:r>
            <a:r>
              <a:rPr lang="en-US" altLang="ko-KR" dirty="0"/>
              <a:t>. </a:t>
            </a:r>
            <a:r>
              <a:rPr lang="ko-KR" altLang="en-US" dirty="0"/>
              <a:t>이에</a:t>
            </a:r>
            <a:r>
              <a:rPr lang="ko-KR" altLang="en-US" baseline="0" dirty="0"/>
              <a:t> 관련 내용을 지원단에서 양식으로 만들어서 지원단 두 팀장님과 저와 </a:t>
            </a:r>
            <a:r>
              <a:rPr lang="ko-KR" altLang="en-US" baseline="0" dirty="0" err="1"/>
              <a:t>하루종일</a:t>
            </a:r>
            <a:r>
              <a:rPr lang="ko-KR" altLang="en-US" baseline="0" dirty="0"/>
              <a:t> 판단을 내렸던 추억이 있습니다</a:t>
            </a:r>
            <a:r>
              <a:rPr lang="en-US" altLang="ko-KR" baseline="0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219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2020</a:t>
            </a:r>
            <a:r>
              <a:rPr lang="ko-KR" altLang="en-US" dirty="0"/>
              <a:t>년 말부터 </a:t>
            </a:r>
            <a:r>
              <a:rPr lang="en-US" altLang="ko-KR" dirty="0"/>
              <a:t>2023</a:t>
            </a:r>
            <a:r>
              <a:rPr lang="ko-KR" altLang="en-US" dirty="0"/>
              <a:t>년까지 코로나 </a:t>
            </a:r>
            <a:r>
              <a:rPr lang="en-US" altLang="ko-KR" dirty="0"/>
              <a:t>19</a:t>
            </a:r>
            <a:r>
              <a:rPr lang="en-US" altLang="ko-KR" baseline="0" dirty="0"/>
              <a:t> </a:t>
            </a:r>
            <a:r>
              <a:rPr lang="ko-KR" altLang="en-US" baseline="0" dirty="0"/>
              <a:t>자원관리로 이송 및 물품에 관한 내용입니다</a:t>
            </a:r>
            <a:r>
              <a:rPr lang="en-US" altLang="ko-KR" baseline="0" dirty="0"/>
              <a:t>. 2020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12</a:t>
            </a:r>
            <a:r>
              <a:rPr lang="ko-KR" altLang="en-US" baseline="0" dirty="0"/>
              <a:t>월 </a:t>
            </a:r>
            <a:r>
              <a:rPr lang="ko-KR" altLang="en-US" baseline="0" dirty="0" err="1"/>
              <a:t>월임대료</a:t>
            </a:r>
            <a:r>
              <a:rPr lang="ko-KR" altLang="en-US" baseline="0" dirty="0"/>
              <a:t> </a:t>
            </a:r>
            <a:r>
              <a:rPr lang="en-US" altLang="ko-KR" baseline="0" dirty="0"/>
              <a:t>286</a:t>
            </a:r>
            <a:r>
              <a:rPr lang="ko-KR" altLang="en-US" baseline="0" dirty="0"/>
              <a:t>만원을 들여 </a:t>
            </a:r>
            <a:r>
              <a:rPr lang="ko-KR" altLang="en-US" baseline="0" dirty="0" err="1"/>
              <a:t>감염병대응물품</a:t>
            </a:r>
            <a:r>
              <a:rPr lang="ko-KR" altLang="en-US" baseline="0" dirty="0"/>
              <a:t> 저장 관리를 위한 방역창고를 대여하였으며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코로나 </a:t>
            </a:r>
            <a:r>
              <a:rPr lang="en-US" altLang="ko-KR" baseline="0" dirty="0"/>
              <a:t>19 </a:t>
            </a:r>
            <a:r>
              <a:rPr lang="ko-KR" altLang="en-US" baseline="0" dirty="0"/>
              <a:t>중환자를 위한 중증치료장비를 </a:t>
            </a:r>
            <a:r>
              <a:rPr lang="en-US" altLang="ko-KR" baseline="0" dirty="0"/>
              <a:t>9</a:t>
            </a:r>
            <a:r>
              <a:rPr lang="ko-KR" altLang="en-US" baseline="0" dirty="0"/>
              <a:t>억 </a:t>
            </a:r>
            <a:r>
              <a:rPr lang="en-US" altLang="ko-KR" baseline="0" dirty="0"/>
              <a:t>6</a:t>
            </a:r>
            <a:r>
              <a:rPr lang="ko-KR" altLang="en-US" baseline="0" dirty="0"/>
              <a:t>천 </a:t>
            </a:r>
            <a:r>
              <a:rPr lang="en-US" altLang="ko-KR" baseline="0" dirty="0"/>
              <a:t>9</a:t>
            </a:r>
            <a:r>
              <a:rPr lang="ko-KR" altLang="en-US" baseline="0" dirty="0" err="1"/>
              <a:t>백만원을</a:t>
            </a:r>
            <a:r>
              <a:rPr lang="ko-KR" altLang="en-US" baseline="0" dirty="0"/>
              <a:t> 들여 </a:t>
            </a:r>
            <a:r>
              <a:rPr lang="en-US" altLang="ko-KR" baseline="0" dirty="0"/>
              <a:t>16</a:t>
            </a:r>
            <a:r>
              <a:rPr lang="ko-KR" altLang="en-US" baseline="0" dirty="0"/>
              <a:t>개 병원에 장비구입비를 지원하였습니다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또한 재택치료에 있어서 투석이나 특수상황에서 </a:t>
            </a:r>
            <a:r>
              <a:rPr lang="ko-KR" altLang="en-US" baseline="0" dirty="0" err="1"/>
              <a:t>비응급</a:t>
            </a:r>
            <a:r>
              <a:rPr lang="ko-KR" altLang="en-US" baseline="0" dirty="0"/>
              <a:t> 이송을 위한 방역차량 </a:t>
            </a:r>
            <a:r>
              <a:rPr lang="en-US" altLang="ko-KR" baseline="0" dirty="0"/>
              <a:t>24</a:t>
            </a:r>
            <a:r>
              <a:rPr lang="ko-KR" altLang="en-US" baseline="0" dirty="0"/>
              <a:t>대를 </a:t>
            </a:r>
            <a:r>
              <a:rPr lang="en-US" altLang="ko-KR" baseline="0" dirty="0"/>
              <a:t>1</a:t>
            </a:r>
            <a:r>
              <a:rPr lang="ko-KR" altLang="en-US" baseline="0" dirty="0" err="1"/>
              <a:t>년동안</a:t>
            </a:r>
            <a:r>
              <a:rPr lang="ko-KR" altLang="en-US" baseline="0" dirty="0"/>
              <a:t> 운영하여 총 </a:t>
            </a:r>
            <a:r>
              <a:rPr lang="en-US" altLang="ko-KR" baseline="0" dirty="0"/>
              <a:t>2583</a:t>
            </a:r>
            <a:r>
              <a:rPr lang="ko-KR" altLang="en-US" baseline="0" dirty="0"/>
              <a:t>명을 이송한 실적이 있습니다</a:t>
            </a:r>
            <a:r>
              <a:rPr lang="en-US" altLang="ko-KR" baseline="0" dirty="0"/>
              <a:t>. </a:t>
            </a:r>
            <a:r>
              <a:rPr lang="ko-KR" altLang="en-US" baseline="0" dirty="0" err="1"/>
              <a:t>오미크론</a:t>
            </a:r>
            <a:r>
              <a:rPr lang="ko-KR" altLang="en-US" baseline="0" dirty="0"/>
              <a:t> 확산시기 </a:t>
            </a:r>
            <a:r>
              <a:rPr lang="ko-KR" altLang="en-US" baseline="0" dirty="0" err="1"/>
              <a:t>일반관리군에</a:t>
            </a:r>
            <a:r>
              <a:rPr lang="ko-KR" altLang="en-US" baseline="0" dirty="0"/>
              <a:t> 대한 건강관리세트 지급중단으로 인하여 </a:t>
            </a:r>
            <a:r>
              <a:rPr lang="ko-KR" altLang="en-US" baseline="0" dirty="0" err="1"/>
              <a:t>이들중</a:t>
            </a:r>
            <a:r>
              <a:rPr lang="ko-KR" altLang="en-US" baseline="0" dirty="0"/>
              <a:t> 의료취약계층 </a:t>
            </a:r>
            <a:r>
              <a:rPr lang="ko-KR" altLang="en-US" baseline="0" dirty="0" err="1"/>
              <a:t>재택치료자를</a:t>
            </a:r>
            <a:r>
              <a:rPr lang="ko-KR" altLang="en-US" baseline="0" dirty="0"/>
              <a:t> 위하여 </a:t>
            </a:r>
            <a:r>
              <a:rPr lang="en-US" altLang="ko-KR" baseline="0" dirty="0"/>
              <a:t>10</a:t>
            </a:r>
            <a:r>
              <a:rPr lang="ko-KR" altLang="en-US" baseline="0" dirty="0" err="1"/>
              <a:t>만세트를</a:t>
            </a:r>
            <a:r>
              <a:rPr lang="ko-KR" altLang="en-US" baseline="0" dirty="0"/>
              <a:t> 지원하였습니다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36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11</a:t>
            </a:r>
            <a:r>
              <a:rPr lang="ko-KR" altLang="en-US" dirty="0"/>
              <a:t>월에는</a:t>
            </a:r>
            <a:r>
              <a:rPr lang="en-US" altLang="ko-KR" dirty="0"/>
              <a:t> </a:t>
            </a:r>
            <a:r>
              <a:rPr lang="ko-KR" altLang="en-US" dirty="0" err="1"/>
              <a:t>중환자병상가동율</a:t>
            </a:r>
            <a:r>
              <a:rPr lang="ko-KR" altLang="en-US" dirty="0"/>
              <a:t> 또한 </a:t>
            </a:r>
            <a:r>
              <a:rPr lang="en-US" altLang="ko-KR" dirty="0"/>
              <a:t>60%</a:t>
            </a:r>
            <a:r>
              <a:rPr lang="ko-KR" altLang="en-US" dirty="0"/>
              <a:t>를 넘게 되어 그간 중환자병상을 차지하고 있는 환자에 대한 치료내용을 확인한 결과 우리가 흔히 알고 있는 중증장비를 사용하고 있는 환자가 </a:t>
            </a:r>
            <a:r>
              <a:rPr lang="ko-KR" altLang="en-US" dirty="0" err="1"/>
              <a:t>전체중에</a:t>
            </a:r>
            <a:r>
              <a:rPr lang="ko-KR" altLang="en-US" dirty="0"/>
              <a:t> </a:t>
            </a:r>
            <a:r>
              <a:rPr lang="en-US" altLang="ko-KR" dirty="0"/>
              <a:t>50%</a:t>
            </a:r>
            <a:r>
              <a:rPr lang="ko-KR" altLang="en-US" dirty="0"/>
              <a:t>밖에 안됨을 확인하였습니다</a:t>
            </a:r>
            <a:r>
              <a:rPr lang="en-US" altLang="ko-KR" dirty="0"/>
              <a:t>. </a:t>
            </a:r>
            <a:r>
              <a:rPr lang="ko-KR" altLang="en-US" dirty="0"/>
              <a:t>이는 중환자 </a:t>
            </a:r>
            <a:r>
              <a:rPr lang="ko-KR" altLang="en-US" dirty="0" err="1"/>
              <a:t>입실기준중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번째에 분당 </a:t>
            </a:r>
            <a:r>
              <a:rPr lang="en-US" altLang="ko-KR" dirty="0"/>
              <a:t>5</a:t>
            </a:r>
            <a:r>
              <a:rPr lang="ko-KR" altLang="en-US" dirty="0"/>
              <a:t>리터 이상으로 증가하는 환자란 문구가 있어서인데요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이에 추후</a:t>
            </a:r>
            <a:r>
              <a:rPr lang="ko-KR" altLang="en-US" baseline="0" dirty="0"/>
              <a:t> 단순 산소치료는 중환자실에 입실 못하도록 부산시 자체 기준을 강화하는 안을 마련하여 관리하게 됩니다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2020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8</a:t>
            </a:r>
            <a:r>
              <a:rPr lang="ko-KR" altLang="en-US" baseline="0" dirty="0" err="1"/>
              <a:t>월달에</a:t>
            </a:r>
            <a:r>
              <a:rPr lang="ko-KR" altLang="en-US" baseline="0" dirty="0"/>
              <a:t> 나온 의료기관 대응지침에는 </a:t>
            </a:r>
            <a:r>
              <a:rPr lang="en-US" altLang="ko-KR" baseline="0" dirty="0"/>
              <a:t>WHO</a:t>
            </a:r>
            <a:r>
              <a:rPr lang="ko-KR" altLang="en-US" baseline="0" dirty="0"/>
              <a:t>에서 마련한 </a:t>
            </a:r>
            <a:r>
              <a:rPr lang="en-US" altLang="ko-KR" baseline="0" dirty="0"/>
              <a:t>1,2</a:t>
            </a:r>
            <a:r>
              <a:rPr lang="ko-KR" altLang="en-US" baseline="0" dirty="0"/>
              <a:t>차 의료기관에서 </a:t>
            </a:r>
            <a:r>
              <a:rPr lang="en-US" altLang="ko-KR" baseline="0" dirty="0"/>
              <a:t>3</a:t>
            </a:r>
            <a:r>
              <a:rPr lang="ko-KR" altLang="en-US" baseline="0" dirty="0"/>
              <a:t>차 의료기관으로의 전원알고리즘이 소개되어 있지만</a:t>
            </a:r>
            <a:r>
              <a:rPr lang="en-US" altLang="ko-KR" baseline="0" dirty="0"/>
              <a:t>, </a:t>
            </a:r>
            <a:r>
              <a:rPr lang="ko-KR" altLang="en-US" baseline="0" dirty="0"/>
              <a:t>현장에서는 준비가 되지 않은 상태였습니다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214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월에 부산시는 생활치료센터를 연달아 </a:t>
            </a:r>
            <a:r>
              <a:rPr lang="en-US" altLang="ko-KR" dirty="0"/>
              <a:t>3</a:t>
            </a:r>
            <a:r>
              <a:rPr lang="ko-KR" altLang="en-US" dirty="0"/>
              <a:t>개를 개소하게 되며</a:t>
            </a:r>
            <a:r>
              <a:rPr lang="en-US" altLang="ko-KR" dirty="0"/>
              <a:t>, </a:t>
            </a:r>
            <a:r>
              <a:rPr lang="ko-KR" altLang="en-US" dirty="0"/>
              <a:t>당시 </a:t>
            </a:r>
            <a:r>
              <a:rPr lang="ko-KR" altLang="en-US" dirty="0" err="1"/>
              <a:t>생치마다</a:t>
            </a:r>
            <a:r>
              <a:rPr lang="ko-KR" altLang="en-US" dirty="0"/>
              <a:t> 담당하는 대학병원이 달랐고 자체 마련한 지침이나 업무분장이 </a:t>
            </a:r>
            <a:r>
              <a:rPr lang="ko-KR" altLang="en-US" dirty="0" err="1"/>
              <a:t>있엇으나</a:t>
            </a:r>
            <a:r>
              <a:rPr lang="ko-KR" altLang="en-US" dirty="0"/>
              <a:t> 서로 공유되지 못한 점이 아쉬웠습니다</a:t>
            </a:r>
            <a:r>
              <a:rPr lang="en-US" altLang="ko-KR" dirty="0"/>
              <a:t>. </a:t>
            </a:r>
            <a:r>
              <a:rPr lang="ko-KR" altLang="en-US" dirty="0"/>
              <a:t>그 이후에는 중앙에서 </a:t>
            </a:r>
            <a:r>
              <a:rPr lang="ko-KR" altLang="en-US" dirty="0" err="1"/>
              <a:t>생치관련</a:t>
            </a:r>
            <a:r>
              <a:rPr lang="ko-KR" altLang="en-US" dirty="0"/>
              <a:t> 경험에 대한 강의가 진행이 되었으며 특히 전원에 대한 요인에 내용이 주요했습니다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효율적인 전원의 이유는 적절한 치료를 적시에 받기 위함이며</a:t>
            </a:r>
            <a:r>
              <a:rPr lang="en-US" altLang="ko-KR" dirty="0"/>
              <a:t>, </a:t>
            </a:r>
            <a:r>
              <a:rPr lang="ko-KR" altLang="en-US" dirty="0"/>
              <a:t>의료자원의 효율적인 이용 및 행정력 낭비의 방지를 위함이란 내용을 필두로 전원중 불가피한 요인 즉 중증으로의 진행</a:t>
            </a:r>
            <a:r>
              <a:rPr lang="en-US" altLang="ko-KR" dirty="0"/>
              <a:t>, </a:t>
            </a:r>
            <a:r>
              <a:rPr lang="ko-KR" altLang="en-US" dirty="0" err="1"/>
              <a:t>비치약으로</a:t>
            </a:r>
            <a:r>
              <a:rPr lang="ko-KR" altLang="en-US" dirty="0"/>
              <a:t> </a:t>
            </a:r>
            <a:r>
              <a:rPr lang="ko-KR" altLang="en-US" dirty="0" err="1"/>
              <a:t>조절안되는</a:t>
            </a:r>
            <a:r>
              <a:rPr lang="ko-KR" altLang="en-US" dirty="0"/>
              <a:t> 신체증상 악화</a:t>
            </a:r>
            <a:r>
              <a:rPr lang="en-US" altLang="ko-KR" dirty="0"/>
              <a:t>, </a:t>
            </a:r>
            <a:r>
              <a:rPr lang="ko-KR" altLang="en-US" dirty="0"/>
              <a:t>정신증상 악화는 신속히 전원을 하되</a:t>
            </a:r>
            <a:r>
              <a:rPr lang="en-US" altLang="ko-KR" dirty="0"/>
              <a:t>, </a:t>
            </a:r>
            <a:r>
              <a:rPr lang="ko-KR" altLang="en-US" dirty="0" err="1"/>
              <a:t>조절가능한</a:t>
            </a:r>
            <a:r>
              <a:rPr lang="ko-KR" altLang="en-US" dirty="0"/>
              <a:t> 요인 단순한 불안감으로 전원 원하거나</a:t>
            </a:r>
            <a:r>
              <a:rPr lang="en-US" altLang="ko-KR" dirty="0"/>
              <a:t>, </a:t>
            </a:r>
            <a:r>
              <a:rPr lang="ko-KR" altLang="en-US" dirty="0" err="1"/>
              <a:t>환자중</a:t>
            </a:r>
            <a:r>
              <a:rPr lang="ko-KR" altLang="en-US" dirty="0"/>
              <a:t> </a:t>
            </a:r>
            <a:r>
              <a:rPr lang="ko-KR" altLang="en-US" dirty="0" err="1"/>
              <a:t>고위험이</a:t>
            </a:r>
            <a:r>
              <a:rPr lang="ko-KR" altLang="en-US" dirty="0"/>
              <a:t> 있는 경증 환자나 본인이 먹던 약이 소진된 경우는 최대한 줄이려는 노력을 해야 한다는 내용이었습니다</a:t>
            </a:r>
            <a:r>
              <a:rPr lang="en-US" altLang="ko-KR" dirty="0"/>
              <a:t>. </a:t>
            </a:r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ko-KR" altLang="en-US" dirty="0"/>
              <a:t>흡연자의 금당증상 예방을 위해 니코틴 패치를 </a:t>
            </a:r>
            <a:r>
              <a:rPr lang="en-US" altLang="ko-KR" dirty="0"/>
              <a:t>1</a:t>
            </a:r>
            <a:r>
              <a:rPr lang="ko-KR" altLang="en-US" dirty="0"/>
              <a:t>일 </a:t>
            </a:r>
            <a:r>
              <a:rPr lang="en-US" altLang="ko-KR" dirty="0"/>
              <a:t>1</a:t>
            </a:r>
            <a:r>
              <a:rPr lang="ko-KR" altLang="en-US" dirty="0"/>
              <a:t>개씩 지급하는 안도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912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2021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월에는 부산 </a:t>
            </a:r>
            <a:r>
              <a:rPr lang="ko-KR" altLang="en-US" dirty="0" err="1"/>
              <a:t>항운노조</a:t>
            </a:r>
            <a:r>
              <a:rPr lang="ko-KR" altLang="en-US" dirty="0"/>
              <a:t> 감천지부와 관련하여 </a:t>
            </a:r>
            <a:r>
              <a:rPr lang="ko-KR" altLang="en-US" dirty="0" err="1"/>
              <a:t>확진자가</a:t>
            </a:r>
            <a:r>
              <a:rPr lang="ko-KR" altLang="en-US" dirty="0"/>
              <a:t> </a:t>
            </a:r>
            <a:r>
              <a:rPr lang="ko-KR" altLang="en-US" dirty="0" err="1"/>
              <a:t>두자릿수로</a:t>
            </a:r>
            <a:r>
              <a:rPr lang="ko-KR" altLang="en-US" dirty="0"/>
              <a:t> 증가됨에 따라 </a:t>
            </a:r>
            <a:r>
              <a:rPr lang="en-US" altLang="ko-KR" dirty="0"/>
              <a:t>107</a:t>
            </a:r>
            <a:r>
              <a:rPr lang="ko-KR" altLang="en-US" dirty="0"/>
              <a:t>명 자가격리 및 조합원 </a:t>
            </a:r>
            <a:r>
              <a:rPr lang="en-US" altLang="ko-KR" dirty="0"/>
              <a:t>1</a:t>
            </a:r>
            <a:r>
              <a:rPr lang="ko-KR" altLang="en-US" dirty="0" err="1"/>
              <a:t>만명에</a:t>
            </a:r>
            <a:r>
              <a:rPr lang="ko-KR" altLang="en-US" dirty="0"/>
              <a:t> 대한 자율진단검사를 실시한 적이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554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코로나</a:t>
            </a:r>
            <a:r>
              <a:rPr lang="en-US" altLang="ko-KR" dirty="0"/>
              <a:t>19 </a:t>
            </a:r>
            <a:r>
              <a:rPr lang="ko-KR" altLang="en-US" dirty="0"/>
              <a:t>예방접종은 </a:t>
            </a:r>
            <a:r>
              <a:rPr lang="en-US" altLang="ko-KR" dirty="0"/>
              <a:t>2021</a:t>
            </a:r>
            <a:r>
              <a:rPr lang="ko-KR" altLang="en-US" dirty="0"/>
              <a:t>년</a:t>
            </a:r>
            <a:r>
              <a:rPr lang="ko-KR" altLang="en-US" baseline="0" dirty="0"/>
              <a:t> </a:t>
            </a:r>
            <a:r>
              <a:rPr lang="en-US" altLang="ko-KR" baseline="0" dirty="0"/>
              <a:t>2</a:t>
            </a:r>
            <a:r>
              <a:rPr lang="ko-KR" altLang="en-US" baseline="0" dirty="0"/>
              <a:t>월에 처음으로 시작하여 부산시는 </a:t>
            </a:r>
            <a:r>
              <a:rPr lang="en-US" altLang="ko-KR" baseline="0" dirty="0"/>
              <a:t>21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6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17</a:t>
            </a:r>
            <a:r>
              <a:rPr lang="ko-KR" altLang="en-US" baseline="0" dirty="0"/>
              <a:t>일 </a:t>
            </a:r>
            <a:r>
              <a:rPr lang="ko-KR" altLang="en-US" baseline="0" dirty="0" err="1"/>
              <a:t>접종자</a:t>
            </a:r>
            <a:r>
              <a:rPr lang="ko-KR" altLang="en-US" baseline="0" dirty="0"/>
              <a:t> </a:t>
            </a:r>
            <a:r>
              <a:rPr lang="en-US" altLang="ko-KR" baseline="0" dirty="0"/>
              <a:t>100</a:t>
            </a:r>
            <a:r>
              <a:rPr lang="ko-KR" altLang="en-US" baseline="0" dirty="0" err="1"/>
              <a:t>만명</a:t>
            </a:r>
            <a:r>
              <a:rPr lang="en-US" altLang="ko-KR" baseline="0" dirty="0"/>
              <a:t>/</a:t>
            </a:r>
            <a:r>
              <a:rPr lang="ko-KR" altLang="en-US" baseline="0" dirty="0"/>
              <a:t>인구대비 </a:t>
            </a:r>
            <a:r>
              <a:rPr lang="en-US" altLang="ko-KR" baseline="0" dirty="0"/>
              <a:t>30%/</a:t>
            </a:r>
            <a:r>
              <a:rPr lang="ko-KR" altLang="en-US" baseline="0" dirty="0"/>
              <a:t>전국 </a:t>
            </a:r>
            <a:r>
              <a:rPr lang="ko-KR" altLang="en-US" baseline="0" dirty="0" err="1"/>
              <a:t>특광역시</a:t>
            </a:r>
            <a:r>
              <a:rPr lang="ko-KR" altLang="en-US" baseline="0" dirty="0"/>
              <a:t> </a:t>
            </a:r>
            <a:r>
              <a:rPr lang="en-US" altLang="ko-KR" baseline="0" dirty="0"/>
              <a:t>1</a:t>
            </a:r>
            <a:r>
              <a:rPr lang="ko-KR" altLang="en-US" baseline="0" dirty="0"/>
              <a:t>위의 </a:t>
            </a:r>
            <a:r>
              <a:rPr lang="en-US" altLang="ko-KR" baseline="0" dirty="0"/>
              <a:t>3</a:t>
            </a:r>
            <a:r>
              <a:rPr lang="ko-KR" altLang="en-US" baseline="0" dirty="0"/>
              <a:t>관왕의 위엄을 달성합니다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또한 </a:t>
            </a:r>
            <a:r>
              <a:rPr lang="en-US" altLang="ko-KR" baseline="0" dirty="0"/>
              <a:t>21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9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19</a:t>
            </a:r>
            <a:r>
              <a:rPr lang="ko-KR" altLang="en-US" baseline="0" dirty="0"/>
              <a:t>일은 전국광역시 최초 인구수대비 </a:t>
            </a:r>
            <a:r>
              <a:rPr lang="ko-KR" altLang="en-US" baseline="0" dirty="0" err="1"/>
              <a:t>접종률</a:t>
            </a:r>
            <a:r>
              <a:rPr lang="ko-KR" altLang="en-US" baseline="0" dirty="0"/>
              <a:t> </a:t>
            </a:r>
            <a:r>
              <a:rPr lang="en-US" altLang="ko-KR" baseline="0" dirty="0"/>
              <a:t>70%</a:t>
            </a:r>
            <a:r>
              <a:rPr lang="ko-KR" altLang="en-US" baseline="0" dirty="0"/>
              <a:t>를 달성하게 됩니다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아래는 부산시 </a:t>
            </a:r>
            <a:r>
              <a:rPr lang="ko-KR" altLang="en-US" baseline="0" dirty="0" err="1"/>
              <a:t>위중증환자</a:t>
            </a:r>
            <a:r>
              <a:rPr lang="ko-KR" altLang="en-US" baseline="0" dirty="0"/>
              <a:t> 관련 저의 역학조사관 전문과정 위한 대한가정의학회 논문의 일부입니다</a:t>
            </a:r>
            <a:r>
              <a:rPr lang="en-US" altLang="ko-KR" baseline="0" dirty="0"/>
              <a:t>. 2021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6</a:t>
            </a:r>
            <a:r>
              <a:rPr lang="ko-KR" altLang="en-US" baseline="0" dirty="0"/>
              <a:t>월부터 부산시는 델타변이 유행이 시작이 되었고 기존에 델타변이는 다른 변이보다 </a:t>
            </a:r>
            <a:r>
              <a:rPr lang="ko-KR" altLang="en-US" baseline="0" dirty="0" err="1"/>
              <a:t>위중증으로</a:t>
            </a:r>
            <a:r>
              <a:rPr lang="ko-KR" altLang="en-US" baseline="0" dirty="0"/>
              <a:t> 악화가 잘 된다는 게 우리가 알고 있는 내용이었습니다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그러나</a:t>
            </a:r>
            <a:r>
              <a:rPr lang="en-US" altLang="ko-KR" baseline="0" dirty="0"/>
              <a:t>, </a:t>
            </a:r>
            <a:r>
              <a:rPr lang="ko-KR" altLang="en-US" baseline="0" dirty="0"/>
              <a:t>여러분이 아래 통계결과를 보시면 </a:t>
            </a:r>
            <a:r>
              <a:rPr lang="en-US" altLang="ko-KR" baseline="0" dirty="0"/>
              <a:t>P value</a:t>
            </a:r>
            <a:r>
              <a:rPr lang="ko-KR" altLang="en-US" baseline="0" dirty="0"/>
              <a:t>가 </a:t>
            </a:r>
            <a:r>
              <a:rPr lang="en-US" altLang="ko-KR" baseline="0" dirty="0"/>
              <a:t>0.06</a:t>
            </a:r>
            <a:r>
              <a:rPr lang="ko-KR" altLang="en-US" baseline="0" dirty="0"/>
              <a:t>으로 </a:t>
            </a:r>
            <a:r>
              <a:rPr lang="ko-KR" altLang="en-US" baseline="0" dirty="0" err="1"/>
              <a:t>위중증으로의</a:t>
            </a:r>
            <a:r>
              <a:rPr lang="ko-KR" altLang="en-US" baseline="0" dirty="0"/>
              <a:t> 악화에 델타변이가 유의미하게 영향을 끼치지 않는다고 되어있습니다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이는 부산시 </a:t>
            </a:r>
            <a:r>
              <a:rPr lang="ko-KR" altLang="en-US" baseline="0" dirty="0" err="1"/>
              <a:t>예방접종팀에서</a:t>
            </a:r>
            <a:r>
              <a:rPr lang="ko-KR" altLang="en-US" baseline="0" dirty="0"/>
              <a:t> </a:t>
            </a:r>
            <a:r>
              <a:rPr lang="en-US" altLang="ko-KR" baseline="0" dirty="0"/>
              <a:t>2021</a:t>
            </a:r>
            <a:r>
              <a:rPr lang="ko-KR" altLang="en-US" baseline="0" dirty="0"/>
              <a:t>년에 </a:t>
            </a:r>
            <a:r>
              <a:rPr lang="ko-KR" altLang="en-US" baseline="0" dirty="0" err="1"/>
              <a:t>어느시도보다</a:t>
            </a:r>
            <a:r>
              <a:rPr lang="ko-KR" altLang="en-US" baseline="0" dirty="0"/>
              <a:t> 열정적으로 예방접종을 신속히 하였기 때문임을 깨닫게 됩니다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53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2021</a:t>
            </a:r>
            <a:r>
              <a:rPr lang="ko-KR" altLang="en-US" dirty="0"/>
              <a:t>년</a:t>
            </a:r>
            <a:r>
              <a:rPr lang="en-US" altLang="ko-KR" baseline="0" dirty="0"/>
              <a:t> 6</a:t>
            </a:r>
            <a:r>
              <a:rPr lang="ko-KR" altLang="en-US" baseline="0" dirty="0"/>
              <a:t>월입니다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예방접종을 </a:t>
            </a:r>
            <a:r>
              <a:rPr lang="en-US" altLang="ko-KR" baseline="0" dirty="0"/>
              <a:t>60%</a:t>
            </a:r>
            <a:r>
              <a:rPr lang="ko-KR" altLang="en-US" baseline="0" dirty="0"/>
              <a:t>이상한 다른 나라에서 델타변이로 인해 </a:t>
            </a:r>
            <a:r>
              <a:rPr lang="ko-KR" altLang="en-US" baseline="0" dirty="0" err="1"/>
              <a:t>확진자가</a:t>
            </a:r>
            <a:r>
              <a:rPr lang="ko-KR" altLang="en-US" baseline="0" dirty="0"/>
              <a:t> 초기 유행이상으로 다시 증가하는 상황이 발생합니다</a:t>
            </a:r>
            <a:r>
              <a:rPr lang="en-US" altLang="ko-KR" baseline="0" dirty="0"/>
              <a:t>.</a:t>
            </a:r>
          </a:p>
          <a:p>
            <a:r>
              <a:rPr lang="en-US" altLang="ko-KR" dirty="0"/>
              <a:t>6</a:t>
            </a:r>
            <a:r>
              <a:rPr lang="ko-KR" altLang="en-US" dirty="0"/>
              <a:t>월 </a:t>
            </a:r>
            <a:r>
              <a:rPr lang="en-US" altLang="ko-KR" dirty="0"/>
              <a:t>7</a:t>
            </a:r>
            <a:r>
              <a:rPr lang="ko-KR" altLang="en-US" dirty="0"/>
              <a:t>일부터 </a:t>
            </a:r>
            <a:r>
              <a:rPr lang="en-US" altLang="ko-KR" dirty="0"/>
              <a:t>25</a:t>
            </a:r>
            <a:r>
              <a:rPr lang="ko-KR" altLang="en-US" dirty="0"/>
              <a:t>일까지 전세계 방역 전문가의 수일간의 컨퍼런스가 개최되었고 그 결과 각 나라의 경제상황에 따란 전세계의 백신접종의 불균형이 심화로 인해 </a:t>
            </a:r>
            <a:r>
              <a:rPr lang="ko-KR" altLang="en-US" dirty="0" err="1"/>
              <a:t>판데믹이</a:t>
            </a:r>
            <a:r>
              <a:rPr lang="ko-KR" altLang="en-US" dirty="0"/>
              <a:t> 시작시부터 유지해온 적극적인 감시</a:t>
            </a:r>
            <a:r>
              <a:rPr lang="en-US" altLang="ko-KR" dirty="0"/>
              <a:t>, </a:t>
            </a:r>
            <a:r>
              <a:rPr lang="ko-KR" altLang="en-US" dirty="0"/>
              <a:t>조기검사</a:t>
            </a:r>
            <a:r>
              <a:rPr lang="en-US" altLang="ko-KR" dirty="0"/>
              <a:t>, </a:t>
            </a:r>
            <a:r>
              <a:rPr lang="ko-KR" altLang="en-US" dirty="0"/>
              <a:t>격리</a:t>
            </a:r>
            <a:r>
              <a:rPr lang="en-US" altLang="ko-KR" dirty="0"/>
              <a:t>, </a:t>
            </a:r>
            <a:r>
              <a:rPr lang="ko-KR" altLang="en-US" dirty="0"/>
              <a:t>추적</a:t>
            </a:r>
            <a:r>
              <a:rPr lang="en-US" altLang="ko-KR" dirty="0"/>
              <a:t>, </a:t>
            </a:r>
            <a:r>
              <a:rPr lang="ko-KR" altLang="en-US" dirty="0"/>
              <a:t>모임 제한의 정책은 한계의 상황에 봉착했으며</a:t>
            </a:r>
            <a:r>
              <a:rPr lang="en-US" altLang="ko-KR" dirty="0"/>
              <a:t>, </a:t>
            </a:r>
            <a:r>
              <a:rPr lang="ko-KR" altLang="en-US" dirty="0"/>
              <a:t>신종 변이와 사회적 교류 </a:t>
            </a:r>
            <a:r>
              <a:rPr lang="ko-KR" altLang="en-US" dirty="0" err="1"/>
              <a:t>증가등으로</a:t>
            </a:r>
            <a:r>
              <a:rPr lang="ko-KR" altLang="en-US" dirty="0"/>
              <a:t>  인해 코로나 </a:t>
            </a:r>
            <a:r>
              <a:rPr lang="en-US" altLang="ko-KR" dirty="0"/>
              <a:t>19 </a:t>
            </a:r>
            <a:r>
              <a:rPr lang="ko-KR" altLang="en-US" dirty="0" err="1"/>
              <a:t>판데믹</a:t>
            </a:r>
            <a:r>
              <a:rPr lang="ko-KR" altLang="en-US" dirty="0"/>
              <a:t> 종식은 멀게 되었다고 결론을 내렸습니다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5C28B-4096-47E6-B9D5-949689596E4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74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2021</a:t>
            </a:r>
            <a:r>
              <a:rPr lang="ko-KR" altLang="en-US" dirty="0"/>
              <a:t>년 </a:t>
            </a:r>
            <a:r>
              <a:rPr lang="en-US" altLang="ko-KR" dirty="0"/>
              <a:t>7</a:t>
            </a:r>
            <a:r>
              <a:rPr lang="ko-KR" altLang="en-US" dirty="0"/>
              <a:t>월경에 인도네시아에서 </a:t>
            </a:r>
            <a:r>
              <a:rPr lang="en-US" altLang="ko-KR" dirty="0"/>
              <a:t>PCR</a:t>
            </a:r>
            <a:r>
              <a:rPr lang="en-US" altLang="ko-KR" baseline="0" dirty="0"/>
              <a:t> </a:t>
            </a:r>
            <a:r>
              <a:rPr lang="ko-KR" altLang="en-US" baseline="0" dirty="0"/>
              <a:t>음성확인서를 가져와도 </a:t>
            </a:r>
            <a:r>
              <a:rPr lang="ko-KR" altLang="en-US" baseline="0" dirty="0" err="1"/>
              <a:t>입국후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확진되는</a:t>
            </a:r>
            <a:r>
              <a:rPr lang="ko-KR" altLang="en-US" baseline="0" dirty="0"/>
              <a:t> 사례가 증가되었으며</a:t>
            </a:r>
            <a:r>
              <a:rPr lang="en-US" altLang="ko-KR" baseline="0" dirty="0"/>
              <a:t>, </a:t>
            </a:r>
            <a:r>
              <a:rPr lang="ko-KR" altLang="en-US" dirty="0"/>
              <a:t>대표적인 부산시 델타변이 유행사례로 수산업근로자 관련 집단발생이 있었으며 관련하여 중환자가 발생하는 상황이 있었습니다</a:t>
            </a:r>
            <a:r>
              <a:rPr lang="en-US" altLang="ko-KR" dirty="0"/>
              <a:t>. </a:t>
            </a:r>
            <a:r>
              <a:rPr lang="ko-KR" altLang="en-US" dirty="0"/>
              <a:t>해당 유행의 지표환자는 인도네시아 국적 선원으로 인도네시아에서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3</a:t>
            </a:r>
            <a:r>
              <a:rPr lang="ko-KR" altLang="en-US" dirty="0" err="1"/>
              <a:t>일입국하여</a:t>
            </a:r>
            <a:r>
              <a:rPr lang="ko-KR" altLang="en-US" dirty="0"/>
              <a:t> </a:t>
            </a:r>
            <a:r>
              <a:rPr lang="ko-KR" altLang="en-US" dirty="0" err="1"/>
              <a:t>해제전에는</a:t>
            </a:r>
            <a:r>
              <a:rPr lang="ko-KR" altLang="en-US" dirty="0"/>
              <a:t> 음성이었고 </a:t>
            </a:r>
            <a:r>
              <a:rPr lang="ko-KR" altLang="en-US" dirty="0" err="1"/>
              <a:t>한달이후인</a:t>
            </a:r>
            <a:r>
              <a:rPr lang="ko-KR" altLang="en-US" dirty="0"/>
              <a:t> </a:t>
            </a:r>
            <a:r>
              <a:rPr lang="en-US" altLang="ko-KR" dirty="0"/>
              <a:t>6</a:t>
            </a:r>
            <a:r>
              <a:rPr lang="ko-KR" altLang="en-US" dirty="0"/>
              <a:t>월 </a:t>
            </a:r>
            <a:r>
              <a:rPr lang="en-US" altLang="ko-KR" dirty="0"/>
              <a:t>16</a:t>
            </a:r>
            <a:r>
              <a:rPr lang="ko-KR" altLang="en-US" dirty="0"/>
              <a:t>일에 발열</a:t>
            </a:r>
            <a:r>
              <a:rPr lang="en-US" altLang="ko-KR" dirty="0"/>
              <a:t>, </a:t>
            </a:r>
            <a:r>
              <a:rPr lang="ko-KR" altLang="en-US" dirty="0"/>
              <a:t>기침</a:t>
            </a:r>
            <a:r>
              <a:rPr lang="en-US" altLang="ko-KR" dirty="0"/>
              <a:t>, </a:t>
            </a:r>
            <a:r>
              <a:rPr lang="ko-KR" altLang="en-US" dirty="0"/>
              <a:t>호흡곤란이 발생하여 </a:t>
            </a:r>
            <a:r>
              <a:rPr lang="en-US" altLang="ko-KR" dirty="0"/>
              <a:t>24</a:t>
            </a:r>
            <a:r>
              <a:rPr lang="ko-KR" altLang="en-US" dirty="0"/>
              <a:t>일에 </a:t>
            </a:r>
            <a:r>
              <a:rPr lang="ko-KR" altLang="en-US" dirty="0" err="1"/>
              <a:t>확진되었습니다</a:t>
            </a:r>
            <a:r>
              <a:rPr lang="en-US" altLang="ko-KR" dirty="0"/>
              <a:t>. </a:t>
            </a:r>
            <a:r>
              <a:rPr lang="ko-KR" altLang="en-US" dirty="0" err="1"/>
              <a:t>증상후</a:t>
            </a:r>
            <a:r>
              <a:rPr lang="ko-KR" altLang="en-US" dirty="0"/>
              <a:t> </a:t>
            </a:r>
            <a:r>
              <a:rPr lang="ko-KR" altLang="en-US" dirty="0" err="1"/>
              <a:t>확진까지</a:t>
            </a:r>
            <a:r>
              <a:rPr lang="ko-KR" altLang="en-US" dirty="0"/>
              <a:t> </a:t>
            </a:r>
            <a:r>
              <a:rPr lang="en-US" altLang="ko-KR" dirty="0"/>
              <a:t>8</a:t>
            </a:r>
            <a:r>
              <a:rPr lang="ko-KR" altLang="en-US" dirty="0"/>
              <a:t>일이 </a:t>
            </a:r>
            <a:r>
              <a:rPr lang="ko-KR" altLang="en-US" dirty="0" err="1"/>
              <a:t>걸린것은</a:t>
            </a:r>
            <a:r>
              <a:rPr lang="ko-KR" altLang="en-US" dirty="0"/>
              <a:t> </a:t>
            </a:r>
            <a:r>
              <a:rPr lang="ko-KR" altLang="en-US" dirty="0" err="1"/>
              <a:t>여러가지</a:t>
            </a:r>
            <a:r>
              <a:rPr lang="ko-KR" altLang="en-US" dirty="0"/>
              <a:t> 이유로 </a:t>
            </a:r>
            <a:r>
              <a:rPr lang="ko-KR" altLang="en-US" dirty="0" err="1"/>
              <a:t>유증상자에</a:t>
            </a:r>
            <a:r>
              <a:rPr lang="ko-KR" altLang="en-US" dirty="0"/>
              <a:t> 대한 감시체계가 잘 작동하지 않은 연유로 생각이 됩니다</a:t>
            </a:r>
            <a:r>
              <a:rPr lang="en-US" altLang="ko-KR" dirty="0"/>
              <a:t>. </a:t>
            </a:r>
            <a:r>
              <a:rPr lang="ko-KR" altLang="en-US" dirty="0"/>
              <a:t>해당 지표환자로부터 직장동료로의 전파가 있었고 그 요인으로는 같이 한방에서 밀접하게 생활하는 요인이 있었습니다</a:t>
            </a:r>
            <a:r>
              <a:rPr lang="en-US" altLang="ko-KR" dirty="0"/>
              <a:t>.  </a:t>
            </a:r>
            <a:r>
              <a:rPr lang="ko-KR" altLang="en-US" dirty="0"/>
              <a:t>이에 대한 부산시 특별방역대책으로 근해어업 </a:t>
            </a:r>
            <a:r>
              <a:rPr lang="ko-KR" altLang="en-US" dirty="0" err="1"/>
              <a:t>어선원에</a:t>
            </a:r>
            <a:r>
              <a:rPr lang="ko-KR" altLang="en-US" dirty="0"/>
              <a:t> 대하여 진단검사 행정명령을 </a:t>
            </a:r>
            <a:r>
              <a:rPr lang="ko-KR" altLang="en-US" dirty="0" err="1"/>
              <a:t>출항전</a:t>
            </a:r>
            <a:r>
              <a:rPr lang="ko-KR" altLang="en-US" dirty="0"/>
              <a:t> </a:t>
            </a:r>
            <a:r>
              <a:rPr lang="en-US" altLang="ko-KR" dirty="0"/>
              <a:t>72</a:t>
            </a:r>
            <a:r>
              <a:rPr lang="ko-KR" altLang="en-US" dirty="0" err="1"/>
              <a:t>시간이내에</a:t>
            </a:r>
            <a:r>
              <a:rPr lang="ko-KR" altLang="en-US" dirty="0"/>
              <a:t> 하도록 행정명령을 내렸습니다</a:t>
            </a:r>
            <a:r>
              <a:rPr lang="en-US" altLang="ko-KR" dirty="0"/>
              <a:t>. </a:t>
            </a:r>
            <a:r>
              <a:rPr lang="ko-KR" altLang="en-US" dirty="0"/>
              <a:t>공동어시장 종사자에 대하여 선제검사를 하였고</a:t>
            </a:r>
            <a:r>
              <a:rPr lang="en-US" altLang="ko-KR" dirty="0"/>
              <a:t>, </a:t>
            </a:r>
            <a:r>
              <a:rPr lang="ko-KR" altLang="en-US" dirty="0"/>
              <a:t>수산업 시설 주변 </a:t>
            </a:r>
            <a:r>
              <a:rPr lang="ko-KR" altLang="en-US" dirty="0" err="1"/>
              <a:t>유흥시설등에</a:t>
            </a:r>
            <a:r>
              <a:rPr lang="ko-KR" altLang="en-US" dirty="0"/>
              <a:t> 긴급 방역점검 실시 및 해외입국자 대상 </a:t>
            </a:r>
            <a:r>
              <a:rPr lang="en-US" altLang="ko-KR" dirty="0"/>
              <a:t>3</a:t>
            </a:r>
            <a:r>
              <a:rPr lang="ko-KR" altLang="en-US" dirty="0"/>
              <a:t>개소 </a:t>
            </a:r>
            <a:r>
              <a:rPr lang="en-US" altLang="ko-KR" dirty="0"/>
              <a:t>692</a:t>
            </a:r>
            <a:r>
              <a:rPr lang="ko-KR" altLang="en-US" dirty="0"/>
              <a:t>실은 운영하였습니다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의료대응으로는</a:t>
            </a:r>
            <a:r>
              <a:rPr lang="ko-KR" altLang="en-US" baseline="0" dirty="0"/>
              <a:t> 이동형 임시선별검사소를 설치하였으며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관련하여 병상을 </a:t>
            </a:r>
            <a:r>
              <a:rPr lang="ko-KR" altLang="en-US" baseline="0" dirty="0" err="1"/>
              <a:t>두차례</a:t>
            </a:r>
            <a:r>
              <a:rPr lang="ko-KR" altLang="en-US" baseline="0" dirty="0"/>
              <a:t> 마련하였습니다</a:t>
            </a:r>
            <a:r>
              <a:rPr lang="en-US" altLang="ko-KR" baseline="0" dirty="0"/>
              <a:t>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AC56F-DB27-4338-A916-9772A0620C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8657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21</a:t>
            </a:r>
            <a:r>
              <a:rPr lang="ko-KR" altLang="en-US" dirty="0"/>
              <a:t>년 </a:t>
            </a:r>
            <a:r>
              <a:rPr lang="en-US" altLang="ko-KR" dirty="0"/>
              <a:t>7</a:t>
            </a:r>
            <a:r>
              <a:rPr lang="ko-KR" altLang="en-US" dirty="0"/>
              <a:t>월부터 본격적으로 부산시에 델타변이유행이 시작됨에 따라 </a:t>
            </a:r>
            <a:r>
              <a:rPr lang="en-US" altLang="ko-KR" dirty="0"/>
              <a:t>8</a:t>
            </a:r>
            <a:r>
              <a:rPr lang="ko-KR" altLang="en-US" dirty="0" err="1"/>
              <a:t>월달과</a:t>
            </a:r>
            <a:r>
              <a:rPr lang="ko-KR" altLang="en-US" dirty="0"/>
              <a:t> </a:t>
            </a:r>
            <a:r>
              <a:rPr lang="en-US" altLang="ko-KR" dirty="0"/>
              <a:t>12</a:t>
            </a:r>
            <a:r>
              <a:rPr lang="ko-KR" altLang="en-US" dirty="0" err="1"/>
              <a:t>월달에</a:t>
            </a:r>
            <a:r>
              <a:rPr lang="ko-KR" altLang="en-US" dirty="0"/>
              <a:t> 일반병상을 추가로 확보하였지만</a:t>
            </a:r>
            <a:r>
              <a:rPr lang="en-US" altLang="ko-KR" dirty="0"/>
              <a:t>, </a:t>
            </a:r>
            <a:r>
              <a:rPr lang="ko-KR" altLang="en-US" dirty="0"/>
              <a:t>연말까지 </a:t>
            </a:r>
            <a:r>
              <a:rPr lang="ko-KR" altLang="en-US" dirty="0" err="1"/>
              <a:t>일반병상가동율이</a:t>
            </a:r>
            <a:r>
              <a:rPr lang="ko-KR" altLang="en-US" dirty="0"/>
              <a:t> 상승하기 시작하였습니다</a:t>
            </a:r>
            <a:r>
              <a:rPr lang="en-US" altLang="ko-KR" dirty="0"/>
              <a:t>. </a:t>
            </a:r>
            <a:r>
              <a:rPr lang="ko-KR" altLang="en-US" dirty="0"/>
              <a:t>이에 </a:t>
            </a:r>
            <a:r>
              <a:rPr lang="en-US" altLang="ko-KR" dirty="0"/>
              <a:t>21</a:t>
            </a:r>
            <a:r>
              <a:rPr lang="ko-KR" altLang="en-US" dirty="0"/>
              <a:t>년 </a:t>
            </a:r>
            <a:r>
              <a:rPr lang="en-US" altLang="ko-KR" dirty="0"/>
              <a:t>8</a:t>
            </a:r>
            <a:r>
              <a:rPr lang="ko-KR" altLang="en-US" dirty="0"/>
              <a:t>월 </a:t>
            </a:r>
            <a:r>
              <a:rPr lang="en-US" altLang="ko-KR" dirty="0"/>
              <a:t>25</a:t>
            </a:r>
            <a:r>
              <a:rPr lang="ko-KR" altLang="en-US" dirty="0"/>
              <a:t>일부터 </a:t>
            </a:r>
            <a:r>
              <a:rPr lang="en-US" altLang="ko-KR" dirty="0"/>
              <a:t>11</a:t>
            </a:r>
            <a:r>
              <a:rPr lang="ko-KR" altLang="en-US" dirty="0"/>
              <a:t>월 </a:t>
            </a:r>
            <a:r>
              <a:rPr lang="en-US" altLang="ko-KR" dirty="0"/>
              <a:t>7</a:t>
            </a:r>
            <a:r>
              <a:rPr lang="ko-KR" altLang="en-US" dirty="0"/>
              <a:t>일까지 부산시에서</a:t>
            </a:r>
            <a:r>
              <a:rPr lang="ko-KR" altLang="en-US" baseline="0" dirty="0"/>
              <a:t> 일별로 </a:t>
            </a:r>
            <a:r>
              <a:rPr lang="ko-KR" altLang="en-US" baseline="0" dirty="0" err="1"/>
              <a:t>생치와</a:t>
            </a:r>
            <a:r>
              <a:rPr lang="ko-KR" altLang="en-US" baseline="0" dirty="0"/>
              <a:t> 병원에 </a:t>
            </a:r>
            <a:r>
              <a:rPr lang="ko-KR" altLang="en-US" baseline="0" dirty="0" err="1"/>
              <a:t>초기배정분율을</a:t>
            </a:r>
            <a:r>
              <a:rPr lang="ko-KR" altLang="en-US" baseline="0" dirty="0"/>
              <a:t> 분석한 결과 </a:t>
            </a:r>
            <a:r>
              <a:rPr lang="en-US" altLang="ko-KR" baseline="0" dirty="0"/>
              <a:t>8</a:t>
            </a:r>
            <a:r>
              <a:rPr lang="ko-KR" altLang="en-US" baseline="0" dirty="0"/>
              <a:t>월에는 </a:t>
            </a:r>
            <a:r>
              <a:rPr lang="ko-KR" altLang="en-US" baseline="0" dirty="0" err="1"/>
              <a:t>생치에</a:t>
            </a:r>
            <a:r>
              <a:rPr lang="ko-KR" altLang="en-US" baseline="0" dirty="0"/>
              <a:t> </a:t>
            </a:r>
            <a:r>
              <a:rPr lang="en-US" altLang="ko-KR" baseline="0" dirty="0"/>
              <a:t>50~60%</a:t>
            </a:r>
            <a:r>
              <a:rPr lang="ko-KR" altLang="en-US" baseline="0" dirty="0"/>
              <a:t>로 배정하다가 </a:t>
            </a:r>
            <a:r>
              <a:rPr lang="en-US" altLang="ko-KR" baseline="0" dirty="0"/>
              <a:t>11</a:t>
            </a:r>
            <a:r>
              <a:rPr lang="ko-KR" altLang="en-US" baseline="0" dirty="0"/>
              <a:t>월에는 </a:t>
            </a:r>
            <a:r>
              <a:rPr lang="en-US" altLang="ko-KR" baseline="0" dirty="0"/>
              <a:t>60~80%</a:t>
            </a:r>
            <a:r>
              <a:rPr lang="ko-KR" altLang="en-US" baseline="0" dirty="0"/>
              <a:t>로 배정하여 일반병상을 관리했다는 내용입니다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이는 병상관리를 위해서는 병상확충과 더불어 초기 </a:t>
            </a:r>
            <a:r>
              <a:rPr lang="ko-KR" altLang="en-US" baseline="0" dirty="0" err="1"/>
              <a:t>분류시에</a:t>
            </a:r>
            <a:r>
              <a:rPr lang="ko-KR" altLang="en-US" baseline="0" dirty="0"/>
              <a:t> 경증환자를 생활치료센터에 세세히 구분해서 배정하는 것이 중요하다는 의미가 있습니다</a:t>
            </a:r>
            <a:r>
              <a:rPr lang="en-US" altLang="ko-KR" baseline="0" dirty="0"/>
              <a:t>. 2020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11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26</a:t>
            </a:r>
            <a:r>
              <a:rPr lang="ko-KR" altLang="en-US" baseline="0" dirty="0"/>
              <a:t>일부터 </a:t>
            </a:r>
            <a:r>
              <a:rPr lang="en-US" altLang="ko-KR" baseline="0" dirty="0"/>
              <a:t>21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11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25</a:t>
            </a:r>
            <a:r>
              <a:rPr lang="ko-KR" altLang="en-US" baseline="0" dirty="0"/>
              <a:t>일까지의 </a:t>
            </a:r>
            <a:r>
              <a:rPr lang="ko-KR" altLang="en-US" baseline="0" dirty="0" err="1"/>
              <a:t>위중증으로</a:t>
            </a:r>
            <a:r>
              <a:rPr lang="ko-KR" altLang="en-US" baseline="0" dirty="0"/>
              <a:t> 악화된 환자 </a:t>
            </a:r>
            <a:r>
              <a:rPr lang="en-US" altLang="ko-KR" baseline="0" dirty="0"/>
              <a:t>273</a:t>
            </a:r>
            <a:r>
              <a:rPr lang="ko-KR" altLang="en-US" baseline="0" dirty="0"/>
              <a:t>명중에서 초기 기초역학조사서상</a:t>
            </a:r>
            <a:r>
              <a:rPr lang="en-US" altLang="ko-KR" baseline="0" dirty="0"/>
              <a:t>, 70</a:t>
            </a:r>
            <a:r>
              <a:rPr lang="ko-KR" altLang="en-US" baseline="0" dirty="0"/>
              <a:t>대미만의 기저질환이 없으며 주요 증상인 호흡곤란이나 발열이 없는 경우는 </a:t>
            </a:r>
            <a:r>
              <a:rPr lang="en-US" altLang="ko-KR" baseline="0" dirty="0"/>
              <a:t>45</a:t>
            </a:r>
            <a:r>
              <a:rPr lang="ko-KR" altLang="en-US" baseline="0" dirty="0"/>
              <a:t>명으로 </a:t>
            </a:r>
            <a:r>
              <a:rPr lang="en-US" altLang="ko-KR" baseline="0" dirty="0"/>
              <a:t>16.4%</a:t>
            </a:r>
            <a:r>
              <a:rPr lang="ko-KR" altLang="en-US" baseline="0" dirty="0"/>
              <a:t>를 차지하였고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기초역학조사서상 무증상인 경우는 </a:t>
            </a:r>
            <a:r>
              <a:rPr lang="en-US" altLang="ko-KR" baseline="0" dirty="0"/>
              <a:t>64</a:t>
            </a:r>
            <a:r>
              <a:rPr lang="ko-KR" altLang="en-US" baseline="0" dirty="0"/>
              <a:t>명으로 </a:t>
            </a:r>
            <a:r>
              <a:rPr lang="en-US" altLang="ko-KR" baseline="0" dirty="0"/>
              <a:t>23.4%</a:t>
            </a:r>
            <a:r>
              <a:rPr lang="ko-KR" altLang="en-US" baseline="0" dirty="0"/>
              <a:t>를 차지하였다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이에 기초역학조사서상의 내용만으로는 중환자를 </a:t>
            </a:r>
            <a:r>
              <a:rPr lang="ko-KR" altLang="en-US" baseline="0" dirty="0" err="1"/>
              <a:t>거르는게</a:t>
            </a:r>
            <a:r>
              <a:rPr lang="ko-KR" altLang="en-US" baseline="0" dirty="0"/>
              <a:t> 한계가 있으며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이는 </a:t>
            </a:r>
            <a:r>
              <a:rPr lang="ko-KR" altLang="en-US" baseline="0" dirty="0" err="1"/>
              <a:t>확진이후에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위중증으로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이환되기까지</a:t>
            </a:r>
            <a:r>
              <a:rPr lang="ko-KR" altLang="en-US" baseline="0" dirty="0"/>
              <a:t> 평균 </a:t>
            </a:r>
            <a:r>
              <a:rPr lang="en-US" altLang="ko-KR" baseline="0" dirty="0"/>
              <a:t>5</a:t>
            </a:r>
            <a:r>
              <a:rPr lang="ko-KR" altLang="en-US" baseline="0" dirty="0"/>
              <a:t>일이 걸리기 때문으로 추정이 됩니다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이에 </a:t>
            </a:r>
            <a:r>
              <a:rPr lang="ko-KR" altLang="en-US" baseline="0" dirty="0" err="1"/>
              <a:t>생치로</a:t>
            </a:r>
            <a:r>
              <a:rPr lang="ko-KR" altLang="en-US" baseline="0" dirty="0"/>
              <a:t> 보낸 </a:t>
            </a:r>
            <a:r>
              <a:rPr lang="ko-KR" altLang="en-US" baseline="0" dirty="0" err="1"/>
              <a:t>환자중에</a:t>
            </a:r>
            <a:r>
              <a:rPr lang="ko-KR" altLang="en-US" baseline="0" dirty="0"/>
              <a:t> 모니터링을 </a:t>
            </a:r>
            <a:r>
              <a:rPr lang="ko-KR" altLang="en-US" baseline="0" dirty="0" err="1"/>
              <a:t>세심히해서</a:t>
            </a:r>
            <a:r>
              <a:rPr lang="ko-KR" altLang="en-US" baseline="0" dirty="0"/>
              <a:t> 병원으로의 전원을 신속히 해야 하는 것이 중요하게 되었습니다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305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2021</a:t>
            </a:r>
            <a:r>
              <a:rPr lang="ko-KR" altLang="en-US" dirty="0"/>
              <a:t>년</a:t>
            </a:r>
            <a:r>
              <a:rPr lang="en-US" altLang="ko-KR" baseline="0" dirty="0"/>
              <a:t> </a:t>
            </a:r>
            <a:r>
              <a:rPr lang="ko-KR" altLang="en-US" baseline="0" dirty="0"/>
              <a:t>당시 </a:t>
            </a:r>
            <a:r>
              <a:rPr lang="ko-KR" altLang="en-US" dirty="0"/>
              <a:t>기초역학조사서에는</a:t>
            </a:r>
            <a:r>
              <a:rPr lang="ko-KR" altLang="en-US" baseline="0" dirty="0"/>
              <a:t>  최초증상을 체크하는 </a:t>
            </a:r>
            <a:r>
              <a:rPr lang="ko-KR" altLang="en-US" baseline="0" dirty="0" err="1"/>
              <a:t>란이</a:t>
            </a:r>
            <a:r>
              <a:rPr lang="ko-KR" altLang="en-US" baseline="0" dirty="0"/>
              <a:t> 있었고 보건소에서 유선조사상 위의 내용을 체크하여 시에 병상배정을 요청하면 </a:t>
            </a:r>
            <a:r>
              <a:rPr lang="ko-KR" altLang="en-US" baseline="0" dirty="0" err="1"/>
              <a:t>시병상배정반이</a:t>
            </a:r>
            <a:r>
              <a:rPr lang="ko-KR" altLang="en-US" baseline="0" dirty="0"/>
              <a:t> 해당내용을 보고 엑셀에 내용들을 기입하고 추가고려요인도 검토하여 병상을 배정합니다</a:t>
            </a:r>
            <a:r>
              <a:rPr lang="en-US" altLang="ko-KR" baseline="0" dirty="0"/>
              <a:t>. </a:t>
            </a:r>
            <a:endParaRPr lang="en-US" altLang="ko-KR" dirty="0"/>
          </a:p>
          <a:p>
            <a:r>
              <a:rPr lang="ko-KR" altLang="en-US" dirty="0"/>
              <a:t>병상배정을 위해서는 기초역학조사서를 보고 환자 </a:t>
            </a:r>
            <a:r>
              <a:rPr lang="ko-KR" altLang="en-US" dirty="0" err="1"/>
              <a:t>한명한명</a:t>
            </a:r>
            <a:r>
              <a:rPr lang="ko-KR" altLang="en-US" dirty="0"/>
              <a:t> 바로 병원에 배정하면 잔여병상에 대한 관리가 되지 않기 때문에</a:t>
            </a:r>
            <a:r>
              <a:rPr lang="en-US" altLang="ko-KR" dirty="0"/>
              <a:t>, </a:t>
            </a:r>
            <a:r>
              <a:rPr lang="ko-KR" altLang="en-US" dirty="0"/>
              <a:t>위의 양식을 만들어서 우선 병원과 </a:t>
            </a:r>
            <a:r>
              <a:rPr lang="ko-KR" altLang="en-US" dirty="0" err="1"/>
              <a:t>생치로</a:t>
            </a:r>
            <a:r>
              <a:rPr lang="ko-KR" altLang="en-US" dirty="0"/>
              <a:t> 크게 분류하여 </a:t>
            </a:r>
            <a:r>
              <a:rPr lang="ko-KR" altLang="en-US" dirty="0" err="1"/>
              <a:t>입력해놓은후에</a:t>
            </a:r>
            <a:r>
              <a:rPr lang="ko-KR" altLang="en-US" dirty="0"/>
              <a:t> 전담병원 잔여병상을 확인하여 그날 병원에 갈수 있는 병상이 </a:t>
            </a:r>
            <a:r>
              <a:rPr lang="ko-KR" altLang="en-US" dirty="0" err="1"/>
              <a:t>예를들어</a:t>
            </a:r>
            <a:r>
              <a:rPr lang="ko-KR" altLang="en-US" dirty="0"/>
              <a:t> </a:t>
            </a:r>
            <a:r>
              <a:rPr lang="en-US" altLang="ko-KR" dirty="0"/>
              <a:t>20</a:t>
            </a:r>
            <a:r>
              <a:rPr lang="ko-KR" altLang="en-US" dirty="0"/>
              <a:t>개가 있으면 </a:t>
            </a:r>
            <a:r>
              <a:rPr lang="ko-KR" altLang="en-US" dirty="0" err="1"/>
              <a:t>증상중</a:t>
            </a:r>
            <a:r>
              <a:rPr lang="ko-KR" altLang="en-US" dirty="0"/>
              <a:t> 주요하게 보는 우선순위의 증상 즉 발열</a:t>
            </a:r>
            <a:r>
              <a:rPr lang="en-US" altLang="ko-KR" dirty="0"/>
              <a:t>, </a:t>
            </a:r>
            <a:r>
              <a:rPr lang="ko-KR" altLang="en-US" dirty="0"/>
              <a:t>호흡곤란</a:t>
            </a:r>
            <a:r>
              <a:rPr lang="en-US" altLang="ko-KR" dirty="0"/>
              <a:t>, </a:t>
            </a:r>
            <a:r>
              <a:rPr lang="ko-KR" altLang="en-US" dirty="0"/>
              <a:t>오한</a:t>
            </a:r>
            <a:r>
              <a:rPr lang="en-US" altLang="ko-KR" dirty="0"/>
              <a:t>, </a:t>
            </a:r>
            <a:r>
              <a:rPr lang="ko-KR" altLang="en-US" dirty="0" err="1"/>
              <a:t>흉부불편감이</a:t>
            </a:r>
            <a:r>
              <a:rPr lang="ko-KR" altLang="en-US" dirty="0"/>
              <a:t> 있는 환자에 해당하는 환자를 우선으로 하여 </a:t>
            </a:r>
            <a:r>
              <a:rPr lang="en-US" altLang="ko-KR" dirty="0"/>
              <a:t>30</a:t>
            </a:r>
            <a:r>
              <a:rPr lang="ko-KR" altLang="en-US" dirty="0"/>
              <a:t>명을 배정하였습니다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779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 공유한 그래프에 보듯이 </a:t>
            </a:r>
            <a:r>
              <a:rPr lang="en-US" altLang="ko-KR" dirty="0"/>
              <a:t>2021</a:t>
            </a:r>
            <a:r>
              <a:rPr lang="ko-KR" altLang="en-US" dirty="0"/>
              <a:t>년 연말에 </a:t>
            </a:r>
            <a:r>
              <a:rPr lang="ko-KR" altLang="en-US" dirty="0" err="1"/>
              <a:t>일반병상가동율이</a:t>
            </a:r>
            <a:r>
              <a:rPr lang="ko-KR" altLang="en-US" baseline="0" dirty="0"/>
              <a:t> 높</a:t>
            </a:r>
            <a:r>
              <a:rPr lang="ko-KR" altLang="en-US" dirty="0"/>
              <a:t>아짐에 따라 세가지 가이드라인을 안내하게 됩니다</a:t>
            </a:r>
            <a:r>
              <a:rPr lang="en-US" altLang="ko-KR" dirty="0"/>
              <a:t>. </a:t>
            </a:r>
            <a:r>
              <a:rPr lang="ko-KR" altLang="en-US" dirty="0"/>
              <a:t>첫째로 </a:t>
            </a:r>
            <a:r>
              <a:rPr lang="ko-KR" altLang="en-US" dirty="0" err="1"/>
              <a:t>생치</a:t>
            </a:r>
            <a:r>
              <a:rPr lang="en-US" altLang="ko-KR" dirty="0"/>
              <a:t>/</a:t>
            </a:r>
            <a:r>
              <a:rPr lang="ko-KR" altLang="en-US" dirty="0"/>
              <a:t>재택 혹은 감염취약시설에서 병원으로 전원시에 가능한 경우를 안내하게 됩니다</a:t>
            </a:r>
            <a:r>
              <a:rPr lang="en-US" altLang="ko-KR" dirty="0"/>
              <a:t>. </a:t>
            </a:r>
            <a:r>
              <a:rPr lang="ko-KR" altLang="en-US" dirty="0"/>
              <a:t>내용에는 </a:t>
            </a:r>
            <a:r>
              <a:rPr lang="ko-KR" altLang="en-US" dirty="0" err="1"/>
              <a:t>생치는</a:t>
            </a:r>
            <a:r>
              <a:rPr lang="ko-KR" altLang="en-US" dirty="0"/>
              <a:t> </a:t>
            </a:r>
            <a:r>
              <a:rPr lang="ko-KR" altLang="en-US" dirty="0" err="1"/>
              <a:t>산소포화도저하나</a:t>
            </a:r>
            <a:r>
              <a:rPr lang="ko-KR" altLang="en-US" dirty="0"/>
              <a:t> </a:t>
            </a:r>
            <a:r>
              <a:rPr lang="ko-KR" altLang="en-US" dirty="0" err="1"/>
              <a:t>의식저하등</a:t>
            </a:r>
            <a:r>
              <a:rPr lang="ko-KR" altLang="en-US" dirty="0"/>
              <a:t> 주요증상 발생시에 병원으로 전원가능하고 </a:t>
            </a:r>
            <a:r>
              <a:rPr lang="ko-KR" altLang="en-US" dirty="0" err="1"/>
              <a:t>그이외에는</a:t>
            </a:r>
            <a:r>
              <a:rPr lang="ko-KR" altLang="en-US" dirty="0"/>
              <a:t> </a:t>
            </a:r>
            <a:r>
              <a:rPr lang="ko-KR" altLang="en-US" dirty="0" err="1"/>
              <a:t>생치와</a:t>
            </a:r>
            <a:r>
              <a:rPr lang="ko-KR" altLang="en-US" dirty="0"/>
              <a:t> 연계된 병원에서 화상</a:t>
            </a:r>
            <a:r>
              <a:rPr lang="ko-KR" altLang="en-US" baseline="0" dirty="0"/>
              <a:t> 혹은 방문진료를 우선 시행하도록 하였습니다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재택도 마찬가지 주요증상에 따라 이행하였고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다만</a:t>
            </a:r>
            <a:r>
              <a:rPr lang="en-US" altLang="ko-KR" baseline="0" dirty="0"/>
              <a:t>, </a:t>
            </a:r>
            <a:r>
              <a:rPr lang="ko-KR" altLang="en-US" baseline="0" dirty="0"/>
              <a:t>감염취약시설은 산소포화도 하루 </a:t>
            </a:r>
            <a:r>
              <a:rPr lang="en-US" altLang="ko-KR" baseline="0" dirty="0"/>
              <a:t>3</a:t>
            </a:r>
            <a:r>
              <a:rPr lang="ko-KR" altLang="en-US" baseline="0" dirty="0"/>
              <a:t>회 체크하여 </a:t>
            </a:r>
            <a:r>
              <a:rPr lang="en-US" altLang="ko-KR" baseline="0" dirty="0"/>
              <a:t>94%</a:t>
            </a:r>
            <a:r>
              <a:rPr lang="ko-KR" altLang="en-US" baseline="0" dirty="0" err="1"/>
              <a:t>이하일때</a:t>
            </a:r>
            <a:r>
              <a:rPr lang="en-US" altLang="ko-KR" baseline="0" dirty="0"/>
              <a:t>, </a:t>
            </a:r>
            <a:r>
              <a:rPr lang="ko-KR" altLang="en-US" baseline="0" dirty="0"/>
              <a:t>호흡수 분당 </a:t>
            </a:r>
            <a:r>
              <a:rPr lang="en-US" altLang="ko-KR" baseline="0" dirty="0"/>
              <a:t>30</a:t>
            </a:r>
            <a:r>
              <a:rPr lang="ko-KR" altLang="en-US" baseline="0" dirty="0" err="1"/>
              <a:t>회이상</a:t>
            </a:r>
            <a:r>
              <a:rPr lang="en-US" altLang="ko-KR" baseline="0" dirty="0"/>
              <a:t>, 38</a:t>
            </a:r>
            <a:r>
              <a:rPr lang="ko-KR" altLang="en-US" baseline="0" dirty="0" err="1"/>
              <a:t>도씨</a:t>
            </a:r>
            <a:r>
              <a:rPr lang="ko-KR" altLang="en-US" baseline="0" dirty="0"/>
              <a:t> 이상의 발열</a:t>
            </a:r>
            <a:r>
              <a:rPr lang="en-US" altLang="ko-KR" baseline="0" dirty="0"/>
              <a:t>, </a:t>
            </a:r>
            <a:r>
              <a:rPr lang="ko-KR" altLang="en-US" baseline="0" dirty="0"/>
              <a:t>주요증상이 한번이라도 확인되면 </a:t>
            </a:r>
            <a:r>
              <a:rPr lang="ko-KR" altLang="en-US" baseline="0" dirty="0" err="1"/>
              <a:t>전원토록</a:t>
            </a:r>
            <a:r>
              <a:rPr lang="ko-KR" altLang="en-US" baseline="0" dirty="0"/>
              <a:t> 전원기준을 넓게 잡았습니다</a:t>
            </a:r>
            <a:r>
              <a:rPr lang="en-US" altLang="ko-KR" baseline="0" dirty="0"/>
              <a:t>.</a:t>
            </a:r>
            <a:endParaRPr lang="en-US" altLang="ko-KR" dirty="0"/>
          </a:p>
          <a:p>
            <a:r>
              <a:rPr lang="ko-KR" altLang="en-US" dirty="0"/>
              <a:t>둘째로는</a:t>
            </a:r>
            <a:r>
              <a:rPr lang="en-US" altLang="ko-KR" dirty="0"/>
              <a:t> </a:t>
            </a:r>
            <a:r>
              <a:rPr lang="ko-KR" altLang="en-US" dirty="0" err="1"/>
              <a:t>확진자가</a:t>
            </a:r>
            <a:r>
              <a:rPr lang="ko-KR" altLang="en-US" dirty="0"/>
              <a:t> 생긴 요양병원에서 </a:t>
            </a:r>
            <a:r>
              <a:rPr lang="ko-KR" altLang="en-US" dirty="0" err="1"/>
              <a:t>치료시에</a:t>
            </a:r>
            <a:r>
              <a:rPr lang="ko-KR" altLang="en-US" dirty="0"/>
              <a:t> 치료방법에 대하여 부산의료원 의료진의 권고에 따라 공유하였는데</a:t>
            </a:r>
            <a:r>
              <a:rPr lang="en-US" altLang="ko-KR" dirty="0"/>
              <a:t>, </a:t>
            </a:r>
            <a:r>
              <a:rPr lang="ko-KR" altLang="en-US" dirty="0" err="1"/>
              <a:t>확진당일</a:t>
            </a:r>
            <a:r>
              <a:rPr lang="ko-KR" altLang="en-US" dirty="0"/>
              <a:t> </a:t>
            </a:r>
            <a:r>
              <a:rPr lang="ko-KR" altLang="en-US" dirty="0" err="1"/>
              <a:t>덱사</a:t>
            </a:r>
            <a:r>
              <a:rPr lang="ko-KR" altLang="en-US" dirty="0"/>
              <a:t> </a:t>
            </a:r>
            <a:r>
              <a:rPr lang="en-US" altLang="ko-KR" dirty="0"/>
              <a:t>1A IV</a:t>
            </a:r>
            <a:r>
              <a:rPr lang="ko-KR" altLang="en-US" dirty="0"/>
              <a:t>로 주고 </a:t>
            </a:r>
            <a:r>
              <a:rPr lang="en-US" altLang="ko-KR" dirty="0"/>
              <a:t>30</a:t>
            </a:r>
            <a:r>
              <a:rPr lang="ko-KR" altLang="en-US" dirty="0" err="1"/>
              <a:t>분후에</a:t>
            </a:r>
            <a:r>
              <a:rPr lang="ko-KR" altLang="en-US" dirty="0"/>
              <a:t> </a:t>
            </a:r>
            <a:r>
              <a:rPr lang="ko-KR" altLang="en-US" dirty="0" err="1"/>
              <a:t>렉키로나주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회 천천히 주입하고 </a:t>
            </a:r>
            <a:r>
              <a:rPr lang="ko-KR" altLang="en-US" dirty="0" err="1"/>
              <a:t>확진된후</a:t>
            </a:r>
            <a:r>
              <a:rPr lang="ko-KR" altLang="en-US" dirty="0"/>
              <a:t> </a:t>
            </a:r>
            <a:r>
              <a:rPr lang="en-US" altLang="ko-KR" dirty="0"/>
              <a:t>1~3</a:t>
            </a:r>
            <a:r>
              <a:rPr lang="ko-KR" altLang="en-US" dirty="0"/>
              <a:t>일째는 경구 스테로이드를 복용하고 </a:t>
            </a:r>
            <a:r>
              <a:rPr lang="ko-KR" altLang="en-US" dirty="0" err="1"/>
              <a:t>모니터링하여</a:t>
            </a:r>
            <a:r>
              <a:rPr lang="ko-KR" altLang="en-US" dirty="0"/>
              <a:t> </a:t>
            </a:r>
            <a:r>
              <a:rPr lang="ko-KR" altLang="en-US" dirty="0" err="1"/>
              <a:t>악화시에</a:t>
            </a:r>
            <a:r>
              <a:rPr lang="ko-KR" altLang="en-US" dirty="0"/>
              <a:t> 전담병원으로 </a:t>
            </a:r>
            <a:r>
              <a:rPr lang="ko-KR" altLang="en-US" dirty="0" err="1"/>
              <a:t>전원토록</a:t>
            </a:r>
            <a:r>
              <a:rPr lang="ko-KR" altLang="en-US" dirty="0"/>
              <a:t> 하였습니다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038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2022</a:t>
            </a:r>
            <a:r>
              <a:rPr lang="ko-KR" altLang="en-US" dirty="0"/>
              <a:t>년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ko-KR" altLang="en-US" dirty="0" err="1"/>
              <a:t>오미크론</a:t>
            </a:r>
            <a:r>
              <a:rPr lang="ko-KR" altLang="en-US" dirty="0"/>
              <a:t> 대비하여 </a:t>
            </a:r>
            <a:r>
              <a:rPr lang="en-US" altLang="ko-KR" dirty="0"/>
              <a:t>60</a:t>
            </a:r>
            <a:r>
              <a:rPr lang="ko-KR" altLang="en-US" dirty="0"/>
              <a:t>대 이상</a:t>
            </a:r>
            <a:r>
              <a:rPr lang="ko-KR" altLang="en-US" baseline="0" dirty="0"/>
              <a:t> </a:t>
            </a:r>
            <a:r>
              <a:rPr lang="ko-KR" altLang="en-US" dirty="0" err="1"/>
              <a:t>확진자</a:t>
            </a:r>
            <a:r>
              <a:rPr lang="ko-KR" altLang="en-US" baseline="0" dirty="0"/>
              <a:t> 위주로 의료 및 방역대응이 이루어지게 됩니다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먼저 의료대응으로 지난 </a:t>
            </a:r>
            <a:r>
              <a:rPr lang="ko-KR" altLang="en-US" dirty="0" err="1"/>
              <a:t>한달간</a:t>
            </a:r>
            <a:r>
              <a:rPr lang="ko-KR" altLang="en-US" dirty="0"/>
              <a:t> 재택</a:t>
            </a:r>
            <a:r>
              <a:rPr lang="en-US" altLang="ko-KR" dirty="0"/>
              <a:t>/</a:t>
            </a:r>
            <a:r>
              <a:rPr lang="ko-KR" altLang="en-US" dirty="0" err="1"/>
              <a:t>생치</a:t>
            </a:r>
            <a:r>
              <a:rPr lang="en-US" altLang="ko-KR" dirty="0"/>
              <a:t>/</a:t>
            </a:r>
            <a:r>
              <a:rPr lang="ko-KR" altLang="en-US" dirty="0"/>
              <a:t>병원배정으로의 초기 배정 분석을 이행하였습니다</a:t>
            </a:r>
            <a:r>
              <a:rPr lang="en-US" altLang="ko-KR" dirty="0"/>
              <a:t>. 60</a:t>
            </a:r>
            <a:r>
              <a:rPr lang="ko-KR" altLang="en-US" dirty="0" err="1"/>
              <a:t>대이상은</a:t>
            </a:r>
            <a:r>
              <a:rPr lang="ko-KR" altLang="en-US" dirty="0"/>
              <a:t> </a:t>
            </a:r>
            <a:r>
              <a:rPr lang="ko-KR" altLang="en-US" dirty="0" err="1"/>
              <a:t>전체확진자의</a:t>
            </a:r>
            <a:r>
              <a:rPr lang="ko-KR" altLang="en-US" dirty="0"/>
              <a:t> </a:t>
            </a:r>
            <a:r>
              <a:rPr lang="en-US" altLang="ko-KR" dirty="0"/>
              <a:t>30%</a:t>
            </a:r>
            <a:r>
              <a:rPr lang="ko-KR" altLang="en-US" dirty="0"/>
              <a:t>를 차지하는데 이들의 초기 배정은 재택치료는 </a:t>
            </a:r>
            <a:r>
              <a:rPr lang="en-US" altLang="ko-KR" dirty="0"/>
              <a:t>45%, </a:t>
            </a:r>
            <a:r>
              <a:rPr lang="ko-KR" altLang="en-US" dirty="0" err="1"/>
              <a:t>생치는</a:t>
            </a:r>
            <a:r>
              <a:rPr lang="ko-KR" altLang="en-US" dirty="0"/>
              <a:t> </a:t>
            </a:r>
            <a:r>
              <a:rPr lang="en-US" altLang="ko-KR" dirty="0"/>
              <a:t>30%, </a:t>
            </a:r>
            <a:r>
              <a:rPr lang="ko-KR" altLang="en-US" dirty="0"/>
              <a:t>병원은 </a:t>
            </a:r>
            <a:r>
              <a:rPr lang="en-US" altLang="ko-KR" dirty="0"/>
              <a:t>25%</a:t>
            </a:r>
            <a:r>
              <a:rPr lang="ko-KR" altLang="en-US" dirty="0"/>
              <a:t>로 나타났습니다</a:t>
            </a:r>
            <a:r>
              <a:rPr lang="en-US" altLang="ko-KR" dirty="0"/>
              <a:t>. </a:t>
            </a:r>
            <a:r>
              <a:rPr lang="ko-KR" altLang="en-US" dirty="0"/>
              <a:t>방역대응 또한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월에 자가기입역학조사서가 도입이 되는데 오른편에 보시면 </a:t>
            </a:r>
            <a:r>
              <a:rPr lang="en-US" altLang="ko-KR" dirty="0"/>
              <a:t>60</a:t>
            </a:r>
            <a:r>
              <a:rPr lang="ko-KR" altLang="en-US" dirty="0" err="1"/>
              <a:t>대이상의</a:t>
            </a:r>
            <a:r>
              <a:rPr lang="ko-KR" altLang="en-US" dirty="0"/>
              <a:t> </a:t>
            </a:r>
            <a:r>
              <a:rPr lang="ko-KR" altLang="en-US" dirty="0" err="1"/>
              <a:t>자가기입식</a:t>
            </a:r>
            <a:r>
              <a:rPr lang="ko-KR" altLang="en-US" dirty="0"/>
              <a:t> </a:t>
            </a:r>
            <a:r>
              <a:rPr lang="ko-KR" altLang="en-US" dirty="0" err="1"/>
              <a:t>등록률이</a:t>
            </a:r>
            <a:r>
              <a:rPr lang="ko-KR" altLang="en-US" dirty="0"/>
              <a:t> </a:t>
            </a:r>
            <a:r>
              <a:rPr lang="en-US" altLang="ko-KR" dirty="0"/>
              <a:t>60-74</a:t>
            </a:r>
            <a:r>
              <a:rPr lang="ko-KR" altLang="en-US" dirty="0"/>
              <a:t>세는 </a:t>
            </a:r>
            <a:r>
              <a:rPr lang="en-US" altLang="ko-KR" dirty="0"/>
              <a:t>14.8%, 75</a:t>
            </a:r>
            <a:r>
              <a:rPr lang="ko-KR" altLang="en-US" dirty="0"/>
              <a:t>세</a:t>
            </a:r>
            <a:r>
              <a:rPr lang="ko-KR" altLang="en-US" baseline="0" dirty="0"/>
              <a:t> 이상은 </a:t>
            </a:r>
            <a:r>
              <a:rPr lang="en-US" altLang="ko-KR" baseline="0" dirty="0"/>
              <a:t>8.2%</a:t>
            </a:r>
            <a:r>
              <a:rPr lang="ko-KR" altLang="en-US" baseline="0" dirty="0"/>
              <a:t>로 낮아 보건소에서 유선으로 연락하여 조사서를 입력하여야 하였고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앞으로 </a:t>
            </a:r>
            <a:r>
              <a:rPr lang="ko-KR" altLang="en-US" baseline="0" dirty="0" err="1"/>
              <a:t>또다른</a:t>
            </a:r>
            <a:r>
              <a:rPr lang="ko-KR" altLang="en-US" baseline="0" dirty="0"/>
              <a:t> 유행이 온다고 하더라도 이와 같은 사례는 반복될 가능성이 높습니다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이에 </a:t>
            </a:r>
            <a:r>
              <a:rPr lang="ko-KR" altLang="en-US" baseline="0" dirty="0" err="1"/>
              <a:t>오미크론과</a:t>
            </a:r>
            <a:r>
              <a:rPr lang="ko-KR" altLang="en-US" baseline="0" dirty="0"/>
              <a:t> 같이 경하지만 전파력이 높아서 전체를 관리해야 </a:t>
            </a:r>
            <a:r>
              <a:rPr lang="ko-KR" altLang="en-US" baseline="0" dirty="0" err="1"/>
              <a:t>할때에는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구단위가</a:t>
            </a:r>
            <a:r>
              <a:rPr lang="ko-KR" altLang="en-US" baseline="0" dirty="0"/>
              <a:t> 아닌 </a:t>
            </a:r>
            <a:r>
              <a:rPr lang="ko-KR" altLang="en-US" baseline="0" dirty="0" err="1"/>
              <a:t>동단위의</a:t>
            </a:r>
            <a:r>
              <a:rPr lang="ko-KR" altLang="en-US" baseline="0" dirty="0"/>
              <a:t> 관리 더 나아가 </a:t>
            </a:r>
            <a:r>
              <a:rPr lang="ko-KR" altLang="en-US" baseline="0" dirty="0" err="1"/>
              <a:t>주치의등의</a:t>
            </a:r>
            <a:r>
              <a:rPr lang="ko-KR" altLang="en-US" baseline="0" dirty="0"/>
              <a:t> 재택의료의 보편화가 수반되어야 합니다</a:t>
            </a:r>
            <a:r>
              <a:rPr lang="en-US" altLang="ko-KR" baseline="0" dirty="0"/>
              <a:t>. </a:t>
            </a:r>
            <a:r>
              <a:rPr lang="ko-KR" altLang="en-US" baseline="0" dirty="0" err="1"/>
              <a:t>그외</a:t>
            </a:r>
            <a:r>
              <a:rPr lang="ko-KR" altLang="en-US" baseline="0" dirty="0"/>
              <a:t> 역학조사도 간소화되어 역학조사의 대상은 감염취약시설 </a:t>
            </a:r>
            <a:r>
              <a:rPr lang="en-US" altLang="ko-KR" baseline="0" dirty="0"/>
              <a:t>3</a:t>
            </a:r>
            <a:r>
              <a:rPr lang="ko-KR" altLang="en-US" baseline="0" dirty="0"/>
              <a:t>종과 의료기관으로 조사주체는 지자체공무원에서 시설방역관리책임자 중심으로 전환이 되었습니다</a:t>
            </a:r>
            <a:r>
              <a:rPr lang="en-US" altLang="ko-KR" baseline="0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272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ko-KR" altLang="en-US" dirty="0" err="1"/>
              <a:t>오미크론유행시기의</a:t>
            </a:r>
            <a:r>
              <a:rPr lang="ko-KR" altLang="en-US" dirty="0"/>
              <a:t> </a:t>
            </a:r>
            <a:r>
              <a:rPr lang="ko-KR" altLang="en-US" dirty="0" err="1"/>
              <a:t>병상가동율입니다</a:t>
            </a:r>
            <a:r>
              <a:rPr lang="en-US" altLang="ko-KR" dirty="0"/>
              <a:t>. </a:t>
            </a:r>
            <a:r>
              <a:rPr lang="ko-KR" altLang="en-US" dirty="0"/>
              <a:t>이전의 병상개념에 추가된 개념은 </a:t>
            </a:r>
            <a:r>
              <a:rPr lang="ko-KR" altLang="en-US" dirty="0" err="1"/>
              <a:t>준중증병상인데요</a:t>
            </a:r>
            <a:r>
              <a:rPr lang="en-US" altLang="ko-KR" dirty="0"/>
              <a:t>, </a:t>
            </a:r>
            <a:r>
              <a:rPr lang="ko-KR" altLang="en-US" dirty="0"/>
              <a:t>통상적으로 중증은 호흡기위주로 정의된 것이고 </a:t>
            </a:r>
            <a:r>
              <a:rPr lang="ko-KR" altLang="en-US" dirty="0" err="1"/>
              <a:t>그외</a:t>
            </a:r>
            <a:r>
              <a:rPr lang="ko-KR" altLang="en-US" dirty="0"/>
              <a:t> 호흡기는 중증이 아니나 심혈관계</a:t>
            </a:r>
            <a:r>
              <a:rPr lang="en-US" altLang="ko-KR" dirty="0"/>
              <a:t>, </a:t>
            </a:r>
            <a:r>
              <a:rPr lang="ko-KR" altLang="en-US" dirty="0"/>
              <a:t>뇌신경계</a:t>
            </a:r>
            <a:r>
              <a:rPr lang="en-US" altLang="ko-KR" dirty="0"/>
              <a:t>, </a:t>
            </a:r>
            <a:r>
              <a:rPr lang="ko-KR" altLang="en-US" dirty="0"/>
              <a:t>외과계열</a:t>
            </a:r>
            <a:r>
              <a:rPr lang="en-US" altLang="ko-KR" dirty="0"/>
              <a:t>, </a:t>
            </a:r>
            <a:r>
              <a:rPr lang="ko-KR" altLang="en-US" dirty="0" err="1"/>
              <a:t>고위험임산부등의</a:t>
            </a:r>
            <a:r>
              <a:rPr lang="ko-KR" altLang="en-US" dirty="0"/>
              <a:t> 환자로 집중치료가 필요한 자를 </a:t>
            </a:r>
            <a:r>
              <a:rPr lang="ko-KR" altLang="en-US" dirty="0" err="1"/>
              <a:t>준중환자실에</a:t>
            </a:r>
            <a:r>
              <a:rPr lang="ko-KR" altLang="en-US" dirty="0"/>
              <a:t> 배정하게 되었습니다</a:t>
            </a:r>
            <a:r>
              <a:rPr lang="en-US" altLang="ko-KR" dirty="0"/>
              <a:t>. </a:t>
            </a:r>
            <a:r>
              <a:rPr lang="ko-KR" altLang="en-US" dirty="0"/>
              <a:t>보시면 분홍색이 </a:t>
            </a:r>
            <a:r>
              <a:rPr lang="ko-KR" altLang="en-US" dirty="0" err="1"/>
              <a:t>중증가동율인데</a:t>
            </a:r>
            <a:r>
              <a:rPr lang="ko-KR" altLang="en-US" dirty="0"/>
              <a:t>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3</a:t>
            </a:r>
            <a:r>
              <a:rPr lang="ko-KR" altLang="en-US" dirty="0"/>
              <a:t>월 </a:t>
            </a:r>
            <a:r>
              <a:rPr lang="en-US" altLang="ko-KR" dirty="0"/>
              <a:t>3</a:t>
            </a:r>
            <a:r>
              <a:rPr lang="ko-KR" altLang="en-US" dirty="0"/>
              <a:t>일부터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 </a:t>
            </a:r>
            <a:r>
              <a:rPr lang="en-US" altLang="ko-KR" dirty="0"/>
              <a:t>12</a:t>
            </a:r>
            <a:r>
              <a:rPr lang="ko-KR" altLang="en-US" dirty="0"/>
              <a:t>일까지 </a:t>
            </a:r>
            <a:r>
              <a:rPr lang="ko-KR" altLang="en-US" dirty="0" err="1"/>
              <a:t>한달이상</a:t>
            </a:r>
            <a:r>
              <a:rPr lang="ko-KR" altLang="en-US" dirty="0"/>
              <a:t> </a:t>
            </a:r>
            <a:r>
              <a:rPr lang="ko-KR" altLang="en-US" dirty="0" err="1"/>
              <a:t>중증가동유링</a:t>
            </a:r>
            <a:r>
              <a:rPr lang="ko-KR" altLang="en-US" dirty="0"/>
              <a:t> </a:t>
            </a:r>
            <a:r>
              <a:rPr lang="en-US" altLang="ko-KR" dirty="0"/>
              <a:t>60%</a:t>
            </a:r>
            <a:r>
              <a:rPr lang="ko-KR" altLang="en-US" dirty="0"/>
              <a:t>인 시기가 있었습니다</a:t>
            </a:r>
            <a:r>
              <a:rPr lang="en-US" altLang="ko-KR" dirty="0"/>
              <a:t>. </a:t>
            </a:r>
            <a:r>
              <a:rPr lang="ko-KR" altLang="en-US" dirty="0"/>
              <a:t>이때에는 </a:t>
            </a:r>
            <a:r>
              <a:rPr lang="ko-KR" altLang="en-US" baseline="0" dirty="0"/>
              <a:t>중환자 </a:t>
            </a:r>
            <a:r>
              <a:rPr lang="ko-KR" altLang="en-US" baseline="0" dirty="0" err="1"/>
              <a:t>의뢰시에</a:t>
            </a:r>
            <a:r>
              <a:rPr lang="ko-KR" altLang="en-US" baseline="0" dirty="0"/>
              <a:t> 절차에 대한 내용입니다</a:t>
            </a:r>
            <a:r>
              <a:rPr lang="en-US" altLang="ko-KR" baseline="0" dirty="0"/>
              <a:t>. </a:t>
            </a:r>
          </a:p>
          <a:p>
            <a:r>
              <a:rPr lang="ko-KR" altLang="en-US" baseline="0" dirty="0"/>
              <a:t>우선 </a:t>
            </a:r>
            <a:r>
              <a:rPr lang="ko-KR" altLang="en-US" baseline="0" dirty="0" err="1"/>
              <a:t>의뢰시에는</a:t>
            </a:r>
            <a:r>
              <a:rPr lang="ko-KR" altLang="en-US" baseline="0" dirty="0"/>
              <a:t> 전날 오후 </a:t>
            </a:r>
            <a:r>
              <a:rPr lang="en-US" altLang="ko-KR" baseline="0" dirty="0"/>
              <a:t>4</a:t>
            </a:r>
            <a:r>
              <a:rPr lang="ko-KR" altLang="en-US" baseline="0" dirty="0"/>
              <a:t>시에 감염관리실로부터 공유된 중환</a:t>
            </a:r>
            <a:r>
              <a:rPr lang="en-US" altLang="ko-KR" baseline="0" dirty="0"/>
              <a:t>/</a:t>
            </a:r>
            <a:r>
              <a:rPr lang="ko-KR" altLang="en-US" baseline="0" dirty="0" err="1"/>
              <a:t>준중환</a:t>
            </a:r>
            <a:r>
              <a:rPr lang="ko-KR" altLang="en-US" baseline="0" dirty="0"/>
              <a:t> 잔여병상을 기준으로 우선 </a:t>
            </a:r>
            <a:r>
              <a:rPr lang="ko-KR" altLang="en-US" baseline="0" dirty="0" err="1"/>
              <a:t>단톡에</a:t>
            </a:r>
            <a:r>
              <a:rPr lang="ko-KR" altLang="en-US" baseline="0" dirty="0"/>
              <a:t> 요청한 순위대로 배정하였으며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전원의뢰시에는</a:t>
            </a:r>
            <a:r>
              <a:rPr lang="ko-KR" altLang="en-US" baseline="0" dirty="0"/>
              <a:t> 필요한 서류와 </a:t>
            </a:r>
            <a:r>
              <a:rPr lang="en-US" altLang="ko-KR" baseline="0" dirty="0"/>
              <a:t>DNR </a:t>
            </a:r>
            <a:r>
              <a:rPr lang="ko-KR" altLang="en-US" baseline="0" dirty="0"/>
              <a:t>확인을 해야 한다는 내용입니다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488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중환자 병상에 입실기준의 탄력적 운용하기 위해서</a:t>
            </a:r>
            <a:r>
              <a:rPr lang="en-US" altLang="ko-KR" sz="1200" baseline="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200" baseline="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첫째로는 </a:t>
            </a:r>
            <a:r>
              <a:rPr lang="en-US" altLang="ko-KR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</a:t>
            </a:r>
            <a:r>
              <a:rPr lang="ko-KR" altLang="en-US" sz="1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리터이상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인공호흡기달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가능성있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환자에서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중증장비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옵티플로우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벤트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,CRRT,ECMO)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치료를 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하는 환자로 강화했으며</a:t>
            </a:r>
            <a:r>
              <a:rPr lang="en-US" altLang="ko-KR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중증장비중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옵티플로우는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중등증병상에도 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치료가능하여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이를 권장하였습니다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  <a:r>
              <a:rPr lang="en-US" altLang="ko-KR" sz="1400" b="1" baseline="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</a:t>
            </a:r>
            <a:r>
              <a:rPr lang="en-US" altLang="ko-KR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카카오톡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시병상배정방</a:t>
            </a:r>
            <a:r>
              <a:rPr lang="en-US" altLang="ko-KR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</a:t>
            </a:r>
            <a:r>
              <a:rPr lang="en-US" altLang="ko-KR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병원관계자</a:t>
            </a:r>
            <a:r>
              <a:rPr lang="en-US" altLang="ko-KR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 </a:t>
            </a:r>
            <a:r>
              <a:rPr lang="ko-KR" altLang="en-US" sz="1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위의사항이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이행되어야 되는 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중환자병상가동율이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최소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60-70%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 넘는 시기에만 공지하였습니다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타병원에서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중환자병상이 있는 대학병원으로 전원시의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기준</a:t>
            </a:r>
            <a:r>
              <a:rPr lang="ko-KR" altLang="en-US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선안내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사항으로는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DNR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부동의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적극적인 치료 희망 여부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서류와 코로나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격리치료비의 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검체일로부터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일까지만 가능한 내용의 서류가 필요하다고 안내하였습니다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101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엑셀양식에도 변화가 오는데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월까지는 기초역학조사서상의 증상에 대하여 </a:t>
            </a:r>
            <a:r>
              <a:rPr lang="ko-KR" altLang="en-US" dirty="0" err="1"/>
              <a:t>증상별로</a:t>
            </a:r>
            <a:r>
              <a:rPr lang="ko-KR" altLang="en-US" dirty="0"/>
              <a:t> 체크하여 배정하다가</a:t>
            </a:r>
            <a:r>
              <a:rPr lang="en-US" altLang="ko-KR" dirty="0"/>
              <a:t>, </a:t>
            </a:r>
            <a:r>
              <a:rPr lang="ko-KR" altLang="en-US" dirty="0" err="1"/>
              <a:t>확진자가</a:t>
            </a:r>
            <a:r>
              <a:rPr lang="ko-KR" altLang="en-US" dirty="0"/>
              <a:t> 기하급수적으로 </a:t>
            </a:r>
            <a:r>
              <a:rPr lang="ko-KR" altLang="en-US" dirty="0" err="1"/>
              <a:t>늠에</a:t>
            </a:r>
            <a:r>
              <a:rPr lang="ko-KR" altLang="en-US" baseline="0" dirty="0"/>
              <a:t> 따라</a:t>
            </a:r>
            <a:endParaRPr lang="en-US" altLang="ko-KR" baseline="0" dirty="0"/>
          </a:p>
          <a:p>
            <a:r>
              <a:rPr lang="ko-KR" altLang="en-US" baseline="0" dirty="0"/>
              <a:t>우선 보건소에서 </a:t>
            </a:r>
            <a:r>
              <a:rPr lang="en-US" altLang="ko-KR" baseline="0" dirty="0"/>
              <a:t>1</a:t>
            </a:r>
            <a:r>
              <a:rPr lang="ko-KR" altLang="en-US" baseline="0" dirty="0"/>
              <a:t>차로 역학조사상 경증의 증상이면 재택으로 분류하고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나머지 주요 </a:t>
            </a:r>
            <a:r>
              <a:rPr lang="ko-KR" altLang="en-US" baseline="0" dirty="0" err="1"/>
              <a:t>호흡곤란등의</a:t>
            </a:r>
            <a:r>
              <a:rPr lang="ko-KR" altLang="en-US" baseline="0" dirty="0"/>
              <a:t> 중환자일 위험이 있는 병원입원대상인 환자만 </a:t>
            </a:r>
            <a:r>
              <a:rPr lang="ko-KR" altLang="en-US" baseline="0" dirty="0" err="1"/>
              <a:t>시카톡배정방에</a:t>
            </a:r>
            <a:r>
              <a:rPr lang="ko-KR" altLang="en-US" baseline="0" dirty="0"/>
              <a:t> 기초를 올리고 병상배정을 요청하도록 변경이 되었습니다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위는 </a:t>
            </a:r>
            <a:r>
              <a:rPr lang="en-US" altLang="ko-KR" baseline="0" dirty="0"/>
              <a:t>2022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3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14</a:t>
            </a:r>
            <a:r>
              <a:rPr lang="ko-KR" altLang="en-US" baseline="0" dirty="0"/>
              <a:t>일 부산시 </a:t>
            </a:r>
            <a:r>
              <a:rPr lang="ko-KR" altLang="en-US" baseline="0" dirty="0" err="1"/>
              <a:t>일일확진자가</a:t>
            </a:r>
            <a:r>
              <a:rPr lang="ko-KR" altLang="en-US" baseline="0" dirty="0"/>
              <a:t> </a:t>
            </a:r>
            <a:r>
              <a:rPr lang="en-US" altLang="ko-KR" baseline="0" dirty="0"/>
              <a:t>26000</a:t>
            </a:r>
            <a:r>
              <a:rPr lang="ko-KR" altLang="en-US" baseline="0" dirty="0" err="1"/>
              <a:t>여명일때의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병상배정표로</a:t>
            </a:r>
            <a:r>
              <a:rPr lang="ko-KR" altLang="en-US" baseline="0" dirty="0"/>
              <a:t> 그날 </a:t>
            </a:r>
            <a:r>
              <a:rPr lang="en-US" altLang="ko-KR" baseline="0" dirty="0"/>
              <a:t>95</a:t>
            </a:r>
            <a:r>
              <a:rPr lang="ko-KR" altLang="en-US" baseline="0" dirty="0"/>
              <a:t>명이 병상배정을 완료하였지만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그중</a:t>
            </a:r>
            <a:r>
              <a:rPr lang="ko-KR" altLang="en-US" baseline="0" dirty="0"/>
              <a:t> </a:t>
            </a:r>
            <a:r>
              <a:rPr lang="en-US" altLang="ko-KR" baseline="0" dirty="0"/>
              <a:t>9</a:t>
            </a:r>
            <a:r>
              <a:rPr lang="ko-KR" altLang="en-US" baseline="0" dirty="0"/>
              <a:t>명은 배정되지 못한 대기환자로 그 다음날 중증병상이 </a:t>
            </a:r>
            <a:r>
              <a:rPr lang="ko-KR" altLang="en-US" baseline="0" dirty="0" err="1"/>
              <a:t>자리나길</a:t>
            </a:r>
            <a:r>
              <a:rPr lang="ko-KR" altLang="en-US" baseline="0" dirty="0"/>
              <a:t> 기다리는 환자였습니다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779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3</a:t>
            </a:r>
            <a:r>
              <a:rPr lang="ko-KR" altLang="en-US" dirty="0"/>
              <a:t>월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오미크론유행의</a:t>
            </a:r>
            <a:r>
              <a:rPr lang="ko-KR" altLang="en-US" baseline="0" dirty="0"/>
              <a:t> 정점에 다다른 시기에 코로나 환자에 대하여 </a:t>
            </a:r>
            <a:r>
              <a:rPr lang="ko-KR" altLang="en-US" baseline="0" dirty="0" err="1"/>
              <a:t>음압격리실</a:t>
            </a:r>
            <a:r>
              <a:rPr lang="en-US" altLang="ko-KR" baseline="0" dirty="0"/>
              <a:t>/</a:t>
            </a:r>
            <a:r>
              <a:rPr lang="ko-KR" altLang="en-US" baseline="0" dirty="0"/>
              <a:t>수술실이 부족하다는 연유로 여러 의료처치가 필요한 환자에 대한 의료기관의 수용거부 현장이 발생하여서 일반병실에서도 환자를 </a:t>
            </a:r>
            <a:r>
              <a:rPr lang="ko-KR" altLang="en-US" baseline="0" dirty="0" err="1"/>
              <a:t>치료할수</a:t>
            </a:r>
            <a:r>
              <a:rPr lang="ko-KR" altLang="en-US" baseline="0" dirty="0"/>
              <a:t> 있도록 </a:t>
            </a:r>
            <a:r>
              <a:rPr lang="en-US" altLang="ko-KR" baseline="0" dirty="0"/>
              <a:t>3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8</a:t>
            </a:r>
            <a:r>
              <a:rPr lang="ko-KR" altLang="en-US" baseline="0" dirty="0"/>
              <a:t>일에 지침이 개정되었으나</a:t>
            </a:r>
            <a:r>
              <a:rPr lang="en-US" altLang="ko-KR" baseline="0" dirty="0"/>
              <a:t>, </a:t>
            </a:r>
            <a:r>
              <a:rPr lang="ko-KR" altLang="en-US" baseline="0" dirty="0"/>
              <a:t>현실에서도 계속 상황이 발생하여 부산시장님 주재로 </a:t>
            </a:r>
            <a:r>
              <a:rPr lang="en-US" altLang="ko-KR" baseline="0" dirty="0"/>
              <a:t>3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22</a:t>
            </a:r>
            <a:r>
              <a:rPr lang="ko-KR" altLang="en-US" baseline="0" dirty="0"/>
              <a:t>일에 중증</a:t>
            </a:r>
            <a:r>
              <a:rPr lang="en-US" altLang="ko-KR" baseline="0" dirty="0"/>
              <a:t>/</a:t>
            </a:r>
            <a:r>
              <a:rPr lang="ko-KR" altLang="en-US" baseline="0" dirty="0"/>
              <a:t>응급환자 진료대책을 위한 의료기관장 회의를 개최하여 협조를 구하였습니다</a:t>
            </a:r>
            <a:r>
              <a:rPr lang="en-US" altLang="ko-KR" baseline="0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582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보시면 환자거주장소가 </a:t>
            </a:r>
            <a:r>
              <a:rPr lang="ko-KR" altLang="en-US" dirty="0" err="1"/>
              <a:t>응급실일때에는</a:t>
            </a:r>
            <a:r>
              <a:rPr lang="ko-KR" altLang="en-US" dirty="0"/>
              <a:t> 의료기관에서 자제배정을 하고</a:t>
            </a:r>
            <a:r>
              <a:rPr lang="en-US" altLang="ko-KR" dirty="0"/>
              <a:t>, </a:t>
            </a:r>
            <a:r>
              <a:rPr lang="ko-KR" altLang="en-US" dirty="0"/>
              <a:t>환자가 병원에 </a:t>
            </a:r>
            <a:r>
              <a:rPr lang="ko-KR" altLang="en-US" dirty="0" err="1"/>
              <a:t>입원중일때</a:t>
            </a:r>
            <a:r>
              <a:rPr lang="ko-KR" altLang="en-US" dirty="0"/>
              <a:t> </a:t>
            </a:r>
            <a:r>
              <a:rPr lang="ko-KR" altLang="en-US" dirty="0" err="1"/>
              <a:t>중환자난</a:t>
            </a:r>
            <a:r>
              <a:rPr lang="ko-KR" altLang="en-US" dirty="0"/>
              <a:t> 중증전원환자일 경우에는 시도에서 배정하며</a:t>
            </a:r>
            <a:r>
              <a:rPr lang="en-US" altLang="ko-KR" dirty="0"/>
              <a:t>, </a:t>
            </a:r>
            <a:r>
              <a:rPr lang="ko-KR" altLang="en-US" dirty="0"/>
              <a:t>집 혹은 감염취약시설에 입원중인 경우에도 중환자나 산소치료 필요한 </a:t>
            </a:r>
            <a:r>
              <a:rPr lang="ko-KR" altLang="en-US" dirty="0" err="1"/>
              <a:t>중등증환자일</a:t>
            </a:r>
            <a:r>
              <a:rPr lang="ko-KR" altLang="en-US" dirty="0"/>
              <a:t> 경우 시에서 배정한다는 내용입니다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582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재택치료에 대한 내용 요약입니다</a:t>
            </a:r>
            <a:r>
              <a:rPr lang="en-US" altLang="ko-KR" dirty="0"/>
              <a:t>. 2021</a:t>
            </a:r>
            <a:r>
              <a:rPr lang="ko-KR" altLang="en-US" dirty="0"/>
              <a:t>년</a:t>
            </a:r>
            <a:r>
              <a:rPr lang="ko-KR" altLang="en-US" baseline="0" dirty="0"/>
              <a:t> </a:t>
            </a:r>
            <a:r>
              <a:rPr lang="en-US" altLang="ko-KR" baseline="0" dirty="0"/>
              <a:t>10</a:t>
            </a:r>
            <a:r>
              <a:rPr lang="ko-KR" altLang="en-US" baseline="0" dirty="0"/>
              <a:t>월부터 시작한 재택치료체계에서 자택에 있는 </a:t>
            </a:r>
            <a:r>
              <a:rPr lang="ko-KR" altLang="en-US" baseline="0" dirty="0" err="1"/>
              <a:t>확진자가</a:t>
            </a:r>
            <a:r>
              <a:rPr lang="ko-KR" altLang="en-US" baseline="0" dirty="0"/>
              <a:t> 응급상황이 </a:t>
            </a:r>
            <a:r>
              <a:rPr lang="ko-KR" altLang="en-US" baseline="0" dirty="0" err="1"/>
              <a:t>발생하였을때에</a:t>
            </a:r>
            <a:r>
              <a:rPr lang="ko-KR" altLang="en-US" baseline="0" dirty="0"/>
              <a:t> 적극 대처하고자 </a:t>
            </a:r>
            <a:r>
              <a:rPr lang="en-US" altLang="ko-KR" baseline="0" dirty="0"/>
              <a:t>2021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11</a:t>
            </a:r>
            <a:r>
              <a:rPr lang="ko-KR" altLang="en-US" baseline="0" dirty="0"/>
              <a:t>월 </a:t>
            </a:r>
            <a:r>
              <a:rPr lang="en-US" altLang="ko-KR" baseline="0" dirty="0"/>
              <a:t>1</a:t>
            </a:r>
            <a:r>
              <a:rPr lang="ko-KR" altLang="en-US" baseline="0" dirty="0"/>
              <a:t>일부터 </a:t>
            </a:r>
            <a:r>
              <a:rPr lang="ko-KR" altLang="en-US" baseline="0" dirty="0" err="1"/>
              <a:t>재택치료관리팀내</a:t>
            </a:r>
            <a:r>
              <a:rPr lang="ko-KR" altLang="en-US" baseline="0" dirty="0"/>
              <a:t> </a:t>
            </a:r>
            <a:r>
              <a:rPr lang="en-US" altLang="ko-KR" baseline="0" dirty="0"/>
              <a:t>‘</a:t>
            </a:r>
            <a:r>
              <a:rPr lang="ko-KR" altLang="en-US" baseline="0" dirty="0"/>
              <a:t>응급핫라인</a:t>
            </a:r>
            <a:r>
              <a:rPr lang="en-US" altLang="ko-KR" baseline="0" dirty="0"/>
              <a:t>’</a:t>
            </a:r>
            <a:r>
              <a:rPr lang="ko-KR" altLang="en-US" baseline="0" dirty="0"/>
              <a:t>을 개설 </a:t>
            </a:r>
            <a:r>
              <a:rPr lang="ko-KR" altLang="en-US" baseline="0" dirty="0" err="1"/>
              <a:t>운영하게됩니다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근무형태는 주야간 교대근무로 </a:t>
            </a:r>
            <a:r>
              <a:rPr lang="en-US" altLang="ko-KR" baseline="0" dirty="0"/>
              <a:t>24</a:t>
            </a:r>
            <a:r>
              <a:rPr lang="ko-KR" altLang="en-US" baseline="0" dirty="0"/>
              <a:t>시간 상시 운영하며 근무인원은 최초 </a:t>
            </a:r>
            <a:r>
              <a:rPr lang="en-US" altLang="ko-KR" baseline="0" dirty="0"/>
              <a:t>4</a:t>
            </a:r>
            <a:r>
              <a:rPr lang="ko-KR" altLang="en-US" baseline="0" dirty="0"/>
              <a:t>명에서 최대 </a:t>
            </a:r>
            <a:r>
              <a:rPr lang="en-US" altLang="ko-KR" baseline="0" dirty="0"/>
              <a:t>15</a:t>
            </a:r>
            <a:r>
              <a:rPr lang="ko-KR" altLang="en-US" baseline="0" dirty="0"/>
              <a:t>명까지 근무하였고 주요업무로는 응급상황</a:t>
            </a:r>
            <a:r>
              <a:rPr lang="en-US" altLang="ko-KR" baseline="0" dirty="0"/>
              <a:t>/</a:t>
            </a:r>
            <a:r>
              <a:rPr lang="ko-KR" altLang="en-US" baseline="0" dirty="0"/>
              <a:t>협력병원의 </a:t>
            </a:r>
            <a:r>
              <a:rPr lang="ko-KR" altLang="en-US" baseline="0" dirty="0" err="1"/>
              <a:t>전원요청시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병상배정하는</a:t>
            </a:r>
            <a:r>
              <a:rPr lang="ko-KR" altLang="en-US" baseline="0" dirty="0"/>
              <a:t> 업무와 코로나</a:t>
            </a:r>
            <a:r>
              <a:rPr lang="en-US" altLang="ko-KR" baseline="0" dirty="0"/>
              <a:t>19 </a:t>
            </a:r>
            <a:r>
              <a:rPr lang="ko-KR" altLang="en-US" baseline="0" dirty="0"/>
              <a:t>관련 질환 또는 기타 질환에 대한 상담 및 응급실 안내</a:t>
            </a:r>
            <a:r>
              <a:rPr lang="en-US" altLang="ko-KR" baseline="0" dirty="0"/>
              <a:t>, </a:t>
            </a:r>
            <a:r>
              <a:rPr lang="ko-KR" altLang="en-US" baseline="0" dirty="0"/>
              <a:t>기본적인 </a:t>
            </a:r>
            <a:r>
              <a:rPr lang="ko-KR" altLang="en-US" baseline="0" dirty="0" err="1"/>
              <a:t>민원상담등이</a:t>
            </a:r>
            <a:r>
              <a:rPr lang="ko-KR" altLang="en-US" baseline="0" dirty="0"/>
              <a:t> 있었습니다</a:t>
            </a:r>
            <a:r>
              <a:rPr lang="en-US" altLang="ko-KR" baseline="0" dirty="0"/>
              <a:t>. </a:t>
            </a:r>
            <a:r>
              <a:rPr lang="ko-KR" altLang="en-US" baseline="0" dirty="0" err="1"/>
              <a:t>확진자대비</a:t>
            </a:r>
            <a:r>
              <a:rPr lang="ko-KR" altLang="en-US" baseline="0" dirty="0"/>
              <a:t> 재택비율은 </a:t>
            </a:r>
            <a:r>
              <a:rPr lang="en-US" altLang="ko-KR" baseline="0" dirty="0"/>
              <a:t>2022</a:t>
            </a:r>
            <a:r>
              <a:rPr lang="ko-KR" altLang="en-US" baseline="0" dirty="0"/>
              <a:t>년 </a:t>
            </a:r>
            <a:r>
              <a:rPr lang="en-US" altLang="ko-KR" baseline="0" dirty="0"/>
              <a:t>2</a:t>
            </a:r>
            <a:r>
              <a:rPr lang="ko-KR" altLang="en-US" baseline="0" dirty="0" err="1"/>
              <a:t>월들어서</a:t>
            </a:r>
            <a:r>
              <a:rPr lang="ko-KR" altLang="en-US" baseline="0" dirty="0"/>
              <a:t> 전체 </a:t>
            </a:r>
            <a:r>
              <a:rPr lang="ko-KR" altLang="en-US" baseline="0" dirty="0" err="1"/>
              <a:t>확진자의</a:t>
            </a:r>
            <a:r>
              <a:rPr lang="ko-KR" altLang="en-US" baseline="0" dirty="0"/>
              <a:t> </a:t>
            </a:r>
            <a:r>
              <a:rPr lang="en-US" altLang="ko-KR" baseline="0" dirty="0"/>
              <a:t>90%</a:t>
            </a:r>
            <a:r>
              <a:rPr lang="ko-KR" altLang="en-US" baseline="0" dirty="0"/>
              <a:t>이상을 차지하게 됩니다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또한 재택핫라인으로 신고한 기관별 </a:t>
            </a:r>
            <a:r>
              <a:rPr lang="ko-KR" altLang="en-US" baseline="0" dirty="0" err="1"/>
              <a:t>분율은</a:t>
            </a:r>
            <a:r>
              <a:rPr lang="ko-KR" altLang="en-US" baseline="0" dirty="0"/>
              <a:t> 본인 및 보호자가 가장 많았으며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월별 응급핫라인 처리내역에서는 의료 및 행정상담이 제일 많았습니다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857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857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857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재택치료</a:t>
            </a:r>
            <a:r>
              <a:rPr lang="ko-KR" altLang="en-US" baseline="0" dirty="0"/>
              <a:t> 응급핫라인 </a:t>
            </a:r>
            <a:r>
              <a:rPr lang="ko-KR" altLang="en-US" baseline="0" dirty="0" err="1"/>
              <a:t>간호사분중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한분의</a:t>
            </a:r>
            <a:r>
              <a:rPr lang="ko-KR" altLang="en-US" baseline="0" dirty="0"/>
              <a:t> 근무소감을 소개해드립니다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598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경청해주셔서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65C2B-F83C-5B41-B5D7-950265EEFC3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6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103632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800600"/>
            <a:ext cx="9144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1"/>
            <a:ext cx="103632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28601"/>
            <a:ext cx="103632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424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688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176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176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90944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90944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0"/>
            <a:ext cx="6815667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0"/>
            <a:ext cx="4011084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12001169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715000"/>
            <a:ext cx="108712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4953000"/>
            <a:ext cx="108712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INTRODUCTION TO TB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A3C11-3A95-2148-8BA3-2C710668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65125"/>
            <a:ext cx="8234362" cy="949325"/>
          </a:xfrm>
        </p:spPr>
        <p:txBody>
          <a:bodyPr/>
          <a:lstStyle>
            <a:lvl1pPr>
              <a:defRPr sz="3600" b="1">
                <a:solidFill>
                  <a:srgbClr val="95458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AC92E-FE51-B648-BCD9-6DFCFD799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1514475"/>
            <a:ext cx="8234362" cy="4760674"/>
          </a:xfrm>
        </p:spPr>
        <p:txBody>
          <a:bodyPr/>
          <a:lstStyle>
            <a:lvl1pPr>
              <a:buClr>
                <a:srgbClr val="95458D"/>
              </a:buClr>
              <a:buSzPct val="125000"/>
              <a:defRPr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00201-FE63-42D4-919F-0DF2F3A88D32}"/>
              </a:ext>
            </a:extLst>
          </p:cNvPr>
          <p:cNvSpPr/>
          <p:nvPr userDrawn="1"/>
        </p:nvSpPr>
        <p:spPr>
          <a:xfrm>
            <a:off x="0" y="6493343"/>
            <a:ext cx="12192000" cy="365125"/>
          </a:xfrm>
          <a:prstGeom prst="rect">
            <a:avLst/>
          </a:prstGeom>
          <a:solidFill>
            <a:srgbClr val="00A3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CD91A32-9DF6-4E2A-98D9-DB8711764EFC}"/>
              </a:ext>
            </a:extLst>
          </p:cNvPr>
          <p:cNvSpPr/>
          <p:nvPr userDrawn="1"/>
        </p:nvSpPr>
        <p:spPr>
          <a:xfrm>
            <a:off x="11445241" y="6493811"/>
            <a:ext cx="746759" cy="364657"/>
          </a:xfrm>
          <a:custGeom>
            <a:avLst/>
            <a:gdLst>
              <a:gd name="connsiteX0" fmla="*/ 42089 w 746759"/>
              <a:gd name="connsiteY0" fmla="*/ 0 h 364657"/>
              <a:gd name="connsiteX1" fmla="*/ 746759 w 746759"/>
              <a:gd name="connsiteY1" fmla="*/ 0 h 364657"/>
              <a:gd name="connsiteX2" fmla="*/ 746759 w 746759"/>
              <a:gd name="connsiteY2" fmla="*/ 364657 h 364657"/>
              <a:gd name="connsiteX3" fmla="*/ 42597 w 746759"/>
              <a:gd name="connsiteY3" fmla="*/ 364657 h 364657"/>
              <a:gd name="connsiteX4" fmla="*/ 33534 w 746759"/>
              <a:gd name="connsiteY4" fmla="*/ 347959 h 364657"/>
              <a:gd name="connsiteX5" fmla="*/ 0 w 746759"/>
              <a:gd name="connsiteY5" fmla="*/ 181860 h 364657"/>
              <a:gd name="connsiteX6" fmla="*/ 33534 w 746759"/>
              <a:gd name="connsiteY6" fmla="*/ 15761 h 364657"/>
              <a:gd name="connsiteX7" fmla="*/ 42089 w 746759"/>
              <a:gd name="connsiteY7" fmla="*/ 0 h 36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6759" h="364657">
                <a:moveTo>
                  <a:pt x="42089" y="0"/>
                </a:moveTo>
                <a:lnTo>
                  <a:pt x="746759" y="0"/>
                </a:lnTo>
                <a:lnTo>
                  <a:pt x="746759" y="364657"/>
                </a:lnTo>
                <a:lnTo>
                  <a:pt x="42597" y="364657"/>
                </a:lnTo>
                <a:lnTo>
                  <a:pt x="33534" y="347959"/>
                </a:lnTo>
                <a:cubicBezTo>
                  <a:pt x="11941" y="296907"/>
                  <a:pt x="0" y="240778"/>
                  <a:pt x="0" y="181860"/>
                </a:cubicBezTo>
                <a:cubicBezTo>
                  <a:pt x="0" y="122942"/>
                  <a:pt x="11941" y="66814"/>
                  <a:pt x="33534" y="15761"/>
                </a:cubicBezTo>
                <a:lnTo>
                  <a:pt x="42089" y="0"/>
                </a:lnTo>
                <a:close/>
              </a:path>
            </a:pathLst>
          </a:custGeom>
          <a:solidFill>
            <a:srgbClr val="804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DE51603-51EF-48A6-A2FC-1CCAE439B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126" y="6493343"/>
            <a:ext cx="8298624" cy="364657"/>
          </a:xfrm>
          <a:prstGeom prst="rect">
            <a:avLst/>
          </a:prstGeom>
        </p:spPr>
        <p:txBody>
          <a:bodyPr/>
          <a:lstStyle>
            <a:lvl1pPr algn="l">
              <a:defRPr spc="11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INTRODUCTION TO TB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073E391-A24B-44DD-B5F8-81868F5EF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212" y="6493343"/>
            <a:ext cx="71088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AEE523A0-1992-604D-8A8B-A1DF82394F2D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89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A3C11-3A95-2148-8BA3-2C710668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267" y="365129"/>
            <a:ext cx="8955264" cy="949325"/>
          </a:xfrm>
        </p:spPr>
        <p:txBody>
          <a:bodyPr/>
          <a:lstStyle>
            <a:lvl1pPr>
              <a:defRPr sz="3600" b="1">
                <a:solidFill>
                  <a:srgbClr val="95458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AC92E-FE51-B648-BCD9-6DFCFD799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67" y="1514475"/>
            <a:ext cx="8955264" cy="1551454"/>
          </a:xfrm>
        </p:spPr>
        <p:txBody>
          <a:bodyPr/>
          <a:lstStyle>
            <a:lvl1pPr>
              <a:buClr>
                <a:srgbClr val="95458D"/>
              </a:buClr>
              <a:buSzPct val="125000"/>
              <a:defRPr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015CCA-24C1-9246-94F6-94516EE349E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2267" y="4953957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B7E220-426C-5140-B49A-8E0CDCE4508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40731" y="4953957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3C661D0-8553-7549-A5CC-2953BBF01F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468427" y="4953956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F036D91-BFAC-7F4D-B56E-CDB5B61F220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413035" y="4953957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368DC66-0279-6749-BA05-624B14F45DD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62267" y="3631373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ED67920-EA6E-2F49-AF98-6DAAC73C4FE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440731" y="3631373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5D3E041-6704-8D4A-9112-B2A9F6BE640C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468427" y="3631372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C811D97-041A-DC4E-AD0F-2462090D6BB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413035" y="3631373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05AE1C-1DDA-4E44-AE08-92D80233E76F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8373427" y="4953956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06832FB-0A4E-0748-BEB3-32C70EC2BE66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8373427" y="3631372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A0F97A-FA13-4446-A21A-4AEF8775BDF0}"/>
              </a:ext>
            </a:extLst>
          </p:cNvPr>
          <p:cNvSpPr/>
          <p:nvPr userDrawn="1"/>
        </p:nvSpPr>
        <p:spPr>
          <a:xfrm>
            <a:off x="0" y="6493347"/>
            <a:ext cx="12192000" cy="365125"/>
          </a:xfrm>
          <a:prstGeom prst="rect">
            <a:avLst/>
          </a:prstGeom>
          <a:solidFill>
            <a:srgbClr val="00A3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5B5AF1B-56E8-491A-A19C-B1F437D041F2}"/>
              </a:ext>
            </a:extLst>
          </p:cNvPr>
          <p:cNvSpPr/>
          <p:nvPr userDrawn="1"/>
        </p:nvSpPr>
        <p:spPr>
          <a:xfrm>
            <a:off x="11445243" y="6493815"/>
            <a:ext cx="746759" cy="364657"/>
          </a:xfrm>
          <a:custGeom>
            <a:avLst/>
            <a:gdLst>
              <a:gd name="connsiteX0" fmla="*/ 42089 w 746759"/>
              <a:gd name="connsiteY0" fmla="*/ 0 h 364657"/>
              <a:gd name="connsiteX1" fmla="*/ 746759 w 746759"/>
              <a:gd name="connsiteY1" fmla="*/ 0 h 364657"/>
              <a:gd name="connsiteX2" fmla="*/ 746759 w 746759"/>
              <a:gd name="connsiteY2" fmla="*/ 364657 h 364657"/>
              <a:gd name="connsiteX3" fmla="*/ 42597 w 746759"/>
              <a:gd name="connsiteY3" fmla="*/ 364657 h 364657"/>
              <a:gd name="connsiteX4" fmla="*/ 33534 w 746759"/>
              <a:gd name="connsiteY4" fmla="*/ 347959 h 364657"/>
              <a:gd name="connsiteX5" fmla="*/ 0 w 746759"/>
              <a:gd name="connsiteY5" fmla="*/ 181860 h 364657"/>
              <a:gd name="connsiteX6" fmla="*/ 33534 w 746759"/>
              <a:gd name="connsiteY6" fmla="*/ 15761 h 364657"/>
              <a:gd name="connsiteX7" fmla="*/ 42089 w 746759"/>
              <a:gd name="connsiteY7" fmla="*/ 0 h 36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6759" h="364657">
                <a:moveTo>
                  <a:pt x="42089" y="0"/>
                </a:moveTo>
                <a:lnTo>
                  <a:pt x="746759" y="0"/>
                </a:lnTo>
                <a:lnTo>
                  <a:pt x="746759" y="364657"/>
                </a:lnTo>
                <a:lnTo>
                  <a:pt x="42597" y="364657"/>
                </a:lnTo>
                <a:lnTo>
                  <a:pt x="33534" y="347959"/>
                </a:lnTo>
                <a:cubicBezTo>
                  <a:pt x="11941" y="296907"/>
                  <a:pt x="0" y="240778"/>
                  <a:pt x="0" y="181860"/>
                </a:cubicBezTo>
                <a:cubicBezTo>
                  <a:pt x="0" y="122942"/>
                  <a:pt x="11941" y="66814"/>
                  <a:pt x="33534" y="15761"/>
                </a:cubicBezTo>
                <a:lnTo>
                  <a:pt x="42089" y="0"/>
                </a:lnTo>
                <a:close/>
              </a:path>
            </a:pathLst>
          </a:custGeom>
          <a:solidFill>
            <a:srgbClr val="804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10C5E5A8-3F79-4209-A7BC-42A5807E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127" y="6493347"/>
            <a:ext cx="8298624" cy="364657"/>
          </a:xfrm>
          <a:prstGeom prst="rect">
            <a:avLst/>
          </a:prstGeom>
        </p:spPr>
        <p:txBody>
          <a:bodyPr/>
          <a:lstStyle>
            <a:lvl1pPr algn="l">
              <a:defRPr spc="11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INTRODUCTION TO TB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FC79B3D0-C5BA-4A37-A86C-CEB5550E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215" y="6493347"/>
            <a:ext cx="71088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AEE523A0-1992-604D-8A8B-A1DF82394F2D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42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A3C11-3A95-2148-8BA3-2C710668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9"/>
            <a:ext cx="8520112" cy="949325"/>
          </a:xfr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AC92E-FE51-B648-BCD9-6DFCFD799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1" y="1937226"/>
            <a:ext cx="9428163" cy="4337927"/>
          </a:xfrm>
        </p:spPr>
        <p:txBody>
          <a:bodyPr/>
          <a:lstStyle>
            <a:lvl1pPr>
              <a:buClr>
                <a:srgbClr val="95458D"/>
              </a:buClr>
              <a:buSzPct val="125000"/>
              <a:defRPr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FB0622-4939-40C4-846B-7147B1666325}"/>
              </a:ext>
            </a:extLst>
          </p:cNvPr>
          <p:cNvSpPr/>
          <p:nvPr userDrawn="1"/>
        </p:nvSpPr>
        <p:spPr>
          <a:xfrm>
            <a:off x="0" y="6493347"/>
            <a:ext cx="12192000" cy="365125"/>
          </a:xfrm>
          <a:prstGeom prst="rect">
            <a:avLst/>
          </a:prstGeom>
          <a:solidFill>
            <a:srgbClr val="00A3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AED19A-CC32-4EAD-A61D-A44B885635C1}"/>
              </a:ext>
            </a:extLst>
          </p:cNvPr>
          <p:cNvSpPr/>
          <p:nvPr userDrawn="1"/>
        </p:nvSpPr>
        <p:spPr>
          <a:xfrm>
            <a:off x="11445243" y="6493815"/>
            <a:ext cx="746759" cy="364657"/>
          </a:xfrm>
          <a:custGeom>
            <a:avLst/>
            <a:gdLst>
              <a:gd name="connsiteX0" fmla="*/ 42089 w 746759"/>
              <a:gd name="connsiteY0" fmla="*/ 0 h 364657"/>
              <a:gd name="connsiteX1" fmla="*/ 746759 w 746759"/>
              <a:gd name="connsiteY1" fmla="*/ 0 h 364657"/>
              <a:gd name="connsiteX2" fmla="*/ 746759 w 746759"/>
              <a:gd name="connsiteY2" fmla="*/ 364657 h 364657"/>
              <a:gd name="connsiteX3" fmla="*/ 42597 w 746759"/>
              <a:gd name="connsiteY3" fmla="*/ 364657 h 364657"/>
              <a:gd name="connsiteX4" fmla="*/ 33534 w 746759"/>
              <a:gd name="connsiteY4" fmla="*/ 347959 h 364657"/>
              <a:gd name="connsiteX5" fmla="*/ 0 w 746759"/>
              <a:gd name="connsiteY5" fmla="*/ 181860 h 364657"/>
              <a:gd name="connsiteX6" fmla="*/ 33534 w 746759"/>
              <a:gd name="connsiteY6" fmla="*/ 15761 h 364657"/>
              <a:gd name="connsiteX7" fmla="*/ 42089 w 746759"/>
              <a:gd name="connsiteY7" fmla="*/ 0 h 36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6759" h="364657">
                <a:moveTo>
                  <a:pt x="42089" y="0"/>
                </a:moveTo>
                <a:lnTo>
                  <a:pt x="746759" y="0"/>
                </a:lnTo>
                <a:lnTo>
                  <a:pt x="746759" y="364657"/>
                </a:lnTo>
                <a:lnTo>
                  <a:pt x="42597" y="364657"/>
                </a:lnTo>
                <a:lnTo>
                  <a:pt x="33534" y="347959"/>
                </a:lnTo>
                <a:cubicBezTo>
                  <a:pt x="11941" y="296907"/>
                  <a:pt x="0" y="240778"/>
                  <a:pt x="0" y="181860"/>
                </a:cubicBezTo>
                <a:cubicBezTo>
                  <a:pt x="0" y="122942"/>
                  <a:pt x="11941" y="66814"/>
                  <a:pt x="33534" y="15761"/>
                </a:cubicBezTo>
                <a:lnTo>
                  <a:pt x="42089" y="0"/>
                </a:lnTo>
                <a:close/>
              </a:path>
            </a:pathLst>
          </a:custGeom>
          <a:solidFill>
            <a:srgbClr val="804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BC63CE7-33AB-4AFC-A341-74C0BE21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127" y="6493347"/>
            <a:ext cx="8298624" cy="364657"/>
          </a:xfrm>
          <a:prstGeom prst="rect">
            <a:avLst/>
          </a:prstGeom>
        </p:spPr>
        <p:txBody>
          <a:bodyPr/>
          <a:lstStyle>
            <a:lvl1pPr algn="l">
              <a:defRPr spc="11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INTRODUCTION TO TB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09EBDF-3138-4308-B8A0-471C3C0E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215" y="6493347"/>
            <a:ext cx="71088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AEE523A0-1992-604D-8A8B-A1DF82394F2D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75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A3C11-3A95-2148-8BA3-2C710668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2" y="365129"/>
            <a:ext cx="6018548" cy="949325"/>
          </a:xfr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sz="3600" b="1">
                <a:solidFill>
                  <a:schemeClr val="bg1"/>
                </a:solidFill>
              </a:rPr>
              <a:t>Click to edit Master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AC92E-FE51-B648-BCD9-6DFCFD799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8" y="2032639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015416-E4F2-4F43-B56F-E592A1F9815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576712" y="2007874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D7D138F-44A7-4240-A6F6-860CA153EF0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740016" y="2032639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3760F6-BCB1-DA4C-B43D-2B44DA085C6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43888" y="3439231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E18F20-B637-054B-B4F1-A7FC1F4F51C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576712" y="3439231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657EDC9-6C1F-2C4A-9DF7-871C864E3A2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40016" y="3464318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0B5CDBA-3C3C-E94B-9270-1DA125684BF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3888" y="4870910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00F67D4-FFC5-6943-9EC4-4FD213C560BC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576712" y="4870588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4C21845-9D0F-054B-9E7A-84363DE67123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740016" y="4870588"/>
            <a:ext cx="1782304" cy="1213485"/>
          </a:xfrm>
        </p:spPr>
        <p:txBody>
          <a:bodyPr/>
          <a:lstStyle>
            <a:lvl1pPr algn="ctr">
              <a:lnSpc>
                <a:spcPct val="100000"/>
              </a:lnSpc>
              <a:buClr>
                <a:srgbClr val="95458D"/>
              </a:buClr>
              <a:buSzPct val="125000"/>
              <a:buFont typeface="Arial" panose="020B0604020202020204" pitchFamily="34" charset="0"/>
              <a:buNone/>
              <a:defRPr sz="1800"/>
            </a:lvl1pPr>
            <a:lvl2pPr>
              <a:buClr>
                <a:srgbClr val="95458D"/>
              </a:buClr>
              <a:defRPr/>
            </a:lvl2pPr>
            <a:lvl3pPr>
              <a:buClr>
                <a:srgbClr val="95458D"/>
              </a:buClr>
              <a:defRPr/>
            </a:lvl3pPr>
            <a:lvl4pPr>
              <a:buClr>
                <a:srgbClr val="95458D"/>
              </a:buClr>
              <a:defRPr/>
            </a:lvl4pPr>
            <a:lvl5pPr>
              <a:buClr>
                <a:srgbClr val="95458D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88EF19-9168-4BEE-90A8-0D427D56B373}"/>
              </a:ext>
            </a:extLst>
          </p:cNvPr>
          <p:cNvSpPr/>
          <p:nvPr userDrawn="1"/>
        </p:nvSpPr>
        <p:spPr>
          <a:xfrm>
            <a:off x="0" y="6493347"/>
            <a:ext cx="12192000" cy="365125"/>
          </a:xfrm>
          <a:prstGeom prst="rect">
            <a:avLst/>
          </a:prstGeom>
          <a:solidFill>
            <a:srgbClr val="00A3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F2D51E-654F-4785-91D7-EDAFEA22C33F}"/>
              </a:ext>
            </a:extLst>
          </p:cNvPr>
          <p:cNvSpPr/>
          <p:nvPr userDrawn="1"/>
        </p:nvSpPr>
        <p:spPr>
          <a:xfrm>
            <a:off x="11445243" y="6493815"/>
            <a:ext cx="746759" cy="364657"/>
          </a:xfrm>
          <a:custGeom>
            <a:avLst/>
            <a:gdLst>
              <a:gd name="connsiteX0" fmla="*/ 42089 w 746759"/>
              <a:gd name="connsiteY0" fmla="*/ 0 h 364657"/>
              <a:gd name="connsiteX1" fmla="*/ 746759 w 746759"/>
              <a:gd name="connsiteY1" fmla="*/ 0 h 364657"/>
              <a:gd name="connsiteX2" fmla="*/ 746759 w 746759"/>
              <a:gd name="connsiteY2" fmla="*/ 364657 h 364657"/>
              <a:gd name="connsiteX3" fmla="*/ 42597 w 746759"/>
              <a:gd name="connsiteY3" fmla="*/ 364657 h 364657"/>
              <a:gd name="connsiteX4" fmla="*/ 33534 w 746759"/>
              <a:gd name="connsiteY4" fmla="*/ 347959 h 364657"/>
              <a:gd name="connsiteX5" fmla="*/ 0 w 746759"/>
              <a:gd name="connsiteY5" fmla="*/ 181860 h 364657"/>
              <a:gd name="connsiteX6" fmla="*/ 33534 w 746759"/>
              <a:gd name="connsiteY6" fmla="*/ 15761 h 364657"/>
              <a:gd name="connsiteX7" fmla="*/ 42089 w 746759"/>
              <a:gd name="connsiteY7" fmla="*/ 0 h 36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6759" h="364657">
                <a:moveTo>
                  <a:pt x="42089" y="0"/>
                </a:moveTo>
                <a:lnTo>
                  <a:pt x="746759" y="0"/>
                </a:lnTo>
                <a:lnTo>
                  <a:pt x="746759" y="364657"/>
                </a:lnTo>
                <a:lnTo>
                  <a:pt x="42597" y="364657"/>
                </a:lnTo>
                <a:lnTo>
                  <a:pt x="33534" y="347959"/>
                </a:lnTo>
                <a:cubicBezTo>
                  <a:pt x="11941" y="296907"/>
                  <a:pt x="0" y="240778"/>
                  <a:pt x="0" y="181860"/>
                </a:cubicBezTo>
                <a:cubicBezTo>
                  <a:pt x="0" y="122942"/>
                  <a:pt x="11941" y="66814"/>
                  <a:pt x="33534" y="15761"/>
                </a:cubicBezTo>
                <a:lnTo>
                  <a:pt x="42089" y="0"/>
                </a:lnTo>
                <a:close/>
              </a:path>
            </a:pathLst>
          </a:custGeom>
          <a:solidFill>
            <a:srgbClr val="804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320B9549-C494-4EF3-92A6-C45C8C50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127" y="6493347"/>
            <a:ext cx="8298624" cy="364657"/>
          </a:xfrm>
          <a:prstGeom prst="rect">
            <a:avLst/>
          </a:prstGeom>
        </p:spPr>
        <p:txBody>
          <a:bodyPr/>
          <a:lstStyle>
            <a:lvl1pPr algn="l">
              <a:defRPr spc="11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INTRODUCTION TO TB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A210AB0-717A-4688-ABA0-5FED2F33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2215" y="6493347"/>
            <a:ext cx="71088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AEE523A0-1992-604D-8A8B-A1DF82394F2D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84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7B7F-7EDD-BD47-B335-83DE17B9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1" y="1809324"/>
            <a:ext cx="7254875" cy="3239352"/>
          </a:xfrm>
        </p:spPr>
        <p:txBody>
          <a:bodyPr anchor="ctr" anchorCtr="0"/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41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alphaModFix amt="6000"/>
            <a:lum/>
          </a:blip>
          <a:srcRect/>
          <a:stretch>
            <a:fillRect l="-2000" t="-14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172201"/>
            <a:ext cx="4572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492876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INTRODUCTION TO TB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11189124" y="5824644"/>
            <a:ext cx="131572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AEE523A0-1992-604D-8A8B-A1DF82394F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001499" y="0"/>
            <a:ext cx="19050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001499" y="1371600"/>
            <a:ext cx="190501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663" r:id="rId13"/>
    <p:sldLayoutId id="2147483665" r:id="rId14"/>
    <p:sldLayoutId id="2147483661" r:id="rId15"/>
    <p:sldLayoutId id="2147483660" r:id="rId16"/>
  </p:sldLayoutIdLst>
  <p:hf hdr="0" dt="0"/>
  <p:txStyles>
    <p:titleStyle>
      <a:lvl1pPr algn="l" defTabSz="914400" rtl="0" eaLnBrk="1" latinLnBrk="1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image" Target="../media/image4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4.emf"/><Relationship Id="rId5" Type="http://schemas.openxmlformats.org/officeDocument/2006/relationships/package" Target="../embeddings/Microsoft_Excel_Worksheet4.xlsx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eg"/><Relationship Id="rId13" Type="http://schemas.openxmlformats.org/officeDocument/2006/relationships/image" Target="../media/image97.png"/><Relationship Id="rId3" Type="http://schemas.openxmlformats.org/officeDocument/2006/relationships/image" Target="../media/image2.jpg"/><Relationship Id="rId7" Type="http://schemas.openxmlformats.org/officeDocument/2006/relationships/image" Target="../media/image91.jpeg"/><Relationship Id="rId12" Type="http://schemas.openxmlformats.org/officeDocument/2006/relationships/image" Target="../media/image96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jpeg"/><Relationship Id="rId11" Type="http://schemas.openxmlformats.org/officeDocument/2006/relationships/image" Target="../media/image95.jpeg"/><Relationship Id="rId5" Type="http://schemas.openxmlformats.org/officeDocument/2006/relationships/image" Target="../media/image89.jpeg"/><Relationship Id="rId10" Type="http://schemas.openxmlformats.org/officeDocument/2006/relationships/image" Target="../media/image94.png"/><Relationship Id="rId4" Type="http://schemas.openxmlformats.org/officeDocument/2006/relationships/image" Target="../media/image88.jpe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20000"/>
            <a:lum/>
          </a:blip>
          <a:srcRect/>
          <a:stretch>
            <a:fillRect l="-2000" t="-14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924589" y="1433147"/>
            <a:ext cx="10418883" cy="1310054"/>
          </a:xfrm>
          <a:noFill/>
        </p:spPr>
        <p:txBody>
          <a:bodyPr>
            <a:normAutofit/>
          </a:bodyPr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Covid-19 in </a:t>
            </a:r>
            <a:r>
              <a:rPr lang="en-US" altLang="ko-KR" sz="3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busan</a:t>
            </a:r>
            <a:r>
              <a:rPr lang="en-US" altLang="ko-KR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br>
              <a:rPr lang="en-US" altLang="ko-KR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endParaRPr lang="ko-KR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E4B3466-3A23-7A44-8BD2-7F51F39E4FE3}"/>
              </a:ext>
            </a:extLst>
          </p:cNvPr>
          <p:cNvSpPr txBox="1">
            <a:spLocks/>
          </p:cNvSpPr>
          <p:nvPr/>
        </p:nvSpPr>
        <p:spPr>
          <a:xfrm>
            <a:off x="4983981" y="4719096"/>
            <a:ext cx="6533941" cy="9613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/>
            <a:endParaRPr lang="en-US" altLang="ko-KR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r"/>
            <a:endParaRPr lang="en-US" altLang="ko-KR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r"/>
            <a:endParaRPr lang="en-US" altLang="ko-KR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r"/>
            <a:r>
              <a:rPr lang="ko-KR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일시</a:t>
            </a:r>
            <a:r>
              <a:rPr lang="en-US" altLang="ko-KR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2023</a:t>
            </a:r>
            <a:r>
              <a:rPr lang="ko-KR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11</a:t>
            </a:r>
            <a:r>
              <a:rPr lang="ko-KR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29</a:t>
            </a:r>
            <a:r>
              <a:rPr lang="ko-KR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수요일</a:t>
            </a:r>
            <a:endParaRPr lang="en-US" altLang="ko-KR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r"/>
            <a:r>
              <a:rPr lang="ko-KR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발표자</a:t>
            </a:r>
            <a:r>
              <a:rPr lang="en-US" altLang="ko-KR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부산광역시 </a:t>
            </a:r>
            <a:r>
              <a:rPr lang="ko-KR" altLang="en-US" sz="2000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감염병관리과</a:t>
            </a:r>
            <a:r>
              <a:rPr lang="ko-KR" altLang="en-US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이정민 </a:t>
            </a:r>
            <a:endParaRPr lang="en-US" altLang="ko-KR" sz="2000" b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413" y="-11498"/>
            <a:ext cx="2377587" cy="68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17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2</a:t>
            </a:fld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940968" y="2278464"/>
            <a:ext cx="2284556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6293" y="142580"/>
            <a:ext cx="7134329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 ~2.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코로나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유행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(20.2 -23.8)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과 방역의료대응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3.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코로나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 </a:t>
            </a:r>
            <a:r>
              <a:rPr lang="ko-KR" altLang="en-US" sz="1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방역대응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및 </a:t>
            </a:r>
            <a:r>
              <a:rPr lang="ko-KR" altLang="en-US" sz="11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의료대응판</a:t>
            </a:r>
            <a:endParaRPr lang="en-US" altLang="ko-KR" sz="11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4.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코로나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 2~4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유행기의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일반병상현황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(20.5 -21.12)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5.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코로나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2~4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유행기의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생활치료센터 확보현황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(20.5 -22.1)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6. 2020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1~2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7. 2020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2~3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신종병원체 분석이행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8. 2020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2~3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우리나라 최초 요양병원 종사자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명 확진 및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코호트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조치 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9. 2020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4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해외입국자 관리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10. 2020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7~8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해외선박에서 지역사회 로의 전파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제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차 유행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(2020.7-10)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12. 2020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타지역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유래 부산시 집단발생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13. 2020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9~10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북구 지역감염에서 요양병원까지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14. 2020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북구 요양병원 집단발생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15. 2020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일일확진자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두자릿수로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증가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16. 2020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병상부족 및 역학조사 한계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17. 2020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확진자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타시도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단체이송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18.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의료대응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검사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코로나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초반부터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오미크론까지의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임시선별검사소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19.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고정형 임시선별검사소 사진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시군구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15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개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+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시직영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개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20.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이동형 임시선별검사소 사진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(126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개소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21. 2020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년말부터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2021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사이의 집단발생에 따른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자체 조사 양식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지원단 제작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22. 2020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년말부터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2023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년까지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코로나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자원관리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이송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및 물품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23. 2020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중환자 병상사용환자의 치료내용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24. 2020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생활치료센터 개소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25. 2021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대규모 자율진단검사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26. 2021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델타변이의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중증도를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낮춘 코로나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예방접종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27. 2021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세계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제로에서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위드코로나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전환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28. 2021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7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델타변이 유행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29. 2021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8~11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델타유행기간동안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부산시 코로나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생치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/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병원배정 분석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30. 2021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 하반기 부산시 초기 병상배정 위한 엑셀 양식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31. 2021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11~12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일반병상가동율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80%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에 따른 전원 및 치료 가이드라인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32. 2022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초반의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오미크론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대비 부산시 코로나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초기배정분석 및 역학조사 간소화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33. 2022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오미크론유행시기의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중중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/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준중증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/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중등증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병상가동율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34. 2022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년의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오미크론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대유행시기의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중환자병상 입실기준 관련 자료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35. 2022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14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일의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26000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여명의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확진자발생날의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병원배정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/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최고는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22.3.17 42434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명임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 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36. 2022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코로나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환자에 대한 일반의료체계로의 준비기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(3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),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이행기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(5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37. 2021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~ 2023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4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재택응급핫라인 구축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38. 2022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2~3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외래투석의원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전국 최초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</a:p>
          <a:p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39. 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재택치료 응급핫라인 간호사의 근무소감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115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11809"/>
              </p:ext>
            </p:extLst>
          </p:nvPr>
        </p:nvGraphicFramePr>
        <p:xfrm>
          <a:off x="376077" y="4347463"/>
          <a:ext cx="11625423" cy="2146808"/>
        </p:xfrm>
        <a:graphic>
          <a:graphicData uri="http://schemas.openxmlformats.org/drawingml/2006/table">
            <a:tbl>
              <a:tblPr/>
              <a:tblGrid>
                <a:gridCol w="868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1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85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90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260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u="sng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1. </a:t>
                      </a:r>
                      <a:r>
                        <a:rPr lang="ko-KR" altLang="en-US" sz="1400" b="1" u="sng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역학조사</a:t>
                      </a: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sng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20.1</a:t>
                      </a:r>
                      <a:r>
                        <a:rPr lang="en-US" sz="1400" b="1" u="sng" kern="0" spc="0" baseline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~ </a:t>
                      </a:r>
                      <a:r>
                        <a:rPr lang="en-US" sz="1400" b="1" u="sng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21.10 (</a:t>
                      </a:r>
                      <a:r>
                        <a:rPr lang="ko-KR" altLang="en-US" sz="1400" b="1" u="sng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전수역학조사</a:t>
                      </a:r>
                      <a:r>
                        <a:rPr lang="en-US" altLang="ko-KR" sz="1400" b="1" u="sng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u="sng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감염원 추적 및 모든 </a:t>
                      </a:r>
                      <a:r>
                        <a:rPr lang="ko-KR" altLang="en-US" sz="1400" b="1" u="sng" kern="0" spc="0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접촉자</a:t>
                      </a:r>
                      <a:r>
                        <a:rPr lang="ko-KR" altLang="en-US" sz="1400" b="1" u="sng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신속관리</a:t>
                      </a:r>
                      <a:endParaRPr lang="en-US" sz="1400" b="1" u="sng" kern="0" spc="0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u="sng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21.11</a:t>
                      </a:r>
                      <a:r>
                        <a:rPr lang="en-US" altLang="ko-KR" sz="1400" b="1" u="sng" kern="0" spc="0" baseline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~22.1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u="sng" kern="0" spc="0" baseline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효율화</a:t>
                      </a:r>
                      <a:endParaRPr lang="en-US" altLang="ko-KR" sz="1400" b="1" u="sng" kern="0" spc="0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22.2~12: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간소화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동거인 및 감염취약시설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3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종 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22.12 ~  </a:t>
                      </a:r>
                    </a:p>
                    <a:p>
                      <a:pPr algn="ctr" latinLnBrk="1"/>
                      <a:r>
                        <a:rPr lang="ko-KR" altLang="en-US" sz="14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확진자조사서</a:t>
                      </a:r>
                      <a:r>
                        <a:rPr lang="ko-KR" altLang="en-US" sz="14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14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간략화</a:t>
                      </a:r>
                      <a:endParaRPr lang="ko-KR" altLang="en-US" sz="14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2022.2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자가기입역학조사서 적용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61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2.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사회적 </a:t>
                      </a: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거리두기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20.2.29</a:t>
                      </a:r>
                      <a:r>
                        <a:rPr lang="en-US" altLang="ko-KR" sz="1400" b="1" baseline="0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~</a:t>
                      </a:r>
                      <a:r>
                        <a:rPr lang="en-US" altLang="ko-KR" sz="1400" b="1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22.4.18: </a:t>
                      </a:r>
                      <a:r>
                        <a:rPr lang="ko-KR" altLang="en-US" sz="1400" b="1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사회적 </a:t>
                      </a:r>
                      <a:r>
                        <a:rPr lang="ko-KR" altLang="en-US" sz="1400" b="1" dirty="0" err="1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거리두기</a:t>
                      </a:r>
                      <a:endParaRPr lang="ko-KR" altLang="en-US" sz="1400" b="1" dirty="0"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5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baseline="0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20.8.22  : </a:t>
                      </a:r>
                      <a:r>
                        <a:rPr lang="ko-KR" altLang="en-US" sz="1400" b="1" baseline="0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마스크 착용 의무화 행정명령</a:t>
                      </a:r>
                      <a:endParaRPr lang="ko-KR" altLang="en-US" sz="1400" b="1" dirty="0"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22.9.26~</a:t>
                      </a:r>
                      <a:r>
                        <a:rPr lang="ko-KR" altLang="en-US" sz="1400" b="1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실외마스크 착용의무 해제를 시작으로 점차 완화</a:t>
                      </a:r>
                      <a:endParaRPr lang="en-US" altLang="ko-KR" sz="1400" b="1" dirty="0"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23.5.26 ~ </a:t>
                      </a:r>
                    </a:p>
                    <a:p>
                      <a:pPr algn="ctr" latinLnBrk="1"/>
                      <a:r>
                        <a:rPr lang="ko-KR" altLang="en-US" sz="1400" b="1" dirty="0" err="1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입소형</a:t>
                      </a:r>
                      <a:r>
                        <a:rPr lang="ko-KR" altLang="en-US" sz="1400" b="1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감염취약시설</a:t>
                      </a:r>
                      <a:r>
                        <a:rPr lang="en-US" altLang="ko-KR" sz="1400" b="1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400" b="1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병원만 의무화</a:t>
                      </a: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1" name="TextBox 120"/>
          <p:cNvSpPr txBox="1"/>
          <p:nvPr/>
        </p:nvSpPr>
        <p:spPr>
          <a:xfrm>
            <a:off x="-13041" y="-13193"/>
            <a:ext cx="38911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21170" y="35178"/>
            <a:ext cx="7543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코로나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유행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(20.2 -23.8)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과 방역의료대응</a:t>
            </a:r>
          </a:p>
        </p:txBody>
      </p:sp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77" y="435288"/>
            <a:ext cx="11591510" cy="3876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459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051597"/>
              </p:ext>
            </p:extLst>
          </p:nvPr>
        </p:nvGraphicFramePr>
        <p:xfrm>
          <a:off x="181518" y="3014505"/>
          <a:ext cx="11627370" cy="3599576"/>
        </p:xfrm>
        <a:graphic>
          <a:graphicData uri="http://schemas.openxmlformats.org/drawingml/2006/table">
            <a:tbl>
              <a:tblPr/>
              <a:tblGrid>
                <a:gridCol w="669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6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78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7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34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95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01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04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478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95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704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2629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532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269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1323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검사</a:t>
                      </a: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20.12 ~ 23.5</a:t>
                      </a:r>
                      <a:r>
                        <a:rPr lang="en-US" altLang="ko-KR" sz="1400" b="0" baseline="0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(</a:t>
                      </a:r>
                      <a:r>
                        <a:rPr lang="ko-KR" altLang="en-US" sz="1400" b="0" baseline="0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선별검사소 운영</a:t>
                      </a:r>
                      <a:r>
                        <a:rPr lang="en-US" altLang="ko-KR" sz="1400" b="0" baseline="0" dirty="0"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)</a:t>
                      </a: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22.3.14 RAT </a:t>
                      </a:r>
                      <a:r>
                        <a:rPr lang="ko-KR" altLang="en-US" sz="1400" b="1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양성 </a:t>
                      </a:r>
                      <a:r>
                        <a:rPr lang="ko-KR" altLang="en-US" sz="1400" b="1" baseline="0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확진으로</a:t>
                      </a:r>
                      <a:r>
                        <a:rPr lang="ko-KR" altLang="en-US" sz="1400" b="1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간주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400" b="1" baseline="0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외래등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408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09">
                <a:tc rowSpan="5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치료시설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시스템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20.12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~ 22.5: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생활치료센터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6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20.12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~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21.9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소아 자가치료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21.10.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~</a:t>
                      </a:r>
                      <a:r>
                        <a:rPr lang="en-US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23.6.(</a:t>
                      </a:r>
                      <a:r>
                        <a:rPr lang="ko-KR" altLang="en-US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재택치료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en-US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재택 전수관리</a:t>
                      </a:r>
                      <a:endParaRPr lang="ko-KR" altLang="en-US" sz="1400" b="0" dirty="0"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22.2~8 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일반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집중관리군 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872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지자체가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모든 병상을 관리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22.3 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준비기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지침상 </a:t>
                      </a:r>
                      <a:r>
                        <a:rPr lang="ko-KR" altLang="en-US" sz="1400" b="1" kern="0" spc="0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확진자는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일반격리병실</a:t>
                      </a:r>
                      <a:r>
                        <a:rPr lang="ko-KR" altLang="en-US" sz="1400" b="1" kern="0" spc="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허용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)</a:t>
                      </a: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408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spc="0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안착기</a:t>
                      </a:r>
                      <a:endParaRPr lang="en-US" altLang="ko-KR" sz="1400" b="0" kern="0" spc="0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400" b="0" kern="0" spc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(23.6~)</a:t>
                      </a: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8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08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22.4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월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~6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월 </a:t>
                      </a:r>
                      <a:r>
                        <a:rPr lang="ko-KR" altLang="en-US" sz="1400" b="1" kern="0" spc="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이행기</a:t>
                      </a:r>
                      <a:r>
                        <a:rPr lang="en-US" altLang="ko-KR" sz="1400" b="1" kern="0" spc="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400" b="1" kern="0" spc="0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경중등증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일반의료계에서 담당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중증위주만 </a:t>
                      </a:r>
                      <a:r>
                        <a:rPr lang="ko-KR" altLang="en-US" sz="1400" b="1" kern="0" spc="0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시관리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0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408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5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접종</a:t>
                      </a: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21.2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: </a:t>
                      </a:r>
                      <a:r>
                        <a:rPr lang="ko-KR" altLang="en-US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접종시작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(1</a:t>
                      </a:r>
                      <a:r>
                        <a:rPr lang="ko-KR" altLang="en-US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차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,2</a:t>
                      </a:r>
                      <a:r>
                        <a:rPr lang="ko-KR" altLang="en-US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차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,3</a:t>
                      </a:r>
                      <a:r>
                        <a:rPr lang="ko-KR" altLang="en-US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차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..)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22.10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: </a:t>
                      </a:r>
                      <a:r>
                        <a:rPr lang="ko-KR" altLang="en-US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동절기 추가접종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치료제</a:t>
                      </a: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21.2 ~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22.2 :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항체치료제 </a:t>
                      </a: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렉키로나주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20.7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: </a:t>
                      </a:r>
                      <a:r>
                        <a:rPr lang="ko-KR" altLang="en-US" sz="1400" b="0" kern="0" spc="0" baseline="0" dirty="0" err="1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렘데시비르</a:t>
                      </a:r>
                      <a:r>
                        <a:rPr lang="ko-KR" altLang="en-US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산소치료 중환자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22.4.8: </a:t>
                      </a:r>
                      <a:r>
                        <a:rPr lang="ko-KR" altLang="en-US" sz="1400" b="0" kern="0" spc="0" baseline="0" dirty="0" err="1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렘데시비르</a:t>
                      </a:r>
                      <a:r>
                        <a:rPr lang="en-US" altLang="ko-KR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1400" b="0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경증으로 확대 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22.1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먹는치료제</a:t>
                      </a:r>
                      <a:r>
                        <a:rPr lang="ko-KR" altLang="en-US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1400" b="1" kern="0" spc="0" baseline="0" dirty="0" err="1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팍스로비드</a:t>
                      </a:r>
                      <a:r>
                        <a:rPr lang="ko-KR" altLang="en-US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도입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)/2022.3(</a:t>
                      </a:r>
                      <a:r>
                        <a:rPr lang="ko-KR" altLang="en-US" sz="1400" b="1" kern="0" spc="0" baseline="0" dirty="0" err="1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라게브리오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64770" marR="64770" marT="7112" marB="71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-13041" y="-13193"/>
            <a:ext cx="38911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5" y="100484"/>
            <a:ext cx="11535508" cy="2914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725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5</a:t>
            </a:fld>
            <a:endParaRPr lang="en-US"/>
          </a:p>
        </p:txBody>
      </p:sp>
      <p:grpSp>
        <p:nvGrpSpPr>
          <p:cNvPr id="57" name="그룹 56"/>
          <p:cNvGrpSpPr/>
          <p:nvPr/>
        </p:nvGrpSpPr>
        <p:grpSpPr>
          <a:xfrm>
            <a:off x="5736667" y="467883"/>
            <a:ext cx="3218059" cy="2557623"/>
            <a:chOff x="4050249" y="234932"/>
            <a:chExt cx="3218059" cy="2557623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TextBox 5"/>
            <p:cNvSpPr txBox="1"/>
            <p:nvPr/>
          </p:nvSpPr>
          <p:spPr>
            <a:xfrm>
              <a:off x="4284946" y="234932"/>
              <a:ext cx="2770167" cy="307777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1.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증상 혹은 검사필요상황 발생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785925" y="833812"/>
              <a:ext cx="1732083" cy="307777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2. </a:t>
              </a:r>
              <a:r>
                <a:rPr lang="ko-KR" altLang="en-US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검체채취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69761" y="1837805"/>
              <a:ext cx="2432419" cy="307777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3.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검사실시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(</a:t>
              </a:r>
              <a:r>
                <a:rPr lang="ko-KR" altLang="en-US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보환연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민간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42105" y="2484778"/>
              <a:ext cx="1770217" cy="307777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4.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코로나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19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확진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2" name="아래쪽 화살표 1"/>
            <p:cNvSpPr/>
            <p:nvPr/>
          </p:nvSpPr>
          <p:spPr>
            <a:xfrm>
              <a:off x="5541076" y="604264"/>
              <a:ext cx="257908" cy="229548"/>
            </a:xfrm>
            <a:prstGeom prst="down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28" name="아래쪽 화살표 27"/>
            <p:cNvSpPr/>
            <p:nvPr/>
          </p:nvSpPr>
          <p:spPr>
            <a:xfrm>
              <a:off x="5557017" y="2234784"/>
              <a:ext cx="257908" cy="229548"/>
            </a:xfrm>
            <a:prstGeom prst="down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050249" y="1203144"/>
              <a:ext cx="1032661" cy="523220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보건소 선별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11262" y="1209052"/>
              <a:ext cx="993064" cy="307777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임시선별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104326" y="1209052"/>
              <a:ext cx="1163982" cy="523220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의료기관선별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41" name="아래쪽 화살표 40"/>
            <p:cNvSpPr/>
            <p:nvPr/>
          </p:nvSpPr>
          <p:spPr>
            <a:xfrm>
              <a:off x="5565386" y="1609857"/>
              <a:ext cx="257908" cy="229548"/>
            </a:xfrm>
            <a:prstGeom prst="down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4243754" y="17585"/>
            <a:ext cx="460564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코로나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 </a:t>
            </a:r>
            <a:r>
              <a:rPr lang="ko-KR" altLang="en-US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방역대응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및 </a:t>
            </a:r>
            <a:r>
              <a:rPr lang="ko-KR" altLang="en-US" sz="20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의료대응판</a:t>
            </a:r>
            <a:endParaRPr lang="ko-KR" altLang="en-US" sz="20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2275151" y="306907"/>
            <a:ext cx="1662864" cy="2076186"/>
            <a:chOff x="1478462" y="946294"/>
            <a:chExt cx="1836178" cy="2034225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7" name="TextBox 66"/>
            <p:cNvSpPr txBox="1"/>
            <p:nvPr/>
          </p:nvSpPr>
          <p:spPr>
            <a:xfrm>
              <a:off x="1478462" y="946294"/>
              <a:ext cx="1836178" cy="512645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검역단계에서 의사환자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(1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급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663115" y="1810225"/>
              <a:ext cx="1475722" cy="301557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의사환자 이송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69" name="아래쪽 화살표 68"/>
            <p:cNvSpPr/>
            <p:nvPr/>
          </p:nvSpPr>
          <p:spPr>
            <a:xfrm>
              <a:off x="2235254" y="1559226"/>
              <a:ext cx="257908" cy="229548"/>
            </a:xfrm>
            <a:prstGeom prst="downArrow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582557" y="2467874"/>
              <a:ext cx="1692357" cy="512645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병원에서 검사 및 역학조사실시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71" name="아래쪽 화살표 70"/>
            <p:cNvSpPr/>
            <p:nvPr/>
          </p:nvSpPr>
          <p:spPr>
            <a:xfrm>
              <a:off x="2267597" y="2179493"/>
              <a:ext cx="257907" cy="229548"/>
            </a:xfrm>
            <a:prstGeom prst="downArrow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169377" y="1062367"/>
            <a:ext cx="1975197" cy="1999242"/>
            <a:chOff x="1745306" y="1026747"/>
            <a:chExt cx="2181064" cy="195883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81" name="TextBox 80"/>
            <p:cNvSpPr txBox="1"/>
            <p:nvPr/>
          </p:nvSpPr>
          <p:spPr>
            <a:xfrm>
              <a:off x="1745306" y="1026747"/>
              <a:ext cx="2181064" cy="301557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고위험국가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상황평가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969795" y="1644412"/>
              <a:ext cx="1684916" cy="301557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해외입국자 관리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83" name="아래쪽 화살표 82"/>
            <p:cNvSpPr/>
            <p:nvPr/>
          </p:nvSpPr>
          <p:spPr>
            <a:xfrm>
              <a:off x="2682480" y="1391667"/>
              <a:ext cx="257907" cy="229548"/>
            </a:xfrm>
            <a:prstGeom prst="downArrow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969795" y="2261848"/>
              <a:ext cx="1732083" cy="723735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입국후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검사 및 격리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(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임시격리시설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</a:t>
              </a:r>
            </a:p>
          </p:txBody>
        </p:sp>
        <p:sp>
          <p:nvSpPr>
            <p:cNvPr id="85" name="아래쪽 화살표 84"/>
            <p:cNvSpPr/>
            <p:nvPr/>
          </p:nvSpPr>
          <p:spPr>
            <a:xfrm>
              <a:off x="2691125" y="1979567"/>
              <a:ext cx="257907" cy="229548"/>
            </a:xfrm>
            <a:prstGeom prst="downArrow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2252260" y="2591496"/>
            <a:ext cx="1904568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보고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및 언론대응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79021" y="3216838"/>
            <a:ext cx="1680735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방역체계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단계 조정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비상체계수립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거리두기등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8903" y="593928"/>
            <a:ext cx="1904568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신종 병원체 평가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306300" y="4556446"/>
            <a:ext cx="1149078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응급실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-13041" y="-13193"/>
            <a:ext cx="38911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2104889" y="1591668"/>
            <a:ext cx="9441315" cy="4489263"/>
            <a:chOff x="2106415" y="1611280"/>
            <a:chExt cx="9441315" cy="4489263"/>
          </a:xfrm>
        </p:grpSpPr>
        <p:sp>
          <p:nvSpPr>
            <p:cNvPr id="101" name="아래쪽 화살표 100"/>
            <p:cNvSpPr/>
            <p:nvPr/>
          </p:nvSpPr>
          <p:spPr>
            <a:xfrm rot="12838265">
              <a:off x="9468842" y="3724522"/>
              <a:ext cx="257908" cy="2156718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95" name="아래쪽 화살표 94"/>
            <p:cNvSpPr/>
            <p:nvPr/>
          </p:nvSpPr>
          <p:spPr>
            <a:xfrm rot="19320838">
              <a:off x="9463223" y="3512635"/>
              <a:ext cx="257908" cy="2151884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86" name="아래쪽 화살표 85"/>
            <p:cNvSpPr/>
            <p:nvPr/>
          </p:nvSpPr>
          <p:spPr>
            <a:xfrm rot="18203667">
              <a:off x="9423309" y="3403851"/>
              <a:ext cx="257908" cy="1513679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98" name="아래쪽 화살표 97"/>
            <p:cNvSpPr/>
            <p:nvPr/>
          </p:nvSpPr>
          <p:spPr>
            <a:xfrm rot="18245536">
              <a:off x="9439974" y="4307451"/>
              <a:ext cx="257908" cy="1608647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96" name="아래쪽 화살표 95"/>
            <p:cNvSpPr/>
            <p:nvPr/>
          </p:nvSpPr>
          <p:spPr>
            <a:xfrm rot="16200000">
              <a:off x="9470930" y="3975696"/>
              <a:ext cx="257908" cy="1291738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2106415" y="1611280"/>
              <a:ext cx="9441315" cy="4489263"/>
              <a:chOff x="2106415" y="1611280"/>
              <a:chExt cx="9441315" cy="4489263"/>
            </a:xfrm>
          </p:grpSpPr>
          <p:grpSp>
            <p:nvGrpSpPr>
              <p:cNvPr id="62" name="그룹 61"/>
              <p:cNvGrpSpPr/>
              <p:nvPr/>
            </p:nvGrpSpPr>
            <p:grpSpPr>
              <a:xfrm>
                <a:off x="9294474" y="1611280"/>
                <a:ext cx="1617321" cy="1141146"/>
                <a:chOff x="7839108" y="-2219788"/>
                <a:chExt cx="1333302" cy="1187528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60" name="TextBox 59"/>
                <p:cNvSpPr txBox="1"/>
                <p:nvPr/>
              </p:nvSpPr>
              <p:spPr>
                <a:xfrm>
                  <a:off x="7839108" y="-2219788"/>
                  <a:ext cx="1333302" cy="5444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10. </a:t>
                  </a:r>
                  <a:r>
                    <a:rPr lang="ko-KR" altLang="en-US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자원</a:t>
                  </a:r>
                  <a:r>
                    <a:rPr lang="en-US" altLang="ko-KR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(</a:t>
                  </a:r>
                  <a:r>
                    <a:rPr lang="ko-KR" altLang="en-US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물품</a:t>
                  </a:r>
                  <a:r>
                    <a:rPr lang="en-US" altLang="ko-KR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, </a:t>
                  </a:r>
                  <a:r>
                    <a:rPr lang="ko-KR" altLang="en-US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인력</a:t>
                  </a:r>
                  <a:r>
                    <a:rPr lang="en-US" altLang="ko-KR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, </a:t>
                  </a:r>
                  <a:r>
                    <a:rPr lang="ko-KR" altLang="en-US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병상</a:t>
                  </a:r>
                  <a:r>
                    <a:rPr lang="en-US" altLang="ko-KR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,</a:t>
                  </a:r>
                  <a:r>
                    <a:rPr lang="ko-KR" altLang="en-US" sz="1400" b="1" dirty="0" err="1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장비등</a:t>
                  </a:r>
                  <a:r>
                    <a:rPr lang="en-US" altLang="ko-KR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)</a:t>
                  </a:r>
                  <a:r>
                    <a:rPr lang="ko-KR" altLang="en-US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관리</a:t>
                  </a:r>
                  <a:endParaRPr lang="en-US" altLang="ko-KR" sz="1400" b="1" dirty="0">
                    <a:latin typeface="나눔바른펜" panose="020B0503000000000000" pitchFamily="50" charset="-127"/>
                    <a:ea typeface="나눔바른펜" panose="020B0503000000000000" pitchFamily="50" charset="-127"/>
                  </a:endParaRP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7928086" y="-1352547"/>
                  <a:ext cx="1155347" cy="32028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11. </a:t>
                  </a:r>
                  <a:r>
                    <a:rPr lang="ko-KR" altLang="en-US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rPr>
                    <a:t>예방접종</a:t>
                  </a:r>
                  <a:endParaRPr lang="en-US" altLang="ko-KR" sz="1400" b="1" dirty="0">
                    <a:latin typeface="나눔바른펜" panose="020B0503000000000000" pitchFamily="50" charset="-127"/>
                    <a:ea typeface="나눔바른펜" panose="020B0503000000000000" pitchFamily="50" charset="-127"/>
                  </a:endParaRPr>
                </a:p>
              </p:txBody>
            </p:sp>
          </p:grpSp>
          <p:grpSp>
            <p:nvGrpSpPr>
              <p:cNvPr id="13" name="그룹 12"/>
              <p:cNvGrpSpPr/>
              <p:nvPr/>
            </p:nvGrpSpPr>
            <p:grpSpPr>
              <a:xfrm>
                <a:off x="2106415" y="3232665"/>
                <a:ext cx="9441315" cy="2867878"/>
                <a:chOff x="1860962" y="3234018"/>
                <a:chExt cx="9441315" cy="2867878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77" name="아래쪽 화살표 76"/>
                <p:cNvSpPr/>
                <p:nvPr/>
              </p:nvSpPr>
              <p:spPr>
                <a:xfrm>
                  <a:off x="2486440" y="4426501"/>
                  <a:ext cx="257908" cy="229548"/>
                </a:xfrm>
                <a:prstGeom prst="downArrow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b="1"/>
                </a:p>
              </p:txBody>
            </p:sp>
            <p:grpSp>
              <p:nvGrpSpPr>
                <p:cNvPr id="72" name="그룹 71"/>
                <p:cNvGrpSpPr/>
                <p:nvPr/>
              </p:nvGrpSpPr>
              <p:grpSpPr>
                <a:xfrm>
                  <a:off x="1860962" y="3234018"/>
                  <a:ext cx="9441315" cy="2867878"/>
                  <a:chOff x="693465" y="3328929"/>
                  <a:chExt cx="9441315" cy="2867878"/>
                </a:xfrm>
                <a:grpFill/>
              </p:grpSpPr>
              <p:grpSp>
                <p:nvGrpSpPr>
                  <p:cNvPr id="66" name="그룹 65"/>
                  <p:cNvGrpSpPr/>
                  <p:nvPr/>
                </p:nvGrpSpPr>
                <p:grpSpPr>
                  <a:xfrm>
                    <a:off x="714381" y="3328929"/>
                    <a:ext cx="9420399" cy="2729381"/>
                    <a:chOff x="714381" y="3328929"/>
                    <a:chExt cx="9420399" cy="2729381"/>
                  </a:xfrm>
                  <a:grpFill/>
                </p:grpSpPr>
                <p:grpSp>
                  <p:nvGrpSpPr>
                    <p:cNvPr id="50" name="그룹 49"/>
                    <p:cNvGrpSpPr/>
                    <p:nvPr/>
                  </p:nvGrpSpPr>
                  <p:grpSpPr>
                    <a:xfrm>
                      <a:off x="714381" y="3328929"/>
                      <a:ext cx="9420399" cy="2729381"/>
                      <a:chOff x="470618" y="3793321"/>
                      <a:chExt cx="9420399" cy="2729381"/>
                    </a:xfrm>
                    <a:grpFill/>
                  </p:grpSpPr>
                  <p:grpSp>
                    <p:nvGrpSpPr>
                      <p:cNvPr id="49" name="그룹 48"/>
                      <p:cNvGrpSpPr/>
                      <p:nvPr/>
                    </p:nvGrpSpPr>
                    <p:grpSpPr>
                      <a:xfrm>
                        <a:off x="470618" y="3793321"/>
                        <a:ext cx="9420399" cy="2729381"/>
                        <a:chOff x="491426" y="3190081"/>
                        <a:chExt cx="9420399" cy="2729381"/>
                      </a:xfrm>
                      <a:grpFill/>
                    </p:grpSpPr>
                    <p:sp>
                      <p:nvSpPr>
                        <p:cNvPr id="10" name="TextBox 9"/>
                        <p:cNvSpPr txBox="1"/>
                        <p:nvPr/>
                      </p:nvSpPr>
                      <p:spPr>
                        <a:xfrm>
                          <a:off x="4807147" y="3190081"/>
                          <a:ext cx="1132842" cy="738664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ln w="28575">
                          <a:solidFill>
                            <a:schemeClr val="tx1"/>
                          </a:solidFill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rPr>
                            <a:t>7. </a:t>
                          </a:r>
                          <a:r>
                            <a:rPr lang="ko-KR" altLang="en-US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rPr>
                            <a:t>이송</a:t>
                          </a:r>
                          <a:endParaRPr lang="en-US" altLang="ko-KR" sz="1400" b="1" dirty="0">
                            <a:latin typeface="나눔바른펜" panose="020B0503000000000000" pitchFamily="50" charset="-127"/>
                            <a:ea typeface="나눔바른펜" panose="020B0503000000000000" pitchFamily="50" charset="-127"/>
                          </a:endParaRPr>
                        </a:p>
                        <a:p>
                          <a:pPr algn="ctr"/>
                          <a:r>
                            <a:rPr lang="ko-KR" altLang="en-US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rPr>
                            <a:t>응급</a:t>
                          </a:r>
                          <a:endParaRPr lang="en-US" altLang="ko-KR" sz="1400" b="1" dirty="0">
                            <a:latin typeface="나눔바른펜" panose="020B0503000000000000" pitchFamily="50" charset="-127"/>
                            <a:ea typeface="나눔바른펜" panose="020B0503000000000000" pitchFamily="50" charset="-127"/>
                          </a:endParaRPr>
                        </a:p>
                        <a:p>
                          <a:pPr algn="ctr"/>
                          <a:r>
                            <a:rPr lang="ko-KR" altLang="en-US" sz="1400" b="1" dirty="0" err="1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rPr>
                            <a:t>비응급</a:t>
                          </a:r>
                          <a:endParaRPr lang="en-US" altLang="ko-KR" sz="1400" b="1" dirty="0">
                            <a:latin typeface="나눔바른펜" panose="020B0503000000000000" pitchFamily="50" charset="-127"/>
                            <a:ea typeface="나눔바른펜" panose="020B0503000000000000" pitchFamily="50" charset="-127"/>
                          </a:endParaRPr>
                        </a:p>
                      </p:txBody>
                    </p:sp>
                    <p:grpSp>
                      <p:nvGrpSpPr>
                        <p:cNvPr id="4" name="그룹 3"/>
                        <p:cNvGrpSpPr/>
                        <p:nvPr/>
                      </p:nvGrpSpPr>
                      <p:grpSpPr>
                        <a:xfrm>
                          <a:off x="491426" y="3202912"/>
                          <a:ext cx="1601960" cy="1127230"/>
                          <a:chOff x="94540" y="3447230"/>
                          <a:chExt cx="1601960" cy="1127230"/>
                        </a:xfrm>
                        <a:grpFill/>
                      </p:grpSpPr>
                      <p:sp>
                        <p:nvSpPr>
                          <p:cNvPr id="11" name="TextBox 10"/>
                          <p:cNvSpPr txBox="1"/>
                          <p:nvPr/>
                        </p:nvSpPr>
                        <p:spPr>
                          <a:xfrm>
                            <a:off x="94540" y="3447230"/>
                            <a:ext cx="1601960" cy="307777"/>
                          </a:xfrm>
                          <a:prstGeom prst="rect">
                            <a:avLst/>
                          </a:prstGeom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altLang="ko-KR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5. </a:t>
                            </a:r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역학조사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24" name="TextBox 23"/>
                          <p:cNvSpPr txBox="1"/>
                          <p:nvPr/>
                        </p:nvSpPr>
                        <p:spPr>
                          <a:xfrm>
                            <a:off x="111783" y="3835796"/>
                            <a:ext cx="770300" cy="738664"/>
                          </a:xfrm>
                          <a:prstGeom prst="rect">
                            <a:avLst/>
                          </a:prstGeom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보건소</a:t>
                            </a:r>
                            <a:r>
                              <a:rPr lang="en-US" altLang="ko-KR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/</a:t>
                            </a:r>
                            <a:r>
                              <a:rPr lang="ko-KR" altLang="en-US" sz="1400" b="1" dirty="0" err="1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시주관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7" name="그룹 46"/>
                        <p:cNvGrpSpPr/>
                        <p:nvPr/>
                      </p:nvGrpSpPr>
                      <p:grpSpPr>
                        <a:xfrm>
                          <a:off x="6414993" y="3208493"/>
                          <a:ext cx="3496832" cy="2710969"/>
                          <a:chOff x="5835299" y="3478268"/>
                          <a:chExt cx="3496832" cy="2710969"/>
                        </a:xfrm>
                        <a:grpFill/>
                      </p:grpSpPr>
                      <p:sp>
                        <p:nvSpPr>
                          <p:cNvPr id="18" name="TextBox 17"/>
                          <p:cNvSpPr txBox="1"/>
                          <p:nvPr/>
                        </p:nvSpPr>
                        <p:spPr>
                          <a:xfrm>
                            <a:off x="5835299" y="5558295"/>
                            <a:ext cx="952713" cy="523220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감염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  <a:p>
                            <a:pPr algn="ctr"/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취약시설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19" name="TextBox 18"/>
                          <p:cNvSpPr txBox="1"/>
                          <p:nvPr/>
                        </p:nvSpPr>
                        <p:spPr>
                          <a:xfrm>
                            <a:off x="5861890" y="4604889"/>
                            <a:ext cx="876526" cy="523220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생활치료센터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20" name="TextBox 19"/>
                          <p:cNvSpPr txBox="1"/>
                          <p:nvPr/>
                        </p:nvSpPr>
                        <p:spPr>
                          <a:xfrm>
                            <a:off x="7998350" y="3841494"/>
                            <a:ext cx="1333781" cy="523220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자율입원기관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  <a:p>
                            <a:pPr algn="ctr"/>
                            <a:r>
                              <a:rPr lang="ko-KR" altLang="en-US" sz="1400" b="1" dirty="0" err="1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중등증</a:t>
                            </a:r>
                            <a:r>
                              <a:rPr lang="en-US" altLang="ko-KR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/</a:t>
                            </a:r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중증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21" name="TextBox 20"/>
                          <p:cNvSpPr txBox="1"/>
                          <p:nvPr/>
                        </p:nvSpPr>
                        <p:spPr>
                          <a:xfrm>
                            <a:off x="8039527" y="5450573"/>
                            <a:ext cx="1292604" cy="738664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ko-KR" altLang="en-US" sz="1400" b="1" dirty="0" err="1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감염병전담병원</a:t>
                            </a:r>
                            <a:r>
                              <a:rPr lang="en-US" altLang="ko-KR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(</a:t>
                            </a:r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중증</a:t>
                            </a:r>
                            <a:r>
                              <a:rPr lang="en-US" altLang="ko-KR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/</a:t>
                            </a:r>
                            <a:r>
                              <a:rPr lang="ko-KR" altLang="en-US" sz="1400" b="1" dirty="0" err="1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준중</a:t>
                            </a:r>
                            <a:r>
                              <a:rPr lang="en-US" altLang="ko-KR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/</a:t>
                            </a:r>
                            <a:r>
                              <a:rPr lang="ko-KR" altLang="en-US" sz="1400" b="1" dirty="0" err="1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중등증</a:t>
                            </a:r>
                            <a:r>
                              <a:rPr lang="en-US" altLang="ko-KR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)</a:t>
                            </a:r>
                          </a:p>
                        </p:txBody>
                      </p:sp>
                      <p:sp>
                        <p:nvSpPr>
                          <p:cNvPr id="26" name="TextBox 25"/>
                          <p:cNvSpPr txBox="1"/>
                          <p:nvPr/>
                        </p:nvSpPr>
                        <p:spPr>
                          <a:xfrm>
                            <a:off x="5843167" y="3478268"/>
                            <a:ext cx="3336063" cy="307777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altLang="ko-KR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8. </a:t>
                            </a:r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환자 격리 및</a:t>
                            </a:r>
                            <a:r>
                              <a:rPr lang="en-US" altLang="ko-KR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 </a:t>
                            </a:r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치료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15" name="TextBox 14"/>
                          <p:cNvSpPr txBox="1"/>
                          <p:nvPr/>
                        </p:nvSpPr>
                        <p:spPr>
                          <a:xfrm>
                            <a:off x="5877434" y="3820269"/>
                            <a:ext cx="861694" cy="523220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재택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  <a:p>
                            <a:pPr algn="ctr"/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치료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3" name="그룹 2"/>
                        <p:cNvGrpSpPr/>
                        <p:nvPr/>
                      </p:nvGrpSpPr>
                      <p:grpSpPr>
                        <a:xfrm>
                          <a:off x="2804210" y="3225843"/>
                          <a:ext cx="1337143" cy="1564295"/>
                          <a:chOff x="2271921" y="3498559"/>
                          <a:chExt cx="1337143" cy="1564295"/>
                        </a:xfrm>
                        <a:grpFill/>
                      </p:grpSpPr>
                      <p:sp>
                        <p:nvSpPr>
                          <p:cNvPr id="12" name="TextBox 11"/>
                          <p:cNvSpPr txBox="1"/>
                          <p:nvPr/>
                        </p:nvSpPr>
                        <p:spPr>
                          <a:xfrm>
                            <a:off x="2271921" y="3498559"/>
                            <a:ext cx="1337143" cy="307777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altLang="ko-KR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6. </a:t>
                            </a:r>
                            <a:r>
                              <a:rPr lang="ko-KR" altLang="en-US" sz="1400" b="1" dirty="0" err="1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중증도분류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44" name="TextBox 43"/>
                          <p:cNvSpPr txBox="1"/>
                          <p:nvPr/>
                        </p:nvSpPr>
                        <p:spPr>
                          <a:xfrm>
                            <a:off x="2381374" y="4154502"/>
                            <a:ext cx="1077486" cy="307777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ko-KR" altLang="en-US" sz="1400" b="1" dirty="0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보건소분류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</p:txBody>
                      </p:sp>
                      <p:sp>
                        <p:nvSpPr>
                          <p:cNvPr id="45" name="TextBox 44"/>
                          <p:cNvSpPr txBox="1"/>
                          <p:nvPr/>
                        </p:nvSpPr>
                        <p:spPr>
                          <a:xfrm>
                            <a:off x="2505013" y="4755077"/>
                            <a:ext cx="861470" cy="307777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ln w="28575"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ko-KR" altLang="en-US" sz="1400" b="1" dirty="0" err="1">
                                <a:latin typeface="나눔바른펜" panose="020B0503000000000000" pitchFamily="50" charset="-127"/>
                                <a:ea typeface="나눔바른펜" panose="020B0503000000000000" pitchFamily="50" charset="-127"/>
                              </a:rPr>
                              <a:t>시분류</a:t>
                            </a:r>
                            <a:endParaRPr lang="en-US" altLang="ko-KR" sz="1400" b="1" dirty="0">
                              <a:latin typeface="나눔바른펜" panose="020B0503000000000000" pitchFamily="50" charset="-127"/>
                              <a:ea typeface="나눔바른펜" panose="020B0503000000000000" pitchFamily="50" charset="-127"/>
                            </a:endParaRPr>
                          </a:p>
                        </p:txBody>
                      </p:sp>
                    </p:grpSp>
                    <p:sp>
                      <p:nvSpPr>
                        <p:cNvPr id="48" name="오른쪽 화살표 47"/>
                        <p:cNvSpPr/>
                        <p:nvPr/>
                      </p:nvSpPr>
                      <p:spPr>
                        <a:xfrm>
                          <a:off x="2142901" y="3279368"/>
                          <a:ext cx="661309" cy="249267"/>
                        </a:xfrm>
                        <a:prstGeom prst="rightArrow">
                          <a:avLst/>
                        </a:prstGeom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400" b="1"/>
                        </a:p>
                      </p:txBody>
                    </p:sp>
                    <p:sp>
                      <p:nvSpPr>
                        <p:cNvPr id="51" name="오른쪽 화살표 50"/>
                        <p:cNvSpPr/>
                        <p:nvPr/>
                      </p:nvSpPr>
                      <p:spPr>
                        <a:xfrm>
                          <a:off x="4161284" y="3270486"/>
                          <a:ext cx="583701" cy="249267"/>
                        </a:xfrm>
                        <a:prstGeom prst="rightArrow">
                          <a:avLst/>
                        </a:prstGeom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400" b="1"/>
                        </a:p>
                      </p:txBody>
                    </p:sp>
                    <p:sp>
                      <p:nvSpPr>
                        <p:cNvPr id="52" name="오른쪽 화살표 51"/>
                        <p:cNvSpPr/>
                        <p:nvPr/>
                      </p:nvSpPr>
                      <p:spPr>
                        <a:xfrm>
                          <a:off x="5973254" y="3225843"/>
                          <a:ext cx="441739" cy="249267"/>
                        </a:xfrm>
                        <a:prstGeom prst="rightArrow">
                          <a:avLst/>
                        </a:prstGeom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400" b="1"/>
                        </a:p>
                      </p:txBody>
                    </p:sp>
                  </p:grpSp>
                  <p:sp>
                    <p:nvSpPr>
                      <p:cNvPr id="53" name="TextBox 52"/>
                      <p:cNvSpPr txBox="1"/>
                      <p:nvPr/>
                    </p:nvSpPr>
                    <p:spPr>
                      <a:xfrm>
                        <a:off x="1235375" y="4199901"/>
                        <a:ext cx="846617" cy="738664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 w="28575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ko-KR" altLang="en-US" sz="1400" b="1" dirty="0">
                            <a:latin typeface="나눔바른펜" panose="020B0503000000000000" pitchFamily="50" charset="-127"/>
                            <a:ea typeface="나눔바른펜" panose="020B0503000000000000" pitchFamily="50" charset="-127"/>
                          </a:rPr>
                          <a:t>자가기입역학조사</a:t>
                        </a:r>
                        <a:endParaRPr lang="en-US" altLang="ko-KR" sz="1400" b="1" dirty="0">
                          <a:latin typeface="나눔바른펜" panose="020B0503000000000000" pitchFamily="50" charset="-127"/>
                          <a:ea typeface="나눔바른펜" panose="020B0503000000000000" pitchFamily="50" charset="-127"/>
                        </a:endParaRPr>
                      </a:p>
                    </p:txBody>
                  </p:sp>
                </p:grpSp>
                <p:sp>
                  <p:nvSpPr>
                    <p:cNvPr id="73" name="아래쪽 화살표 72"/>
                    <p:cNvSpPr/>
                    <p:nvPr/>
                  </p:nvSpPr>
                  <p:spPr>
                    <a:xfrm>
                      <a:off x="3562038" y="4359188"/>
                      <a:ext cx="257908" cy="229548"/>
                    </a:xfrm>
                    <a:prstGeom prst="downArrow">
                      <a:avLst/>
                    </a:prstGeom>
                    <a:solidFill>
                      <a:schemeClr val="tx2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b="1"/>
                    </a:p>
                  </p:txBody>
                </p:sp>
                <p:sp>
                  <p:nvSpPr>
                    <p:cNvPr id="74" name="아래쪽 화살표 73"/>
                    <p:cNvSpPr/>
                    <p:nvPr/>
                  </p:nvSpPr>
                  <p:spPr>
                    <a:xfrm>
                      <a:off x="3562038" y="3754047"/>
                      <a:ext cx="257908" cy="227246"/>
                    </a:xfrm>
                    <a:prstGeom prst="downArrow">
                      <a:avLst/>
                    </a:prstGeom>
                    <a:solidFill>
                      <a:schemeClr val="tx2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b="1"/>
                    </a:p>
                  </p:txBody>
                </p:sp>
              </p:grpSp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705144" y="4843293"/>
                    <a:ext cx="1547988" cy="307777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400" b="1" dirty="0" err="1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접촉자관리</a:t>
                    </a:r>
                    <a:endParaRPr lang="en-US" altLang="ko-KR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endParaRPr>
                  </a:p>
                </p:txBody>
              </p:sp>
              <p:sp>
                <p:nvSpPr>
                  <p:cNvPr id="78" name="TextBox 77"/>
                  <p:cNvSpPr txBox="1"/>
                  <p:nvPr/>
                </p:nvSpPr>
                <p:spPr>
                  <a:xfrm>
                    <a:off x="693465" y="5242700"/>
                    <a:ext cx="1616917" cy="954107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ko-KR" altLang="en-US" sz="1400" b="1" dirty="0" err="1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접촉자격리</a:t>
                    </a:r>
                    <a:endParaRPr lang="en-US" altLang="ko-KR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endParaRPr>
                  </a:p>
                  <a:p>
                    <a:pPr algn="ctr"/>
                    <a:r>
                      <a:rPr lang="en-US" altLang="ko-KR" sz="1400" b="1" dirty="0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(</a:t>
                    </a:r>
                    <a:r>
                      <a:rPr lang="ko-KR" altLang="en-US" sz="1400" b="1" dirty="0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임시시설격리</a:t>
                    </a:r>
                    <a:r>
                      <a:rPr lang="en-US" altLang="ko-KR" sz="1400" b="1" dirty="0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)</a:t>
                    </a:r>
                  </a:p>
                  <a:p>
                    <a:pPr algn="ctr"/>
                    <a:r>
                      <a:rPr lang="en-US" altLang="ko-KR" sz="1400" b="1" dirty="0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(</a:t>
                    </a:r>
                    <a:r>
                      <a:rPr lang="ko-KR" altLang="en-US" sz="1400" b="1" dirty="0" err="1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코호트격리</a:t>
                    </a:r>
                    <a:r>
                      <a:rPr lang="en-US" altLang="ko-KR" sz="1400" b="1" dirty="0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)</a:t>
                    </a:r>
                    <a:r>
                      <a:rPr lang="ko-KR" altLang="en-US" sz="1400" b="1" dirty="0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 능동</a:t>
                    </a:r>
                    <a:r>
                      <a:rPr lang="en-US" altLang="ko-KR" sz="1400" b="1" dirty="0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*</a:t>
                    </a:r>
                    <a:r>
                      <a:rPr lang="ko-KR" altLang="en-US" sz="1400" b="1" dirty="0">
                        <a:latin typeface="나눔바른펜" panose="020B0503000000000000" pitchFamily="50" charset="-127"/>
                        <a:ea typeface="나눔바른펜" panose="020B0503000000000000" pitchFamily="50" charset="-127"/>
                      </a:rPr>
                      <a:t>수동감시</a:t>
                    </a:r>
                    <a:endParaRPr lang="en-US" altLang="ko-KR" sz="1400" b="1" dirty="0">
                      <a:latin typeface="나눔바른펜" panose="020B0503000000000000" pitchFamily="50" charset="-127"/>
                      <a:ea typeface="나눔바른펜" panose="020B0503000000000000" pitchFamily="50" charset="-127"/>
                    </a:endParaRPr>
                  </a:p>
                </p:txBody>
              </p:sp>
            </p:grpSp>
          </p:grpSp>
        </p:grpSp>
        <p:sp>
          <p:nvSpPr>
            <p:cNvPr id="89" name="아래쪽 화살표 88"/>
            <p:cNvSpPr/>
            <p:nvPr/>
          </p:nvSpPr>
          <p:spPr>
            <a:xfrm>
              <a:off x="8415614" y="4116298"/>
              <a:ext cx="257908" cy="221035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93" name="아래쪽 화살표 92"/>
            <p:cNvSpPr/>
            <p:nvPr/>
          </p:nvSpPr>
          <p:spPr>
            <a:xfrm rot="16200000">
              <a:off x="9503379" y="5000697"/>
              <a:ext cx="257908" cy="1245587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99" name="아래쪽 화살표 98"/>
            <p:cNvSpPr/>
            <p:nvPr/>
          </p:nvSpPr>
          <p:spPr>
            <a:xfrm>
              <a:off x="10686180" y="4924909"/>
              <a:ext cx="257908" cy="259793"/>
            </a:xfrm>
            <a:prstGeom prst="down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  <p:sp>
          <p:nvSpPr>
            <p:cNvPr id="100" name="아래쪽 화살표 99"/>
            <p:cNvSpPr/>
            <p:nvPr/>
          </p:nvSpPr>
          <p:spPr>
            <a:xfrm rot="10800000">
              <a:off x="10679183" y="4215374"/>
              <a:ext cx="257908" cy="277098"/>
            </a:xfrm>
            <a:prstGeom prst="down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/>
            </a:p>
          </p:txBody>
        </p:sp>
      </p:grpSp>
      <p:sp>
        <p:nvSpPr>
          <p:cNvPr id="14" name="모서리가 둥근 직사각형 13"/>
          <p:cNvSpPr/>
          <p:nvPr/>
        </p:nvSpPr>
        <p:spPr>
          <a:xfrm>
            <a:off x="7609159" y="3056283"/>
            <a:ext cx="4016784" cy="30832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32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39184D9D-DD99-4CAF-2D8F-CE28969607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9354643"/>
              </p:ext>
            </p:extLst>
          </p:nvPr>
        </p:nvGraphicFramePr>
        <p:xfrm>
          <a:off x="305752" y="3494942"/>
          <a:ext cx="11458355" cy="2940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75085" y="150446"/>
            <a:ext cx="7543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코로나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 2~4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유행기의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일반병상현황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(20.5 -21.12)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312614" y="550556"/>
            <a:ext cx="11465169" cy="5560099"/>
            <a:chOff x="312614" y="550556"/>
            <a:chExt cx="11465169" cy="5560099"/>
          </a:xfrm>
        </p:grpSpPr>
        <p:graphicFrame>
          <p:nvGraphicFramePr>
            <p:cNvPr id="10" name="차트 9">
              <a:extLst>
                <a:ext uri="{FF2B5EF4-FFF2-40B4-BE49-F238E27FC236}">
                  <a16:creationId xmlns:a16="http://schemas.microsoft.com/office/drawing/2014/main" id="{B3FAE0BF-933D-F1EF-AF3A-4C78EB8C4E3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75056988"/>
                </p:ext>
              </p:extLst>
            </p:nvPr>
          </p:nvGraphicFramePr>
          <p:xfrm>
            <a:off x="312614" y="550557"/>
            <a:ext cx="11465169" cy="2882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pSp>
          <p:nvGrpSpPr>
            <p:cNvPr id="41" name="그룹 40"/>
            <p:cNvGrpSpPr/>
            <p:nvPr/>
          </p:nvGrpSpPr>
          <p:grpSpPr>
            <a:xfrm>
              <a:off x="2154115" y="550556"/>
              <a:ext cx="9609992" cy="5560099"/>
              <a:chOff x="2154115" y="550556"/>
              <a:chExt cx="9609992" cy="5560099"/>
            </a:xfrm>
          </p:grpSpPr>
          <p:grpSp>
            <p:nvGrpSpPr>
              <p:cNvPr id="25" name="그룹 24"/>
              <p:cNvGrpSpPr/>
              <p:nvPr/>
            </p:nvGrpSpPr>
            <p:grpSpPr>
              <a:xfrm>
                <a:off x="2154115" y="756138"/>
                <a:ext cx="6037385" cy="5354517"/>
                <a:chOff x="2154115" y="756138"/>
                <a:chExt cx="6037385" cy="5354517"/>
              </a:xfrm>
            </p:grpSpPr>
            <p:cxnSp>
              <p:nvCxnSpPr>
                <p:cNvPr id="19" name="직선 연결선 18"/>
                <p:cNvCxnSpPr/>
                <p:nvPr/>
              </p:nvCxnSpPr>
              <p:spPr>
                <a:xfrm flipV="1">
                  <a:off x="8191500" y="756138"/>
                  <a:ext cx="0" cy="535451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" name="그룹 17"/>
                <p:cNvGrpSpPr/>
                <p:nvPr/>
              </p:nvGrpSpPr>
              <p:grpSpPr>
                <a:xfrm>
                  <a:off x="2154115" y="756138"/>
                  <a:ext cx="3833448" cy="5354517"/>
                  <a:chOff x="2154115" y="756138"/>
                  <a:chExt cx="3833448" cy="5354517"/>
                </a:xfrm>
              </p:grpSpPr>
              <p:grpSp>
                <p:nvGrpSpPr>
                  <p:cNvPr id="14" name="그룹 13"/>
                  <p:cNvGrpSpPr/>
                  <p:nvPr/>
                </p:nvGrpSpPr>
                <p:grpSpPr>
                  <a:xfrm>
                    <a:off x="2154115" y="756138"/>
                    <a:ext cx="1655886" cy="5354517"/>
                    <a:chOff x="2154115" y="756138"/>
                    <a:chExt cx="1655886" cy="1260876"/>
                  </a:xfrm>
                </p:grpSpPr>
                <p:cxnSp>
                  <p:nvCxnSpPr>
                    <p:cNvPr id="5" name="직선 연결선 4"/>
                    <p:cNvCxnSpPr/>
                    <p:nvPr/>
                  </p:nvCxnSpPr>
                  <p:spPr>
                    <a:xfrm flipV="1">
                      <a:off x="2154115" y="756138"/>
                      <a:ext cx="0" cy="126087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" name="직선 연결선 7"/>
                    <p:cNvCxnSpPr/>
                    <p:nvPr/>
                  </p:nvCxnSpPr>
                  <p:spPr>
                    <a:xfrm flipH="1" flipV="1">
                      <a:off x="3810000" y="756138"/>
                      <a:ext cx="1" cy="126087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" name="그룹 14"/>
                  <p:cNvGrpSpPr/>
                  <p:nvPr/>
                </p:nvGrpSpPr>
                <p:grpSpPr>
                  <a:xfrm>
                    <a:off x="3809999" y="756138"/>
                    <a:ext cx="2177564" cy="5354517"/>
                    <a:chOff x="2154113" y="756138"/>
                    <a:chExt cx="2003785" cy="1260876"/>
                  </a:xfrm>
                </p:grpSpPr>
                <p:cxnSp>
                  <p:nvCxnSpPr>
                    <p:cNvPr id="16" name="직선 연결선 15"/>
                    <p:cNvCxnSpPr/>
                    <p:nvPr/>
                  </p:nvCxnSpPr>
                  <p:spPr>
                    <a:xfrm flipV="1">
                      <a:off x="2154113" y="756138"/>
                      <a:ext cx="2" cy="126087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직선 연결선 16"/>
                    <p:cNvCxnSpPr/>
                    <p:nvPr/>
                  </p:nvCxnSpPr>
                  <p:spPr>
                    <a:xfrm flipV="1">
                      <a:off x="4157898" y="756138"/>
                      <a:ext cx="0" cy="126087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37" name="TextBox 36"/>
              <p:cNvSpPr txBox="1"/>
              <p:nvPr/>
            </p:nvSpPr>
            <p:spPr>
              <a:xfrm>
                <a:off x="2154115" y="557922"/>
                <a:ext cx="1655884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2</a:t>
                </a:r>
                <a:r>
                  <a:rPr lang="ko-KR" altLang="en-US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차</a:t>
                </a:r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(20.8 – 10)</a:t>
                </a:r>
                <a:endParaRPr lang="ko-KR" altLang="en-US" sz="14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3810001" y="557923"/>
                <a:ext cx="2177563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3</a:t>
                </a:r>
                <a:r>
                  <a:rPr lang="ko-KR" altLang="en-US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차</a:t>
                </a:r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(20.11 – 21.2)</a:t>
                </a:r>
                <a:endParaRPr lang="ko-KR" altLang="en-US" sz="14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8191500" y="550556"/>
                <a:ext cx="3572607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4</a:t>
                </a:r>
                <a:r>
                  <a:rPr lang="ko-KR" altLang="en-US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차</a:t>
                </a:r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(21.7 – 22.1)</a:t>
                </a:r>
                <a:endParaRPr lang="ko-KR" altLang="en-US" sz="14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endParaRPr>
              </a:p>
            </p:txBody>
          </p:sp>
        </p:grpSp>
      </p:grpSp>
      <p:cxnSp>
        <p:nvCxnSpPr>
          <p:cNvPr id="42" name="직선 연결선 41"/>
          <p:cNvCxnSpPr/>
          <p:nvPr/>
        </p:nvCxnSpPr>
        <p:spPr>
          <a:xfrm>
            <a:off x="2699238" y="2351941"/>
            <a:ext cx="0" cy="9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4355123" y="2134332"/>
            <a:ext cx="52754" cy="92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4910503" y="1736480"/>
            <a:ext cx="52754" cy="184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9114691" y="1367202"/>
            <a:ext cx="52754" cy="184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-13041" y="-13193"/>
            <a:ext cx="38911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4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123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61268" y="150445"/>
            <a:ext cx="7538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코로나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2~4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유행기의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생활치료센터 확보현황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(20.5 -22.1)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158262" y="550555"/>
            <a:ext cx="11869616" cy="5881506"/>
            <a:chOff x="158262" y="550555"/>
            <a:chExt cx="11869616" cy="5881506"/>
          </a:xfrm>
        </p:grpSpPr>
        <p:grpSp>
          <p:nvGrpSpPr>
            <p:cNvPr id="43" name="그룹 42"/>
            <p:cNvGrpSpPr/>
            <p:nvPr/>
          </p:nvGrpSpPr>
          <p:grpSpPr>
            <a:xfrm>
              <a:off x="158262" y="550556"/>
              <a:ext cx="11869616" cy="5881505"/>
              <a:chOff x="158262" y="550556"/>
              <a:chExt cx="11869616" cy="5881505"/>
            </a:xfrm>
          </p:grpSpPr>
          <p:graphicFrame>
            <p:nvGraphicFramePr>
              <p:cNvPr id="10" name="차트 9">
                <a:extLst>
                  <a:ext uri="{FF2B5EF4-FFF2-40B4-BE49-F238E27FC236}">
                    <a16:creationId xmlns:a16="http://schemas.microsoft.com/office/drawing/2014/main" id="{823122E1-40D3-077F-8F73-C010AAB456E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03418718"/>
                  </p:ext>
                </p:extLst>
              </p:nvPr>
            </p:nvGraphicFramePr>
            <p:xfrm>
              <a:off x="227624" y="550556"/>
              <a:ext cx="11800254" cy="2980044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graphicFrame>
            <p:nvGraphicFramePr>
              <p:cNvPr id="11" name="차트 10">
                <a:extLst>
                  <a:ext uri="{FF2B5EF4-FFF2-40B4-BE49-F238E27FC236}">
                    <a16:creationId xmlns:a16="http://schemas.microsoft.com/office/drawing/2014/main" id="{39184D9D-DD99-4CAF-2D8F-CE289696072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93397319"/>
                  </p:ext>
                </p:extLst>
              </p:nvPr>
            </p:nvGraphicFramePr>
            <p:xfrm>
              <a:off x="158262" y="3524739"/>
              <a:ext cx="11853985" cy="2907322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</p:grpSp>
        <p:grpSp>
          <p:nvGrpSpPr>
            <p:cNvPr id="7" name="그룹 6"/>
            <p:cNvGrpSpPr/>
            <p:nvPr/>
          </p:nvGrpSpPr>
          <p:grpSpPr>
            <a:xfrm>
              <a:off x="2154115" y="550555"/>
              <a:ext cx="9609993" cy="5568890"/>
              <a:chOff x="2154115" y="541456"/>
              <a:chExt cx="9609993" cy="5815382"/>
            </a:xfrm>
          </p:grpSpPr>
          <p:grpSp>
            <p:nvGrpSpPr>
              <p:cNvPr id="17" name="그룹 16"/>
              <p:cNvGrpSpPr/>
              <p:nvPr/>
            </p:nvGrpSpPr>
            <p:grpSpPr>
              <a:xfrm>
                <a:off x="2154115" y="541458"/>
                <a:ext cx="5650524" cy="5815380"/>
                <a:chOff x="2154115" y="541458"/>
                <a:chExt cx="5650524" cy="5815380"/>
              </a:xfrm>
            </p:grpSpPr>
            <p:cxnSp>
              <p:nvCxnSpPr>
                <p:cNvPr id="19" name="직선 연결선 18"/>
                <p:cNvCxnSpPr/>
                <p:nvPr/>
              </p:nvCxnSpPr>
              <p:spPr>
                <a:xfrm flipV="1">
                  <a:off x="7804639" y="541458"/>
                  <a:ext cx="0" cy="581538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" name="그룹 20"/>
                <p:cNvGrpSpPr/>
                <p:nvPr/>
              </p:nvGrpSpPr>
              <p:grpSpPr>
                <a:xfrm>
                  <a:off x="2154115" y="756138"/>
                  <a:ext cx="3657600" cy="5600700"/>
                  <a:chOff x="2154115" y="756138"/>
                  <a:chExt cx="3657600" cy="5600700"/>
                </a:xfrm>
              </p:grpSpPr>
              <p:grpSp>
                <p:nvGrpSpPr>
                  <p:cNvPr id="23" name="그룹 22"/>
                  <p:cNvGrpSpPr/>
                  <p:nvPr/>
                </p:nvGrpSpPr>
                <p:grpSpPr>
                  <a:xfrm>
                    <a:off x="2154115" y="756138"/>
                    <a:ext cx="1655885" cy="5600700"/>
                    <a:chOff x="2154115" y="756138"/>
                    <a:chExt cx="1655885" cy="1318847"/>
                  </a:xfrm>
                </p:grpSpPr>
                <p:cxnSp>
                  <p:nvCxnSpPr>
                    <p:cNvPr id="27" name="직선 연결선 26"/>
                    <p:cNvCxnSpPr/>
                    <p:nvPr/>
                  </p:nvCxnSpPr>
                  <p:spPr>
                    <a:xfrm flipV="1">
                      <a:off x="2154115" y="756138"/>
                      <a:ext cx="0" cy="13188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직선 연결선 27"/>
                    <p:cNvCxnSpPr/>
                    <p:nvPr/>
                  </p:nvCxnSpPr>
                  <p:spPr>
                    <a:xfrm flipV="1">
                      <a:off x="3810000" y="756138"/>
                      <a:ext cx="0" cy="13188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" name="그룹 23"/>
                  <p:cNvGrpSpPr/>
                  <p:nvPr/>
                </p:nvGrpSpPr>
                <p:grpSpPr>
                  <a:xfrm>
                    <a:off x="3810000" y="756138"/>
                    <a:ext cx="2001715" cy="5600700"/>
                    <a:chOff x="2154115" y="756138"/>
                    <a:chExt cx="1841970" cy="1318847"/>
                  </a:xfrm>
                </p:grpSpPr>
                <p:cxnSp>
                  <p:nvCxnSpPr>
                    <p:cNvPr id="25" name="직선 연결선 24"/>
                    <p:cNvCxnSpPr/>
                    <p:nvPr/>
                  </p:nvCxnSpPr>
                  <p:spPr>
                    <a:xfrm flipV="1">
                      <a:off x="2154115" y="756138"/>
                      <a:ext cx="0" cy="13188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직선 연결선 25"/>
                    <p:cNvCxnSpPr/>
                    <p:nvPr/>
                  </p:nvCxnSpPr>
                  <p:spPr>
                    <a:xfrm flipV="1">
                      <a:off x="3996085" y="756138"/>
                      <a:ext cx="0" cy="13188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12" name="TextBox 11"/>
              <p:cNvSpPr txBox="1"/>
              <p:nvPr/>
            </p:nvSpPr>
            <p:spPr>
              <a:xfrm>
                <a:off x="2163859" y="541456"/>
                <a:ext cx="1655884" cy="321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2</a:t>
                </a:r>
                <a:r>
                  <a:rPr lang="ko-KR" altLang="en-US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차</a:t>
                </a:r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(20.8 – 10)</a:t>
                </a:r>
                <a:endParaRPr lang="ko-KR" altLang="en-US" sz="14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819743" y="541457"/>
                <a:ext cx="2001715" cy="321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3</a:t>
                </a:r>
                <a:r>
                  <a:rPr lang="ko-KR" altLang="en-US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차</a:t>
                </a:r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(20.11 – 21.2)</a:t>
                </a:r>
                <a:endParaRPr lang="ko-KR" altLang="en-US" sz="14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804639" y="541458"/>
                <a:ext cx="3959469" cy="321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4</a:t>
                </a:r>
                <a:r>
                  <a:rPr lang="ko-KR" altLang="en-US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차</a:t>
                </a:r>
                <a:r>
                  <a:rPr lang="en-US" altLang="ko-KR" sz="1400" b="1" dirty="0">
                    <a:latin typeface="함초롬돋움" panose="020B0604000101010101" pitchFamily="50" charset="-127"/>
                    <a:ea typeface="함초롬돋움" panose="020B0604000101010101" pitchFamily="50" charset="-127"/>
                    <a:cs typeface="함초롬돋움" panose="020B0604000101010101" pitchFamily="50" charset="-127"/>
                  </a:rPr>
                  <a:t>(21.7 – 22.1)</a:t>
                </a:r>
                <a:endParaRPr lang="ko-KR" altLang="en-US" sz="14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endParaRPr>
              </a:p>
            </p:txBody>
          </p:sp>
        </p:grpSp>
      </p:grpSp>
      <p:cxnSp>
        <p:nvCxnSpPr>
          <p:cNvPr id="29" name="직선 연결선 28"/>
          <p:cNvCxnSpPr/>
          <p:nvPr/>
        </p:nvCxnSpPr>
        <p:spPr>
          <a:xfrm flipH="1">
            <a:off x="6535615" y="2523390"/>
            <a:ext cx="64478" cy="298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7954108" y="2365131"/>
            <a:ext cx="237391" cy="200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 flipH="1">
            <a:off x="8639910" y="1623642"/>
            <a:ext cx="32240" cy="361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-13041" y="-13193"/>
            <a:ext cx="38911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5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19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8</a:t>
            </a:fld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3481754" y="-13193"/>
            <a:ext cx="496331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1~2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077" y="361515"/>
            <a:ext cx="4165600" cy="57751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" name="Picture 2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60677" y="361515"/>
            <a:ext cx="4149360" cy="5778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사각형 설명선 3"/>
          <p:cNvSpPr/>
          <p:nvPr/>
        </p:nvSpPr>
        <p:spPr>
          <a:xfrm>
            <a:off x="181518" y="870438"/>
            <a:ext cx="3300236" cy="3033347"/>
          </a:xfrm>
          <a:prstGeom prst="wedgeRectCallout">
            <a:avLst>
              <a:gd name="adj1" fmla="val 53799"/>
              <a:gd name="adj2" fmla="val -1523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신종병원체평가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신종바이러스 특성 감시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잠복기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전파기간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사람간 전파여부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치명률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중증화율등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(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고위험국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상황평가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해외발생동향 파악 및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고위험국가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평가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비상체계수립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해외검역강화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단계조정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비상근무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(24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시간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시작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,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비상연락망 가동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4. 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의심환자 역학조사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접촉자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파악 및 응급실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폐쇄등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환기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소독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실시간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live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보고 및 질의응답 시작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6" name="사각형 설명선 25"/>
          <p:cNvSpPr/>
          <p:nvPr/>
        </p:nvSpPr>
        <p:spPr>
          <a:xfrm>
            <a:off x="181518" y="4212491"/>
            <a:ext cx="3300236" cy="1397002"/>
          </a:xfrm>
          <a:prstGeom prst="wedgeRectCallout">
            <a:avLst>
              <a:gd name="adj1" fmla="val 53799"/>
              <a:gd name="adj2" fmla="val -15231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검사기관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검사소 및 격리치료병상 준비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의심환자 관리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/1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급대응처럼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선격리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후 검사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3041" y="-13193"/>
            <a:ext cx="38911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014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9</a:t>
            </a:fld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3595077" y="16299"/>
            <a:ext cx="520504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2~3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신종병원체 분석이행</a:t>
            </a:r>
          </a:p>
        </p:txBody>
      </p:sp>
      <p:sp>
        <p:nvSpPr>
          <p:cNvPr id="10" name="사각형 설명선 9"/>
          <p:cNvSpPr/>
          <p:nvPr/>
        </p:nvSpPr>
        <p:spPr>
          <a:xfrm>
            <a:off x="181518" y="1103435"/>
            <a:ext cx="4054233" cy="2083776"/>
          </a:xfrm>
          <a:prstGeom prst="wedgeRectCallout">
            <a:avLst>
              <a:gd name="adj1" fmla="val 53799"/>
              <a:gd name="adj2" fmla="val -1523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신종병원체평가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신종바이러스의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무증상기의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전파 가능성에 대한 분석이행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지원단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부산의료원내과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2. 2020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월에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접촉자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조사기간을 증상발생일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일전에서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</a:t>
            </a:r>
            <a:r>
              <a:rPr lang="ko-KR" altLang="en-US" sz="140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일전으로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지침변경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4403969" y="510193"/>
            <a:ext cx="6876562" cy="4845405"/>
            <a:chOff x="4403969" y="510193"/>
            <a:chExt cx="6395369" cy="4845405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3969" y="510193"/>
              <a:ext cx="6395369" cy="213870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" name="그룹 1"/>
            <p:cNvGrpSpPr/>
            <p:nvPr/>
          </p:nvGrpSpPr>
          <p:grpSpPr>
            <a:xfrm>
              <a:off x="4403969" y="2617171"/>
              <a:ext cx="6395369" cy="2738427"/>
              <a:chOff x="4403969" y="2617171"/>
              <a:chExt cx="6395369" cy="2738427"/>
            </a:xfrm>
          </p:grpSpPr>
          <p:pic>
            <p:nvPicPr>
              <p:cNvPr id="3075" name="Picture 3"/>
              <p:cNvPicPr>
                <a:picLocks noChangeAspect="1" noChangeArrowheads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4403969" y="2617171"/>
                <a:ext cx="6395368" cy="270860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3" name="Picture 3"/>
              <p:cNvPicPr>
                <a:picLocks noChangeAspect="1" noChangeArrowheads="1"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4403970" y="3960033"/>
                <a:ext cx="6395368" cy="139556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pSp>
        <p:nvGrpSpPr>
          <p:cNvPr id="6" name="그룹 5"/>
          <p:cNvGrpSpPr/>
          <p:nvPr/>
        </p:nvGrpSpPr>
        <p:grpSpPr>
          <a:xfrm>
            <a:off x="3564282" y="5355598"/>
            <a:ext cx="7979587" cy="867768"/>
            <a:chOff x="3564282" y="5355598"/>
            <a:chExt cx="7979587" cy="867768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564282" y="5653454"/>
              <a:ext cx="7979587" cy="5699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아래쪽 화살표 10"/>
            <p:cNvSpPr/>
            <p:nvPr/>
          </p:nvSpPr>
          <p:spPr>
            <a:xfrm>
              <a:off x="7397298" y="5355598"/>
              <a:ext cx="313556" cy="253894"/>
            </a:xfrm>
            <a:prstGeom prst="down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60535" y="510193"/>
            <a:ext cx="190456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신종 병원체 평가</a:t>
            </a:r>
            <a:endParaRPr lang="en-US" altLang="ko-KR" sz="16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13041" y="-13193"/>
            <a:ext cx="38911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7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325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10</a:t>
            </a:fld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1698173" y="48362"/>
            <a:ext cx="927462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2~3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우리나라 최초 요양병원 종사자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명 확진 및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코호트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조치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3041" y="-13193"/>
            <a:ext cx="38911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2" name="사각형 설명선 21"/>
          <p:cNvSpPr/>
          <p:nvPr/>
        </p:nvSpPr>
        <p:spPr>
          <a:xfrm>
            <a:off x="79130" y="650632"/>
            <a:ext cx="3763109" cy="2549768"/>
          </a:xfrm>
          <a:prstGeom prst="wedgeRectCallout">
            <a:avLst>
              <a:gd name="adj1" fmla="val 21588"/>
              <a:gd name="adj2" fmla="val 55079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 및 의료대응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직원과 환자 동일집단격리를 위해 격리장소를 구분하여 마련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환자접촉자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인재개발원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부산의료원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요양병원내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나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직원접촉자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인재개발원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자가격리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병원격리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이로부터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7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개월후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북구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요양병원의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두자릿수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집단발생에 따른 환자접촉자의 격리요양병원으로 역할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을 함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81518" y="3403355"/>
            <a:ext cx="3587261" cy="2918313"/>
            <a:chOff x="181518" y="3403355"/>
            <a:chExt cx="3587261" cy="2918313"/>
          </a:xfrm>
        </p:grpSpPr>
        <p:pic>
          <p:nvPicPr>
            <p:cNvPr id="5129" name="Picture 9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518" y="3403355"/>
              <a:ext cx="3587261" cy="2918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직사각형 1"/>
            <p:cNvSpPr/>
            <p:nvPr/>
          </p:nvSpPr>
          <p:spPr>
            <a:xfrm>
              <a:off x="1808703" y="3597310"/>
              <a:ext cx="452175" cy="2009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</a:t>
              </a:r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237622" y="5719187"/>
              <a:ext cx="339970" cy="20096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</a:t>
              </a:r>
              <a:endParaRPr lang="ko-KR" altLang="en-US" dirty="0"/>
            </a:p>
          </p:txBody>
        </p:sp>
      </p:grp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239" y="617292"/>
            <a:ext cx="8285162" cy="570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352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11</a:t>
            </a:fld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3235637" y="3479"/>
            <a:ext cx="540720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4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해외입국자 관리</a:t>
            </a: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46445" y="544124"/>
            <a:ext cx="5405865" cy="2233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43016" y="2775493"/>
            <a:ext cx="5409294" cy="36223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그룹 19"/>
          <p:cNvGrpSpPr/>
          <p:nvPr/>
        </p:nvGrpSpPr>
        <p:grpSpPr>
          <a:xfrm>
            <a:off x="87991" y="544124"/>
            <a:ext cx="6295292" cy="2483221"/>
            <a:chOff x="958448" y="1102637"/>
            <a:chExt cx="5545366" cy="20704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1" name="TextBox 20"/>
            <p:cNvSpPr txBox="1"/>
            <p:nvPr/>
          </p:nvSpPr>
          <p:spPr>
            <a:xfrm>
              <a:off x="2769553" y="1102637"/>
              <a:ext cx="2181064" cy="436241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방역대응</a:t>
              </a:r>
              <a:endPara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ko-KR" altLang="en-US" sz="1400" dirty="0" err="1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고위험국가</a:t>
              </a:r>
              <a:r>
                <a:rPr lang="ko-KR" altLang="en-US" sz="1400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상황평가</a:t>
              </a:r>
              <a:endPara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8448" y="1764217"/>
              <a:ext cx="5545366" cy="87248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해외입국자 관리</a:t>
              </a:r>
              <a:endPara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400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1. </a:t>
              </a:r>
              <a:r>
                <a:rPr lang="ko-KR" altLang="en-US" sz="1400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김해공항입국자 이송</a:t>
              </a:r>
              <a:endPara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r>
                <a:rPr lang="en-US" altLang="ko-KR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2. </a:t>
              </a:r>
              <a:r>
                <a:rPr lang="ko-KR" altLang="en-US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해외입국자 대상 부산역 선별진료소 운영 </a:t>
              </a:r>
              <a:r>
                <a:rPr lang="en-US" altLang="ko-KR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(</a:t>
              </a:r>
              <a:r>
                <a:rPr lang="ko-KR" altLang="en-US" sz="1600" b="1" dirty="0" err="1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부산형</a:t>
              </a:r>
              <a:r>
                <a:rPr lang="ko-KR" altLang="en-US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선제적 해외입국자 관리조치로 </a:t>
              </a:r>
              <a:r>
                <a:rPr lang="en-US" altLang="ko-KR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2020.4</a:t>
              </a:r>
              <a:r>
                <a:rPr lang="ko-KR" altLang="en-US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월부터</a:t>
              </a:r>
              <a:r>
                <a:rPr lang="en-US" altLang="ko-KR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/</a:t>
              </a:r>
              <a:r>
                <a:rPr lang="ko-KR" altLang="en-US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총 </a:t>
              </a:r>
              <a:r>
                <a:rPr lang="en-US" altLang="ko-KR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68739</a:t>
              </a:r>
              <a:r>
                <a:rPr lang="ko-KR" altLang="en-US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건 검사이행</a:t>
              </a:r>
              <a:r>
                <a:rPr lang="en-US" altLang="ko-KR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)</a:t>
              </a:r>
              <a:r>
                <a:rPr lang="ko-KR" altLang="en-US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endPara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23" name="아래쪽 화살표 22"/>
            <p:cNvSpPr/>
            <p:nvPr/>
          </p:nvSpPr>
          <p:spPr>
            <a:xfrm>
              <a:off x="3697442" y="1533080"/>
              <a:ext cx="257907" cy="229548"/>
            </a:xfrm>
            <a:prstGeom prst="downArrow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42549" y="2711153"/>
              <a:ext cx="3909784" cy="46190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입국후</a:t>
              </a:r>
              <a:r>
                <a:rPr lang="ko-KR" altLang="en-US" sz="1400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검사 및 격리</a:t>
              </a:r>
              <a:r>
                <a:rPr lang="en-US" altLang="ko-KR" sz="1400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(</a:t>
              </a:r>
              <a:r>
                <a:rPr lang="ko-KR" altLang="en-US" sz="1600" b="1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임시격리시설</a:t>
              </a:r>
              <a:r>
                <a:rPr lang="en-US" altLang="ko-KR" sz="1400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)</a:t>
              </a:r>
            </a:p>
            <a:p>
              <a:pPr algn="ctr"/>
              <a:r>
                <a:rPr lang="en-US" altLang="ko-KR" sz="1400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: </a:t>
              </a:r>
              <a:r>
                <a:rPr lang="ko-KR" altLang="en-US" sz="1400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부산은 외국선원들의 격리시설이 회사별로 마련됨</a:t>
              </a:r>
              <a:r>
                <a:rPr lang="en-US" altLang="ko-KR" sz="1400" dirty="0"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-13041" y="-13193"/>
            <a:ext cx="38911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9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997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12</a:t>
            </a:fld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2961937" y="76683"/>
            <a:ext cx="764912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7~8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해외선박에서 지역사회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(A,B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학교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로의 전파</a:t>
            </a:r>
          </a:p>
        </p:txBody>
      </p:sp>
      <p:pic>
        <p:nvPicPr>
          <p:cNvPr id="35" name="_x650087432" descr="EMB00004bf438d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506" y="480846"/>
            <a:ext cx="6014915" cy="427282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_x388343152" descr="EMB00004bf438df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599" y="448472"/>
            <a:ext cx="1797905" cy="133546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 설명선 6"/>
          <p:cNvSpPr/>
          <p:nvPr/>
        </p:nvSpPr>
        <p:spPr>
          <a:xfrm>
            <a:off x="105878" y="1816310"/>
            <a:ext cx="5712118" cy="3519365"/>
          </a:xfrm>
          <a:prstGeom prst="wedgeRectCallout">
            <a:avLst>
              <a:gd name="adj1" fmla="val 53799"/>
              <a:gd name="adj2" fmla="val -1523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신종병원체평가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신종바이러스에 대한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NGS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유전자 분석으로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페트르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관련 유행의 발생경로 파악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우리나라에서 처음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GR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그룹 발견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 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비상체계수립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기존 전자검역에서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2020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승선검역으로 강화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그 이후 방역강화대상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러시아포함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국가 관련 선박은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7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월경부터 전수진단검사를 시행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(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확진환자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역학조사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1) 7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해외 선박관련 집단발생 지속으로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부산의료원에 역학조사관 파견하여 통역사와 유선으로 비대면 역학조사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이행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그 과정에서 선박관련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접촉자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수리업체등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 명단구성에 지체가 많이 됨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2) 8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선박수리공 확진 및 그의 아내로 전파인하여 지역사회 두 학교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(A,B)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전파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발생하여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모든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확진자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병원격리실시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8" name="사각형 설명선 7"/>
          <p:cNvSpPr/>
          <p:nvPr/>
        </p:nvSpPr>
        <p:spPr>
          <a:xfrm>
            <a:off x="70803" y="5419657"/>
            <a:ext cx="7048548" cy="905297"/>
          </a:xfrm>
          <a:prstGeom prst="wedgeRectCallout">
            <a:avLst>
              <a:gd name="adj1" fmla="val 41681"/>
              <a:gd name="adj2" fmla="val -7265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격리치료병상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경증 외국환자의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문화차이에 따른 의료종사자들의 어려움 발생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러시아 환자 중환자 발생하여 치료비 전액 지원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3042" y="-13193"/>
            <a:ext cx="4614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056" y="4076787"/>
            <a:ext cx="4621212" cy="251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03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13</a:t>
            </a:fld>
            <a:endParaRPr lang="en-US"/>
          </a:p>
        </p:txBody>
      </p:sp>
      <p:pic>
        <p:nvPicPr>
          <p:cNvPr id="79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406" y="540428"/>
            <a:ext cx="4316146" cy="30358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6" name="TextBox 85"/>
          <p:cNvSpPr txBox="1"/>
          <p:nvPr/>
        </p:nvSpPr>
        <p:spPr>
          <a:xfrm>
            <a:off x="3595077" y="16299"/>
            <a:ext cx="520504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제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차 유행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(2020.7-10)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87" name="사각형 설명선 86"/>
          <p:cNvSpPr/>
          <p:nvPr/>
        </p:nvSpPr>
        <p:spPr>
          <a:xfrm>
            <a:off x="121136" y="817579"/>
            <a:ext cx="5584094" cy="4457246"/>
          </a:xfrm>
          <a:prstGeom prst="wedgeRectCallout">
            <a:avLst>
              <a:gd name="adj1" fmla="val 53799"/>
              <a:gd name="adj2" fmla="val -1523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신종병원체평가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코로나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 기존 비말 전파에서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공기전파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 가능성이 있다고 대두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특히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밀폐된 공간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 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비상체계수립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사회적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거리두기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단계 이행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(2020.8.17),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마스크착용 의무화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(2020.8.22)</a:t>
            </a:r>
          </a:p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(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확진환자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역학조사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기초역학조사 및 심층역학조사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카드조회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GPS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분석등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면밀히 이행 및 공기전파에 따른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접촉자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범위 강화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특히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식당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2)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접촉자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관리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방문자에 대한 조치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광화문집회 관련하여 기존 기지국 기반 방문가능성 있는 명단이 내려와서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해당 명단에 있는 사람 자가격리이행여부에 대한 논란 지속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나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일상접촉자에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대한 대규모 검사이행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다중이용시설 집단발생증가로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동선공개수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증가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라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접촉자중 격리자 발생증가로 자가격리자중 특수상황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투석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!)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 대한 관리의 어려움 증가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88" name="사각형 설명선 87"/>
          <p:cNvSpPr/>
          <p:nvPr/>
        </p:nvSpPr>
        <p:spPr>
          <a:xfrm>
            <a:off x="121137" y="5446207"/>
            <a:ext cx="5584093" cy="714270"/>
          </a:xfrm>
          <a:prstGeom prst="wedgeRectCallout">
            <a:avLst>
              <a:gd name="adj1" fmla="val 19609"/>
              <a:gd name="adj2" fmla="val -67283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20.8.26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일반병상가동율이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60%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이상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증가하여 병상확대이행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112718"/>
              </p:ext>
            </p:extLst>
          </p:nvPr>
        </p:nvGraphicFramePr>
        <p:xfrm>
          <a:off x="5811715" y="3574138"/>
          <a:ext cx="6161454" cy="2932169"/>
        </p:xfrm>
        <a:graphic>
          <a:graphicData uri="http://schemas.openxmlformats.org/drawingml/2006/table">
            <a:tbl>
              <a:tblPr/>
              <a:tblGrid>
                <a:gridCol w="6161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21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[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자가격리 대상자 중 병원진료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,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치료 등이 필요하거나 예정된 경우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]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∙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문체부 돋음체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시급성이 요구되는 경우</a:t>
                      </a:r>
                      <a:endParaRPr lang="ko-KR" altLang="en-US" sz="1400" kern="0" spc="-4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  <a:p>
                      <a:pPr marL="0" marR="0" indent="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※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병원진료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치료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시험응시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일자리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),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임종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장례 등의 필요한 경우 적용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  <a:p>
                      <a:pPr marL="0" marR="0" indent="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-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반드시 모니터링 담당자에게 유선 연락하도록 격리대상자에게 안내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  <a:p>
                      <a:pPr marL="171450" marR="0" indent="-17145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담당자는 개인보호구를 착용하고 차량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구급차 권장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)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으로 자가격리대상자와 함께 이동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  <a:p>
                      <a:pPr marL="227330" marR="0" indent="-11303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∙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한양신명조"/>
                          <a:ea typeface="문체부 돋음체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자가격리 통보 전에 시급성이 요구되는 치료가 예정된 경우</a:t>
                      </a:r>
                      <a:endParaRPr lang="ko-KR" altLang="en-US" sz="1400" kern="0" spc="-4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  <a:p>
                      <a:pPr marL="0" marR="0" indent="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※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병원진료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치료 등이 예정된 경우 적용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  <a:p>
                      <a:pPr marL="0" marR="0" indent="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-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치료 전날 코로나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19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진단검사 시행 후 음성 확인 뒤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표준주의하면서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 치료 실시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  <a:p>
                      <a:pPr marL="367030" marR="0" indent="-36703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* 자가격리 대상자 치료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/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진료를 위해 외출 시 대상자에게 마스크 등을 착용시킨 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외출 직전 체온 등 증상유무를 확인하며 외출의 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全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)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문체부 돋음체"/>
                          <a:ea typeface="문체부 돋음체"/>
                        </a:rPr>
                        <a:t>과정을 동행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53979" marR="53979" marT="14924" marB="1492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-13042" y="-13193"/>
            <a:ext cx="4614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343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14</a:t>
            </a:fld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3371360" y="54639"/>
            <a:ext cx="622481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타지역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유래 부산시 집단발생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70988" y="582689"/>
            <a:ext cx="3679658" cy="41776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178169" y="4803657"/>
            <a:ext cx="1036613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부산시는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8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29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일자로 최근 여러 목욕탕에서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확진자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발생으로 관내 </a:t>
            </a:r>
            <a:r>
              <a:rPr lang="ko-KR" altLang="en-US" sz="16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목욕장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819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곳에 집합금지 행정명령 이행</a:t>
            </a:r>
            <a:endParaRPr lang="en-US" altLang="ko-KR" sz="1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해운대 대형목욕탕에  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종사자가 근무한 전파기간에 </a:t>
            </a:r>
            <a:r>
              <a:rPr lang="ko-KR" altLang="en-US" sz="16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세신받은사람은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자가격리이행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120511" y="582690"/>
            <a:ext cx="5045220" cy="4177632"/>
            <a:chOff x="2293039" y="158661"/>
            <a:chExt cx="4353171" cy="3078464"/>
          </a:xfrm>
        </p:grpSpPr>
        <p:pic>
          <p:nvPicPr>
            <p:cNvPr id="5124" name="Picture 4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293039" y="905854"/>
              <a:ext cx="4353171" cy="2331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7E39632-6D70-4EEA-A382-FFB91C41C8E0}"/>
                </a:ext>
              </a:extLst>
            </p:cNvPr>
            <p:cNvSpPr/>
            <p:nvPr/>
          </p:nvSpPr>
          <p:spPr>
            <a:xfrm>
              <a:off x="2331278" y="158661"/>
              <a:ext cx="4314932" cy="74719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순천가족모임</a:t>
              </a:r>
              <a:r>
                <a:rPr lang="en-US" altLang="ko-K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/</a:t>
              </a:r>
              <a:r>
                <a:rPr lang="ko-KR" alt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해운대 대형목욕탕 관련</a:t>
              </a:r>
              <a:endPara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 algn="ctr"/>
              <a:r>
                <a:rPr lang="en-US" altLang="ko-K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(</a:t>
              </a:r>
              <a:r>
                <a:rPr lang="ko-KR" altLang="en-US" sz="16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부산확진자</a:t>
              </a:r>
              <a:r>
                <a:rPr lang="ko-KR" alt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en-US" altLang="ko-K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6</a:t>
              </a:r>
              <a:r>
                <a:rPr lang="ko-KR" alt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명</a:t>
              </a:r>
              <a:r>
                <a:rPr lang="en-US" altLang="ko-K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)</a:t>
              </a:r>
              <a:r>
                <a:rPr lang="ko-KR" alt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-13042" y="-13193"/>
            <a:ext cx="4614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12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2492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15</a:t>
            </a:fld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2922954" y="44081"/>
            <a:ext cx="805989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9~10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북구 지역감염에서 요양병원까지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77" y="3059723"/>
            <a:ext cx="5447748" cy="34348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625" y="3059723"/>
            <a:ext cx="5428337" cy="34198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3400239" y="444191"/>
            <a:ext cx="5479991" cy="2615531"/>
            <a:chOff x="3400240" y="444191"/>
            <a:chExt cx="4626160" cy="1990913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0240" y="444191"/>
              <a:ext cx="4626160" cy="1990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>
              <a:off x="5221271" y="1336431"/>
              <a:ext cx="2805129" cy="10788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-13042" y="-13193"/>
            <a:ext cx="4614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13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9266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16</a:t>
            </a:fld>
            <a:endParaRPr lang="en-US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2178" y="730490"/>
            <a:ext cx="4238868" cy="55765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046" y="730491"/>
            <a:ext cx="4551970" cy="55765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3534785" y="105079"/>
            <a:ext cx="644322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북구 요양병원 집단발생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140676" y="719933"/>
            <a:ext cx="2989386" cy="2798818"/>
            <a:chOff x="140676" y="730492"/>
            <a:chExt cx="2610339" cy="3583600"/>
          </a:xfrm>
        </p:grpSpPr>
        <p:pic>
          <p:nvPicPr>
            <p:cNvPr id="5123" name="_x556658792" descr="EMB000030441b30"/>
            <p:cNvPicPr>
              <a:picLocks noChangeAspect="1" noChangeArrowheads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40676" y="730492"/>
              <a:ext cx="2610339" cy="3583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타원 3"/>
            <p:cNvSpPr/>
            <p:nvPr/>
          </p:nvSpPr>
          <p:spPr>
            <a:xfrm>
              <a:off x="1531815" y="2704123"/>
              <a:ext cx="531447" cy="103944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사각형 설명선 12"/>
          <p:cNvSpPr/>
          <p:nvPr/>
        </p:nvSpPr>
        <p:spPr>
          <a:xfrm>
            <a:off x="140676" y="3518751"/>
            <a:ext cx="2989386" cy="2788262"/>
          </a:xfrm>
          <a:prstGeom prst="wedgeRectCallout">
            <a:avLst>
              <a:gd name="adj1" fmla="val 53799"/>
              <a:gd name="adj2" fmla="val -1523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비상체계수립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사회적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거리두기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단계 완화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(2020.10.12)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직후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2020.10.14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전국에서 유일하게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일일두자릿수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(52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확진발생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(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확진환자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역학조사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코호트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격리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두번째로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시행 및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접촉자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격리를 위해 일부 요양병원 환자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18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타요양병원으로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이송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3042" y="-13193"/>
            <a:ext cx="4614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14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308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Picture 3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5186" y="1629159"/>
            <a:ext cx="6595352" cy="51233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31619" y="798162"/>
            <a:ext cx="1080404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부산시는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2020.10~11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중반까지 부산시 병상현황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보유병상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206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병상이며 일반병상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187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병상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중환자병상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18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병상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당시 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일반병상가동율은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평균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40~60%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정도였음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sz="16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buAutoNum type="arabicPeriod" startAt="2"/>
            </a:pP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부산시는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2020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11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24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일부터 일일 </a:t>
            </a:r>
            <a:r>
              <a:rPr lang="ko-KR" altLang="en-US" sz="16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확진자수가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두자릿수로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증가하여 지속되기 시작하여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11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29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병상부족발생</a:t>
            </a:r>
            <a:endParaRPr lang="en-US" altLang="ko-KR" sz="1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87762" y="3479"/>
            <a:ext cx="581396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일일확진자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두자릿수로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증가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3042" y="-13193"/>
            <a:ext cx="4614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15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10538" y="2293017"/>
            <a:ext cx="4607291" cy="3303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049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31177" y="800073"/>
            <a:ext cx="3864702" cy="45491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6305605" y="468477"/>
            <a:ext cx="4020780" cy="1671522"/>
            <a:chOff x="4263528" y="5144756"/>
            <a:chExt cx="3266139" cy="1671522"/>
          </a:xfrm>
        </p:grpSpPr>
        <p:pic>
          <p:nvPicPr>
            <p:cNvPr id="7171" name="Picture 3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263529" y="5144756"/>
              <a:ext cx="3266138" cy="16715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11" name="직사각형 10"/>
            <p:cNvSpPr/>
            <p:nvPr/>
          </p:nvSpPr>
          <p:spPr>
            <a:xfrm>
              <a:off x="4263528" y="5596932"/>
              <a:ext cx="3266139" cy="12193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6341068" y="2269637"/>
            <a:ext cx="4020779" cy="4421065"/>
            <a:chOff x="7651262" y="470515"/>
            <a:chExt cx="3592739" cy="4421065"/>
          </a:xfrm>
        </p:grpSpPr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1262" y="470515"/>
              <a:ext cx="3592739" cy="44210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grpSp>
          <p:nvGrpSpPr>
            <p:cNvPr id="4" name="그룹 3"/>
            <p:cNvGrpSpPr/>
            <p:nvPr/>
          </p:nvGrpSpPr>
          <p:grpSpPr>
            <a:xfrm>
              <a:off x="7682949" y="472553"/>
              <a:ext cx="3561052" cy="4419026"/>
              <a:chOff x="7561354" y="470515"/>
              <a:chExt cx="3561052" cy="4419026"/>
            </a:xfrm>
          </p:grpSpPr>
          <p:sp>
            <p:nvSpPr>
              <p:cNvPr id="13" name="직사각형 12"/>
              <p:cNvSpPr/>
              <p:nvPr/>
            </p:nvSpPr>
            <p:spPr>
              <a:xfrm>
                <a:off x="7593042" y="470515"/>
                <a:ext cx="3529364" cy="220849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7561354" y="3895954"/>
                <a:ext cx="3529364" cy="99358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3361732" y="11339"/>
            <a:ext cx="634497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병상부족 및 역학조사 한계 기사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3042" y="-13193"/>
            <a:ext cx="4614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15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1042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AutoShape 4" descr="부산 지역 코로나19 환자 20명은 치료를 위해 지난 11월 30일 계명대 대구동산병원 격리병동에 입원했다(사진제공: 대구동산병원). 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323" y="1038547"/>
            <a:ext cx="5736973" cy="47887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201370" y="977001"/>
            <a:ext cx="6059953" cy="4788799"/>
            <a:chOff x="201370" y="977001"/>
            <a:chExt cx="6059953" cy="4788799"/>
          </a:xfrm>
        </p:grpSpPr>
        <p:grpSp>
          <p:nvGrpSpPr>
            <p:cNvPr id="12" name="그룹 11"/>
            <p:cNvGrpSpPr/>
            <p:nvPr/>
          </p:nvGrpSpPr>
          <p:grpSpPr>
            <a:xfrm>
              <a:off x="201370" y="977001"/>
              <a:ext cx="5157608" cy="4788799"/>
              <a:chOff x="473075" y="2333000"/>
              <a:chExt cx="5157608" cy="4059254"/>
            </a:xfrm>
          </p:grpSpPr>
          <p:pic>
            <p:nvPicPr>
              <p:cNvPr id="29698" name="Picture 2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3075" y="2333000"/>
                <a:ext cx="5157608" cy="405925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" name="직사각형 15"/>
              <p:cNvSpPr/>
              <p:nvPr/>
            </p:nvSpPr>
            <p:spPr>
              <a:xfrm>
                <a:off x="539263" y="5486400"/>
                <a:ext cx="5091420" cy="90585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오른쪽 화살표 12"/>
            <p:cNvSpPr/>
            <p:nvPr/>
          </p:nvSpPr>
          <p:spPr>
            <a:xfrm rot="10800000">
              <a:off x="5386629" y="2743406"/>
              <a:ext cx="874694" cy="965675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634152" y="248417"/>
            <a:ext cx="586154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확진자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타시도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단체이송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3042" y="-13193"/>
            <a:ext cx="4614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16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767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20</a:t>
            </a:fld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1909254" y="28545"/>
            <a:ext cx="884248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의료대응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검사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코로나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초반부터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오미크론까지의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임시선별검사소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3041" y="-13193"/>
            <a:ext cx="549372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17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3" name="사각형 설명선 12"/>
          <p:cNvSpPr/>
          <p:nvPr/>
        </p:nvSpPr>
        <p:spPr>
          <a:xfrm>
            <a:off x="811823" y="2690448"/>
            <a:ext cx="10568354" cy="3666390"/>
          </a:xfrm>
          <a:prstGeom prst="wedgeRectCallout">
            <a:avLst>
              <a:gd name="adj1" fmla="val 11786"/>
              <a:gd name="adj2" fmla="val -54118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1"/>
            <a:r>
              <a:rPr lang="ko-KR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시민건강</a:t>
            </a:r>
            <a:r>
              <a:rPr lang="en-US" altLang="ko-KR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안전 무한책임 대응</a:t>
            </a:r>
            <a:endParaRPr lang="ko-KR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R="172720" algn="just" fontAlgn="base" latinLnBrk="1"/>
            <a:r>
              <a:rPr lang="en-US" altLang="ko-KR" sz="1400" kern="0" spc="-5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kern="0" spc="-5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추진배경</a:t>
            </a:r>
            <a:r>
              <a:rPr lang="en-US" altLang="ko-KR" sz="1400" kern="0" spc="-5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  <a:endParaRPr lang="ko-KR" altLang="en-US" sz="1400" kern="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R="172720" algn="just" fontAlgn="base" latinLnBrk="1"/>
            <a:r>
              <a:rPr lang="ko-KR" altLang="en-US" sz="1400" kern="0" spc="-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ㅇ</a:t>
            </a:r>
            <a:r>
              <a:rPr lang="ko-KR" altLang="en-US" sz="1400" kern="0" spc="-11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무증상 또는 경증 감염원을 조기에 선제적으로 발견하여 감염원 차단</a:t>
            </a:r>
            <a:endParaRPr lang="ko-KR" altLang="en-US" sz="1400" kern="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R="172720" algn="just" fontAlgn="base" latinLnBrk="1"/>
            <a:r>
              <a:rPr lang="ko-KR" altLang="en-US" sz="1400" kern="0" spc="-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ㅇ</a:t>
            </a:r>
            <a:r>
              <a:rPr lang="ko-KR" altLang="en-US" sz="1400" kern="0" spc="-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kern="0" spc="-2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오미크론</a:t>
            </a:r>
            <a:r>
              <a:rPr lang="ko-KR" altLang="en-US" sz="1400" kern="0" spc="-2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확산 후 정부 방역체계개편에 따라 </a:t>
            </a:r>
            <a:r>
              <a:rPr lang="ko-KR" altLang="en-US" sz="1400" b="1" kern="0" spc="-7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부산형</a:t>
            </a:r>
            <a:r>
              <a:rPr lang="ko-KR" altLang="en-US" sz="1400" b="1" kern="0" spc="-7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방역체계</a:t>
            </a:r>
            <a:r>
              <a:rPr lang="ko-KR" altLang="en-US" sz="1400" b="1" kern="0" spc="-8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구축을 위한</a:t>
            </a:r>
            <a:r>
              <a:rPr lang="ko-KR" altLang="en-US" sz="1400" b="1" kern="0" spc="-13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b="1" kern="0" spc="-11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임시선별검사소 </a:t>
            </a:r>
            <a:endParaRPr lang="en-US" altLang="ko-KR" sz="1400" b="1" kern="0" spc="-11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R="172720" algn="just" fontAlgn="base" latinLnBrk="1"/>
            <a:r>
              <a:rPr lang="ko-KR" altLang="en-US" sz="1400" kern="0" spc="-2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ㅇ</a:t>
            </a:r>
            <a:r>
              <a:rPr lang="ko-KR" altLang="en-US" sz="1400" kern="0" spc="-7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운영기간</a:t>
            </a:r>
            <a:r>
              <a:rPr lang="en-US" altLang="ko-KR" sz="1400" kern="0" spc="-7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</a:t>
            </a:r>
            <a:r>
              <a:rPr lang="ko-KR" altLang="en-US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′20.12.19.(</a:t>
            </a:r>
            <a:r>
              <a:rPr lang="ko-KR" altLang="en-US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토</a:t>
            </a:r>
            <a:r>
              <a:rPr lang="en-US" altLang="ko-KR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~ ′23. .5. 31.(</a:t>
            </a:r>
            <a:r>
              <a:rPr lang="ko-KR" altLang="en-US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</a:t>
            </a:r>
            <a:r>
              <a:rPr lang="en-US" altLang="ko-KR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► 평일</a:t>
            </a:r>
            <a:r>
              <a:rPr lang="en-US" altLang="ko-KR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주말</a:t>
            </a:r>
            <a:r>
              <a:rPr lang="en-US" altLang="ko-KR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400" kern="0" spc="-14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공휴일 운영</a:t>
            </a:r>
            <a:endParaRPr lang="en-US" altLang="ko-KR" sz="1400" kern="0" spc="-14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R="172720" algn="just" fontAlgn="base" latinLnBrk="1"/>
            <a:endParaRPr lang="en-US" altLang="ko-KR" sz="1400" kern="0" spc="-14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ㅇ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운영성과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‘해외입국자 대응 ‘부산역 선별진료소</a:t>
            </a:r>
            <a:r>
              <a:rPr lang="en-US" altLang="ko-KR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(1)</a:t>
            </a:r>
            <a:r>
              <a:rPr lang="ko-KR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’ 선제적 운영 </a:t>
            </a:r>
            <a:r>
              <a:rPr lang="en-US" altLang="ko-KR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’20.4-23.2</a:t>
            </a:r>
          </a:p>
          <a:p>
            <a:pPr marR="172720" algn="just" fontAlgn="base" latinLnBrk="1"/>
            <a:r>
              <a:rPr lang="en-US" altLang="ko-KR" sz="1400" kern="0" spc="-11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사회적거리두기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단계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수도권중심의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임시선별검사소운영상황속에서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kern="0" spc="-11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비수도권</a:t>
            </a:r>
            <a:r>
              <a:rPr lang="ko-KR" altLang="en-US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최초 시비</a:t>
            </a:r>
            <a:r>
              <a:rPr lang="en-US" altLang="ko-KR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100%(111</a:t>
            </a:r>
            <a:r>
              <a:rPr lang="ko-KR" altLang="en-US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억</a:t>
            </a:r>
            <a:r>
              <a:rPr lang="en-US" altLang="ko-KR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 </a:t>
            </a:r>
            <a:r>
              <a:rPr lang="en-US" altLang="ko-KR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구</a:t>
            </a:r>
            <a:r>
              <a:rPr lang="en-US" altLang="ko-KR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군 임시선별검사소</a:t>
            </a:r>
            <a:r>
              <a:rPr lang="en-US" altLang="ko-KR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(2)’</a:t>
            </a:r>
            <a:r>
              <a:rPr lang="ko-KR" altLang="en-US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15</a:t>
            </a:r>
            <a:r>
              <a:rPr lang="ko-KR" altLang="en-US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 설치운영 </a:t>
            </a:r>
            <a:r>
              <a:rPr lang="en-US" altLang="ko-KR" sz="1600" b="1" kern="0" spc="-1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en-US" altLang="ko-KR" sz="1400" kern="0" spc="-11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2020.11 ~ 2021.3  </a:t>
            </a:r>
            <a:endParaRPr lang="en-US" altLang="ko-KR" sz="1400" kern="0" spc="-2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부산형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선제적 검사체계 구축 및 보건소업무 과부화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방지위해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시직영</a:t>
            </a:r>
            <a:r>
              <a:rPr lang="ko-KR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임시선별검사소</a:t>
            </a:r>
            <a:r>
              <a:rPr lang="en-US" altLang="ko-KR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(3)’</a:t>
            </a:r>
            <a:r>
              <a:rPr lang="ko-KR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10</a:t>
            </a:r>
            <a:r>
              <a:rPr lang="ko-KR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 운영</a:t>
            </a:r>
            <a:r>
              <a:rPr lang="en-US" altLang="ko-KR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21.4~23.5.31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4.  </a:t>
            </a:r>
            <a:r>
              <a:rPr lang="ko-KR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찾아가는 이동형 임시선별검사소</a:t>
            </a:r>
            <a:r>
              <a:rPr lang="en-US" altLang="ko-KR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(4</a:t>
            </a:r>
            <a:r>
              <a:rPr lang="en-US" altLang="ko-KR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’ </a:t>
            </a:r>
            <a:r>
              <a:rPr lang="en-US" altLang="ko-KR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126</a:t>
            </a:r>
            <a:r>
              <a:rPr lang="ko-KR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 운영으로 </a:t>
            </a:r>
            <a:r>
              <a:rPr lang="ko-KR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고위험군 맞춤형 선제적 검사체계 유지 성과</a:t>
            </a:r>
            <a:endParaRPr lang="en-US" altLang="ko-KR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모바일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선별진료소 혼잡도 알림 서비스로 장시간 대기 시민불편 최소화</a:t>
            </a:r>
            <a:endParaRPr lang="en-US" altLang="ko-KR" sz="16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6. </a:t>
            </a:r>
            <a:r>
              <a:rPr lang="ko-KR" altLang="en-US" sz="1400" kern="0" spc="-11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오미크론이후</a:t>
            </a:r>
            <a:r>
              <a:rPr lang="ko-KR" altLang="en-US" sz="1400" kern="0" spc="-11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빠른 전파력으로 </a:t>
            </a:r>
            <a:r>
              <a:rPr lang="en-US" altLang="ko-KR" sz="1400" kern="0" spc="-11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PCR </a:t>
            </a:r>
            <a:r>
              <a:rPr lang="ko-KR" altLang="en-US" sz="1400" kern="0" spc="-11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우선순위 </a:t>
            </a:r>
            <a:r>
              <a:rPr lang="ko-KR" altLang="en-US" sz="1400" kern="0" spc="-11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미해당자</a:t>
            </a:r>
            <a:r>
              <a:rPr lang="ko-KR" altLang="en-US" sz="1400" kern="0" spc="-11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진단키트 수용급증으로 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자가진단키트 확보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1300000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(43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억원</a:t>
            </a:r>
            <a:r>
              <a:rPr lang="en-US" altLang="ko-KR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217" name="_x643746656" descr="DRW0000073869ef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20" y="457200"/>
            <a:ext cx="10474759" cy="211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163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21</a:t>
            </a:fld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2523845" y="-13193"/>
            <a:ext cx="714431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고정형 임시선별검사소 사진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시군구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15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개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+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시직영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개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3042" y="-13193"/>
            <a:ext cx="637295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18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69" name="_x635187824" descr="EMB0000073869c4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62881" y="457200"/>
            <a:ext cx="5407201" cy="286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933209" y="3321961"/>
            <a:ext cx="91076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부산시청 등대광장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(21.4.15-23.5.31)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71" name="_x393898488" descr="EMB0000073869c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816" y="3780692"/>
            <a:ext cx="4352192" cy="232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/>
          <p:cNvSpPr/>
          <p:nvPr/>
        </p:nvSpPr>
        <p:spPr>
          <a:xfrm>
            <a:off x="7416340" y="6120874"/>
            <a:ext cx="2900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송상현광장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(21.12.23-22.5.15)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75" name="_x395835800" descr="EMB0000073869e5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92" y="3780692"/>
            <a:ext cx="4011654" cy="232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직사각형 16"/>
          <p:cNvSpPr/>
          <p:nvPr/>
        </p:nvSpPr>
        <p:spPr>
          <a:xfrm>
            <a:off x="2132260" y="6104762"/>
            <a:ext cx="24128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부산역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(21.4.8 – 23.2.19)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8159262" y="1199908"/>
            <a:ext cx="4032737" cy="1631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컨테이너 주문제작 대여</a:t>
            </a:r>
            <a:endParaRPr lang="en-US" altLang="ko-K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폭염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한파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태풍대비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이동형 에어컨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난방기구 안에 구비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fontAlgn="base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감염관리 및 환기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여닫이 문 설치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3637503" y="403590"/>
            <a:ext cx="3898761" cy="30028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71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AEE523A0-1992-604D-8A8B-A1DF82394F2D}" type="slidenum">
              <a:rPr lang="en-US" smtClean="0"/>
              <a:pPr algn="ctr"/>
              <a:t>22</a:t>
            </a:fld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3235637" y="3479"/>
            <a:ext cx="540720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이동형 임시선별검사소 사진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(126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개소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3042" y="-13193"/>
            <a:ext cx="522995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3" name="_x638724312" descr="EMB0000073869cd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24" y="3429727"/>
            <a:ext cx="4056143" cy="2565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1183815" y="6016726"/>
            <a:ext cx="28905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 공동어시장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(21.7.6-7.12)</a:t>
            </a:r>
            <a:r>
              <a: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5" name="_x635188688" descr="EMB0000073869cf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161" y="552348"/>
            <a:ext cx="4544082" cy="246341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7" name="_x635187608" descr="EMB0000073869d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567" y="3429727"/>
            <a:ext cx="3587055" cy="2565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9" name="_x635188616" descr="EMB0000073869dd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243" y="568415"/>
            <a:ext cx="4739054" cy="244734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/>
          <p:cNvSpPr/>
          <p:nvPr/>
        </p:nvSpPr>
        <p:spPr>
          <a:xfrm>
            <a:off x="6397913" y="3004682"/>
            <a:ext cx="37337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외국인 근로자 </a:t>
            </a:r>
            <a:r>
              <a:rPr lang="ko-KR" alt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밀집산업장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(21.3.4-3.26)</a:t>
            </a:r>
            <a:endParaRPr lang="ko-KR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629082" y="3062510"/>
            <a:ext cx="20681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택시운수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(21.2.1-2.8)</a:t>
            </a:r>
            <a:endParaRPr lang="ko-KR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73924" y="6013507"/>
            <a:ext cx="2044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BIFF(21.10.7-10.13)</a:t>
            </a:r>
            <a:endParaRPr lang="ko-KR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201" name="_x635188400" descr="EMB0000073869e4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623" y="3429727"/>
            <a:ext cx="4000500" cy="2565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직사각형 25"/>
          <p:cNvSpPr/>
          <p:nvPr/>
        </p:nvSpPr>
        <p:spPr>
          <a:xfrm>
            <a:off x="7785812" y="5980727"/>
            <a:ext cx="43781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부산시청검사소 신속항원검사부스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(22. 2. 23~)</a:t>
            </a:r>
            <a:endParaRPr lang="ko-KR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34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577591" y="90091"/>
            <a:ext cx="948564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2020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년말부터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2021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사이의 집단발생에 따른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자체 조사 양식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지원단 제작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8" y="806724"/>
            <a:ext cx="7200900" cy="4616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-13042" y="-13193"/>
            <a:ext cx="4614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781745"/>
              </p:ext>
            </p:extLst>
          </p:nvPr>
        </p:nvGraphicFramePr>
        <p:xfrm>
          <a:off x="7286699" y="657255"/>
          <a:ext cx="4794960" cy="5995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8" name="워크시트" r:id="rId5" imgW="17716482" imgH="25228598" progId="Excel.Sheet.12">
                  <p:embed/>
                </p:oleObj>
              </mc:Choice>
              <mc:Fallback>
                <p:oleObj name="워크시트" r:id="rId5" imgW="17716482" imgH="25228598" progId="Excel.Sheet.12">
                  <p:embed/>
                  <p:pic>
                    <p:nvPicPr>
                      <p:cNvPr id="0" name="개체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99" y="657255"/>
                        <a:ext cx="4794960" cy="599559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500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723052" y="57090"/>
            <a:ext cx="735916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2020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년말부터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2023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년까지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코로나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자원관리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이송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및 물품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986213" y="1752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사각형 설명선 23"/>
          <p:cNvSpPr/>
          <p:nvPr/>
        </p:nvSpPr>
        <p:spPr>
          <a:xfrm>
            <a:off x="448408" y="3376245"/>
            <a:ext cx="11530620" cy="1295911"/>
          </a:xfrm>
          <a:prstGeom prst="wedgeRectCallout">
            <a:avLst>
              <a:gd name="adj1" fmla="val -33875"/>
              <a:gd name="adj2" fmla="val -59448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 latinLnBrk="1"/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부산형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코로나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재택치료 이송차량 임차 용역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비응급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이송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목적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안정적인 재택치료 관리를 위해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비응급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이송 수단을 조기 확보하여 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군 보건소 및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119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이송 부담을 경감하기 위함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(※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市 직접 운영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확보현황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재택치료자 이송전담 방역택시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방역수송차량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렌트카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20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여대 운영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사업기간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2021.12.23 ~ 2022.12.31(21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특교세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,22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재난관리기금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fontAlgn="base" latinLnBrk="1"/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4)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이송실적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2583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 이송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전원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1973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투석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외래등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610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</p:txBody>
      </p:sp>
      <p:sp>
        <p:nvSpPr>
          <p:cNvPr id="25" name="사각형 설명선 24"/>
          <p:cNvSpPr/>
          <p:nvPr/>
        </p:nvSpPr>
        <p:spPr>
          <a:xfrm>
            <a:off x="448407" y="4752544"/>
            <a:ext cx="11530620" cy="1973384"/>
          </a:xfrm>
          <a:prstGeom prst="wedgeRectCallout">
            <a:avLst>
              <a:gd name="adj1" fmla="val -33410"/>
              <a:gd name="adj2" fmla="val -5393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4.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부산형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코로나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긴급대응 건강관리세트 지원 포장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․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배송 용역</a:t>
            </a: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목적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2022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오미크론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확잔시기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방역체계 개편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재택치료자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일반관리군에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대한 건강관리세트 지급중단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으로 치료 사각지대에 놓인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 취약계층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재택치료자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대한 지원방안 필요</a:t>
            </a: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지원실적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성인용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90000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세트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소아용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10000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세트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재난관리기금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               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취약계층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62894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 지원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보건소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소아등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37106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 긴급지원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지원기간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2022.2.25 ~ 2023.5.31</a:t>
            </a:r>
            <a:endParaRPr lang="en-US" altLang="ko-KR" sz="14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지원대상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12-59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세 취약계층 및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60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세이상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고령자중 신청자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배송기간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검체채취일로부터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평균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2.5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일이내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수령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6" name="사각형 설명선 25"/>
          <p:cNvSpPr/>
          <p:nvPr/>
        </p:nvSpPr>
        <p:spPr>
          <a:xfrm>
            <a:off x="4870937" y="1872900"/>
            <a:ext cx="7108089" cy="1288887"/>
          </a:xfrm>
          <a:prstGeom prst="wedgeRectCallout">
            <a:avLst>
              <a:gd name="adj1" fmla="val -52169"/>
              <a:gd name="adj2" fmla="val 14342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부산형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코로나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중환자를 위한 중증치료장비 지원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목적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코로나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위중증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환자 증가로 인한 병원장 회의 결과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중환자병상 장비 구입비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시재원으로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지원 결정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시장님 지시사항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(2022. 3. 22.)</a:t>
            </a:r>
            <a:endParaRPr lang="ko-KR" altLang="en-US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의료장비 등 지원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시비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재해구호기금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금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969,000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금구억육천구백만원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</a:p>
          <a:p>
            <a:pPr fontAlgn="base" latinLnBrk="1"/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부산대병원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등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16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 병원의 중환자병상 장비 구입비 지원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3042" y="-13193"/>
            <a:ext cx="4614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21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5" name="사각형 설명선 14"/>
          <p:cNvSpPr/>
          <p:nvPr/>
        </p:nvSpPr>
        <p:spPr>
          <a:xfrm>
            <a:off x="4791808" y="594247"/>
            <a:ext cx="7187218" cy="1093503"/>
          </a:xfrm>
          <a:prstGeom prst="wedgeRectCallout">
            <a:avLst>
              <a:gd name="adj1" fmla="val -52699"/>
              <a:gd name="adj2" fmla="val 10493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부산형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감염병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대응물품등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방역창고 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소재지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강서구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대저중앙로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최초계약일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2020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12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월임대료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286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예산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특교세와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재해구호기금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0675" y="513488"/>
            <a:ext cx="4448910" cy="2718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6819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565687" y="17584"/>
            <a:ext cx="730427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중환자 병상사용환자의 치료내용</a:t>
            </a:r>
          </a:p>
        </p:txBody>
      </p:sp>
      <p:sp>
        <p:nvSpPr>
          <p:cNvPr id="22" name="사각형 설명선 21"/>
          <p:cNvSpPr/>
          <p:nvPr/>
        </p:nvSpPr>
        <p:spPr>
          <a:xfrm>
            <a:off x="129627" y="4374201"/>
            <a:ext cx="6649241" cy="2336065"/>
          </a:xfrm>
          <a:prstGeom prst="wedgeRectCallout">
            <a:avLst>
              <a:gd name="adj1" fmla="val 52749"/>
              <a:gd name="adj2" fmla="val 14644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 marL="342900" indent="-342900">
              <a:buAutoNum type="arabicPeriod"/>
            </a:pP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격리치료병상중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중환자 병상 관리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중환자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병상가동율이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20.10.19 60%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 도달함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이에 입실해있는 환자에 대한 치료현황 확인결과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중증장비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en-US" altLang="ko-KR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opti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/vent/</a:t>
            </a:r>
            <a:r>
              <a:rPr lang="en-US" altLang="ko-KR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crrt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en-US" altLang="ko-KR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ecmo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를 사용하고 있는 환자가 전체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27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명중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13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약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50%)!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600" b="1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추후 산소치료대상자는 중환자실에 입실 못하도록 자체 기준강화</a:t>
            </a:r>
            <a:r>
              <a:rPr lang="en-US" altLang="ko-KR" sz="1600" b="1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!!</a:t>
            </a: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의료기관용 대응지침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산소치료환자는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렘데시비르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덱사메타손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회복기혈청등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치료안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마련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현장에서 적용하기 이른 전원알고리즘 소개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025054" y="631503"/>
            <a:ext cx="4791197" cy="6120987"/>
            <a:chOff x="7025054" y="631503"/>
            <a:chExt cx="4791197" cy="6120987"/>
          </a:xfrm>
        </p:grpSpPr>
        <p:pic>
          <p:nvPicPr>
            <p:cNvPr id="6150" name="Picture 6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0134" y="631503"/>
              <a:ext cx="2736117" cy="28576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51" name="Picture 7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5054" y="3493354"/>
              <a:ext cx="4791197" cy="3259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그룹 2"/>
          <p:cNvGrpSpPr/>
          <p:nvPr/>
        </p:nvGrpSpPr>
        <p:grpSpPr>
          <a:xfrm>
            <a:off x="164797" y="631503"/>
            <a:ext cx="8715435" cy="3672362"/>
            <a:chOff x="164797" y="631503"/>
            <a:chExt cx="8715435" cy="3672362"/>
          </a:xfrm>
        </p:grpSpPr>
        <p:pic>
          <p:nvPicPr>
            <p:cNvPr id="6149" name="Picture 5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797" y="631503"/>
              <a:ext cx="3359942" cy="36723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52" name="Picture 8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5412" y="631503"/>
              <a:ext cx="5324820" cy="278870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TextBox 10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22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484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922763" y="64755"/>
            <a:ext cx="526143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생활치료센터 개소</a:t>
            </a:r>
          </a:p>
        </p:txBody>
      </p:sp>
      <p:sp>
        <p:nvSpPr>
          <p:cNvPr id="13" name="내용 개체 틀 1">
            <a:extLst>
              <a:ext uri="{FF2B5EF4-FFF2-40B4-BE49-F238E27FC236}">
                <a16:creationId xmlns:a16="http://schemas.microsoft.com/office/drawing/2014/main" id="{98764664-07EC-4340-8DB2-A6B28AEF8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623" y="613628"/>
            <a:ext cx="7306408" cy="3246195"/>
          </a:xfr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효율적인 전원의 이유는 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적절한 치료를 적시에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받기 위함이며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의료자원의 효율적 이용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및 행정력 낭비의 방지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환자 전원시 시간과 수고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위해서이다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그러므로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생치에서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병원으로의 전원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요인중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불가피한 요인에 해당되는 환자들은 신속히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전원하되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조절가능한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요인들은 최대한 줄이기 위한 노력을 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해야 한다</a:t>
            </a:r>
            <a:endParaRPr lang="en-US" altLang="ko-KR" sz="1600" b="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X-RAY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는 조금 </a:t>
            </a:r>
            <a:r>
              <a:rPr lang="ko-KR" altLang="en-US" sz="1600" b="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나빠졋는데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환자 컨디션은 괜찮으면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?-&gt; 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환자의 컨디션이 괜찮으면 다시 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X-RAY </a:t>
            </a:r>
            <a:r>
              <a:rPr lang="ko-KR" altLang="en-US" sz="1600" b="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재촬영해서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이전 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X-RAY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보다 악화 여부 확인</a:t>
            </a:r>
            <a:endParaRPr lang="en-US" altLang="ko-KR" sz="1600" b="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신체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정신적 요인들 대처방안</a:t>
            </a:r>
            <a:endParaRPr lang="en-US" altLang="ko-KR" sz="16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1) 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고혈압 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수축기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혈압이 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180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이상 나오거나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두통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어지럼증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오심 구토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600" b="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흉통이</a:t>
            </a:r>
            <a:r>
              <a:rPr lang="ko-KR" altLang="en-US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있을 경우 전원</a:t>
            </a:r>
            <a:endParaRPr lang="en-US" altLang="ko-KR" sz="1600" b="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2) 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흡연자 금단 증상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통제되지 않는 난폭한 행동 유발가능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니코틴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패취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원하는 환자에게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개씩 지급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보건소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en-US" altLang="ko-KR" sz="1600" b="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02832" y="3725918"/>
            <a:ext cx="11660190" cy="2910973"/>
            <a:chOff x="202832" y="3725918"/>
            <a:chExt cx="11660190" cy="2910973"/>
          </a:xfrm>
        </p:grpSpPr>
        <p:sp>
          <p:nvSpPr>
            <p:cNvPr id="12" name="사각형 설명선 11"/>
            <p:cNvSpPr/>
            <p:nvPr/>
          </p:nvSpPr>
          <p:spPr>
            <a:xfrm>
              <a:off x="202832" y="3725918"/>
              <a:ext cx="4202113" cy="2841935"/>
            </a:xfrm>
            <a:prstGeom prst="wedgeRectCallout">
              <a:avLst>
                <a:gd name="adj1" fmla="val -9149"/>
                <a:gd name="adj2" fmla="val -55469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&lt;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의료대응</a:t>
              </a: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&gt;</a:t>
              </a:r>
            </a:p>
            <a:p>
              <a:pPr marL="342900" indent="-342900">
                <a:buAutoNum type="arabicPeriod"/>
              </a:pPr>
              <a:r>
                <a:rPr lang="ko-KR" altLang="en-US" sz="1600" b="1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격리병상중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경증 환자를 위한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생치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연이어 마련</a:t>
              </a: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: 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생활치료센터 </a:t>
              </a:r>
              <a:r>
                <a:rPr lang="ko-KR" altLang="en-US" sz="1400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개소위한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준비는 빠르면 </a:t>
              </a: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7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일만에도 개소가 </a:t>
              </a:r>
              <a:r>
                <a:rPr lang="ko-KR" altLang="en-US" sz="1400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가능할정도로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신속히 진행이 되었음</a:t>
              </a: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pPr marL="342900" indent="-342900">
                <a:buAutoNum type="arabicPeriod"/>
              </a:pPr>
              <a:r>
                <a:rPr lang="ko-KR" altLang="en-US" sz="1400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생치마다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담당하는 대학병원이 달랐으며</a:t>
              </a: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, 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초반에 해당 병원에서 자체적으로 마련한 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경증환자에 대한 지침이나 업무분장이 있었으나</a:t>
              </a:r>
              <a:r>
                <a:rPr lang="en-US" altLang="ko-KR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, 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서로 공유되진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못한점이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있었음</a:t>
              </a:r>
              <a:r>
                <a:rPr lang="en-US" altLang="ko-KR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pPr marL="342900" indent="-342900">
                <a:buAutoNum type="arabicPeriod"/>
              </a:pP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추후 </a:t>
              </a:r>
              <a:r>
                <a:rPr lang="en-US" altLang="ko-KR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2021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년 </a:t>
              </a:r>
              <a:r>
                <a:rPr lang="en-US" altLang="ko-KR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8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월에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생치관련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경험에 대한 강의가 진행됨</a:t>
              </a:r>
              <a:r>
                <a:rPr lang="en-US" altLang="ko-KR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.(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오른쪽</a:t>
              </a:r>
              <a:r>
                <a:rPr lang="en-US" altLang="ko-KR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)            </a:t>
              </a:r>
            </a:p>
          </p:txBody>
        </p:sp>
        <p:graphicFrame>
          <p:nvGraphicFramePr>
            <p:cNvPr id="14" name="표 4">
              <a:extLst>
                <a:ext uri="{FF2B5EF4-FFF2-40B4-BE49-F238E27FC236}">
                  <a16:creationId xmlns:a16="http://schemas.microsoft.com/office/drawing/2014/main" id="{B1C63396-2B29-427D-826F-45C010D7C6E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98149392"/>
                </p:ext>
              </p:extLst>
            </p:nvPr>
          </p:nvGraphicFramePr>
          <p:xfrm>
            <a:off x="4586898" y="3911113"/>
            <a:ext cx="7276124" cy="15240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915139">
                    <a:extLst>
                      <a:ext uri="{9D8B030D-6E8A-4147-A177-3AD203B41FA5}">
                        <a16:colId xmlns:a16="http://schemas.microsoft.com/office/drawing/2014/main" val="2536240717"/>
                      </a:ext>
                    </a:extLst>
                  </a:gridCol>
                  <a:gridCol w="687754">
                    <a:extLst>
                      <a:ext uri="{9D8B030D-6E8A-4147-A177-3AD203B41FA5}">
                        <a16:colId xmlns:a16="http://schemas.microsoft.com/office/drawing/2014/main" val="1386823651"/>
                      </a:ext>
                    </a:extLst>
                  </a:gridCol>
                  <a:gridCol w="3673231">
                    <a:extLst>
                      <a:ext uri="{9D8B030D-6E8A-4147-A177-3AD203B41FA5}">
                        <a16:colId xmlns:a16="http://schemas.microsoft.com/office/drawing/2014/main" val="641615564"/>
                      </a:ext>
                    </a:extLst>
                  </a:gridCol>
                </a:tblGrid>
                <a:tr h="283991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="1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불가피한 요인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빈도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예시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425612554"/>
                    </a:ext>
                  </a:extLst>
                </a:tr>
                <a:tr h="233417">
                  <a:tc>
                    <a:txBody>
                      <a:bodyPr/>
                      <a:lstStyle/>
                      <a:p>
                        <a:pPr latinLnBrk="1"/>
                        <a:r>
                          <a:rPr lang="en-US" altLang="ko-KR" sz="1400" b="1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COVID-19 </a:t>
                        </a:r>
                        <a:r>
                          <a:rPr lang="ko-KR" altLang="en-US" sz="1400" b="1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중증도 진행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보통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산소포화도 저하</a:t>
                        </a:r>
                        <a:r>
                          <a:rPr lang="en-US" altLang="ko-KR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,</a:t>
                        </a:r>
                        <a:r>
                          <a:rPr lang="en-US" altLang="ko-KR" sz="1200" b="0" baseline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 </a:t>
                        </a:r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호흡곤란 진행</a:t>
                        </a:r>
                        <a:r>
                          <a:rPr lang="en-US" altLang="ko-KR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,</a:t>
                        </a:r>
                        <a:r>
                          <a:rPr lang="en-US" altLang="ko-KR" sz="1200" b="0" baseline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 </a:t>
                        </a:r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흉부 사진 지속적 악화 추세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509675362"/>
                    </a:ext>
                  </a:extLst>
                </a:tr>
                <a:tr h="233417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="1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신체 증상 악화</a:t>
                        </a:r>
                        <a:r>
                          <a:rPr lang="en-US" altLang="ko-KR" sz="1400" b="1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(</a:t>
                        </a:r>
                        <a:r>
                          <a:rPr lang="ko-KR" altLang="en-US" sz="1400" b="1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비치약으로 조절 </a:t>
                        </a:r>
                        <a:r>
                          <a:rPr lang="en-US" altLang="ko-KR" sz="1400" b="1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X)</a:t>
                        </a:r>
                        <a:endParaRPr lang="ko-KR" altLang="en-US" sz="14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endParaRP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흔함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기력저하</a:t>
                        </a:r>
                        <a:r>
                          <a:rPr lang="en-US" altLang="ko-KR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, </a:t>
                        </a:r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식사량 감소</a:t>
                        </a:r>
                        <a:r>
                          <a:rPr lang="en-US" altLang="ko-KR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, </a:t>
                        </a:r>
                        <a:r>
                          <a:rPr lang="ko-KR" altLang="en-US" sz="1200" b="0" dirty="0" err="1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흉통</a:t>
                        </a:r>
                        <a:r>
                          <a:rPr lang="en-US" altLang="ko-KR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, </a:t>
                        </a:r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고혈압</a:t>
                        </a:r>
                        <a:r>
                          <a:rPr lang="en-US" altLang="ko-KR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, </a:t>
                        </a:r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두드러기 등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4139636577"/>
                    </a:ext>
                  </a:extLst>
                </a:tr>
                <a:tr h="283991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="1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정신 증상 악화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매우 드묾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 err="1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우울감</a:t>
                        </a:r>
                        <a:r>
                          <a:rPr lang="en-US" altLang="ko-KR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, </a:t>
                        </a:r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자살 사고</a:t>
                        </a:r>
                        <a:r>
                          <a:rPr lang="en-US" altLang="ko-KR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, </a:t>
                        </a:r>
                        <a:r>
                          <a:rPr lang="ko-KR" altLang="en-US" sz="1200" b="0" dirty="0"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난폭한 행동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81942722"/>
                    </a:ext>
                  </a:extLst>
                </a:tr>
              </a:tbl>
            </a:graphicData>
          </a:graphic>
        </p:graphicFrame>
        <p:graphicFrame>
          <p:nvGraphicFramePr>
            <p:cNvPr id="15" name="표 14">
              <a:extLst>
                <a:ext uri="{FF2B5EF4-FFF2-40B4-BE49-F238E27FC236}">
                  <a16:creationId xmlns:a16="http://schemas.microsoft.com/office/drawing/2014/main" id="{28D2EE5F-E3B7-42AD-9A1C-15A7BD80AC0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03198749"/>
                </p:ext>
              </p:extLst>
            </p:nvPr>
          </p:nvGraphicFramePr>
          <p:xfrm>
            <a:off x="4586898" y="5417691"/>
            <a:ext cx="7276123" cy="12192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581493">
                    <a:extLst>
                      <a:ext uri="{9D8B030D-6E8A-4147-A177-3AD203B41FA5}">
                        <a16:colId xmlns:a16="http://schemas.microsoft.com/office/drawing/2014/main" val="2536240717"/>
                      </a:ext>
                    </a:extLst>
                  </a:gridCol>
                  <a:gridCol w="1074632">
                    <a:extLst>
                      <a:ext uri="{9D8B030D-6E8A-4147-A177-3AD203B41FA5}">
                        <a16:colId xmlns:a16="http://schemas.microsoft.com/office/drawing/2014/main" val="1386823651"/>
                      </a:ext>
                    </a:extLst>
                  </a:gridCol>
                  <a:gridCol w="3619998">
                    <a:extLst>
                      <a:ext uri="{9D8B030D-6E8A-4147-A177-3AD203B41FA5}">
                        <a16:colId xmlns:a16="http://schemas.microsoft.com/office/drawing/2014/main" val="641615564"/>
                      </a:ext>
                    </a:extLst>
                  </a:gridCol>
                </a:tblGrid>
                <a:tr h="299262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="1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조절가능한 요인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빈도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예시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425612554"/>
                    </a:ext>
                  </a:extLst>
                </a:tr>
                <a:tr h="245969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="1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단순히 전원 원함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매우 흔함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막연한 불안감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509675362"/>
                    </a:ext>
                  </a:extLst>
                </a:tr>
                <a:tr h="245969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="1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고위험군 환자 입소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드묾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입소 후 문진 시 확인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4139636577"/>
                    </a:ext>
                  </a:extLst>
                </a:tr>
                <a:tr h="299262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="1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필수 </a:t>
                        </a:r>
                        <a:r>
                          <a:rPr lang="ko-KR" altLang="en-US" sz="1400" b="1" dirty="0" err="1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자가약</a:t>
                        </a:r>
                        <a:r>
                          <a:rPr lang="ko-KR" altLang="en-US" sz="1400" b="1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 </a:t>
                        </a:r>
                        <a:r>
                          <a:rPr lang="ko-KR" altLang="en-US" sz="1400" b="1" dirty="0" err="1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미지참</a:t>
                        </a:r>
                        <a:r>
                          <a:rPr lang="ko-KR" altLang="en-US" sz="1400" b="1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 또는 소진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매우 드묾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200" b="0" dirty="0">
                            <a:solidFill>
                              <a:schemeClr val="tx1"/>
                            </a:solidFill>
                            <a:latin typeface="함초롬돋움" panose="020B0604000101010101" pitchFamily="50" charset="-127"/>
                            <a:ea typeface="함초롬돋움" panose="020B0604000101010101" pitchFamily="50" charset="-127"/>
                            <a:cs typeface="함초롬돋움" panose="020B0604000101010101" pitchFamily="50" charset="-127"/>
                          </a:rPr>
                          <a:t>가족 모두 자가격리 중이라 약 보내줄 수 없음</a:t>
                        </a:r>
                      </a:p>
                    </a:txBody>
                    <a:tcPr marL="121920" marR="121920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81942722"/>
                    </a:ext>
                  </a:extLst>
                </a:tr>
              </a:tbl>
            </a:graphicData>
          </a:graphic>
        </p:graphicFrame>
      </p:grpSp>
      <p:sp>
        <p:nvSpPr>
          <p:cNvPr id="16" name="TextBox 15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23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70" y="640005"/>
            <a:ext cx="4206875" cy="28769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90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663950" y="1752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1pPr>
            <a:lvl2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8408" y="675382"/>
            <a:ext cx="1132449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2021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29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기준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부산항운노조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감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0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지부와 관련하여서 첫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25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확진자발생이후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35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명으로 늘어남에 따라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노조원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342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 중 동일작업반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같은 공간휴식 등 </a:t>
            </a:r>
            <a:r>
              <a:rPr lang="ko-KR" altLang="en-US" sz="16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밀접접촉자를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조사 및 분류하여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107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 자가격리 조치 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이행</a:t>
            </a:r>
            <a:endParaRPr lang="en-US" altLang="ko-KR" sz="16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600" b="1" u="sng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조합원 </a:t>
            </a:r>
            <a:r>
              <a:rPr lang="en-US" altLang="ko-KR" sz="1600" b="1" u="sng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600" b="1" u="sng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만명</a:t>
            </a:r>
            <a:r>
              <a:rPr lang="ko-KR" altLang="en-US" sz="1600" b="1" u="sng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자율 진단 검사 실시</a:t>
            </a:r>
            <a:endParaRPr lang="en-US" altLang="ko-KR" sz="1600" b="1" u="sng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67164" y="18607"/>
            <a:ext cx="559693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대규모 자율진단검사</a:t>
            </a:r>
          </a:p>
        </p:txBody>
      </p:sp>
      <p:sp>
        <p:nvSpPr>
          <p:cNvPr id="7" name="사각형 설명선 6"/>
          <p:cNvSpPr/>
          <p:nvPr/>
        </p:nvSpPr>
        <p:spPr>
          <a:xfrm>
            <a:off x="448408" y="2209800"/>
            <a:ext cx="4747844" cy="1993635"/>
          </a:xfrm>
          <a:prstGeom prst="wedgeRectCallout">
            <a:avLst>
              <a:gd name="adj1" fmla="val 53799"/>
              <a:gd name="adj2" fmla="val -1523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방역대응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1.(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확진환자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역학조사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해당 사업장의 특성상 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여러반에서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산발적으로 집단발생이 되고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공용공간도 있어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밀접접촉자는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같은 반이나 식사를 같이 한 사람으로 정하고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그외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일상접촉자에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대하여는 대규모 자율진단검사를 처음으로 시행 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3042" y="-13193"/>
            <a:ext cx="56570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24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95250" y="1838598"/>
            <a:ext cx="5518150" cy="4089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882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189288" y="1752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1pPr>
            <a:lvl2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 latinLnBrk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8" name="사각형 설명선 7"/>
          <p:cNvSpPr/>
          <p:nvPr/>
        </p:nvSpPr>
        <p:spPr>
          <a:xfrm>
            <a:off x="184638" y="738555"/>
            <a:ext cx="5530362" cy="2338754"/>
          </a:xfrm>
          <a:prstGeom prst="wedgeRectCallout">
            <a:avLst>
              <a:gd name="adj1" fmla="val 52786"/>
              <a:gd name="adj2" fmla="val 1791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&lt;2021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년의 부산시 코로나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예방접종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2021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예방접종 실적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전체시민대상으로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차는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283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만명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(84.4%), 2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271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만명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(80.9%), 3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118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만명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(35.3%)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2021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17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100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만명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인구대비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30%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 전국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특광역시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위 달성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2021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9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전국광역시 최초 인구수대비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접종률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70%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달성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21514" y="193521"/>
            <a:ext cx="718857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델타변이의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중증도를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낮춘 코로나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예방접종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25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020" y="639783"/>
            <a:ext cx="5918769" cy="3017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136281" y="3614210"/>
            <a:ext cx="11699508" cy="2582100"/>
            <a:chOff x="136281" y="3614210"/>
            <a:chExt cx="11699508" cy="2582100"/>
          </a:xfrm>
        </p:grpSpPr>
        <p:grpSp>
          <p:nvGrpSpPr>
            <p:cNvPr id="13" name="그룹 12"/>
            <p:cNvGrpSpPr/>
            <p:nvPr/>
          </p:nvGrpSpPr>
          <p:grpSpPr>
            <a:xfrm>
              <a:off x="5920094" y="3785688"/>
              <a:ext cx="5915695" cy="1881554"/>
              <a:chOff x="0" y="942030"/>
              <a:chExt cx="6378575" cy="1082660"/>
            </a:xfrm>
          </p:grpSpPr>
          <p:pic>
            <p:nvPicPr>
              <p:cNvPr id="5122" name="Picture 2"/>
              <p:cNvPicPr>
                <a:picLocks noChangeAspect="1" noChangeArrowheads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0" y="942030"/>
                <a:ext cx="6378575" cy="6405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6" name="Picture 2"/>
              <p:cNvPicPr>
                <a:picLocks noChangeAspect="1" noChangeArrowheads="1"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0" y="1586021"/>
                <a:ext cx="6378575" cy="43866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9" name="사각형 설명선 18"/>
            <p:cNvSpPr/>
            <p:nvPr/>
          </p:nvSpPr>
          <p:spPr>
            <a:xfrm>
              <a:off x="136281" y="3614210"/>
              <a:ext cx="5627076" cy="2549199"/>
            </a:xfrm>
            <a:prstGeom prst="wedgeRectCallout">
              <a:avLst>
                <a:gd name="adj1" fmla="val 52786"/>
                <a:gd name="adj2" fmla="val 17917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1. 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부산시 논문에서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위중증으로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악화된 환자와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경중등증인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환자간에 델타변이바이러스 감염여부가 유의미한 영향을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주지않음이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확인</a:t>
              </a:r>
              <a:endPara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2. 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본래 델타변이가 다른 변이보다 중증도가 높음</a:t>
              </a: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3.</a:t>
              </a:r>
              <a:r>
                <a:rPr lang="ko-KR" altLang="en-US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델타변이 유행시기인 </a:t>
              </a:r>
              <a:r>
                <a:rPr lang="en-US" altLang="ko-KR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2021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년 </a:t>
              </a:r>
              <a:r>
                <a:rPr lang="en-US" altLang="ko-KR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7</a:t>
              </a:r>
              <a:r>
                <a:rPr lang="ko-KR" altLang="en-US" sz="1400" b="1" u="sng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월달의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부산시 </a:t>
              </a:r>
              <a:r>
                <a:rPr lang="ko-KR" altLang="en-US" sz="1400" b="1" u="sng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예방접종률은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en-US" altLang="ko-KR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1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차가 </a:t>
              </a:r>
              <a:r>
                <a:rPr lang="en-US" altLang="ko-KR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33%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이며 </a:t>
              </a:r>
              <a:r>
                <a:rPr lang="ko-KR" altLang="en-US" sz="1400" b="1" u="sng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그해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en-US" altLang="ko-KR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11</a:t>
              </a:r>
              <a:r>
                <a:rPr lang="ko-KR" altLang="en-US" sz="1400" b="1" u="sng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월달엔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</a:t>
              </a:r>
              <a:r>
                <a:rPr lang="en-US" altLang="ko-KR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1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차는 </a:t>
              </a:r>
              <a:r>
                <a:rPr lang="en-US" altLang="ko-KR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80%, 2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차는 </a:t>
              </a:r>
              <a:r>
                <a:rPr lang="en-US" altLang="ko-KR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75%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임</a:t>
              </a:r>
              <a:endParaRPr lang="en-US" altLang="ko-KR" sz="1400" b="1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4. 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이는 코로나</a:t>
              </a:r>
              <a:r>
                <a:rPr lang="en-US" altLang="ko-KR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19 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예방접종이 델타변이로 인한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위중증으로의</a:t>
              </a:r>
              <a:r>
                <a:rPr lang="ko-KR" altLang="en-US" sz="1600" b="1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악화를 예방한 효과</a:t>
              </a:r>
              <a:r>
                <a:rPr lang="en-US" altLang="ko-KR" sz="1400" dirty="0">
                  <a:solidFill>
                    <a:schemeClr val="tx1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.</a:t>
              </a: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917020" y="5734645"/>
              <a:ext cx="591569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Characteristics of Critically Ill COVID-19 Patients in Busan, Republic of Korea(</a:t>
              </a:r>
              <a:r>
                <a:rPr lang="sv-SE" altLang="ko-KR" sz="12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Korean J Fam Med 2023;44:158-167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79197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22CD0-4565-4908-9F55-7130B462F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424" y="5035527"/>
            <a:ext cx="10964008" cy="1444404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atinLnBrk="0"/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1. 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Low vaccination coverage at the global level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전세계 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26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억 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doses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의 백신이 투여되었고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대부분 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a small number of high-income countries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에 시행되어 나라간 백신접종의 불균형 초래</a:t>
            </a:r>
            <a:endParaRPr lang="en-US" altLang="ko-KR" sz="1600" b="0" dirty="0">
              <a:latin typeface="HY엽서L" panose="02030600000101010101" pitchFamily="18" charset="-127"/>
              <a:ea typeface="HY엽서L" panose="02030600000101010101" pitchFamily="18" charset="-127"/>
              <a:cs typeface="함초롬돋움" panose="020B0604000101010101" pitchFamily="50" charset="-127"/>
            </a:endParaRPr>
          </a:p>
          <a:p>
            <a:pPr latinLnBrk="0"/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2. </a:t>
            </a:r>
            <a:r>
              <a:rPr lang="ko-KR" altLang="en-US" sz="1600" b="0" dirty="0" err="1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판데믹이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0" dirty="0" err="1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시작되었을때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, WHO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는 적극적인 감시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조기 검사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격리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훈련된 의료인들에 의한 환자 케어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 err="1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접촉자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추적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여행 및 모임 제한으로 </a:t>
            </a:r>
            <a:r>
              <a:rPr lang="ko-KR" altLang="en-US" sz="1600" b="0" dirty="0" err="1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관리등으로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 지난 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2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년 넘게 코로나 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19 </a:t>
            </a:r>
            <a:r>
              <a:rPr lang="ko-KR" altLang="en-US" sz="1600" b="0" dirty="0" err="1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판데믹의</a:t>
            </a:r>
            <a:r>
              <a:rPr lang="en-US" altLang="ko-KR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0" dirty="0"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종식을 위해 달려왔지만</a:t>
            </a:r>
            <a:r>
              <a:rPr lang="en-US" altLang="ko-KR" sz="1600" b="0" dirty="0">
                <a:solidFill>
                  <a:srgbClr val="0070C0"/>
                </a:solidFill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변이출현과</a:t>
            </a:r>
            <a:r>
              <a:rPr lang="en-US" altLang="ko-K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사회적 교류증가</a:t>
            </a:r>
            <a:r>
              <a:rPr lang="en-US" altLang="ko-K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불평등한 백신공급</a:t>
            </a:r>
            <a:r>
              <a:rPr lang="en-US" altLang="ko-K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방역에 대한 </a:t>
            </a:r>
            <a:r>
              <a:rPr lang="ko-KR" altLang="en-US" sz="16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이완등으로</a:t>
            </a:r>
            <a:r>
              <a:rPr lang="en-US" altLang="ko-K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인해 종식은 먼 얘기가 되었습니다</a:t>
            </a:r>
            <a:r>
              <a:rPr lang="en-US" altLang="ko-KR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엽서L" panose="02030600000101010101" pitchFamily="18" charset="-127"/>
                <a:ea typeface="HY엽서L" panose="02030600000101010101" pitchFamily="18" charset="-127"/>
                <a:cs typeface="함초롬돋움" panose="020B0604000101010101" pitchFamily="50" charset="-127"/>
              </a:rPr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981093" y="3078740"/>
            <a:ext cx="4707243" cy="1882691"/>
            <a:chOff x="4542262" y="492002"/>
            <a:chExt cx="4855738" cy="3005102"/>
          </a:xfrm>
        </p:grpSpPr>
        <p:pic>
          <p:nvPicPr>
            <p:cNvPr id="7" name="그림 6" descr="텍스트이(가) 표시된 사진&#10;&#10;자동 생성된 설명">
              <a:extLst>
                <a:ext uri="{FF2B5EF4-FFF2-40B4-BE49-F238E27FC236}">
                  <a16:creationId xmlns:a16="http://schemas.microsoft.com/office/drawing/2014/main" id="{1EFDFA83-6AEE-B1AB-8E7E-39D42EC52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2262" y="492002"/>
              <a:ext cx="4855738" cy="2743492"/>
            </a:xfrm>
            <a:prstGeom prst="rect">
              <a:avLst/>
            </a:prstGeom>
            <a:ln>
              <a:solidFill>
                <a:schemeClr val="tx1"/>
              </a:solidFill>
            </a:ln>
            <a:effectLst/>
          </p:spPr>
        </p:pic>
        <p:sp>
          <p:nvSpPr>
            <p:cNvPr id="9" name="TextBox 8"/>
            <p:cNvSpPr txBox="1"/>
            <p:nvPr/>
          </p:nvSpPr>
          <p:spPr>
            <a:xfrm>
              <a:off x="4895147" y="3235494"/>
              <a:ext cx="33422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WHO 2021</a:t>
              </a:r>
              <a:r>
                <a:rPr lang="ko-KR" altLang="en-US" sz="11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년 </a:t>
              </a:r>
              <a:r>
                <a:rPr lang="en-US" altLang="ko-KR" sz="11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6</a:t>
              </a:r>
              <a:r>
                <a:rPr lang="ko-KR" altLang="en-US" sz="11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월 </a:t>
              </a:r>
              <a:r>
                <a:rPr lang="en-US" altLang="ko-KR" sz="11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7</a:t>
              </a:r>
              <a:r>
                <a:rPr lang="ko-KR" altLang="en-US" sz="11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일부터 </a:t>
              </a:r>
              <a:r>
                <a:rPr lang="en-US" altLang="ko-KR" sz="11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25</a:t>
              </a:r>
              <a:r>
                <a:rPr lang="ko-KR" altLang="en-US" sz="11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일사이의 </a:t>
              </a:r>
              <a:r>
                <a:rPr lang="en-US" altLang="ko-KR" sz="11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global conference </a:t>
              </a:r>
              <a:endParaRPr lang="ko-KR" altLang="en-US" sz="11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327889" y="56343"/>
            <a:ext cx="562519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세계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제로에서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위드코로나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전환</a:t>
            </a:r>
          </a:p>
        </p:txBody>
      </p:sp>
      <p:sp>
        <p:nvSpPr>
          <p:cNvPr id="6" name="사각형 설명선 5"/>
          <p:cNvSpPr/>
          <p:nvPr/>
        </p:nvSpPr>
        <p:spPr>
          <a:xfrm>
            <a:off x="650631" y="3283319"/>
            <a:ext cx="6242538" cy="1308959"/>
          </a:xfrm>
          <a:prstGeom prst="wedgeRectCallout">
            <a:avLst>
              <a:gd name="adj1" fmla="val 22688"/>
              <a:gd name="adj2" fmla="val 7612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신종병원체평가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WHO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에서 신종코로나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en-US" altLang="ko-KR" sz="12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9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바이러스는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종식될수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있는 것이 아님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집단면역의 기반이 되는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예방접종을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60%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이상 이행하여도 변이로 인하여 제로코로나정책이 불가능함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을 결론지음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26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733787"/>
              </p:ext>
            </p:extLst>
          </p:nvPr>
        </p:nvGraphicFramePr>
        <p:xfrm>
          <a:off x="1151792" y="615462"/>
          <a:ext cx="8985738" cy="226699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1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1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7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나라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2021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년 </a:t>
                      </a:r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6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월 </a:t>
                      </a:r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28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일 </a:t>
                      </a:r>
                      <a:r>
                        <a:rPr lang="ko-KR" altLang="en-US" sz="1400" u="none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중대본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자료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0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영국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21.2</a:t>
                      </a:r>
                      <a:r>
                        <a:rPr lang="ko-KR" altLang="en-US" sz="1400" b="1" u="none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월말이후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6</a:t>
                      </a:r>
                      <a:r>
                        <a:rPr lang="ko-KR" altLang="en-US" sz="1400" b="1" u="none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월달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현재 </a:t>
                      </a:r>
                      <a:r>
                        <a:rPr lang="ko-KR" altLang="en-US" sz="1400" b="1" u="none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확진자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최대치</a:t>
                      </a:r>
                      <a:endParaRPr lang="en-US" altLang="ko-KR" sz="1400" b="1" u="none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342900" indent="-342900" algn="l" latinLnBrk="1">
                        <a:buAutoNum type="arabicParenR"/>
                      </a:pP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21.4: 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국민 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73% 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항체형성으로 집단면역달성 보도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영국변이인 알파변이가 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87%)</a:t>
                      </a:r>
                    </a:p>
                    <a:p>
                      <a:pPr marL="342900" indent="-342900" algn="l" latinLnBrk="1">
                        <a:buAutoNum type="arabicParenR"/>
                      </a:pPr>
                      <a:r>
                        <a:rPr lang="en-US" altLang="ko-KR" sz="1400" b="1" u="none" baseline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21.5: </a:t>
                      </a:r>
                      <a:r>
                        <a:rPr lang="ko-KR" altLang="en-US" sz="1400" b="1" u="none" baseline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영국변이 바이러스 </a:t>
                      </a:r>
                      <a:r>
                        <a:rPr lang="en-US" altLang="ko-KR" sz="1400" b="1" u="none" baseline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37%</a:t>
                      </a:r>
                      <a:r>
                        <a:rPr lang="ko-KR" altLang="en-US" sz="1400" b="1" u="none" baseline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로 감소하고 인도변이인 델타변이가 </a:t>
                      </a:r>
                      <a:r>
                        <a:rPr lang="en-US" altLang="ko-KR" sz="1400" b="1" u="none" baseline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60%</a:t>
                      </a:r>
                      <a:r>
                        <a:rPr lang="ko-KR" altLang="en-US" sz="1400" b="1" u="none" baseline="0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로 증가</a:t>
                      </a:r>
                      <a:endParaRPr lang="en-US" altLang="ko-KR" sz="1400" b="1" u="none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일본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영국변이는 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41-&gt; 14%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로 감소했으나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델타변이는 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33-&gt; 71%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로 증가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베트남</a:t>
                      </a:r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대만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방역모범국가로 불리던 곳이지만 </a:t>
                      </a:r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2021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년 </a:t>
                      </a:r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5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월 다시 증가세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인도네시아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21.6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월 기준 </a:t>
                      </a:r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차 </a:t>
                      </a:r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8.2%, 2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차 접종완료 </a:t>
                      </a:r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4.4%(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도입백신은 </a:t>
                      </a:r>
                      <a:r>
                        <a:rPr lang="ko-KR" altLang="en-US" sz="1400" u="none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시노백이</a:t>
                      </a:r>
                      <a:r>
                        <a:rPr lang="ko-KR" altLang="en-US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400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87.6%)</a:t>
                      </a:r>
                      <a:endParaRPr lang="en-US" altLang="ko-KR" sz="1400" b="1" u="none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21.5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월 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lang="ko-KR" altLang="en-US" sz="1400" b="1" u="none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째주가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lang="ko-KR" altLang="en-US" sz="1400" b="1" u="none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째주보다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확진 및 사망이 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40% 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증가함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자카르타 중심 </a:t>
                      </a:r>
                      <a:r>
                        <a:rPr lang="en-US" altLang="ko-KR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lang="ko-KR" altLang="en-US" sz="1400" b="1" u="none" dirty="0" err="1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차유행수준으로</a:t>
                      </a:r>
                      <a:r>
                        <a:rPr lang="ko-KR" altLang="en-US" sz="1400" b="1" u="none" dirty="0">
                          <a:solidFill>
                            <a:schemeClr val="tx1"/>
                          </a:solidFill>
                          <a:effectLst/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급증</a:t>
                      </a:r>
                      <a:endParaRPr lang="en-US" altLang="ko-KR" sz="1400" b="1" u="none" dirty="0">
                        <a:solidFill>
                          <a:schemeClr val="tx1"/>
                        </a:solidFill>
                        <a:effectLst/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59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859"/>
    </mc:Choice>
    <mc:Fallback xmlns="">
      <p:transition spd="slow" advTm="438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440993" y="850730"/>
            <a:ext cx="5556739" cy="22159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수산업근로자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집단발생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관련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(2021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근원환자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인도네시아 국적 선원 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00(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남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,45) 6.16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발열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기침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인후통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호흡곤란으로 </a:t>
            </a:r>
            <a:r>
              <a:rPr lang="ko-KR" altLang="en-US" sz="14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검사후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21.6.24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인도네시아 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5.3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입국하여 </a:t>
            </a:r>
            <a:r>
              <a:rPr lang="ko-KR" altLang="en-US" sz="14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해제전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5.16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음성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추정전파경로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추정근원 환자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근로자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근로자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투숙 및 조업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식사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위험요인</a:t>
            </a: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조업기간 승선대기 </a:t>
            </a:r>
            <a:r>
              <a:rPr lang="en-US" altLang="ko-KR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 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승선 상태에서 숙박업소와 선박에서 내외국인 다수가 한방에서 밀접 생활</a:t>
            </a:r>
            <a:endParaRPr lang="en-US" altLang="ko-KR" sz="1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4. </a:t>
            </a:r>
            <a:r>
              <a:rPr lang="ko-KR" altLang="en-US" sz="1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수산업 종사 근로자 및 이들의 </a:t>
            </a:r>
            <a:r>
              <a:rPr lang="ko-KR" altLang="en-US" sz="16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접촉자</a:t>
            </a:r>
            <a:r>
              <a:rPr lang="ko-KR" altLang="en-US" sz="1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중심 지역사회 확산 위험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599" y="195141"/>
            <a:ext cx="655989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7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부산시 델타변이 유행</a:t>
            </a:r>
          </a:p>
        </p:txBody>
      </p:sp>
      <p:sp>
        <p:nvSpPr>
          <p:cNvPr id="6" name="사각형 설명선 5"/>
          <p:cNvSpPr/>
          <p:nvPr/>
        </p:nvSpPr>
        <p:spPr>
          <a:xfrm>
            <a:off x="135516" y="829965"/>
            <a:ext cx="6064317" cy="4736822"/>
          </a:xfrm>
          <a:prstGeom prst="wedgeRectCallout">
            <a:avLst>
              <a:gd name="adj1" fmla="val 52833"/>
              <a:gd name="adj2" fmla="val -11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신종병원체평가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):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인도네시아에서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PCR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음성확인서를 가져와도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입국후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확진되는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사례증가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델타변이와 관련하여 유행하고 있는 인도네시아국적의 선원이 부산에서 조업하는 중에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집단발생함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해당 델타바이러스의 중증도가 높아서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외국인선원 및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30-40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 남자 연령대에서 중환자가 연이어 발생함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&lt;2021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선원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확진자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증가에 따른 부산시 특별방역대책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근해어업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어선원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선주포함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진단검사 행정명령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(6.25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부터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별도해제시까지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및 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출항전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72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시간 이내 진단검사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>
              <a:lnSpc>
                <a:spcPct val="110000"/>
              </a:lnSpc>
              <a:buAutoNum type="arabicPeriod"/>
            </a:pP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공동어시장 종사자 선제검사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24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이후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275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검사받음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(6.29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200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여명은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항운노조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+75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명은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상인회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방역점검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수산업 시설 주변 유흥시설 등 긴급 방역점검 실시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원도심 지역 유흥시설 등 방역수칙 준수여부 점검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구군 및 경찰 합동단속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>
              <a:lnSpc>
                <a:spcPct val="110000"/>
              </a:lnSpc>
            </a:pP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임시격리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해외입국자 임시생활시설 운영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(3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개소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692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실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</p:txBody>
      </p:sp>
      <p:sp>
        <p:nvSpPr>
          <p:cNvPr id="9" name="사각형 설명선 8"/>
          <p:cNvSpPr/>
          <p:nvPr/>
        </p:nvSpPr>
        <p:spPr>
          <a:xfrm>
            <a:off x="6440992" y="3723330"/>
            <a:ext cx="2934119" cy="1984133"/>
          </a:xfrm>
          <a:prstGeom prst="wedgeRectCallout">
            <a:avLst>
              <a:gd name="adj1" fmla="val 24700"/>
              <a:gd name="adj2" fmla="val -75761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이동형 임시선별검사소 설치 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선원 우선접종대상자 검토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델타변이 중등도 환자 증가에 따른 병상 마련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27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499" y="3198375"/>
            <a:ext cx="2542233" cy="329285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436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3553" name="_x428394016" descr="EMB000044580a3e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48035" y="650630"/>
            <a:ext cx="8271050" cy="249324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863360" y="77297"/>
            <a:ext cx="78682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2021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8~11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델타유행기간동안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부산시 코로나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생치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/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병원배정 분석</a:t>
            </a:r>
          </a:p>
        </p:txBody>
      </p:sp>
      <p:sp>
        <p:nvSpPr>
          <p:cNvPr id="11" name="사각형 설명선 10"/>
          <p:cNvSpPr/>
          <p:nvPr/>
        </p:nvSpPr>
        <p:spPr>
          <a:xfrm>
            <a:off x="3748035" y="3294603"/>
            <a:ext cx="8199456" cy="985995"/>
          </a:xfrm>
          <a:prstGeom prst="wedgeRectCallout">
            <a:avLst>
              <a:gd name="adj1" fmla="val 9915"/>
              <a:gd name="adj2" fmla="val -60424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부산시가 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델타유행기간동안에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생치와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병원으로 초기에 배정한 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분율에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대한 분석을 이행하였고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8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월에는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생치를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50~60%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 배정하다가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11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월은 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60-80%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 배정함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28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99" y="650630"/>
            <a:ext cx="3459301" cy="37304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내용 개체 틀 2"/>
          <p:cNvSpPr>
            <a:spLocks noGrp="1"/>
          </p:cNvSpPr>
          <p:nvPr>
            <p:ph idx="1"/>
          </p:nvPr>
        </p:nvSpPr>
        <p:spPr>
          <a:xfrm>
            <a:off x="230468" y="4716445"/>
            <a:ext cx="11731064" cy="1724548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fontAlgn="base"/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8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위중증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환자로 악화된 사례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(273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 기초역학조사서 내용 분석 결과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(2020.11.26.~2021.11.25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기간의 </a:t>
            </a:r>
            <a:r>
              <a:rPr lang="ko-KR" altLang="en-US" sz="18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확진자는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1116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fontAlgn="base"/>
            <a:r>
              <a:rPr lang="en-US" altLang="ko-KR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 70</a:t>
            </a:r>
            <a:r>
              <a:rPr lang="ko-KR" altLang="en-US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 미만</a:t>
            </a:r>
            <a:r>
              <a:rPr lang="en-US" altLang="ko-KR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</a:t>
            </a:r>
            <a:r>
              <a:rPr lang="ko-KR" altLang="en-US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기저질환이 없으며 주요 증상</a:t>
            </a:r>
            <a:r>
              <a:rPr lang="en-US" altLang="ko-KR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호흡곤란</a:t>
            </a:r>
            <a:r>
              <a:rPr lang="en-US" altLang="ko-KR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발열</a:t>
            </a:r>
            <a:r>
              <a:rPr lang="en-US" altLang="ko-KR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 없는 경우</a:t>
            </a:r>
            <a:r>
              <a:rPr lang="en-US" altLang="ko-KR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45</a:t>
            </a:r>
            <a:r>
              <a:rPr lang="ko-KR" altLang="en-US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sz="1800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(16.4%)</a:t>
            </a:r>
            <a:endParaRPr lang="ko-KR" altLang="en-US" sz="1800" dirty="0">
              <a:solidFill>
                <a:srgbClr val="002060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/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기초역조서 당시 무증상인 경우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64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(23.4%)</a:t>
            </a:r>
          </a:p>
        </p:txBody>
      </p:sp>
    </p:spTree>
    <p:extLst>
      <p:ext uri="{BB962C8B-B14F-4D97-AF65-F5344CB8AC3E}">
        <p14:creationId xmlns:p14="http://schemas.microsoft.com/office/powerpoint/2010/main" val="316001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35549" y="110877"/>
            <a:ext cx="9973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 하반기 부산시 초기 병상배정 위한 엑셀 양식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3042" y="-13193"/>
            <a:ext cx="95758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29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2" y="5393453"/>
            <a:ext cx="12051238" cy="1208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381" y="656544"/>
            <a:ext cx="5860032" cy="3677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그룹 8"/>
          <p:cNvGrpSpPr/>
          <p:nvPr/>
        </p:nvGrpSpPr>
        <p:grpSpPr>
          <a:xfrm>
            <a:off x="235265" y="626413"/>
            <a:ext cx="5663480" cy="4317376"/>
            <a:chOff x="325700" y="2073376"/>
            <a:chExt cx="5663480" cy="4618826"/>
          </a:xfrm>
        </p:grpSpPr>
        <p:pic>
          <p:nvPicPr>
            <p:cNvPr id="7176" name="Picture 8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700" y="2073376"/>
              <a:ext cx="5663480" cy="4618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>
              <a:off x="325700" y="4742822"/>
              <a:ext cx="5663480" cy="19493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아래쪽 화살표 9"/>
          <p:cNvSpPr/>
          <p:nvPr/>
        </p:nvSpPr>
        <p:spPr>
          <a:xfrm>
            <a:off x="2805748" y="4943789"/>
            <a:ext cx="522514" cy="3793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65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336799" y="65089"/>
            <a:ext cx="879677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11~12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일반병상가동율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80%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에 따른 전원 및 치료 가이드라인</a:t>
            </a:r>
            <a:endParaRPr lang="en-US" altLang="ko-K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073A51-3AA6-408B-A2C4-049DA062736A}"/>
              </a:ext>
            </a:extLst>
          </p:cNvPr>
          <p:cNvSpPr/>
          <p:nvPr/>
        </p:nvSpPr>
        <p:spPr>
          <a:xfrm>
            <a:off x="5345723" y="684773"/>
            <a:ext cx="6652847" cy="40967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전원 기준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생활치료센터에서 병원으로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전원가능한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경우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산소포화도 저하나 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의식저하등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주요 증상발생시에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초등학교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저학년이하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악화시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및 정신질환자 보호자로 병원이 요청한 경우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그이외에는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생치 연계된 병원에 화상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방문진료 우선시행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</a:p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재택에서 병원으로 전원 즉시 가능한 경우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산소포화도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94%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이하 의식저하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호흡곤란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흉통은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바로 병원으로 전원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cf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발열이 지속되어 두통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근육통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오한의 증상인 경우에는 주간인 경우 우선 생활치료센터로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전원하여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엑스레이 촬영후에 폐렴이 심하면 병원으로 전원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야간인 경우에는 병원으로 바로 전원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감염취약시설 집단발생에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코호트격리중에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전원조치가 필요한 환자의 판단기준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다음의 증상이 한번이라도 확인되면 신속히 전원조치 요청</a:t>
            </a:r>
            <a:endParaRPr lang="en-US" altLang="ko-KR" sz="14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매일 산소포화도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회 체크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(8A, 4P, 8P)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하여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94%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이하일때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나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호흡수 분당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회 이상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38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도씨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이상의 발열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라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호흡곤란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힘없음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식욕부진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헛소리등의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증상</a:t>
            </a:r>
            <a:endParaRPr lang="en-US" altLang="ko-KR" sz="1400" dirty="0">
              <a:solidFill>
                <a:srgbClr val="FF0000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" name="사각형 설명선 5"/>
          <p:cNvSpPr/>
          <p:nvPr/>
        </p:nvSpPr>
        <p:spPr>
          <a:xfrm>
            <a:off x="110533" y="2733150"/>
            <a:ext cx="4973933" cy="3418254"/>
          </a:xfrm>
          <a:prstGeom prst="wedgeRectCallout">
            <a:avLst>
              <a:gd name="adj1" fmla="val 54120"/>
              <a:gd name="adj2" fmla="val 1627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전원시 기준에 대한 가이드라인 안내</a:t>
            </a:r>
            <a:endParaRPr lang="en-US" altLang="ko-KR" sz="16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lnSpc>
                <a:spcPct val="120000"/>
              </a:lnSpc>
              <a:buAutoNum type="arabicParenR"/>
            </a:pP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생활치료센터와 재택에서 병원으로 전원</a:t>
            </a:r>
            <a:endParaRPr lang="en-US" altLang="ko-KR" sz="16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lnSpc>
                <a:spcPct val="120000"/>
              </a:lnSpc>
              <a:buAutoNum type="arabicParenR"/>
            </a:pP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감염취약시설 환자 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코호트시에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병원으로 전원</a:t>
            </a:r>
            <a:endParaRPr lang="en-US" altLang="ko-KR" sz="16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lnSpc>
                <a:spcPct val="120000"/>
              </a:lnSpc>
              <a:buAutoNum type="arabicParenR"/>
            </a:pPr>
            <a:endParaRPr lang="en-US" altLang="ko-KR" sz="16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확진자발생기관내에서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치료시에</a:t>
            </a:r>
            <a:endParaRPr lang="en-US" altLang="ko-KR" sz="16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 2021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12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월당시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병원과 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요양병원등에서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집단발생이 연이어 일어나고 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병상가동율이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높은 상태여서 요양병원 </a:t>
            </a:r>
            <a:r>
              <a:rPr lang="ko-KR" altLang="en-US" sz="16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코호트시에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치료방법에 대하여 공지 이행</a:t>
            </a:r>
            <a:r>
              <a:rPr lang="en-US" altLang="ko-KR" sz="1600" i="1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600" i="1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부산의료원 의료진의 권고</a:t>
            </a:r>
            <a:r>
              <a:rPr lang="en-US" altLang="ko-KR" sz="1600" i="1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!!)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30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55F4AD-E716-45A0-84A2-F3FC70654A2E}"/>
              </a:ext>
            </a:extLst>
          </p:cNvPr>
          <p:cNvSpPr/>
          <p:nvPr/>
        </p:nvSpPr>
        <p:spPr>
          <a:xfrm>
            <a:off x="5345723" y="4863401"/>
            <a:ext cx="6652845" cy="17383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요양병원 집단발생에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코호트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격리중에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치료사항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확진당일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</a:t>
            </a:r>
            <a:r>
              <a:rPr lang="ko-KR" altLang="en-US" sz="1400" dirty="0" err="1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덱사메타손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1a iv injection 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하고 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</a:t>
            </a:r>
            <a:r>
              <a:rPr lang="ko-KR" altLang="en-US" sz="1400" dirty="0" err="1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분후에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렉키로나주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60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분간 천천히 투여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아래 적응증 참조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산소투여중이면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금기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!)</a:t>
            </a:r>
          </a:p>
          <a:p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나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 err="1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확진된후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~3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일째까지 </a:t>
            </a:r>
            <a:r>
              <a:rPr lang="ko-KR" altLang="en-US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소론도 </a:t>
            </a:r>
            <a:r>
              <a:rPr lang="en-US" altLang="ko-KR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30mg </a:t>
            </a:r>
            <a:r>
              <a:rPr lang="en-US" altLang="ko-KR" sz="1400" u="sng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qd</a:t>
            </a:r>
            <a:r>
              <a:rPr lang="en-US" altLang="ko-KR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8a(5mg*6</a:t>
            </a:r>
            <a:r>
              <a:rPr lang="ko-KR" altLang="en-US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알</a:t>
            </a:r>
            <a:r>
              <a:rPr lang="en-US" altLang="ko-KR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or </a:t>
            </a:r>
            <a:r>
              <a:rPr lang="ko-KR" altLang="en-US" sz="1400" u="sng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메치론</a:t>
            </a:r>
            <a:r>
              <a:rPr lang="ko-KR" altLang="en-US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24mg </a:t>
            </a:r>
            <a:r>
              <a:rPr lang="en-US" altLang="ko-KR" sz="1400" u="sng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qd</a:t>
            </a:r>
            <a:r>
              <a:rPr lang="en-US" altLang="ko-KR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8a(4*6</a:t>
            </a:r>
            <a:r>
              <a:rPr lang="ko-KR" altLang="en-US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알</a:t>
            </a:r>
            <a:r>
              <a:rPr lang="en-US" altLang="ko-KR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경구 복용하면서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CXR, Lab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시행해 악화 소견 여부 관찰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이후 산소치료가 필요하거나 폐렴악화시에는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감염병전담병원으로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전원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74" y="599195"/>
            <a:ext cx="3321849" cy="21339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399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25899" y="108987"/>
            <a:ext cx="992777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2022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초반의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오미크론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대비 부산시 코로나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초기배정분석 및 역학조사 간소화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31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8" name="사각형 설명선 7"/>
          <p:cNvSpPr/>
          <p:nvPr/>
        </p:nvSpPr>
        <p:spPr>
          <a:xfrm>
            <a:off x="140677" y="738425"/>
            <a:ext cx="6350558" cy="1864097"/>
          </a:xfrm>
          <a:prstGeom prst="wedgeRectCallout">
            <a:avLst>
              <a:gd name="adj1" fmla="val 54026"/>
              <a:gd name="adj2" fmla="val -20593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2021.12.1 – 2022.1.10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까지의 시도 병상배정반의 재택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생치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병원으로의 배정분율 분석이행 </a:t>
            </a:r>
            <a:endParaRPr lang="en-US" altLang="ko-KR" sz="14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60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 이상은 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전체확진자의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30%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차지하며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이들의 초기배정은 재택치료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45%, 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생치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30%,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병원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25%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임</a:t>
            </a:r>
            <a:endParaRPr lang="en-US" altLang="ko-KR" sz="1400" b="1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나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60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 이상 재택치료자 예상 공식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일일 </a:t>
            </a:r>
            <a:r>
              <a:rPr lang="ko-KR" altLang="en-US" sz="1400" u="sng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확진자수</a:t>
            </a:r>
            <a:r>
              <a:rPr lang="ko-KR" altLang="en-US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u="sng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 0.3 * 0.45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48524" y="647992"/>
            <a:ext cx="5094714" cy="22861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6743700" y="3024555"/>
            <a:ext cx="5099538" cy="3642527"/>
            <a:chOff x="6743700" y="3024555"/>
            <a:chExt cx="5099538" cy="3642527"/>
          </a:xfrm>
        </p:grpSpPr>
        <p:pic>
          <p:nvPicPr>
            <p:cNvPr id="10" name="Picture 3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743700" y="3024555"/>
              <a:ext cx="5099538" cy="3642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직사각형 10"/>
            <p:cNvSpPr/>
            <p:nvPr/>
          </p:nvSpPr>
          <p:spPr>
            <a:xfrm>
              <a:off x="6748524" y="6039638"/>
              <a:ext cx="3710354" cy="4375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사각형 설명선 12"/>
          <p:cNvSpPr/>
          <p:nvPr/>
        </p:nvSpPr>
        <p:spPr>
          <a:xfrm>
            <a:off x="140677" y="2736763"/>
            <a:ext cx="6350558" cy="1513689"/>
          </a:xfrm>
          <a:prstGeom prst="wedgeRectCallout">
            <a:avLst>
              <a:gd name="adj1" fmla="val 30131"/>
              <a:gd name="adj2" fmla="val 5745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오미크론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대유행에 따른 방역대응 간소화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선택과 집중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확진자관리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자가기입역학조사서 도입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(22.2)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7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격리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접촉자관리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동거인중 미완료자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감염취약시설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종을 밀접으로 격리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역학조사의 대상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감염취약시설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종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의료기관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lnSpc>
                <a:spcPct val="120000"/>
              </a:lnSpc>
              <a:buFontTx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역학조사의 주체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지자체공무원에서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시설방역관리책임자 중심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으로 전환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14" name="_x380307872" descr="EMB0000356403c4"/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05319" y="4381081"/>
            <a:ext cx="5385916" cy="23915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55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76096" y="116185"/>
            <a:ext cx="769327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2022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오미크론유행시기의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중중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/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준중증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/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중등증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병상가동율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32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7AF36477-A9B2-51A6-D43E-3F791D9230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8023009"/>
              </p:ext>
            </p:extLst>
          </p:nvPr>
        </p:nvGraphicFramePr>
        <p:xfrm>
          <a:off x="490929" y="557754"/>
          <a:ext cx="10821236" cy="29089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8021" y="3529484"/>
            <a:ext cx="5734710" cy="32230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96000" y="3529484"/>
            <a:ext cx="5924062" cy="32230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964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966057" y="104222"/>
            <a:ext cx="875553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년의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오미크론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대유행시기의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중환자병상 입실기준 관련 자료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8021" y="722882"/>
            <a:ext cx="4242930" cy="5728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83" name="_x412834048" descr="EMB0000169c2060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77610" y="4967653"/>
            <a:ext cx="5480411" cy="167053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AutoShape 5" descr="메디통 4-2-2-심폐소생술-부록6-DNR동의서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103" name="Picture 7" descr="메디통 4-2-2-심폐소생술-부록6-DNR동의서"/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30949" y="722882"/>
            <a:ext cx="4964743" cy="47434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33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77611" y="4035668"/>
            <a:ext cx="5480410" cy="9319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4778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35549" y="110877"/>
            <a:ext cx="997398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14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일의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BUSAN: 26000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여명의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확진자발생날의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병원배정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/</a:t>
            </a:r>
            <a:r>
              <a: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최고는 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22.3.17 42434</a:t>
            </a:r>
            <a:r>
              <a:rPr lang="ko-KR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명임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 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3042" y="-13193"/>
            <a:ext cx="81691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34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8" y="510987"/>
            <a:ext cx="6157912" cy="6251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430" y="510987"/>
            <a:ext cx="5828447" cy="6251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2533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29285" y="17704"/>
            <a:ext cx="824969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코로나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19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환자에 대한 일반의료체계로의 준비기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(3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),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이행기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(5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</a:p>
        </p:txBody>
      </p:sp>
      <p:sp>
        <p:nvSpPr>
          <p:cNvPr id="8" name="사각형 설명선 7"/>
          <p:cNvSpPr/>
          <p:nvPr/>
        </p:nvSpPr>
        <p:spPr>
          <a:xfrm>
            <a:off x="96714" y="592508"/>
            <a:ext cx="5781572" cy="3044995"/>
          </a:xfrm>
          <a:prstGeom prst="wedgeRectCallout">
            <a:avLst>
              <a:gd name="adj1" fmla="val 52710"/>
              <a:gd name="adj2" fmla="val 18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2022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22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부산시 코로나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확산에 따른 중증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응급환자 진료대책을 위한 응급의료기관장 회의 자료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 fontAlgn="base" latinLnBrk="1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배경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일반 의료기관은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음압격리실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음압수술실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부족 등을 이유로 수술･분만･투석 등 의료적 처치가 필요한 코로나 환자 거부 발생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</a:p>
          <a:p>
            <a:pPr fontAlgn="base" latinLnBrk="1"/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이에 감염관리 장비를 갖추고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소독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환기 등 조건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충족시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음압격리실이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아닌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일반병실 등에서도 코로나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환자를 진료할 수 있도록 지침 개정</a:t>
            </a:r>
            <a:endParaRPr lang="ko-KR" altLang="en-US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주요내용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코로나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환자 일반격리실 입원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수술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분만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투석 등 특수 상황 시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음압격리가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이루어지지 않는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경우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일반수술실</a:t>
            </a:r>
            <a:r>
              <a:rPr lang="en-US" altLang="ko-KR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분만실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등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활용가능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하도록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감염관리 요건 포함하여 개정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054133" y="622995"/>
            <a:ext cx="5987766" cy="2411607"/>
            <a:chOff x="312431" y="466112"/>
            <a:chExt cx="5881168" cy="2326125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178660" y="1851767"/>
              <a:ext cx="3014939" cy="9404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178660" y="466112"/>
              <a:ext cx="3014939" cy="139953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4" name="Picture 6"/>
            <p:cNvPicPr>
              <a:picLocks noChangeAspect="1" noChangeArrowheads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12431" y="1870838"/>
              <a:ext cx="2866229" cy="9213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5" name="Picture 7"/>
            <p:cNvPicPr>
              <a:picLocks noChangeAspect="1" noChangeArrowheads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24061" y="466112"/>
              <a:ext cx="2842970" cy="13878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TextBox 10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35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3" name="사각형 설명선 12"/>
          <p:cNvSpPr/>
          <p:nvPr/>
        </p:nvSpPr>
        <p:spPr>
          <a:xfrm>
            <a:off x="170822" y="4036924"/>
            <a:ext cx="5895152" cy="1738365"/>
          </a:xfrm>
          <a:prstGeom prst="wedgeRectCallout">
            <a:avLst>
              <a:gd name="adj1" fmla="val 52463"/>
              <a:gd name="adj2" fmla="val 19741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2022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23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 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~ 6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19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일까지 이행기 연장에 따른 부산시 일반의료체계전환을 위한 병상배정운영방식 안내</a:t>
            </a:r>
            <a:r>
              <a:rPr lang="en-US" altLang="ko-KR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-&gt; 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기존 </a:t>
            </a:r>
            <a:r>
              <a:rPr lang="ko-KR" altLang="en-US" sz="16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시일괄</a:t>
            </a:r>
            <a:r>
              <a:rPr lang="ko-KR" altLang="en-US" sz="16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병상배정 방식에서 중증병상배정 외에는 자율입원체계로 전환</a:t>
            </a:r>
            <a:r>
              <a:rPr lang="ko-KR" altLang="en-US" sz="16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하여 운영</a:t>
            </a:r>
            <a:endParaRPr lang="en-US" altLang="ko-KR" sz="16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217588" y="3114989"/>
            <a:ext cx="5549032" cy="3743011"/>
            <a:chOff x="6309814" y="3220497"/>
            <a:chExt cx="5324998" cy="3637503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309814" y="3220497"/>
              <a:ext cx="5324998" cy="363750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직사각형 13"/>
            <p:cNvSpPr/>
            <p:nvPr/>
          </p:nvSpPr>
          <p:spPr>
            <a:xfrm>
              <a:off x="6309814" y="3220497"/>
              <a:ext cx="5324998" cy="114561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886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43348" y="217639"/>
            <a:ext cx="801747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5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일반의료체계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이행기시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병상배정을 위한 안내문</a:t>
            </a:r>
            <a:endParaRPr lang="en-US" altLang="ko-K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538007" y="785075"/>
            <a:ext cx="9155062" cy="5515242"/>
            <a:chOff x="5125915" y="1116624"/>
            <a:chExt cx="6909778" cy="3833445"/>
          </a:xfrm>
        </p:grpSpPr>
        <p:pic>
          <p:nvPicPr>
            <p:cNvPr id="9" name="_x381701360" descr="EMB00004ea84d34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5915" y="1125415"/>
              <a:ext cx="6909778" cy="3824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>
              <a:off x="7313733" y="1116624"/>
              <a:ext cx="1163845" cy="36029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70C0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36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978769" y="785727"/>
            <a:ext cx="2049864" cy="28819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9360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935591" y="66002"/>
            <a:ext cx="739411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11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~ 2023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4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재택응급핫라인 구축</a:t>
            </a:r>
            <a:endParaRPr lang="en-US" altLang="ko-K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8" name="사각형 설명선 7"/>
          <p:cNvSpPr/>
          <p:nvPr/>
        </p:nvSpPr>
        <p:spPr>
          <a:xfrm>
            <a:off x="118141" y="694595"/>
            <a:ext cx="5218790" cy="2802231"/>
          </a:xfrm>
          <a:prstGeom prst="wedgeRectCallout">
            <a:avLst>
              <a:gd name="adj1" fmla="val 52749"/>
              <a:gd name="adj2" fmla="val 1798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 fontAlgn="base" latinLnBrk="1"/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▣ 추진배경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재택치료로 인한 응급상황발생시 적극 대처하고자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'21. 11. 1.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부터 </a:t>
            </a:r>
            <a:r>
              <a:rPr lang="ko-KR" altLang="en-US" sz="1400" b="1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재택치료관리팀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內 응급핫라인 개설 운영</a:t>
            </a:r>
          </a:p>
          <a:p>
            <a:pPr fontAlgn="base" latinLnBrk="1"/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운영기간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'21.11.1.(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~ '23.4.30.(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근무형태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야간 교대근무로 </a:t>
            </a:r>
            <a:r>
              <a:rPr lang="en-US" altLang="ko-KR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24</a:t>
            </a:r>
            <a:r>
              <a:rPr lang="ko-KR" altLang="en-US" sz="1400" b="1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시간 상시 운영</a:t>
            </a:r>
          </a:p>
          <a:p>
            <a:pPr fontAlgn="base" latinLnBrk="1"/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근무인원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최초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명으로 시작하여 최대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15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명까지 근무</a:t>
            </a:r>
            <a:endParaRPr lang="en-US" altLang="ko-KR" sz="1400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▣ 주요업무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재택환자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대상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응급상황 또는 협력병원의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전원요청시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병상배정</a:t>
            </a: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코로나 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19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관련 질환 또는 기타 질환에 대한 상담 및 응급실 안내</a:t>
            </a: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재택치료관련 기본적인 민원상담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격리기간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․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비대면진료기관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등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fontAlgn="base" latinLnBrk="1"/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4. </a:t>
            </a:r>
            <a:r>
              <a:rPr lang="ko-KR" altLang="en-US" sz="1400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상담시</a:t>
            </a:r>
            <a:r>
              <a:rPr lang="ko-KR" altLang="en-US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언어폭력내용 포함</a:t>
            </a:r>
            <a:r>
              <a:rPr lang="en-US" altLang="ko-KR" sz="1400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37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41" y="3632199"/>
            <a:ext cx="5243512" cy="312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5478462" y="632619"/>
            <a:ext cx="6380895" cy="3013301"/>
            <a:chOff x="5478462" y="632619"/>
            <a:chExt cx="6380895" cy="3013301"/>
          </a:xfrm>
        </p:grpSpPr>
        <p:pic>
          <p:nvPicPr>
            <p:cNvPr id="13" name="Picture 6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8462" y="632619"/>
              <a:ext cx="6380895" cy="301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직사각형 13"/>
            <p:cNvSpPr/>
            <p:nvPr/>
          </p:nvSpPr>
          <p:spPr>
            <a:xfrm>
              <a:off x="6462764" y="3255666"/>
              <a:ext cx="1073500" cy="39025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70C0"/>
                </a:solidFill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5478461" y="3644106"/>
            <a:ext cx="6380895" cy="3103563"/>
            <a:chOff x="5478461" y="3644106"/>
            <a:chExt cx="6380895" cy="3103563"/>
          </a:xfrm>
        </p:grpSpPr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8461" y="3644106"/>
              <a:ext cx="6380895" cy="3103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직사각형 15"/>
            <p:cNvSpPr/>
            <p:nvPr/>
          </p:nvSpPr>
          <p:spPr>
            <a:xfrm>
              <a:off x="8886091" y="6330461"/>
              <a:ext cx="1443614" cy="4172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695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03995" y="72347"/>
            <a:ext cx="739411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2~3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외래투석의원 운영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전국 최초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</a:p>
        </p:txBody>
      </p:sp>
      <p:sp>
        <p:nvSpPr>
          <p:cNvPr id="8" name="사각형 설명선 7"/>
          <p:cNvSpPr/>
          <p:nvPr/>
        </p:nvSpPr>
        <p:spPr>
          <a:xfrm>
            <a:off x="177488" y="1034981"/>
            <a:ext cx="6263505" cy="4734223"/>
          </a:xfrm>
          <a:prstGeom prst="wedgeRectCallout">
            <a:avLst>
              <a:gd name="adj1" fmla="val 53045"/>
              <a:gd name="adj2" fmla="val 26772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1"/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의료대응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  <a:p>
            <a:pPr fontAlgn="base" latinLnBrk="1"/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▣ 운영개요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재택치료자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병상대기자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에게 필요한 경우 대면진료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검사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처방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투약 등 적절한 외래진료 제공으로 안정적 재택치료 체계구축을 위한 단기외래진료센터 운영</a:t>
            </a:r>
            <a:endParaRPr lang="en-US" altLang="ko-KR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endParaRPr lang="en-US" altLang="ko-KR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fontAlgn="base" latinLnBrk="1"/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▣ 공식적인 운영기간 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22.2.14  ~ 22.3.28</a:t>
            </a:r>
          </a:p>
          <a:p>
            <a:pPr marL="342900" indent="-342900" fontAlgn="base" latinLnBrk="1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의사 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간호사 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7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의원 수간호사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중대본간호사 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명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 fontAlgn="base" latinLnBrk="1">
              <a:buAutoNum type="arabicPeriod"/>
            </a:pP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7 beds. 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기계 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AK98</a:t>
            </a:r>
          </a:p>
          <a:p>
            <a:pPr marL="342900" indent="-342900" fontAlgn="base" latinLnBrk="1">
              <a:buAutoNum type="arabicPeriod"/>
            </a:pP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DAY: 9-9:30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 시작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 EVE: 14-14:30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 시작</a:t>
            </a:r>
            <a:endParaRPr lang="en-US" altLang="ko-KR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 fontAlgn="base" latinLnBrk="1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무증상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경증 환자 위주로 </a:t>
            </a:r>
            <a:r>
              <a:rPr lang="ko-KR" altLang="en-US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의뢰받음</a:t>
            </a:r>
            <a:endParaRPr lang="en-US" altLang="ko-KR" dirty="0">
              <a:solidFill>
                <a:schemeClr val="tx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 fontAlgn="base" latinLnBrk="1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의뢰루트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16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 구군 부산시 보건소와 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1,2,3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 의료기관 의료진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의사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fontAlgn="base" latinLnBrk="1"/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6. 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환자분포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1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 의원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(67%), 2</a:t>
            </a:r>
            <a:r>
              <a:rPr lang="ko-KR" altLang="en-US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종병급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13%), 3</a:t>
            </a:r>
            <a:r>
              <a:rPr lang="ko-KR" altLang="en-US" dirty="0" err="1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차대학병원</a:t>
            </a:r>
            <a:r>
              <a:rPr lang="en-US" altLang="ko-KR" dirty="0">
                <a:solidFill>
                  <a:schemeClr val="tx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37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01283" y="854110"/>
            <a:ext cx="3496826" cy="3091012"/>
          </a:xfrm>
          <a:prstGeom prst="rect">
            <a:avLst/>
          </a:prstGeom>
          <a:ln/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78642" y="3657599"/>
            <a:ext cx="4038933" cy="302968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9089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03995" y="72347"/>
            <a:ext cx="739411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2022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년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2~3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월의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BUSAN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부산형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 외래투석의원 운영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전국 최초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37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9085" y="585596"/>
            <a:ext cx="10972800" cy="587549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106693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23A0-1992-604D-8A8B-A1DF82394F2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-13042" y="-13193"/>
            <a:ext cx="60212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rPr>
              <a:t>38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697793" y="48362"/>
            <a:ext cx="5717512" cy="400110"/>
            <a:chOff x="4528743" y="66002"/>
            <a:chExt cx="3496827" cy="400110"/>
          </a:xfrm>
        </p:grpSpPr>
        <p:sp>
          <p:nvSpPr>
            <p:cNvPr id="7" name="TextBox 6"/>
            <p:cNvSpPr txBox="1"/>
            <p:nvPr/>
          </p:nvSpPr>
          <p:spPr>
            <a:xfrm>
              <a:off x="4528743" y="66002"/>
              <a:ext cx="3496827" cy="40011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재택치료 응급핫라인 간호사의 근무소감    </a:t>
              </a:r>
              <a:endPara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4" name="하트 3"/>
            <p:cNvSpPr/>
            <p:nvPr/>
          </p:nvSpPr>
          <p:spPr>
            <a:xfrm>
              <a:off x="7711907" y="136888"/>
              <a:ext cx="313663" cy="258337"/>
            </a:xfrm>
            <a:prstGeom prst="hear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08" y="448472"/>
            <a:ext cx="8261350" cy="628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직사각형 14"/>
          <p:cNvSpPr/>
          <p:nvPr/>
        </p:nvSpPr>
        <p:spPr>
          <a:xfrm>
            <a:off x="2112203" y="3004457"/>
            <a:ext cx="8261350" cy="20599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911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20000"/>
            <a:lum/>
          </a:blip>
          <a:srcRect/>
          <a:stretch>
            <a:fillRect l="-2000" t="-14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김동근\Desktop\2023년 부산시 감염병관계자 대상 논문발표(2023년 11월 28일, 30분)\사진\부산의료원 level d 보호복입은 간호사 사진.jp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722" y="-12187"/>
            <a:ext cx="4306277" cy="232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김동근\Desktop\2023년 부산시 감염병관계자 대상 논문발표(2023년 11월 28일, 30분)\사진\부산시청 임시선별 단체사진1.jp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06092" cy="231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C:\Users\김동근\Desktop\2023년 부산시 감염병관계자 대상 논문발표(2023년 11월 28일, 30분)\사진\총괄팀 물품정리.jp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139" y="2312376"/>
            <a:ext cx="4196861" cy="2493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:\Users\김동근\Desktop\2023년 부산시 감염병관계자 대상 논문발표(2023년 11월 28일, 30분)\사진\4월 회의.jpg"/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2312377"/>
            <a:ext cx="3923323" cy="249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 descr="C:\Users\김동근\Desktop\2023년 부산시 감염병관계자 대상 논문발표(2023년 11월 28일, 30분)\사진\5. 이소라국장님 브리핑 사진.jpg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323" y="2323653"/>
            <a:ext cx="4071816" cy="2482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13" descr="코로나19 집단감염 해뜨락요양병원서 또 확진자 나와 : 영남 : 전국 : 뉴스 : 한겨레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092" y="-35512"/>
            <a:ext cx="4079630" cy="2347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1" name="Picture 15"/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4805729"/>
            <a:ext cx="3032370" cy="1709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2" name="Picture 16" descr="C:\Users\김동근\Desktop\2023년 부산시 감염병관계자 대상 논문발표(2023년 11월 28일, 30분)\사진\보환연 박은희.jpg"/>
          <p:cNvPicPr>
            <a:picLocks noChangeAspect="1" noChangeArrowheads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032370" y="4805731"/>
            <a:ext cx="2665045" cy="170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3" name="Picture 17" descr="C:\Users\김동근\Desktop\2023년 부산시 감염병관계자 대상 논문발표(2023년 11월 28일, 30분)\사진\허목 소장님.jpg"/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415" y="4805732"/>
            <a:ext cx="3684465" cy="170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/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354646" y="4812753"/>
            <a:ext cx="3837353" cy="170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8015654" y="6563872"/>
            <a:ext cx="4176346" cy="259862"/>
          </a:xfrm>
        </p:spPr>
        <p:txBody>
          <a:bodyPr/>
          <a:lstStyle/>
          <a:p>
            <a:pPr algn="r"/>
            <a:r>
              <a:rPr lang="en-US" altLang="ko-KR" sz="12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 Light" panose="020B0303020204020204" pitchFamily="34" charset="0"/>
                <a:ea typeface="함초롬돋움" panose="020B0604000101010101" pitchFamily="50" charset="-127"/>
                <a:cs typeface="함초롬돋움" panose="020B0604000101010101" pitchFamily="50" charset="-127"/>
              </a:rPr>
              <a:t>I give God all the glory, who is alive and my Savior</a:t>
            </a:r>
            <a:endParaRPr 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 Light" panose="020B0303020204020204" pitchFamily="34" charset="0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30778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필수">
  <a:themeElements>
    <a:clrScheme name="필수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필수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필수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280B11AB954C44BB2ADB61C885D152" ma:contentTypeVersion="8" ma:contentTypeDescription="Create a new document." ma:contentTypeScope="" ma:versionID="544ff96d874a31baa8669c9b85e5880a">
  <xsd:schema xmlns:xsd="http://www.w3.org/2001/XMLSchema" xmlns:xs="http://www.w3.org/2001/XMLSchema" xmlns:p="http://schemas.microsoft.com/office/2006/metadata/properties" xmlns:ns1="http://schemas.microsoft.com/sharepoint/v3" xmlns:ns3="86765d95-7958-4d60-b35d-769de0760221" targetNamespace="http://schemas.microsoft.com/office/2006/metadata/properties" ma:root="true" ma:fieldsID="dd51112ae3eea47b8c71a444e833e717" ns1:_="" ns3:_="">
    <xsd:import namespace="http://schemas.microsoft.com/sharepoint/v3"/>
    <xsd:import namespace="86765d95-7958-4d60-b35d-769de076022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765d95-7958-4d60-b35d-769de07602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09428C-B306-4AE9-96A5-CE0EA21631B3}">
  <ds:schemaRefs>
    <ds:schemaRef ds:uri="http://schemas.microsoft.com/sharepoint/v3"/>
    <ds:schemaRef ds:uri="http://purl.org/dc/terms/"/>
    <ds:schemaRef ds:uri="http://schemas.microsoft.com/office/2006/documentManagement/types"/>
    <ds:schemaRef ds:uri="http://purl.org/dc/dcmitype/"/>
    <ds:schemaRef ds:uri="86765d95-7958-4d60-b35d-769de0760221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CD31948-364E-48C7-A8AB-F66992853111}">
  <ds:schemaRefs>
    <ds:schemaRef ds:uri="86765d95-7958-4d60-b35d-769de07602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D405D6F-42E3-4C28-8A3F-D5708EAD65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21998</TotalTime>
  <Words>8742</Words>
  <Application>Microsoft Office PowerPoint</Application>
  <PresentationFormat>와이드스크린</PresentationFormat>
  <Paragraphs>681</Paragraphs>
  <Slides>44</Slides>
  <Notes>44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8" baseType="lpstr">
      <vt:lpstr>HY엽서L</vt:lpstr>
      <vt:lpstr>굴림</vt:lpstr>
      <vt:lpstr>나눔바른펜</vt:lpstr>
      <vt:lpstr>맑은 고딕</vt:lpstr>
      <vt:lpstr>문체부 돋음체</vt:lpstr>
      <vt:lpstr>한양신명조</vt:lpstr>
      <vt:lpstr>함초롬돋움</vt:lpstr>
      <vt:lpstr>함초롬바탕</vt:lpstr>
      <vt:lpstr>Arial</vt:lpstr>
      <vt:lpstr>Arial Black</vt:lpstr>
      <vt:lpstr>Calibri</vt:lpstr>
      <vt:lpstr>Corbel Light</vt:lpstr>
      <vt:lpstr>필수</vt:lpstr>
      <vt:lpstr>워크시트</vt:lpstr>
      <vt:lpstr>Covid-19 in busan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TB</dc:title>
  <dc:creator>CDC</dc:creator>
  <cp:keywords>TB, tuberculosis</cp:keywords>
  <cp:lastModifiedBy>USER_</cp:lastModifiedBy>
  <cp:revision>3096</cp:revision>
  <cp:lastPrinted>2023-11-28T01:55:11Z</cp:lastPrinted>
  <dcterms:created xsi:type="dcterms:W3CDTF">2021-01-04T21:16:22Z</dcterms:created>
  <dcterms:modified xsi:type="dcterms:W3CDTF">2026-04-17T07:34:13Z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ContentTypeId" pid="12">
    <vt:lpwstr>0x010100B0280B11AB954C44BB2ADB61C885D152</vt:lpwstr>
  </property>
  <property fmtid="{D5CDD505-2E9C-101B-9397-08002B2CF9AE}" name="FDRClass" pid="14">
    <vt:lpwstr>0</vt:lpwstr>
  </property>
  <property fmtid="{D5CDD505-2E9C-101B-9397-08002B2CF9AE}" name="FDRSet" pid="15">
    <vt:lpwstr>manual</vt:lpwstr>
  </property>
  <property fmtid="{D5CDD505-2E9C-101B-9397-08002B2CF9AE}" name="MSIP_Label_7b94a7b8-f06c-4dfe-bdcc-9b548fd58c31_ActionId" pid="16">
    <vt:lpwstr>f0a59d1e-6c08-41a4-b5b7-5b4ff9efbc98</vt:lpwstr>
  </property>
  <property fmtid="{D5CDD505-2E9C-101B-9397-08002B2CF9AE}" name="MSIP_Label_7b94a7b8-f06c-4dfe-bdcc-9b548fd58c31_ContentBits" pid="17">
    <vt:lpwstr>0</vt:lpwstr>
  </property>
  <property fmtid="{D5CDD505-2E9C-101B-9397-08002B2CF9AE}" name="MSIP_Label_7b94a7b8-f06c-4dfe-bdcc-9b548fd58c31_Enabled" pid="18">
    <vt:lpwstr>true</vt:lpwstr>
  </property>
  <property fmtid="{D5CDD505-2E9C-101B-9397-08002B2CF9AE}" name="MSIP_Label_7b94a7b8-f06c-4dfe-bdcc-9b548fd58c31_Method" pid="19">
    <vt:lpwstr>Privileged</vt:lpwstr>
  </property>
  <property fmtid="{D5CDD505-2E9C-101B-9397-08002B2CF9AE}" name="MSIP_Label_7b94a7b8-f06c-4dfe-bdcc-9b548fd58c31_Name" pid="20">
    <vt:lpwstr>7b94a7b8-f06c-4dfe-bdcc-9b548fd58c31</vt:lpwstr>
  </property>
  <property fmtid="{D5CDD505-2E9C-101B-9397-08002B2CF9AE}" name="MSIP_Label_7b94a7b8-f06c-4dfe-bdcc-9b548fd58c31_SetDate" pid="21">
    <vt:lpwstr>2021-01-12T15:52:54Z</vt:lpwstr>
  </property>
  <property fmtid="{D5CDD505-2E9C-101B-9397-08002B2CF9AE}" name="MSIP_Label_7b94a7b8-f06c-4dfe-bdcc-9b548fd58c31_SiteId" pid="22">
    <vt:lpwstr>9ce70869-60db-44fd-abe8-d2767077fc8f</vt:lpwstr>
  </property>
  <property fmtid="{D5CDD505-2E9C-101B-9397-08002B2CF9AE}" name="Fasoo_Trace_ID" pid="23">
    <vt:lpwstr>eyJub2RlMSI6eyJkc2QiOiIwMDAwMDAwMDAwMDAwMDAwIiwibG9nVGltZSI6IjIwMjYtMTAtMjlUMDI6NDE6MjZaIiwicElEIjoyMDQ4LCJwcm9jZXNzSWQiOjI4NjY4LCJwcm9jZXNzTmFtZSI6ImZfYmF0bWdyLmV4ZSIsInRyYWNlSWQiOiJFMTBCQTg1OUJFMTU0MjYzQjhBNDk0MjlCRTM2QzYwRiIsInVzZXJDb2RlIjoibWFyaWEwMCJ9LCJub2RlMiI6eyJkc2QiOiIwMTAwMDAwMDAwMDAxNDMzIiwibG9nVGltZSI6IjIwMjYtMTAtMjlUMDM6NDg6MjRaIiwicElEIjoxLCJwcm9jZXNzSWQiOjI4NjY4LCJwcm9jZXNzTmFtZSI6ImZfYmF0bWdyLmV4ZSIsInRyYWNlSWQiOiIxMTREODgyMjVCM0E0MkRBOEY1Rjc0N0Y0NzRBNjY3OCIsInVzZXJDb2RlIjoibWFyaWEwMCJ9LCJub2RlMyI6eyJkc2QiOiIwMDAwMDAwMDAwMDAwMDAwIiwibG9nVGltZSI6IjIwMjYtMTAtMjlUMDM6NDg6NTVaIiwicElEIjoyMDQ4LCJwcm9jZXNzSWQiOjI4NjY4LCJwcm9jZXNzTmFtZSI6ImZfYmF0bWdyLmV4ZSIsInRyYWNlSWQiOiJGM0M1RUYxQjk2NzQ0NDM1QUFEMUJEN0I5OEZGNkU5RSIsInVzZXJDb2RlIjoibWFyaWEwMCJ9LCJub2RlNCI6eyJkc2QiOiIwMTAwMDAwMDAwMDAxNDMzIiwibG9nVGltZSI6IjIwMjYtMTAtMjlUMDM6NDk6NTFaIiwicElEIjoxLCJwcm9jZXNzSWQiOjI4NjY4LCJwcm9jZXNzTmFtZSI6ImZfYmF0bWdyLmV4ZSIsInRyYWNlSWQiOiI5QkVEOEFDNTBENTI0MUVEQUI2ODIyMzA3QjM2NkEzRCIsInVzZXJDb2RlIjoibWFyaWEwMCJ9LCJub2RlNSI6eyJkc2QiOiIwMDAwMDAwMDAwMDAwMDAwIiwibG9nVGltZSI6IjIwMjYtMTAtMjlUMDM6NTc6NDJaIiwicElEIjoyMDQ4LCJwcm9jZXNzSWQiOjM0NTIsInByb2Nlc3NOYW1lIjoiZl9iYXRtZ3IuZXhlIiwidHJhY2VJZCI6IkNFQTExRjk0MDAwQzQ4Q0FBRkQ3NzM1RTEyQkRENkM3IiwidXNlckNvZGUiOiJtYXJpYTAwIn0sIm5vZGVDb3VudCI6OCwicm9vdFRyYWNlSWQiOiJCNkQ1Nzk3NzVCMkY0MEI2OTFEMEIzREU2N0E4RjlDQyJ9</vt:lpwstr>
  </property>
</Properties>
</file>