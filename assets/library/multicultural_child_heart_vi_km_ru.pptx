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312" r:id="rId43"/>
    <p:sldId id="313" r:id="rId44"/>
    <p:sldId id="314" r:id="rId45"/>
    <p:sldId id="315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6" r:id="rId60"/>
    <p:sldId id="317" r:id="rId61"/>
    <p:sldId id="318" r:id="rId62"/>
    <p:sldId id="319" r:id="rId63"/>
    <p:sldId id="320" r:id="rId64"/>
    <p:sldId id="321" r:id="rId65"/>
    <p:sldId id="322" r:id="rId66"/>
    <p:sldId id="323" r:id="rId67"/>
    <p:sldId id="311" r:id="rId68"/>
  </p:sldIdLst>
  <p:sldSz cx="12192000" cy="6858000"/>
  <p:notesSz cx="9926638" cy="679767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1576" autoAdjust="0"/>
  </p:normalViewPr>
  <p:slideViewPr>
    <p:cSldViewPr snapToGrid="0" snapToObjects="1">
      <p:cViewPr varScale="1">
        <p:scale>
          <a:sx n="86" d="100"/>
          <a:sy n="86" d="100"/>
        </p:scale>
        <p:origin x="151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2251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t>안녕하세요. 사상구보건소장 이정민입니다. 저도 두 아이를 키우는 부모입니다. 오늘은 '우리 아이 마음 키우기 실천편'이라는 제목으로, 아이의 마음을 키우는 부모의 말과 행동을 함께 이야기하겠습니다.</a:t>
            </a:r>
          </a:p>
          <a:p>
            <a:r>
              <a:t>오늘 자료는 한국어와 함께 영어, 베트남어, 크메르어, 우르두어로 준비했습니다. 통역이 필요하신 분은 언제든 손을 들어 말씀해 주세요. 편안한 마음으로 시작하겠습니다.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t>오늘은 다섯 가지를 나눕니다. 첫째, 아이가 잘 자란다는 것이 무엇인지. 둘째, 부모의 화가 아이 마음에 무엇을 남기는지. 셋째, 아이를 귀하게 여기는 부모의 말 열 가지. 넷째, 비난하지 않고 내 마음을 전하는 '나 전달법'. 다섯째, 두 문화가 우리 아이의 힘이 된다는 이야기입니다.</a:t>
            </a:r>
          </a:p>
          <a:p>
            <a:r>
              <a:t>주요 내용은 5개 언어로 함께 안내하니, 모국어 문장을 보시면서 따라오시면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t>첫 번째 주제입니다. '아이가 잘 자란다'는 것은 무엇일까요? 잠시 옆에 앉으신 분과 30초만 이야기 나눠 보세요. (30초 후) 어떤 이야기가 나왔는지 한두 분만 말씀해 주시겠어요?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t>많은 분이 이렇게 생각하십니다. 공부를 잘할 때? 친구가 많을 때? 네, 두 가지 모두 소중합니다. 그런데 공부와 친구만으로 아이가 잘 자랐다고 말하기는 어렵습니다. 더 중요한 것이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t>잘 자란다는 것은 시험 점수가 높은 아이가 아니라, 몸도 마음도 건강하게 자라는 것입니다. 구체적으로 세 가지입니다. 첫째, 자신을 소중하게 생각합니다. 둘째, 다른 사람을 사랑합니다. 셋째, 실수해도 다시 도전합니다.</a:t>
            </a:r>
          </a:p>
          <a:p>
            <a:r>
              <a:t>여기에 '잘 듣는 마음' 하나를 더하면, 우리 아이 마음속에 자라야 할 네 가지가 됩니다. 다음 장부터 이 네 가지를 하나씩 살펴보겠습니다.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t>그림으로 한눈에 보겠습니다. 사랑하는 마음, 잘 듣는 마음, 실수해도 괜찮다는 마음, 그리고 나는 소중하다는 마음. 이 네 가지가 자라면 아이는 어떤 환경에서도 스스로 설 수 있습니다. 하나씩 생활 속 모습과 함께 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t>첫 번째, 사랑하는 마음입니다. 마음을 나누고 사랑을 표현하는 것입니다. 모국어 문장을 한 번씩 소리 내어 읽어 보시겠어요? 사랑은 느끼는 것만이 아니라 말과 행동으로 표현할 때 아이에게 전해집니다.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t>사랑하는 마음은 생활에서 이렇게 나타납니다. 가족이나 친구의 표정을 보고 "무슨 일 있어?"라고 물어보는 것. "고마워", "사랑해", "미안해"를 자연스럽게 말하는 것입니다.</a:t>
            </a:r>
          </a:p>
          <a:p>
            <a:r>
              <a:t>아이는 부모가 하는 말을 그대로 배웁니다. 오늘 저녁, 아이에게 이 세 마디 중 하나를 먼저 건네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t>두 번째, 잘 듣는 마음입니다. 친구의 이야기를 끝까지 경청하는 것입니다. 듣는 힘은 공부보다 먼저 배워야 할 능력입니다. 잘 듣는 아이는 친구 관계도, 학교생활도 훨씬 수월합니다.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t>생활 속 모습입니다. 친구가 이야기할 때 중간에 끼어들지 않고 끝까지 듣는 것. 그리고 들은 뒤에 "그랬구나, 그때 네 마음이 어땠어?"라고 물어보는 것입니다.</a:t>
            </a:r>
          </a:p>
          <a:p>
            <a:r>
              <a:t>이것 역시 부모가 먼저 보여 주어야 합니다. 아이가 말할 때 휴대전화를 내려놓고 끝까지 들어 주는 것, 오늘 한 번 실천해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t>세 번째, 실수해도 괜찮다는 마음입니다. 실수를 부끄러워하거나 좌절하지 않고 다시 일어서는 것입니다. 아이는 실수하면서 배웁니다. 실수가 두려운 아이는 새로운 것을 시도하지 못합니다.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t>생활 속 모습입니다. 글씨를 틀리거나 블록이 무너져도 "괜찮아, 다시 하면 돼"라고 말하며 다시 하는 것. 친구에게 실수했을 때 숨기지 않고 사과하고, 다음에는 어떻게 할지 생각하는 것입니다.</a:t>
            </a:r>
          </a:p>
          <a:p>
            <a:r>
              <a:t>아이가 실수했을 때 부모가 가장 먼저 하는 말이 무엇인지 떠올려 보세요. "괜찮아, 다시 하면 돼"가 되도록 연습해 봅시다.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t>네 번째, 나는 소중하다는 마음입니다. 다른 사람과 비교하지 않아도 괜찮다는 마음입니다. 다문화가족 아이들은 외모나 언어로 비교를 경험할 때가 있습니다. 그래서 이 마음이 더욱 중요합니다.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t>생활 속 모습입니다. 친구가 나보다 잘하는 것이 있어도 "나에게도 잘하는 것과 좋은 점이 있어"라고 생각하는 것. 일등을 못 하거나 칭찬을 못 받아도 노력한 자신을 인정하고 격려하는 것입니다.</a:t>
            </a:r>
          </a:p>
          <a:p>
            <a:r>
              <a:t>이 마음은 부모가 아이를 다른 아이와 비교하지 않을 때 자랍니다. "형은 잘하는데 너는 왜"라는 말을 줄이는 것부터 시작해 봅시다.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t>첫 번째 주제를 정리합니다. 아이를 가장 크게 성장시키는 것은 비싼 장난감도, 좋은 학원도 아닙니다. 부모와의 좋은 관계입니다. 관계가 좋으면 마음이 편안해지고, 마음이 편안하면 새로운 것에 도전하고, 도전하면서 배우고 성장합니다. 이 순환을 기억해 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t>두 번째 주제입니다. 부모의 화가 아이 마음에 남기는 것. 먼저 분명히 말씀드립니다. 이 장은 부모를 탓하기 위한 내용이 아닙니다. 화는 누구나 냅니다. 저도 냅니다. 다만 화가 반복될 때 아이 마음에 어떤 자국이 남는지 알면, 회복하는 방법도 알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t>열두 가지 모습을 먼저 한눈에 보여 드립니다. 눈치 보기, 감정 설명의 어려움, 거짓말, 휘둘림, 자책, 행복을 못 느낌, 감정 폭발, 도전 두려움, 가까운 사람에게 감정 쏟기, 부족하다는 느낌, 비난에 민감, 그리고 불안.</a:t>
            </a:r>
          </a:p>
          <a:p>
            <a:r>
              <a:t>하단의 문장을 5개 언어로 함께 읽겠습니다. "모든 아이가 이렇게 되는 것은 아닙니다. 화를 낸 날이 있어도 다시 안아 주고 설명해 주면 아이 마음은 회복됩니다." 중요한 것은 죄책감이 아니라 방향입니다. 통역과 함께 반드시 소리 내어 읽어 주십시오.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t>첫째, 늘 다른 사람의 눈치를 먼저 보는 아이가 될 수 있습니다. 집안 분위기가 갑자기 바뀌는 경험이 반복되면, 아이는 "먼저 눈치를 봐야 안전하다"라고 배웁니다. 눈치 빠른 아이가 착한 아이처럼 보일 수 있지만, 사실은 긴장하고 있는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t>둘째, 자신의 감정을 설명하기 어려워할 수 있습니다. 화, 슬픔, 억울함을 건강하게 표현하는 방법을 배우지 못했기 때문입니다. 감정에는 이름이 있습니다. "속상했구나", "무서웠구나"라고 부모가 이름을 붙여 줄 때 아이는 감정을 말로 표현하는 법을 배웁니다.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t>셋째, 혼나지 않기 위해 거짓말부터 배울 수 있습니다. 솔직함보다 '위험 피하기'가 더 중요해지기 때문입니다. 아이가 거짓말을 했을 때, 거짓말 자체를 혼내기 전에 "왜 사실대로 말하기 어려웠을까"를 먼저 생각해 보시면 좋겠습니다.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t>넷째, 다른 사람에게 쉽게 휘둘릴 수 있습니다. 큰 목소리와 강한 말투에 위축되어, 싫은 부탁도 거절하지 못하게 됩니다. 집에서 "싫어요"라고 말해도 안전하다는 경험이 있어야, 밖에서도 "싫어"라고 말할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t>다섯째, 작은 실패에도 자신을 심하게 자책할 수 있습니다. 어릴 때부터 '실수는 곧 비난받는 일'이라고 느끼며 자랐기 때문입니다. 앞에서 본 "괜찮아, 다시 하면 돼"가 왜 중요한지 여기서 다시 연결됩니다.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t>여섯째, 좋은 일이 있어도 쉽게 행복해하지 못할 수 있습니다. 늘 긴장하며 살아온 아이는 편안한 상태 자체를 낯설게 느낍니다. 칭찬을 받아도 "다음엔 혼나겠지"라고 생각하는 아이가 있다면, 이런 배경을 떠올려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t>일곱째, 감정을 계속 참다가 한꺼번에 폭발할 수 있습니다. 감정을 차분하게 해소하는 방법보다 억누르거나 터뜨리는 방식만 배웠기 때문입니다. 부모가 화를 차분하게 표현하는 모습이 곧 아이의 교과서가 됩니다. 이것이 네 번째 주제인 나 전달법과 이어집니다.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t>여덟째, 새로운 도전을 두려워하는 성향이 강해질 수 있습니다. 실패해도 안전하고 괜찮다는 확신을 충분히 받지 못했기 때문입니다. "실패해도 엄마 아빠는 네 편이야"라는 말을 아이는 몇 번이나 들어 보았을까요.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t>아홉째, 가장 가까운 사람에게 감정을 쏟아낼 수 있습니다. 가까운 사람에게 함부로 화를 내는 모습을 보고 배운 경우가 많기 때문입니다. 아이는 부모가 서로를 대하는 모습에서 '가까운 사람을 대하는 법'을 배웁니다.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t>열째, 자신을 자꾸 부족한 사람이라고 느낄 수 있습니다. 반복된 비난과 비교는 아이 마음속에 "나는 문제가 있는 사람"이라는 생각을 남깁니다. 이 생각은 어른이 되어서도 오래 남습니다.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t>열한째, 칭찬보다 비난에 더 민감해질 수 있습니다. 좋은 말을 듣는 것보다 혼나고 비난받는 경험이 더 익숙했기 때문입니다. 열 번 칭찬해도 한 번 비난이 더 크게 남는 아이가 있다면, 칭찬의 횟수를 더 늘려야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t>열두째, 불안을 기본 감정처럼 안고 살아갈 수 있습니다. 언제 집안 분위기가 바뀔지 몰랐던 어린 시절의 긴장이 몸과 마음에 남아 있기 때문입니다.</a:t>
            </a:r>
          </a:p>
          <a:p>
            <a:r>
              <a:t>열두 가지를 모두 보셨습니다. 다시 한 번 말씀드립니다. 화를 낸 뒤에 안아 주고 설명하는 '회복의 대화'가 있으면 아이 마음은 다시 자랍니다. 그 회복의 말을 지금부터 배우겠습니다.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t>세 번째 주제입니다. 아이를 귀하게 여기는 부모의 말 열 가지. 지금부터 열 문장을 함께 읽겠습니다. 한 문장씩 천천히, 마음을 담아 소리 내어 읽어 보세요. 한 번은 한국어로, 한 번은 각자의 모국어로 읽습니다.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t>첫 번째 문장입니다. "네가 와준 건 엄마(아빠)에게 가장 큰 선물이야." 함께 읽겠습니다. (한국어, 모국어 순으로 읽기) 아이가 태어난 날을 떠올리며 읽어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t>두 번째 문장입니다. "널 만난 건 내 인생에서 가장 기쁜 순간이었어." 함께 읽겠습니다. (한국어, 모국어 순으로 읽기)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t>세 번째 문장입니다. "네가 웃으면 세상도 함께 웃는 것 같아." 함께 읽겠습니다. (한국어, 모국어 순으로 읽기) 아이의 웃는 얼굴을 떠올려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t>네 번째 문장입니다. "너는 그대로도 충분히 빛나는 아이야." 함께 읽겠습니다. (한국어, 모국어 순으로 읽기) 비교하지 않는 마음, 앞에서 본 네 번째 마음과 이어지는 문장입니다.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t>다섯 번째 문장입니다. "네가 내 곁에 있다는 사실만으로 행복해." 함께 읽겠습니다. (한국어, 모국어 순으로 읽기)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t>여섯 번째 문장입니다. "네가 하는 작은 일 하나도 엄마(아빠)에겐 기쁨이야." 함께 읽겠습니다. (한국어, 모국어 순으로 읽기) 큰 성과가 아니라 작은 일에 기뻐하는 부모가 아이를 자라게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t>일곱 번째 문장입니다. "네가 오늘도 건강하게 웃어준 것만으로 감사해." 함께 읽겠습니다. (한국어, 모국어 순으로 읽기) 보건소장으로서 특히 좋아하는 문장입니다. 건강하게 웃는 것, 그것이 기본이고 전부입니다.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t>여덟 번째 문장입니다. "너와 함께 걷는 길이 내 인생 최고의 여행이야." 함께 읽겠습니다. (한국어, 모국어 순으로 읽기)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t>아홉 번째 문장입니다. "네가 내 아이인 게 자랑스럽고 또 고마워." 함께 읽겠습니다. (한국어, 모국어 순으로 읽기)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t>열 번째 문장입니다. "너는 있는 그대로 충분히 소중한 존재야." 함께 읽겠습니다. (한국어, 모국어 순으로 읽기) 열 문장 중 하나만 기억하신다면 이 문장을 기억해 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t>열 문장을 한 장에 모았습니다. 이 장은 그대로 가정 배포용 유인물로 드립니다. 하루에 한 문장씩, 열흘 동안 아이에게 말해 보시기를 권합니다. 냉장고나 아이 방 문에 붙여 두시면 좋습니다.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t>영어 병기본입니다. 진한 문장을 모국어로 먼저 읽고, 아래 회색 한국어 문장을 함께 소리 내어 따라 읽습니다. 영어를 쓰시는 분들, 함께 읽어 보시겠어요?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t>베트남어 병기본입니다. 진한 문장을 모국어로 먼저 읽고, 아래 한국어 문장을 함께 따라 읽습니다. 베트남어를 쓰시는 분들, 함께 읽어 보시겠어요?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t>크메르어 병기본입니다. 진한 문장을 모국어로 먼저 읽고, 아래 한국어 문장을 함께 따라 읽습니다. 크메르어를 쓰시는 분들, 함께 읽어 보시겠어요?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t>우르두어 병기본입니다. 진한 문장을 모국어로 먼저 읽고, 아래 한국어 문장을 함께 따라 읽습니다. 우르두어를 쓰시는 분들, 함께 읽어 보시겠어요?</a:t>
            </a:r>
          </a:p>
          <a:p>
            <a:r>
              <a:t>네 가지 언어로 모두 읽어 보았습니다. 같은 마음이 다른 소리로 전해지는 것을 느끼셨을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t>네 번째 주제입니다. 나 전달법, 영어로 I-Message입니다. 사랑하는 말을 배웠으니, 이제 화가 나거나 속상할 때 그 마음을 어떻게 전하는지 배우겠습니다. 두 번째 주제에서 본 열두 가지를 막는 가장 실제적인 방법입니다.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t>나 전달법이란 상대를 비난하지 않고 내 마음을 전하는 말하기 방법입니다. 우리는 대화할 때 "너는 왜 그래?"라는 말을 자주 합니다. 그런데 '너'로 시작하면 상대는 비난받는다고 느껴 방어하거나 마음을 닫기 쉽습니다. '나'로 시작하면 내 마음을 설명하는 말이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t>'너 전달법'과 '나 전달법'의 차이입니다. 너 전달법은 상대를 비난하거나 평가하여 방어적인 태도와 갈등을 키웁니다. 나 전달법은 내 감정과 생각을 솔직하게 표현하여 서로 이해하고 좋은 관계를 만듭니다.</a:t>
            </a:r>
          </a:p>
          <a:p>
            <a:r>
              <a:t>핵심은 간단합니다. '너'는 상대를 평가하는 말이 되기 쉽고, '나'는 내 마음을 설명하는 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t>나 전달법은 세 단계입니다. 첫째, 상황. 있었던 일을 그대로 말합니다. "네가 약속한 시간보다 늦게 왔을 때." 둘째, 감정. 내 마음을 말합니다. "엄마는 많이 걱정됐어." 셋째, 바람. 원하는 것을 말합니다. "다음엔 늦으면 꼭 연락해 주면 좋겠어."</a:t>
            </a:r>
          </a:p>
          <a:p>
            <a:r>
              <a:t>세 가지를 이어서 말하면 아이는 무엇을 해야 할지 알 수 있습니다. 감정만 말하면 아이는 혼란스럽습니다. 상황, 감정, 바람. 이 순서를 기억해 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t>첫 번째 상황, 약속 시간에 늦었을 때입니다. 왼쪽, "너는 왜 늦었어?" 이렇게 말하면 아이는 변명부터 생각합니다. 오른쪽, "네가 늦게 와서 나는 많이 걱정됐어. 다음엔 꼭 연락해 줘." 상황, 감정, 바람이 모두 들어 있습니다. 모국어 문장으로도 한 번 읽어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t>두 번째 상황, 내 말을 듣지 않는다고 느낄 때입니다. 왼쪽, "너는 내 말을 왜 안 들어?" 오른쪽, "내가 말할 때 네가 듣지 않으면 나는 속상해. 내 이야기를 들어주면 좋겠어." 같은 상황인데 아이가 듣는 느낌이 완전히 다릅니다.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t>세 번째 상황, 화가 날 때입니다. 왼쪽, "너 때문에 화났어." 이 말은 아이에게 책임을 모두 넘깁니다. 오른쪽, "네가 약속을 지키지 않으면 나는 속상하고 마음이 힘들어. 약속은 지켜 주면 좋겠어." 화가 날 때일수록 '나'로 시작하는 연습이 필요합니다.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t>네 번째 상황, 아이가 떠들 때입니다. 왼쪽, "너는 너무 시끄러워." 오른쪽, "네가 크게 떠들면 나는 힘들어. 조금만 조용히 해 주면 좋겠어." 평가 대신 내 상태와 바람을 말하는 것입니다. 네 가지 상황을 모두 보셨습니다. 이제 직접 연습해 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t>오늘의 연습입니다. 요즘 아이에게 자주 하는 말 한 가지를 떠올려 보세요. 왼쪽에 그 말을 적고, 오른쪽에 상황, 감정, 바람 순서로 바꾸어 적습니다. 모국어로 적으셔도 됩니다.</a:t>
            </a:r>
          </a:p>
          <a:p>
            <a:r>
              <a:t>통역과 함께 2인 1조로 진행하겠습니다. 3분에서 5분 드리겠습니다. 다 적으신 분은 짝과 소리 내어 말해 보시고, 오늘 저녁 집에서 한 번 사용해 보세요. (연습 후 한두 분 발표)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t>마지막 다섯 번째 주제입니다. 두 문화는 나의 힘. 우리 아이가 가진 두 문화를 약점이 아니라 힘으로 세워 주는 방법을 이야기하겠습니다.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t>다문화 부모 일곱 가지 다짐입니다. 함께 읽겠습니다. 첫째, 엄마 나라와 아빠 나라를 모두 소중히 여기도록 가르치겠습니다. 둘째, 두 나라 말을 즐겁게 배우도록 돕겠습니다. 셋째, 있는 모습 그대로 사랑하겠습니다. 넷째, 힘들 때 언제나 함께하겠습니다. 다섯째, 이야기를 끝까지 들어주겠습니다. 여섯째, 서로 다른 문화를 존중하는 모습을 먼저 보여주겠습니다. 일곱째, 두 나라를 이어주는 멋진 사람으로 자랄 것을 믿고 응원하겠습니다.</a:t>
            </a:r>
          </a:p>
          <a:p>
            <a:r>
              <a:t>이어서 아이의 일곱 가지 다짐도 함께 읽습니다. 가정에 붙여 두고 함께 읽어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t>영어 병기본입니다. 영어를 쓰시는 분들이 모국어로 한 문장씩 읽고, 모두 함께 한국어 문장을 따라 읽겠습니다. 특히 둘째 다짐, 두 나라 말을 즐겁게 배우도록 돕는 것. 모국어를 가르치는 것은 아이에게 또 하나의 세계를 주는 일입니다.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t>베트남어 병기본입니다. 베트남어를 쓰시는 분들이 모국어로 한 문장씩 읽고, 모두 함께 한국어 문장을 따라 읽겠습니다. 집에서 엄마 나라 말로 아이와 대화하는 것을 부끄러워하지 마세요. 이중언어는 아이의 큰 자산입니다.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t>크메르어 병기본입니다. 크메르어를 쓰시는 분들이 모국어로 한 문장씩 읽고, 모두 함께 한국어 문장을 따라 읽겠습니다.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t>우르두어 병기본입니다. 우르두어를 쓰시는 분들이 모국어로 한 문장씩 읽고, 모두 함께 한국어 문장을 따라 읽겠습니다. 부모의 다짐을 네 가지 언어로 모두 읽었습니다. 이제 아이의 다짐입니다.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t>다문화가족 자녀 일곱 가지 다짐입니다. 이것은 아이가 읽는 문장입니다. 집에 가서 아이와 함께 읽어 주세요. 첫째, 엄마 나라와 아빠 나라를 모두 사랑해요. 둘째, 두 나라 말을 할 수 있어서 자랑스러워요. 셋째, 지금 이 모습 그대로 소중한 아이예요. 넷째, 나와 다른 친구도 존중해요. 다섯째, 누가 뭐라고 해도 씩씩하고 자신 있어요. 여섯째, 힘들거나 속상하면 엄마, 아빠, 선생님께 이야기해요. 일곱째, 두 나라를 이어주는 멋진 사람이 될 거예요.</a:t>
            </a:r>
          </a:p>
          <a:p>
            <a:r>
              <a:t>여섯째 다짐이 특히 중요합니다. 힘들 때 말할 수 있는 어른이 있다는 것, 그것이 아이를 지킵니다.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t>영어 병기본입니다. 아이가 영어와 한국어로 함께 읽을 수 있도록 만들었습니다. 집에서 아이와 함께 읽어 주세요.</a:t>
            </a: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t>베트남어 병기본입니다. 아이가 베트남어와 한국어로 함께 읽을 수 있도록 만들었습니다. 집에서 아이와 함께 읽어 주세요.</a:t>
            </a: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t>크메르어 병기본입니다. 아이가 크메르어와 한국어로 함께 읽을 수 있도록 만들었습니다. 집에서 아이와 함께 읽어 주세요.</a:t>
            </a: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t>우르두어 병기본입니다. 아이가 우르두어와 한국어로 함께 읽을 수 있도록 만들었습니다. 집에서 아이와 함께 읽어 주세요. 다짐 자료는 모두 가정 배포용으로 드립니다.</a:t>
            </a: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t>오늘 함께 기억할 두 문장입니다. 부모의 문장, "우리 아이의 두 문화는 우리 가족의 힘입니다." 아이의 문장, "두 문화 모두 내 것이고, 둘 다 소중해요."</a:t>
            </a:r>
          </a:p>
          <a:p>
            <a:r>
              <a:t>5개 언어로 한 번씩 함께 읽겠습니다. (전체 낭독) 오늘 강의 전체를 이 두 문장으로 요약할 수 있습니다.</a:t>
            </a: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t>오늘 다섯 가지를 나누었습니다. 잘 자란다는 것의 의미, 부모의 화가 남기는 것, 아이를 귀하게 여기는 열 문장, 나 전달법, 그리고 두 문화는 나의 힘.</a:t>
            </a:r>
          </a:p>
          <a:p>
            <a:r>
              <a:t>오늘 집에 가서 딱 세 가지만 해 보세요. 열 문장 중 한 문장 말하기, 나 전달법으로 한 문장 바꾸어 말하기, 그리고 아이의 다짐을 함께 읽기입니다.</a:t>
            </a:r>
          </a:p>
          <a:p>
            <a:r>
              <a:t>궁금한 점은 사상구보건소로 연락 주시고, 다국어 상담이 필요하시면 다누리콜센터 1577-1366으로 전화하시면 됩니다. 오늘부터 우리 가족의 행복을 함께 시작해요.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737360"/>
            <a:ext cx="4754880" cy="4754880"/>
          </a:xfrm>
          <a:prstGeom prst="ellipse">
            <a:avLst/>
          </a:prstGeom>
          <a:solidFill>
            <a:srgbClr val="FDE4E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9966960" y="4297680"/>
            <a:ext cx="4023360" cy="4023360"/>
          </a:xfrm>
          <a:prstGeom prst="ellipse">
            <a:avLst/>
          </a:prstGeom>
          <a:solidFill>
            <a:srgbClr val="FCE9D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424160" y="-1005840"/>
            <a:ext cx="2377440" cy="2377440"/>
          </a:xfrm>
          <a:prstGeom prst="ellipse">
            <a:avLst/>
          </a:prstGeom>
          <a:solidFill>
            <a:srgbClr val="E6F0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914400" y="16916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E24B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다문화가족 부모교육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14884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아이 </a:t>
            </a:r>
            <a:r>
              <a:rPr lang="en-US" sz="5400" b="1" dirty="0" err="1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</a:t>
            </a:r>
            <a:r>
              <a:rPr lang="en-US" sz="54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5400" b="1" dirty="0" err="1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키우기</a:t>
            </a:r>
            <a:r>
              <a:rPr lang="en-US" sz="54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5400" b="1" dirty="0" err="1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실천편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1546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E24B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Nurturing Our Children’s Hearts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14400" y="3886200"/>
            <a:ext cx="63093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0D7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14400" y="388620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E65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한국어</a:t>
            </a:r>
            <a:r>
              <a:rPr lang="en-US" sz="1200" b="1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English  ·  Tiếng Việt  ·  </a:t>
            </a:r>
            <a:r>
              <a:rPr lang="en-US" sz="1200" b="1" dirty="0">
                <a:solidFill>
                  <a:srgbClr val="6E65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ភាសាខ្មែរ</a:t>
            </a:r>
            <a:r>
              <a:rPr lang="en-US" sz="1200" b="1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r>
              <a:rPr lang="en-US" sz="1200" b="1" dirty="0">
                <a:solidFill>
                  <a:srgbClr val="6E6580"/>
                </a:solidFill>
                <a:latin typeface="Calibri" pitchFamily="34" charset="0"/>
                <a:ea typeface="Segoe UI" pitchFamily="34" charset="-122"/>
                <a:cs typeface="Segoe UI" pitchFamily="34" charset="-120"/>
              </a:rPr>
              <a:t>Русский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80060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사상구보건소  |  보건소장 이정민</a:t>
            </a:r>
            <a:endParaRPr lang="en-US" sz="2000" b="1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514807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아이의 마음을 키우는 부모의 말과 행동</a:t>
            </a:r>
            <a:endParaRPr lang="en-US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84632"/>
            <a:ext cx="137160" cy="137160"/>
          </a:xfrm>
          <a:prstGeom prst="ellipse">
            <a:avLst/>
          </a:prstGeom>
          <a:solidFill>
            <a:srgbClr val="E24B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24B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CONTENTS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589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함께 나눌 다섯 가지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16736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5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내용은 5개 언어로 함께 안내합니다.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10512"/>
            <a:ext cx="11274552" cy="822960"/>
          </a:xfrm>
          <a:prstGeom prst="roundRect">
            <a:avLst>
              <a:gd name="adj" fmla="val 12222"/>
            </a:avLst>
          </a:prstGeom>
          <a:solidFill>
            <a:srgbClr val="FFF1F2"/>
          </a:solidFill>
          <a:ln w="12700">
            <a:solidFill>
              <a:srgbClr val="F6CB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676656" y="1984248"/>
            <a:ext cx="475488" cy="475488"/>
          </a:xfrm>
          <a:prstGeom prst="ellipse">
            <a:avLst/>
          </a:prstGeom>
          <a:solidFill>
            <a:srgbClr val="E24B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676656" y="1984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1883664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아이가 잘 자란다는 것은?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53312" y="2267712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it mean for a child to grow up well?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11274552" cy="822960"/>
          </a:xfrm>
          <a:prstGeom prst="roundRect">
            <a:avLst>
              <a:gd name="adj" fmla="val 12222"/>
            </a:avLst>
          </a:prstGeom>
          <a:solidFill>
            <a:srgbClr val="EDF4FC"/>
          </a:solidFill>
          <a:ln w="12700">
            <a:solidFill>
              <a:srgbClr val="C6DC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76656" y="2916936"/>
            <a:ext cx="475488" cy="475488"/>
          </a:xfrm>
          <a:prstGeom prst="ellipse">
            <a:avLst/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676656" y="29169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53312" y="2816352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부모의 화가 아이 마음에 남기는 것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320040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parent’s anger can leave in a child’s heart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675888"/>
            <a:ext cx="11274552" cy="822960"/>
          </a:xfrm>
          <a:prstGeom prst="roundRect">
            <a:avLst>
              <a:gd name="adj" fmla="val 12222"/>
            </a:avLst>
          </a:prstGeom>
          <a:solidFill>
            <a:srgbClr val="FFF5E4"/>
          </a:solidFill>
          <a:ln w="12700">
            <a:solidFill>
              <a:srgbClr val="F3DAA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76656" y="3849624"/>
            <a:ext cx="475488" cy="475488"/>
          </a:xfrm>
          <a:prstGeom prst="ellipse">
            <a:avLst/>
          </a:prstGeom>
          <a:solidFill>
            <a:srgbClr val="D082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676656" y="38496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353312" y="374904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아이를 귀하게 여기는 부모의 말 10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353312" y="413308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sentences that tell a child they matter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4608576"/>
            <a:ext cx="11274552" cy="822960"/>
          </a:xfrm>
          <a:prstGeom prst="roundRect">
            <a:avLst>
              <a:gd name="adj" fmla="val 12222"/>
            </a:avLst>
          </a:prstGeom>
          <a:solidFill>
            <a:srgbClr val="F3EDFC"/>
          </a:solidFill>
          <a:ln w="12700">
            <a:solidFill>
              <a:srgbClr val="DBCAF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676656" y="4782312"/>
            <a:ext cx="475488" cy="475488"/>
          </a:xfrm>
          <a:prstGeom prst="ellipse">
            <a:avLst/>
          </a:prstGeom>
          <a:solidFill>
            <a:srgbClr val="7C50C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676656" y="47823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353312" y="4681728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전달법 (I-Message)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1353312" y="5065776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Speaking my feelings without blaming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57200" y="5541264"/>
            <a:ext cx="11274552" cy="822960"/>
          </a:xfrm>
          <a:prstGeom prst="roundRect">
            <a:avLst>
              <a:gd name="adj" fmla="val 12222"/>
            </a:avLst>
          </a:prstGeom>
          <a:solidFill>
            <a:srgbClr val="EEF7EC"/>
          </a:solidFill>
          <a:ln w="12700">
            <a:solidFill>
              <a:srgbClr val="C9E4C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676656" y="5715000"/>
            <a:ext cx="475488" cy="475488"/>
          </a:xfrm>
          <a:prstGeom prst="ellipse">
            <a:avLst/>
          </a:prstGeom>
          <a:solidFill>
            <a:srgbClr val="3F95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676656" y="5715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1353312" y="561441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문화는 나의 힘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1353312" y="5998464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cultures, my strength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24B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5120640" cy="5120640"/>
          </a:xfrm>
          <a:prstGeom prst="ellipse">
            <a:avLst/>
          </a:prstGeom>
          <a:solidFill>
            <a:srgbClr val="B9303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-1097280" y="4480560"/>
            <a:ext cx="3291840" cy="3291840"/>
          </a:xfrm>
          <a:prstGeom prst="ellipse">
            <a:avLst/>
          </a:prstGeom>
          <a:solidFill>
            <a:srgbClr val="B9303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10058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2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92608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아이가 잘 자란다는 것은?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79476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it mean for a child to grow up well?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457200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>
                    <a:alpha val="7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한국어</a:t>
            </a:r>
            <a:r>
              <a:rPr lang="en-US" sz="1350" b="1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English  ·  Tiếng Việt  ·  </a:t>
            </a:r>
            <a:r>
              <a:rPr lang="en-US" sz="1350" b="1" dirty="0">
                <a:solidFill>
                  <a:srgbClr val="FFFFFF">
                    <a:alpha val="75000"/>
                  </a:srgbClr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ភាសាខ្មែរ</a:t>
            </a:r>
            <a:r>
              <a:rPr lang="en-US" sz="1350" b="1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r>
              <a:rPr lang="en-US" sz="1350" b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Segoe UI" pitchFamily="34" charset="-122"/>
                <a:cs typeface="Segoe UI" pitchFamily="34" charset="-120"/>
              </a:rPr>
              <a:t>Русский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84632"/>
            <a:ext cx="137160" cy="137160"/>
          </a:xfrm>
          <a:prstGeom prst="ellipse">
            <a:avLst/>
          </a:prstGeom>
          <a:solidFill>
            <a:srgbClr val="E24B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24B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아이가 잘 자란다는 것은?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589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아이가 잘 자란다는 것은 무슨 뜻일까요?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486400" cy="3429000"/>
          </a:xfrm>
          <a:prstGeom prst="roundRect">
            <a:avLst>
              <a:gd name="adj" fmla="val 2933"/>
            </a:avLst>
          </a:prstGeom>
          <a:solidFill>
            <a:srgbClr val="FFF1F2"/>
          </a:solidFill>
          <a:ln w="12700">
            <a:solidFill>
              <a:srgbClr val="F6CB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731520" y="19202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공부를 잘할 때?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761488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2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When a child does well in school?</a:t>
            </a:r>
            <a:endParaRPr lang="en-US" sz="2000" b="1" dirty="0"/>
          </a:p>
          <a:p>
            <a:pPr marL="0" indent="0" algn="ctr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2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Khi trẻ học giỏi?</a:t>
            </a:r>
            <a:endParaRPr lang="en-US" sz="2000" b="1" dirty="0"/>
          </a:p>
          <a:p>
            <a:pPr marL="0" indent="0" algn="ctr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b="1" dirty="0"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នៅពេលកុមាររៀនពូកែ?</a:t>
            </a:r>
            <a:endParaRPr lang="en-US" sz="2000" b="1" dirty="0"/>
          </a:p>
          <a:p>
            <a:pPr marL="0" indent="0" algn="ctr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2000" b="1" dirty="0">
                <a:latin typeface="Calibri" pitchFamily="34" charset="0"/>
                <a:ea typeface="Segoe UI" pitchFamily="34" charset="-122"/>
                <a:cs typeface="Calibri" pitchFamily="34" charset="-120"/>
              </a:rPr>
              <a:t>Когда ребёнок хорошо учится?</a:t>
            </a:r>
            <a:endParaRPr lang="en-US" sz="2000" b="1" dirty="0"/>
          </a:p>
        </p:txBody>
      </p:sp>
      <p:sp>
        <p:nvSpPr>
          <p:cNvPr id="8" name="Shape 6"/>
          <p:cNvSpPr/>
          <p:nvPr/>
        </p:nvSpPr>
        <p:spPr>
          <a:xfrm>
            <a:off x="6245352" y="1737360"/>
            <a:ext cx="5486400" cy="3429000"/>
          </a:xfrm>
          <a:prstGeom prst="roundRect">
            <a:avLst>
              <a:gd name="adj" fmla="val 2933"/>
            </a:avLst>
          </a:prstGeom>
          <a:solidFill>
            <a:srgbClr val="EDF4FC"/>
          </a:solidFill>
          <a:ln w="12700">
            <a:solidFill>
              <a:srgbClr val="C6DC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6519672" y="19202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많을 때?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6519672" y="2761488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2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When a child has many friends?</a:t>
            </a:r>
            <a:endParaRPr lang="en-US" sz="2400" b="1" dirty="0"/>
          </a:p>
          <a:p>
            <a:pPr marL="0" indent="0" algn="ctr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2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Khi trẻ có nhiều bạn bè?</a:t>
            </a:r>
            <a:endParaRPr lang="en-US" sz="2400" b="1" dirty="0"/>
          </a:p>
          <a:p>
            <a:pPr marL="0" indent="0" algn="ctr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2000" b="1" dirty="0"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នៅពេលកុមារមានមិត្តភក្តិច្រើន?</a:t>
            </a:r>
            <a:endParaRPr lang="en-US" sz="2400" b="1" dirty="0"/>
          </a:p>
          <a:p>
            <a:pPr marL="0" indent="0" algn="ctr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2400" b="1" dirty="0">
                <a:latin typeface="Calibri" pitchFamily="34" charset="0"/>
                <a:ea typeface="Segoe UI" pitchFamily="34" charset="-122"/>
                <a:cs typeface="Calibri" pitchFamily="34" charset="-120"/>
              </a:rPr>
              <a:t>Когда у ребёнка много друзей?</a:t>
            </a:r>
            <a:endParaRPr lang="en-US" sz="2400" b="1" dirty="0"/>
          </a:p>
        </p:txBody>
      </p:sp>
      <p:sp>
        <p:nvSpPr>
          <p:cNvPr id="11" name="Shape 9"/>
          <p:cNvSpPr/>
          <p:nvPr/>
        </p:nvSpPr>
        <p:spPr>
          <a:xfrm>
            <a:off x="457200" y="5440680"/>
            <a:ext cx="11274552" cy="960120"/>
          </a:xfrm>
          <a:prstGeom prst="roundRect">
            <a:avLst>
              <a:gd name="adj" fmla="val 10476"/>
            </a:avLst>
          </a:prstGeom>
          <a:solidFill>
            <a:srgbClr val="E24B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822960" y="544068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 모두 소중합니다. 그런데 아이가 ‘잘 자란다’는 것에는 더 중요한 것이 있습니다.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84632"/>
            <a:ext cx="137160" cy="137160"/>
          </a:xfrm>
          <a:prstGeom prst="ellipse">
            <a:avLst/>
          </a:prstGeom>
          <a:solidFill>
            <a:srgbClr val="E24B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24B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아이가 잘 자란다는 것은?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589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자란다는 것은 이런 뜻입니다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74552" cy="1234440"/>
          </a:xfrm>
          <a:prstGeom prst="roundRect">
            <a:avLst>
              <a:gd name="adj" fmla="val 8148"/>
            </a:avLst>
          </a:prstGeom>
          <a:solidFill>
            <a:srgbClr val="FFF1F2"/>
          </a:solidFill>
          <a:ln w="12700">
            <a:solidFill>
              <a:srgbClr val="F6CB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868680" y="1691640"/>
            <a:ext cx="10424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B9303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 점수가 높은 아이가 아니라, 몸도 마음도 건강하게 자라는 것입니다.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457200" y="3246120"/>
            <a:ext cx="3502152" cy="1600200"/>
          </a:xfrm>
          <a:prstGeom prst="roundRect">
            <a:avLst>
              <a:gd name="adj" fmla="val 6286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731520" y="3520440"/>
            <a:ext cx="402336" cy="402336"/>
          </a:xfrm>
          <a:prstGeom prst="ellipse">
            <a:avLst/>
          </a:prstGeom>
          <a:solidFill>
            <a:srgbClr val="E24B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731520" y="3520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023360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자신을 소중하게 생각합니다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425696"/>
            <a:ext cx="2953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Values who they are</a:t>
            </a:r>
            <a:endParaRPr lang="en-US" sz="1600" b="1" dirty="0"/>
          </a:p>
        </p:txBody>
      </p:sp>
      <p:sp>
        <p:nvSpPr>
          <p:cNvPr id="12" name="Shape 10"/>
          <p:cNvSpPr/>
          <p:nvPr/>
        </p:nvSpPr>
        <p:spPr>
          <a:xfrm>
            <a:off x="4261104" y="3246120"/>
            <a:ext cx="3502152" cy="1600200"/>
          </a:xfrm>
          <a:prstGeom prst="roundRect">
            <a:avLst>
              <a:gd name="adj" fmla="val 6286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535424" y="3520440"/>
            <a:ext cx="402336" cy="402336"/>
          </a:xfrm>
          <a:prstGeom prst="ellipse">
            <a:avLst/>
          </a:prstGeom>
          <a:solidFill>
            <a:srgbClr val="E24B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4535424" y="3520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35424" y="4023360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사람을 사랑합니다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535424" y="4425696"/>
            <a:ext cx="2953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Loves others</a:t>
            </a:r>
            <a:endParaRPr lang="en-US" sz="1600" b="1" dirty="0"/>
          </a:p>
        </p:txBody>
      </p:sp>
      <p:sp>
        <p:nvSpPr>
          <p:cNvPr id="17" name="Shape 15"/>
          <p:cNvSpPr/>
          <p:nvPr/>
        </p:nvSpPr>
        <p:spPr>
          <a:xfrm>
            <a:off x="8065008" y="3246120"/>
            <a:ext cx="3502152" cy="1600200"/>
          </a:xfrm>
          <a:prstGeom prst="roundRect">
            <a:avLst>
              <a:gd name="adj" fmla="val 6286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8339328" y="3520440"/>
            <a:ext cx="402336" cy="402336"/>
          </a:xfrm>
          <a:prstGeom prst="ellipse">
            <a:avLst/>
          </a:prstGeom>
          <a:solidFill>
            <a:srgbClr val="E24B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339328" y="3520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339328" y="4023360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실수해도 다시 도전합니다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339328" y="4425696"/>
            <a:ext cx="2953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Tries again after mistakes</a:t>
            </a:r>
            <a:endParaRPr lang="en-US" sz="1600" b="1" dirty="0"/>
          </a:p>
        </p:txBody>
      </p:sp>
      <p:sp>
        <p:nvSpPr>
          <p:cNvPr id="22" name="Shape 20"/>
          <p:cNvSpPr/>
          <p:nvPr/>
        </p:nvSpPr>
        <p:spPr>
          <a:xfrm>
            <a:off x="457200" y="5074920"/>
            <a:ext cx="11274552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6CB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868680" y="50749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세 가지에 ‘잘 듣는 마음’을 더하면, 우리 아이 마음속에 자라야 할 네 가지가 됩니다.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84632"/>
            <a:ext cx="137160" cy="137160"/>
          </a:xfrm>
          <a:prstGeom prst="ellipse">
            <a:avLst/>
          </a:prstGeom>
          <a:solidFill>
            <a:srgbClr val="E24B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24B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아이가 잘 자란다는 것은?</a:t>
            </a:r>
            <a:endParaRPr lang="en-US" sz="1350" dirty="0"/>
          </a:p>
        </p:txBody>
      </p:sp>
      <p:pic>
        <p:nvPicPr>
          <p:cNvPr id="5" name="Image 0" descr="imgs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713232"/>
            <a:ext cx="10628376" cy="57332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84632"/>
            <a:ext cx="137160" cy="137160"/>
          </a:xfrm>
          <a:prstGeom prst="ellipse">
            <a:avLst/>
          </a:prstGeom>
          <a:solidFill>
            <a:srgbClr val="E24B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24B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우리 아이 마음속에 자라는 네 가지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768096"/>
            <a:ext cx="566928" cy="566928"/>
          </a:xfrm>
          <a:prstGeom prst="ellipse">
            <a:avLst/>
          </a:prstGeom>
          <a:solidFill>
            <a:srgbClr val="E24B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457200" y="7680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152144" y="758952"/>
            <a:ext cx="10561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사랑하는 마음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11274552" cy="1481328"/>
          </a:xfrm>
          <a:prstGeom prst="roundRect">
            <a:avLst>
              <a:gd name="adj" fmla="val 6790"/>
            </a:avLst>
          </a:prstGeom>
          <a:solidFill>
            <a:srgbClr val="FFF1F2"/>
          </a:solidFill>
          <a:ln w="12700">
            <a:solidFill>
              <a:srgbClr val="F6CB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76656" y="1737360"/>
            <a:ext cx="822960" cy="283464"/>
          </a:xfrm>
          <a:prstGeom prst="roundRect">
            <a:avLst>
              <a:gd name="adj" fmla="val 50000"/>
            </a:avLst>
          </a:prstGeom>
          <a:solidFill>
            <a:srgbClr val="E24B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676656" y="1737360"/>
            <a:ext cx="822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한국어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76656" y="21031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B9303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마음을 나누고 사랑을 표현해요.</a:t>
            </a:r>
            <a:endParaRPr lang="en-US" sz="2900" dirty="0"/>
          </a:p>
        </p:txBody>
      </p:sp>
      <p:sp>
        <p:nvSpPr>
          <p:cNvPr id="11" name="Shape 9"/>
          <p:cNvSpPr/>
          <p:nvPr/>
        </p:nvSpPr>
        <p:spPr>
          <a:xfrm>
            <a:off x="457200" y="3273552"/>
            <a:ext cx="2615184" cy="3035808"/>
          </a:xfrm>
          <a:prstGeom prst="roundRect">
            <a:avLst>
              <a:gd name="adj" fmla="val 3846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3429000"/>
            <a:ext cx="1024128" cy="283464"/>
          </a:xfrm>
          <a:prstGeom prst="roundRect">
            <a:avLst>
              <a:gd name="adj" fmla="val 50000"/>
            </a:avLst>
          </a:prstGeom>
          <a:solidFill>
            <a:srgbClr val="E24B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640080" y="3429000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2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Loving Heart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846320"/>
            <a:ext cx="224942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Share your heart and express love.</a:t>
            </a:r>
            <a:endParaRPr lang="en-US" sz="2000" b="1" dirty="0"/>
          </a:p>
        </p:txBody>
      </p:sp>
      <p:sp>
        <p:nvSpPr>
          <p:cNvPr id="16" name="Shape 14"/>
          <p:cNvSpPr/>
          <p:nvPr/>
        </p:nvSpPr>
        <p:spPr>
          <a:xfrm>
            <a:off x="3337560" y="3273552"/>
            <a:ext cx="2615184" cy="3035808"/>
          </a:xfrm>
          <a:prstGeom prst="roundRect">
            <a:avLst>
              <a:gd name="adj" fmla="val 3846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3520440" y="3429000"/>
            <a:ext cx="1371600" cy="283464"/>
          </a:xfrm>
          <a:prstGeom prst="roundRect">
            <a:avLst>
              <a:gd name="adj" fmla="val 50000"/>
            </a:avLst>
          </a:prstGeom>
          <a:solidFill>
            <a:srgbClr val="E24B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3520440" y="3429000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Tiếng Việt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3520440" y="384048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2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Tấm lòng yêu thương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3520440" y="4846320"/>
            <a:ext cx="224942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Hãy sẻ chia tấm lòng và thể hiện tình yêu thương.</a:t>
            </a:r>
            <a:endParaRPr lang="en-US" sz="2000" b="1" dirty="0"/>
          </a:p>
        </p:txBody>
      </p:sp>
      <p:sp>
        <p:nvSpPr>
          <p:cNvPr id="21" name="Shape 19"/>
          <p:cNvSpPr/>
          <p:nvPr/>
        </p:nvSpPr>
        <p:spPr>
          <a:xfrm>
            <a:off x="6217920" y="3273552"/>
            <a:ext cx="2615184" cy="3035808"/>
          </a:xfrm>
          <a:prstGeom prst="roundRect">
            <a:avLst>
              <a:gd name="adj" fmla="val 3846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6400800" y="3429000"/>
            <a:ext cx="1371600" cy="283464"/>
          </a:xfrm>
          <a:prstGeom prst="roundRect">
            <a:avLst>
              <a:gd name="adj" fmla="val 50000"/>
            </a:avLst>
          </a:prstGeom>
          <a:solidFill>
            <a:srgbClr val="E24B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6400800" y="3429000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ភាសាខ្មែរ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384048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2B244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ចិត្តប្រកបដោយក្តីស្រឡាញ់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0" y="4846320"/>
            <a:ext cx="224942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b="1" dirty="0"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ចែករំលែកពីចិត្ត និងបង្ហាញក្តីស្រឡាញ់។</a:t>
            </a:r>
            <a:endParaRPr lang="en-US" b="1" dirty="0"/>
          </a:p>
        </p:txBody>
      </p:sp>
      <p:sp>
        <p:nvSpPr>
          <p:cNvPr id="26" name="Shape 24"/>
          <p:cNvSpPr/>
          <p:nvPr/>
        </p:nvSpPr>
        <p:spPr>
          <a:xfrm>
            <a:off x="9098280" y="3273552"/>
            <a:ext cx="2615184" cy="3035808"/>
          </a:xfrm>
          <a:prstGeom prst="roundRect">
            <a:avLst>
              <a:gd name="adj" fmla="val 3846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9281160" y="3429000"/>
            <a:ext cx="1024128" cy="283464"/>
          </a:xfrm>
          <a:prstGeom prst="roundRect">
            <a:avLst>
              <a:gd name="adj" fmla="val 50000"/>
            </a:avLst>
          </a:prstGeom>
          <a:solidFill>
            <a:srgbClr val="E24B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9281160" y="3429000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Segoe UI" pitchFamily="34" charset="-122"/>
                <a:cs typeface="Calibri" pitchFamily="34" charset="-120"/>
              </a:rPr>
              <a:t>Русский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9281160" y="384048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2B2440"/>
                </a:solidFill>
                <a:latin typeface="Calibri" pitchFamily="34" charset="0"/>
                <a:ea typeface="Segoe UI" pitchFamily="34" charset="-122"/>
                <a:cs typeface="Calibri" pitchFamily="34" charset="-120"/>
              </a:rPr>
              <a:t>Любящее сердце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9281160" y="4846320"/>
            <a:ext cx="224942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0">
              <a:lnSpc>
                <a:spcPct val="110000"/>
              </a:lnSpc>
              <a:buNone/>
            </a:pPr>
            <a:r>
              <a:rPr lang="en-US" sz="2000" b="1" dirty="0">
                <a:latin typeface="Calibri" pitchFamily="34" charset="0"/>
                <a:ea typeface="Segoe UI" pitchFamily="34" charset="-122"/>
                <a:cs typeface="Calibri" pitchFamily="34" charset="-120"/>
              </a:rPr>
              <a:t>Делитесь чувствами и выражайте любовь.</a:t>
            </a:r>
            <a:endParaRPr lang="en-US" sz="200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84632"/>
            <a:ext cx="137160" cy="137160"/>
          </a:xfrm>
          <a:prstGeom prst="ellipse">
            <a:avLst/>
          </a:prstGeom>
          <a:solidFill>
            <a:srgbClr val="E24B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24B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우리 아이 마음속에 자라는 네 가지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768096"/>
            <a:ext cx="566928" cy="566928"/>
          </a:xfrm>
          <a:prstGeom prst="ellipse">
            <a:avLst/>
          </a:prstGeom>
          <a:solidFill>
            <a:srgbClr val="E24B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457200" y="7680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152144" y="758952"/>
            <a:ext cx="10561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사랑하는 마음 — 생활 속 모습</a:t>
            </a:r>
            <a:endParaRPr lang="en-US" sz="3100" dirty="0"/>
          </a:p>
        </p:txBody>
      </p:sp>
      <p:sp>
        <p:nvSpPr>
          <p:cNvPr id="7" name="Text 5"/>
          <p:cNvSpPr txBox="1"/>
          <p:nvPr/>
        </p:nvSpPr>
        <p:spPr>
          <a:xfrm>
            <a:off x="1152144" y="1335024"/>
            <a:ext cx="10561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5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아이가 실제로 이렇게 말하고 행동합니다.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719072"/>
            <a:ext cx="11274552" cy="1097280"/>
          </a:xfrm>
          <a:prstGeom prst="roundRect">
            <a:avLst>
              <a:gd name="adj" fmla="val 9167"/>
            </a:avLst>
          </a:prstGeom>
          <a:solidFill>
            <a:srgbClr val="FFF1F2"/>
          </a:solidFill>
          <a:ln w="12700">
            <a:solidFill>
              <a:srgbClr val="F6CB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58368" y="1874520"/>
            <a:ext cx="822960" cy="283464"/>
          </a:xfrm>
          <a:prstGeom prst="roundRect">
            <a:avLst>
              <a:gd name="adj" fmla="val 50000"/>
            </a:avLst>
          </a:prstGeom>
          <a:solidFill>
            <a:srgbClr val="E24B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658368" y="1874520"/>
            <a:ext cx="822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한국어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609344" y="1837944"/>
            <a:ext cx="99212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가족이나 친구의 표정을 보고 “무슨 일이 있어?”라고 물어봐요.</a:t>
            </a:r>
            <a:endParaRPr lang="en-US" sz="1600" b="1" dirty="0"/>
          </a:p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“고마워”, “사랑해”, “미안해”라는 말을 자연스럽게 표현해요</a:t>
            </a:r>
            <a:r>
              <a:rPr lang="en-US" sz="1500" dirty="0">
                <a:solidFill>
                  <a:srgbClr val="6E65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944368"/>
            <a:ext cx="5486400" cy="1645920"/>
          </a:xfrm>
          <a:prstGeom prst="roundRect">
            <a:avLst>
              <a:gd name="adj" fmla="val 611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658368" y="3081528"/>
            <a:ext cx="1024128" cy="283464"/>
          </a:xfrm>
          <a:prstGeom prst="roundRect">
            <a:avLst>
              <a:gd name="adj" fmla="val 50000"/>
            </a:avLst>
          </a:prstGeom>
          <a:solidFill>
            <a:srgbClr val="E24B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658368" y="3081528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3447288"/>
            <a:ext cx="538581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① When I notice the expression on a family member’s or friend’s face, I ask, “Is something wrong?”</a:t>
            </a:r>
            <a:endParaRPr lang="en-US" sz="1600" b="1" dirty="0"/>
          </a:p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② I naturally say, “Thank you,” “I love you,” and “I’m sorry.”</a:t>
            </a:r>
            <a:endParaRPr lang="en-US" sz="1600" b="1" dirty="0"/>
          </a:p>
        </p:txBody>
      </p:sp>
      <p:sp>
        <p:nvSpPr>
          <p:cNvPr id="16" name="Shape 14"/>
          <p:cNvSpPr/>
          <p:nvPr/>
        </p:nvSpPr>
        <p:spPr>
          <a:xfrm>
            <a:off x="6245352" y="2944368"/>
            <a:ext cx="5486400" cy="1645920"/>
          </a:xfrm>
          <a:prstGeom prst="roundRect">
            <a:avLst>
              <a:gd name="adj" fmla="val 611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446520" y="3081528"/>
            <a:ext cx="1371600" cy="283464"/>
          </a:xfrm>
          <a:prstGeom prst="roundRect">
            <a:avLst>
              <a:gd name="adj" fmla="val 50000"/>
            </a:avLst>
          </a:prstGeom>
          <a:solidFill>
            <a:srgbClr val="E24B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6446520" y="3081528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Tiếng Việt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3447288"/>
            <a:ext cx="508406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① Khi nhìn thấy nét mặt của người thân hoặc bạn bè, con hỏi: “Có chuyện gì vậy?”</a:t>
            </a:r>
            <a:endParaRPr lang="en-US" sz="1600" b="1" dirty="0"/>
          </a:p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② Con nói một cách tự nhiên: “Cảm ơn”, “Con thương bạn” và “Con xin lỗi”.</a:t>
            </a:r>
            <a:endParaRPr lang="en-US" sz="1600" b="1" dirty="0"/>
          </a:p>
        </p:txBody>
      </p:sp>
      <p:sp>
        <p:nvSpPr>
          <p:cNvPr id="20" name="Shape 18"/>
          <p:cNvSpPr/>
          <p:nvPr/>
        </p:nvSpPr>
        <p:spPr>
          <a:xfrm>
            <a:off x="457200" y="4754880"/>
            <a:ext cx="5486400" cy="1645920"/>
          </a:xfrm>
          <a:prstGeom prst="roundRect">
            <a:avLst>
              <a:gd name="adj" fmla="val 611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658368" y="4892040"/>
            <a:ext cx="1371600" cy="283464"/>
          </a:xfrm>
          <a:prstGeom prst="roundRect">
            <a:avLst>
              <a:gd name="adj" fmla="val 50000"/>
            </a:avLst>
          </a:prstGeom>
          <a:solidFill>
            <a:srgbClr val="E24B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658368" y="4892040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ភាសាខ្មែរ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58368" y="5257800"/>
            <a:ext cx="52852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① ពេលឃើញទឹកមុខរបស់សមាជិកគ្រួសារ ឬមិត្តភក្តិ កូនសួរថា៖ «តើមានរឿងអ្វីកើតឡើង?»</a:t>
            </a:r>
            <a:endParaRPr lang="en-US" sz="1400" b="1" dirty="0"/>
          </a:p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② កូននិយាយពាក្យ «អរគុណ» «ខ្ញុំស្រឡាញ់អ្នក» និង «សុំទោស» ដោយងាយស្រួល។</a:t>
            </a:r>
            <a:endParaRPr lang="en-US" sz="1400" b="1" dirty="0"/>
          </a:p>
        </p:txBody>
      </p:sp>
      <p:sp>
        <p:nvSpPr>
          <p:cNvPr id="24" name="Shape 22"/>
          <p:cNvSpPr/>
          <p:nvPr/>
        </p:nvSpPr>
        <p:spPr>
          <a:xfrm>
            <a:off x="6245352" y="4754880"/>
            <a:ext cx="5486400" cy="1645920"/>
          </a:xfrm>
          <a:prstGeom prst="roundRect">
            <a:avLst>
              <a:gd name="adj" fmla="val 611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6446520" y="4892040"/>
            <a:ext cx="1024128" cy="283464"/>
          </a:xfrm>
          <a:prstGeom prst="roundRect">
            <a:avLst>
              <a:gd name="adj" fmla="val 50000"/>
            </a:avLst>
          </a:prstGeom>
          <a:solidFill>
            <a:srgbClr val="E24B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446520" y="4892040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Segoe UI" pitchFamily="34" charset="-122"/>
                <a:cs typeface="Calibri" pitchFamily="34" charset="-120"/>
              </a:rPr>
              <a:t>Русский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446520" y="5257800"/>
            <a:ext cx="52852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Calibri" pitchFamily="34" charset="0"/>
                <a:ea typeface="Segoe UI" pitchFamily="34" charset="-122"/>
                <a:cs typeface="Calibri" pitchFamily="34" charset="-120"/>
              </a:rPr>
              <a:t>① Увидев выражение лица родного человека или друга, я спрашиваю: «Что-то случилось?»</a:t>
            </a:r>
            <a:endParaRPr lang="en-US" sz="1600" b="1" dirty="0"/>
          </a:p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Calibri" pitchFamily="34" charset="0"/>
                <a:ea typeface="Segoe UI" pitchFamily="34" charset="-122"/>
                <a:cs typeface="Calibri" pitchFamily="34" charset="-120"/>
              </a:rPr>
              <a:t>② Я естественно говорю «спасибо», «люблю тебя» и «прости».</a:t>
            </a:r>
            <a:endParaRPr lang="en-US" sz="16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84632"/>
            <a:ext cx="137160" cy="137160"/>
          </a:xfrm>
          <a:prstGeom prst="ellipse">
            <a:avLst/>
          </a:prstGeom>
          <a:solidFill>
            <a:srgbClr val="E24B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24B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우리 아이 마음속에 자라는 네 가지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768096"/>
            <a:ext cx="566928" cy="566928"/>
          </a:xfrm>
          <a:prstGeom prst="ellipse">
            <a:avLst/>
          </a:prstGeom>
          <a:solidFill>
            <a:srgbClr val="E24B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457200" y="7680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152144" y="758952"/>
            <a:ext cx="10561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듣는 마음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11274552" cy="1481328"/>
          </a:xfrm>
          <a:prstGeom prst="roundRect">
            <a:avLst>
              <a:gd name="adj" fmla="val 6790"/>
            </a:avLst>
          </a:prstGeom>
          <a:solidFill>
            <a:srgbClr val="FFF1F2"/>
          </a:solidFill>
          <a:ln w="12700">
            <a:solidFill>
              <a:srgbClr val="F6CB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76656" y="1737360"/>
            <a:ext cx="822960" cy="283464"/>
          </a:xfrm>
          <a:prstGeom prst="roundRect">
            <a:avLst>
              <a:gd name="adj" fmla="val 50000"/>
            </a:avLst>
          </a:prstGeom>
          <a:solidFill>
            <a:srgbClr val="E24B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676656" y="1737360"/>
            <a:ext cx="822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한국어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76656" y="21031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B9303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친구의 이야기를 끝까지 경청해요.</a:t>
            </a:r>
            <a:endParaRPr lang="en-US" sz="2900" dirty="0"/>
          </a:p>
        </p:txBody>
      </p:sp>
      <p:sp>
        <p:nvSpPr>
          <p:cNvPr id="11" name="Shape 9"/>
          <p:cNvSpPr/>
          <p:nvPr/>
        </p:nvSpPr>
        <p:spPr>
          <a:xfrm>
            <a:off x="457200" y="3273552"/>
            <a:ext cx="2615184" cy="3035808"/>
          </a:xfrm>
          <a:prstGeom prst="roundRect">
            <a:avLst>
              <a:gd name="adj" fmla="val 3846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3429000"/>
            <a:ext cx="1024128" cy="283464"/>
          </a:xfrm>
          <a:prstGeom prst="roundRect">
            <a:avLst>
              <a:gd name="adj" fmla="val 50000"/>
            </a:avLst>
          </a:prstGeom>
          <a:solidFill>
            <a:srgbClr val="E24B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640080" y="3429000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b="1" dirty="0">
                <a:solidFill>
                  <a:srgbClr val="2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Listening Heart</a:t>
            </a:r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846320"/>
            <a:ext cx="224942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Listen attentively to your friend’s story until the end.</a:t>
            </a:r>
            <a:endParaRPr lang="en-US" b="1" dirty="0"/>
          </a:p>
        </p:txBody>
      </p:sp>
      <p:sp>
        <p:nvSpPr>
          <p:cNvPr id="16" name="Shape 14"/>
          <p:cNvSpPr/>
          <p:nvPr/>
        </p:nvSpPr>
        <p:spPr>
          <a:xfrm>
            <a:off x="3337560" y="3273552"/>
            <a:ext cx="2615184" cy="3035808"/>
          </a:xfrm>
          <a:prstGeom prst="roundRect">
            <a:avLst>
              <a:gd name="adj" fmla="val 3846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3520440" y="3429000"/>
            <a:ext cx="1371600" cy="283464"/>
          </a:xfrm>
          <a:prstGeom prst="roundRect">
            <a:avLst>
              <a:gd name="adj" fmla="val 50000"/>
            </a:avLst>
          </a:prstGeom>
          <a:solidFill>
            <a:srgbClr val="E24B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3520440" y="3429000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Tiếng Việt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3520440" y="384048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b="1" dirty="0">
                <a:solidFill>
                  <a:srgbClr val="2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Tấm lòng biết lắng nghe</a:t>
            </a:r>
            <a:endParaRPr lang="en-US" dirty="0"/>
          </a:p>
        </p:txBody>
      </p:sp>
      <p:sp>
        <p:nvSpPr>
          <p:cNvPr id="20" name="Text 18"/>
          <p:cNvSpPr txBox="1"/>
          <p:nvPr/>
        </p:nvSpPr>
        <p:spPr>
          <a:xfrm>
            <a:off x="3520440" y="4846320"/>
            <a:ext cx="224942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Hãy chăm chú lắng nghe câu chuyện của bạn đến hết.</a:t>
            </a:r>
            <a:endParaRPr lang="en-US" b="1" dirty="0"/>
          </a:p>
        </p:txBody>
      </p:sp>
      <p:sp>
        <p:nvSpPr>
          <p:cNvPr id="21" name="Shape 19"/>
          <p:cNvSpPr/>
          <p:nvPr/>
        </p:nvSpPr>
        <p:spPr>
          <a:xfrm>
            <a:off x="6217920" y="3273552"/>
            <a:ext cx="2615184" cy="3035808"/>
          </a:xfrm>
          <a:prstGeom prst="roundRect">
            <a:avLst>
              <a:gd name="adj" fmla="val 3846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6400800" y="3429000"/>
            <a:ext cx="1371600" cy="283464"/>
          </a:xfrm>
          <a:prstGeom prst="roundRect">
            <a:avLst>
              <a:gd name="adj" fmla="val 50000"/>
            </a:avLst>
          </a:prstGeom>
          <a:solidFill>
            <a:srgbClr val="E24B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6400800" y="3429000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ភាសាខ្មែរ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384048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b="1" dirty="0">
                <a:solidFill>
                  <a:srgbClr val="2B244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ចិត្តដែលចេះស្តាប់</a:t>
            </a:r>
            <a:endParaRPr lang="en-US" dirty="0"/>
          </a:p>
        </p:txBody>
      </p:sp>
      <p:sp>
        <p:nvSpPr>
          <p:cNvPr id="25" name="Text 23"/>
          <p:cNvSpPr txBox="1"/>
          <p:nvPr/>
        </p:nvSpPr>
        <p:spPr>
          <a:xfrm>
            <a:off x="6400800" y="4846320"/>
            <a:ext cx="224942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b="1" dirty="0"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ស្តាប់រឿងរបស់មិត្តឱ្យបានចប់ដោយយកចិត្តទុកដាក់។</a:t>
            </a:r>
            <a:endParaRPr lang="en-US" sz="1600" b="1" dirty="0"/>
          </a:p>
        </p:txBody>
      </p:sp>
      <p:sp>
        <p:nvSpPr>
          <p:cNvPr id="26" name="Shape 24"/>
          <p:cNvSpPr/>
          <p:nvPr/>
        </p:nvSpPr>
        <p:spPr>
          <a:xfrm>
            <a:off x="9098280" y="3273552"/>
            <a:ext cx="2615184" cy="3035808"/>
          </a:xfrm>
          <a:prstGeom prst="roundRect">
            <a:avLst>
              <a:gd name="adj" fmla="val 3846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9281160" y="3429000"/>
            <a:ext cx="1024128" cy="283464"/>
          </a:xfrm>
          <a:prstGeom prst="roundRect">
            <a:avLst>
              <a:gd name="adj" fmla="val 50000"/>
            </a:avLst>
          </a:prstGeom>
          <a:solidFill>
            <a:srgbClr val="E24B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9281160" y="3429000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Segoe UI" pitchFamily="34" charset="-122"/>
                <a:cs typeface="Calibri" pitchFamily="34" charset="-120"/>
              </a:rPr>
              <a:t>Русский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9281160" y="384048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0">
              <a:lnSpc>
                <a:spcPct val="108000"/>
              </a:lnSpc>
              <a:buNone/>
            </a:pPr>
            <a:r>
              <a:rPr lang="en-US" b="1" dirty="0">
                <a:solidFill>
                  <a:srgbClr val="2B2440"/>
                </a:solidFill>
                <a:latin typeface="Calibri" pitchFamily="34" charset="0"/>
                <a:ea typeface="Segoe UI" pitchFamily="34" charset="-122"/>
                <a:cs typeface="Calibri" pitchFamily="34" charset="-120"/>
              </a:rPr>
              <a:t>Умеющее слушать сердце</a:t>
            </a:r>
            <a:endParaRPr lang="en-US" dirty="0"/>
          </a:p>
        </p:txBody>
      </p:sp>
      <p:sp>
        <p:nvSpPr>
          <p:cNvPr id="30" name="Text 28"/>
          <p:cNvSpPr txBox="1"/>
          <p:nvPr/>
        </p:nvSpPr>
        <p:spPr>
          <a:xfrm>
            <a:off x="9281160" y="4846320"/>
            <a:ext cx="224942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0">
              <a:lnSpc>
                <a:spcPct val="110000"/>
              </a:lnSpc>
              <a:buNone/>
            </a:pPr>
            <a:r>
              <a:rPr lang="en-US" b="1" dirty="0">
                <a:latin typeface="Calibri" pitchFamily="34" charset="0"/>
                <a:ea typeface="Segoe UI" pitchFamily="34" charset="-122"/>
                <a:cs typeface="Calibri" pitchFamily="34" charset="-120"/>
              </a:rPr>
              <a:t>Внимательно выслушивайте рассказ друга до конца.</a:t>
            </a:r>
            <a:endParaRPr lang="en-US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84632"/>
            <a:ext cx="137160" cy="137160"/>
          </a:xfrm>
          <a:prstGeom prst="ellipse">
            <a:avLst/>
          </a:prstGeom>
          <a:solidFill>
            <a:srgbClr val="E24B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24B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우리 아이 마음속에 자라는 네 가지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768096"/>
            <a:ext cx="566928" cy="566928"/>
          </a:xfrm>
          <a:prstGeom prst="ellipse">
            <a:avLst/>
          </a:prstGeom>
          <a:solidFill>
            <a:srgbClr val="E24B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457200" y="7680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152144" y="758952"/>
            <a:ext cx="10561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듣는 마음 — 생활 속 모습</a:t>
            </a:r>
            <a:endParaRPr lang="en-US" sz="3100" dirty="0"/>
          </a:p>
        </p:txBody>
      </p:sp>
      <p:sp>
        <p:nvSpPr>
          <p:cNvPr id="7" name="Text 5"/>
          <p:cNvSpPr txBox="1"/>
          <p:nvPr/>
        </p:nvSpPr>
        <p:spPr>
          <a:xfrm>
            <a:off x="1152144" y="1335024"/>
            <a:ext cx="10561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5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아이가 실제로 이렇게 말하고 행동합니다.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719072"/>
            <a:ext cx="11274552" cy="1097280"/>
          </a:xfrm>
          <a:prstGeom prst="roundRect">
            <a:avLst>
              <a:gd name="adj" fmla="val 9167"/>
            </a:avLst>
          </a:prstGeom>
          <a:solidFill>
            <a:srgbClr val="FFF1F2"/>
          </a:solidFill>
          <a:ln w="12700">
            <a:solidFill>
              <a:srgbClr val="F6CB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58368" y="1874520"/>
            <a:ext cx="822960" cy="283464"/>
          </a:xfrm>
          <a:prstGeom prst="roundRect">
            <a:avLst>
              <a:gd name="adj" fmla="val 50000"/>
            </a:avLst>
          </a:prstGeom>
          <a:solidFill>
            <a:srgbClr val="E24B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658368" y="1874520"/>
            <a:ext cx="822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한국어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609344" y="1837944"/>
            <a:ext cx="99212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친구가 이야기할 때 중간에 끼어들지 않고 끝까지 들어요.</a:t>
            </a:r>
            <a:endParaRPr lang="en-US" sz="1600" b="1" dirty="0"/>
          </a:p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친구의 말을 들은 뒤 “그랬구나. 그때 네 마음이 어땠어?”라고 물어봐요</a:t>
            </a:r>
            <a:r>
              <a:rPr lang="en-US" sz="1500" dirty="0">
                <a:solidFill>
                  <a:srgbClr val="6E65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944368"/>
            <a:ext cx="5486400" cy="1828800"/>
          </a:xfrm>
          <a:prstGeom prst="roundRect">
            <a:avLst>
              <a:gd name="adj" fmla="val 611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658368" y="3081528"/>
            <a:ext cx="1024128" cy="283464"/>
          </a:xfrm>
          <a:prstGeom prst="roundRect">
            <a:avLst>
              <a:gd name="adj" fmla="val 50000"/>
            </a:avLst>
          </a:prstGeom>
          <a:solidFill>
            <a:srgbClr val="E24B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658368" y="3081528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3447288"/>
            <a:ext cx="52852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① When a friend is talking, I listen until the end without interrupting.</a:t>
            </a:r>
            <a:endParaRPr lang="en-US" b="1" dirty="0"/>
          </a:p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② After listening, I ask, “I see. How did you feel then?”</a:t>
            </a:r>
            <a:endParaRPr lang="en-US" b="1" dirty="0"/>
          </a:p>
        </p:txBody>
      </p:sp>
      <p:sp>
        <p:nvSpPr>
          <p:cNvPr id="16" name="Shape 14"/>
          <p:cNvSpPr/>
          <p:nvPr/>
        </p:nvSpPr>
        <p:spPr>
          <a:xfrm>
            <a:off x="6245352" y="2944368"/>
            <a:ext cx="5486400" cy="1792224"/>
          </a:xfrm>
          <a:prstGeom prst="roundRect">
            <a:avLst>
              <a:gd name="adj" fmla="val 611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446520" y="3081528"/>
            <a:ext cx="1371600" cy="283464"/>
          </a:xfrm>
          <a:prstGeom prst="roundRect">
            <a:avLst>
              <a:gd name="adj" fmla="val 50000"/>
            </a:avLst>
          </a:prstGeom>
          <a:solidFill>
            <a:srgbClr val="E24B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6446520" y="3081528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Tiếng Việt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3447288"/>
            <a:ext cx="526694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① Khi bạn nói, con không ngắt lời mà lắng nghe đến hết.</a:t>
            </a:r>
            <a:endParaRPr lang="en-US" b="1" dirty="0"/>
          </a:p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② Sau khi nghe xong, con hỏi: “Ra là vậy. Lúc đó bạn cảm thấy thế nào?”</a:t>
            </a:r>
            <a:endParaRPr lang="en-US" b="1" dirty="0"/>
          </a:p>
        </p:txBody>
      </p:sp>
      <p:sp>
        <p:nvSpPr>
          <p:cNvPr id="20" name="Shape 18"/>
          <p:cNvSpPr/>
          <p:nvPr/>
        </p:nvSpPr>
        <p:spPr>
          <a:xfrm>
            <a:off x="457200" y="4892040"/>
            <a:ext cx="5486400" cy="1508760"/>
          </a:xfrm>
          <a:prstGeom prst="roundRect">
            <a:avLst>
              <a:gd name="adj" fmla="val 611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658368" y="4892040"/>
            <a:ext cx="1371600" cy="283464"/>
          </a:xfrm>
          <a:prstGeom prst="roundRect">
            <a:avLst>
              <a:gd name="adj" fmla="val 50000"/>
            </a:avLst>
          </a:prstGeom>
          <a:solidFill>
            <a:srgbClr val="E24B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658368" y="4892040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ភាសាខ្មែរ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58368" y="5257800"/>
            <a:ext cx="508406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① ពេលមិត្តភក្តិនិយាយ កូនមិននិយាយកាត់ទេ ហើយស្តាប់រហូតដល់ចប់។</a:t>
            </a:r>
            <a:endParaRPr lang="en-US" sz="1600" b="1" dirty="0"/>
          </a:p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② ក្រោយពីស្តាប់រួច កូនសួរថា៖ «អូ៎ អ៊ីចឹងទេ។ ពេលនោះ មិត្តមានអារម្មណ៍យ៉ាងដូចម្តេច?»</a:t>
            </a:r>
            <a:endParaRPr lang="en-US" sz="1600" b="1" dirty="0"/>
          </a:p>
        </p:txBody>
      </p:sp>
      <p:sp>
        <p:nvSpPr>
          <p:cNvPr id="24" name="Shape 22"/>
          <p:cNvSpPr/>
          <p:nvPr/>
        </p:nvSpPr>
        <p:spPr>
          <a:xfrm>
            <a:off x="6245352" y="4892040"/>
            <a:ext cx="5486400" cy="1508760"/>
          </a:xfrm>
          <a:prstGeom prst="roundRect">
            <a:avLst>
              <a:gd name="adj" fmla="val 611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6446520" y="4892040"/>
            <a:ext cx="1024128" cy="283464"/>
          </a:xfrm>
          <a:prstGeom prst="roundRect">
            <a:avLst>
              <a:gd name="adj" fmla="val 50000"/>
            </a:avLst>
          </a:prstGeom>
          <a:solidFill>
            <a:srgbClr val="E24B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446520" y="4892040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Segoe UI" pitchFamily="34" charset="-122"/>
                <a:cs typeface="Calibri" pitchFamily="34" charset="-120"/>
              </a:rPr>
              <a:t>Русский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446520" y="5257800"/>
            <a:ext cx="508406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b="1" dirty="0">
                <a:latin typeface="Calibri" pitchFamily="34" charset="0"/>
                <a:ea typeface="Segoe UI" pitchFamily="34" charset="-122"/>
                <a:cs typeface="Calibri" pitchFamily="34" charset="-120"/>
              </a:rPr>
              <a:t>① Когда друг говорит, я не перебиваю и слушаю до конца.</a:t>
            </a:r>
            <a:endParaRPr lang="en-US" b="1" dirty="0"/>
          </a:p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b="1" dirty="0">
                <a:latin typeface="Calibri" pitchFamily="34" charset="0"/>
                <a:ea typeface="Segoe UI" pitchFamily="34" charset="-122"/>
                <a:cs typeface="Calibri" pitchFamily="34" charset="-120"/>
              </a:rPr>
              <a:t>② Выслушав друга, я спрашиваю: «Вот как. А что ты тогда чувствовал(а)?»</a:t>
            </a:r>
            <a:endParaRPr lang="en-US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84632"/>
            <a:ext cx="137160" cy="137160"/>
          </a:xfrm>
          <a:prstGeom prst="ellipse">
            <a:avLst/>
          </a:prstGeom>
          <a:solidFill>
            <a:srgbClr val="E24B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24B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우리 아이 마음속에 자라는 네 가지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768096"/>
            <a:ext cx="566928" cy="566928"/>
          </a:xfrm>
          <a:prstGeom prst="ellipse">
            <a:avLst/>
          </a:prstGeom>
          <a:solidFill>
            <a:srgbClr val="E24B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457200" y="7680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152144" y="758952"/>
            <a:ext cx="10561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실수해도 괜찮아요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11274552" cy="1481328"/>
          </a:xfrm>
          <a:prstGeom prst="roundRect">
            <a:avLst>
              <a:gd name="adj" fmla="val 6790"/>
            </a:avLst>
          </a:prstGeom>
          <a:solidFill>
            <a:srgbClr val="FFF1F2"/>
          </a:solidFill>
          <a:ln w="12700">
            <a:solidFill>
              <a:srgbClr val="F6CB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76656" y="1737360"/>
            <a:ext cx="822960" cy="283464"/>
          </a:xfrm>
          <a:prstGeom prst="roundRect">
            <a:avLst>
              <a:gd name="adj" fmla="val 50000"/>
            </a:avLst>
          </a:prstGeom>
          <a:solidFill>
            <a:srgbClr val="E24B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676656" y="1737360"/>
            <a:ext cx="822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한국어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76656" y="21031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B9303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실수를 부끄러워하거나 좌절하지 않고 다시 일어서요.</a:t>
            </a:r>
            <a:endParaRPr lang="en-US" sz="2900" dirty="0"/>
          </a:p>
        </p:txBody>
      </p:sp>
      <p:sp>
        <p:nvSpPr>
          <p:cNvPr id="11" name="Shape 9"/>
          <p:cNvSpPr/>
          <p:nvPr/>
        </p:nvSpPr>
        <p:spPr>
          <a:xfrm>
            <a:off x="457200" y="3273552"/>
            <a:ext cx="2615184" cy="3035808"/>
          </a:xfrm>
          <a:prstGeom prst="roundRect">
            <a:avLst>
              <a:gd name="adj" fmla="val 3846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3429000"/>
            <a:ext cx="1024128" cy="283464"/>
          </a:xfrm>
          <a:prstGeom prst="roundRect">
            <a:avLst>
              <a:gd name="adj" fmla="val 50000"/>
            </a:avLst>
          </a:prstGeom>
          <a:solidFill>
            <a:srgbClr val="E24B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640080" y="3429000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b="1" dirty="0">
                <a:solidFill>
                  <a:srgbClr val="2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It’s Okay to Make Mistakes</a:t>
            </a:r>
            <a:endParaRPr lang="en-US" sz="17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846320"/>
            <a:ext cx="224942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Don’t feel ashamed or discouraged by mistakes. Get back up and try again.</a:t>
            </a:r>
            <a:endParaRPr lang="en-US" b="1" dirty="0"/>
          </a:p>
        </p:txBody>
      </p:sp>
      <p:sp>
        <p:nvSpPr>
          <p:cNvPr id="16" name="Shape 14"/>
          <p:cNvSpPr/>
          <p:nvPr/>
        </p:nvSpPr>
        <p:spPr>
          <a:xfrm>
            <a:off x="3337560" y="3273552"/>
            <a:ext cx="2615184" cy="3035808"/>
          </a:xfrm>
          <a:prstGeom prst="roundRect">
            <a:avLst>
              <a:gd name="adj" fmla="val 3846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3520440" y="3429000"/>
            <a:ext cx="1371600" cy="283464"/>
          </a:xfrm>
          <a:prstGeom prst="roundRect">
            <a:avLst>
              <a:gd name="adj" fmla="val 50000"/>
            </a:avLst>
          </a:prstGeom>
          <a:solidFill>
            <a:srgbClr val="E24B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3520440" y="3429000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Tiếng Việt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3520440" y="384048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b="1" dirty="0">
                <a:solidFill>
                  <a:srgbClr val="2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Mắc lỗi cũng không sao</a:t>
            </a:r>
            <a:endParaRPr lang="en-US" sz="1750" dirty="0"/>
          </a:p>
        </p:txBody>
      </p:sp>
      <p:sp>
        <p:nvSpPr>
          <p:cNvPr id="20" name="Text 18"/>
          <p:cNvSpPr txBox="1"/>
          <p:nvPr/>
        </p:nvSpPr>
        <p:spPr>
          <a:xfrm>
            <a:off x="3520440" y="4846320"/>
            <a:ext cx="224942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Đừng xấu hổ hay nản lòng vì sai lầm. Hãy đứng dậy và thử lại.</a:t>
            </a:r>
            <a:endParaRPr lang="en-US" b="1" dirty="0"/>
          </a:p>
        </p:txBody>
      </p:sp>
      <p:sp>
        <p:nvSpPr>
          <p:cNvPr id="21" name="Shape 19"/>
          <p:cNvSpPr/>
          <p:nvPr/>
        </p:nvSpPr>
        <p:spPr>
          <a:xfrm>
            <a:off x="6217920" y="3273552"/>
            <a:ext cx="2615184" cy="3035808"/>
          </a:xfrm>
          <a:prstGeom prst="roundRect">
            <a:avLst>
              <a:gd name="adj" fmla="val 3846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6400800" y="3429000"/>
            <a:ext cx="1371600" cy="283464"/>
          </a:xfrm>
          <a:prstGeom prst="roundRect">
            <a:avLst>
              <a:gd name="adj" fmla="val 50000"/>
            </a:avLst>
          </a:prstGeom>
          <a:solidFill>
            <a:srgbClr val="E24B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6400800" y="3429000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ភាសាខ្មែរ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384048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2B244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ការធ្វើខុសក៏មិនអីដែរ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0" y="4846320"/>
            <a:ext cx="224942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b="1" dirty="0"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កុំខ្មាសអៀន ឬបាក់ទឹកចិត្តដោយសារកំហុស។ ចូរក្រោកឈរឡើង ហើយព្យាយាមម្តងទៀត។</a:t>
            </a:r>
            <a:endParaRPr lang="en-US" sz="1600" b="1" dirty="0"/>
          </a:p>
        </p:txBody>
      </p:sp>
      <p:sp>
        <p:nvSpPr>
          <p:cNvPr id="26" name="Shape 24"/>
          <p:cNvSpPr/>
          <p:nvPr/>
        </p:nvSpPr>
        <p:spPr>
          <a:xfrm>
            <a:off x="9098280" y="3273552"/>
            <a:ext cx="2615184" cy="3035808"/>
          </a:xfrm>
          <a:prstGeom prst="roundRect">
            <a:avLst>
              <a:gd name="adj" fmla="val 3846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9281160" y="3429000"/>
            <a:ext cx="1024128" cy="283464"/>
          </a:xfrm>
          <a:prstGeom prst="roundRect">
            <a:avLst>
              <a:gd name="adj" fmla="val 50000"/>
            </a:avLst>
          </a:prstGeom>
          <a:solidFill>
            <a:srgbClr val="E24B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9281160" y="3429000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Segoe UI" pitchFamily="34" charset="-122"/>
                <a:cs typeface="Calibri" pitchFamily="34" charset="-120"/>
              </a:rPr>
              <a:t>Русский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9281160" y="384048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0">
              <a:lnSpc>
                <a:spcPct val="108000"/>
              </a:lnSpc>
              <a:buNone/>
            </a:pPr>
            <a:r>
              <a:rPr lang="en-US" sz="1750" b="1" dirty="0">
                <a:solidFill>
                  <a:srgbClr val="2B2440"/>
                </a:solidFill>
                <a:latin typeface="Calibri" pitchFamily="34" charset="0"/>
                <a:ea typeface="Segoe UI" pitchFamily="34" charset="-122"/>
                <a:cs typeface="Calibri" pitchFamily="34" charset="-120"/>
              </a:rPr>
              <a:t>Ошибаться — не страшно</a:t>
            </a:r>
            <a:endParaRPr lang="en-US" sz="1750" dirty="0"/>
          </a:p>
        </p:txBody>
      </p:sp>
      <p:sp>
        <p:nvSpPr>
          <p:cNvPr id="30" name="Text 28"/>
          <p:cNvSpPr txBox="1"/>
          <p:nvPr/>
        </p:nvSpPr>
        <p:spPr>
          <a:xfrm>
            <a:off x="9281160" y="4846320"/>
            <a:ext cx="224942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0">
              <a:lnSpc>
                <a:spcPct val="110000"/>
              </a:lnSpc>
              <a:buNone/>
            </a:pPr>
            <a:r>
              <a:rPr lang="en-US" b="1" dirty="0">
                <a:latin typeface="Calibri" pitchFamily="34" charset="0"/>
                <a:ea typeface="Segoe UI" pitchFamily="34" charset="-122"/>
                <a:cs typeface="Calibri" pitchFamily="34" charset="-120"/>
              </a:rPr>
              <a:t>Не стыдитесь ошибок и не опускайте руки — поднимайтесь и пробуйте снова.</a:t>
            </a:r>
            <a:endParaRPr lang="en-US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84632"/>
            <a:ext cx="137160" cy="137160"/>
          </a:xfrm>
          <a:prstGeom prst="ellipse">
            <a:avLst/>
          </a:prstGeom>
          <a:solidFill>
            <a:srgbClr val="E24B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24B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우리 아이 마음속에 자라는 네 가지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768096"/>
            <a:ext cx="566928" cy="566928"/>
          </a:xfrm>
          <a:prstGeom prst="ellipse">
            <a:avLst/>
          </a:prstGeom>
          <a:solidFill>
            <a:srgbClr val="E24B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457200" y="7680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152144" y="758952"/>
            <a:ext cx="10561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실수해도 괜찮아요 — 생활 속 모습</a:t>
            </a:r>
            <a:endParaRPr lang="en-US" sz="3100" dirty="0"/>
          </a:p>
        </p:txBody>
      </p:sp>
      <p:sp>
        <p:nvSpPr>
          <p:cNvPr id="7" name="Text 5"/>
          <p:cNvSpPr txBox="1"/>
          <p:nvPr/>
        </p:nvSpPr>
        <p:spPr>
          <a:xfrm>
            <a:off x="1152144" y="1335024"/>
            <a:ext cx="10561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5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아이가 실제로 이렇게 말하고 행동합니다.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719072"/>
            <a:ext cx="11274552" cy="1097280"/>
          </a:xfrm>
          <a:prstGeom prst="roundRect">
            <a:avLst>
              <a:gd name="adj" fmla="val 9167"/>
            </a:avLst>
          </a:prstGeom>
          <a:solidFill>
            <a:srgbClr val="FFF1F2"/>
          </a:solidFill>
          <a:ln w="12700">
            <a:solidFill>
              <a:srgbClr val="F6CB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58368" y="1874520"/>
            <a:ext cx="822960" cy="283464"/>
          </a:xfrm>
          <a:prstGeom prst="roundRect">
            <a:avLst>
              <a:gd name="adj" fmla="val 50000"/>
            </a:avLst>
          </a:prstGeom>
          <a:solidFill>
            <a:srgbClr val="E24B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658368" y="1874520"/>
            <a:ext cx="822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한국어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609344" y="1837944"/>
            <a:ext cx="99212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글씨를 틀리거나 블록을 무너뜨려도 “괜찮아, 다시 하면 돼”라고 말하며 다시 해요.</a:t>
            </a:r>
            <a:endParaRPr lang="en-US" sz="1500" dirty="0"/>
          </a:p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6E65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친구에게 실수했을 때 숨기지 않고 사과한 뒤, 다음에는 어떻게 행동할지 생각해요.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944368"/>
            <a:ext cx="5486400" cy="1645920"/>
          </a:xfrm>
          <a:prstGeom prst="roundRect">
            <a:avLst>
              <a:gd name="adj" fmla="val 611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658368" y="3081528"/>
            <a:ext cx="1024128" cy="283464"/>
          </a:xfrm>
          <a:prstGeom prst="roundRect">
            <a:avLst>
              <a:gd name="adj" fmla="val 50000"/>
            </a:avLst>
          </a:prstGeom>
          <a:solidFill>
            <a:srgbClr val="E24B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658368" y="3081528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3447288"/>
            <a:ext cx="522122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① If I write something incorrectly or knock down the blocks, I say, “It’s okay. I can try again,” and start over.</a:t>
            </a:r>
            <a:endParaRPr lang="en-US" sz="1400" b="1" dirty="0"/>
          </a:p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② When I make a mistake with a friend, I do not hide it. I apologize and think about what I can do differently next time.</a:t>
            </a:r>
            <a:endParaRPr lang="en-US" sz="1400" b="1" dirty="0"/>
          </a:p>
        </p:txBody>
      </p:sp>
      <p:sp>
        <p:nvSpPr>
          <p:cNvPr id="16" name="Shape 14"/>
          <p:cNvSpPr/>
          <p:nvPr/>
        </p:nvSpPr>
        <p:spPr>
          <a:xfrm>
            <a:off x="6245352" y="2944368"/>
            <a:ext cx="5486400" cy="1645920"/>
          </a:xfrm>
          <a:prstGeom prst="roundRect">
            <a:avLst>
              <a:gd name="adj" fmla="val 611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446520" y="3081528"/>
            <a:ext cx="1371600" cy="283464"/>
          </a:xfrm>
          <a:prstGeom prst="roundRect">
            <a:avLst>
              <a:gd name="adj" fmla="val 50000"/>
            </a:avLst>
          </a:prstGeom>
          <a:solidFill>
            <a:srgbClr val="E24B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6446520" y="3081528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Tiếng Việt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3447288"/>
            <a:ext cx="522122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① Khi viết sai hoặc làm đổ các khối xếp hình, con nói: “Không sao, mình có thể làm lại” rồi thử lại.</a:t>
            </a:r>
            <a:endParaRPr lang="en-US" sz="1400" b="1" dirty="0"/>
          </a:p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② Khi mắc lỗi với bạn, con không che giấu mà xin lỗi và nghĩ xem lần sau nên hành động như thế nào.</a:t>
            </a:r>
            <a:endParaRPr lang="en-US" sz="1400" b="1" dirty="0"/>
          </a:p>
        </p:txBody>
      </p:sp>
      <p:sp>
        <p:nvSpPr>
          <p:cNvPr id="20" name="Shape 18"/>
          <p:cNvSpPr/>
          <p:nvPr/>
        </p:nvSpPr>
        <p:spPr>
          <a:xfrm>
            <a:off x="457200" y="4754880"/>
            <a:ext cx="5486400" cy="1645920"/>
          </a:xfrm>
          <a:prstGeom prst="roundRect">
            <a:avLst>
              <a:gd name="adj" fmla="val 611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658368" y="4892040"/>
            <a:ext cx="1371600" cy="283464"/>
          </a:xfrm>
          <a:prstGeom prst="roundRect">
            <a:avLst>
              <a:gd name="adj" fmla="val 50000"/>
            </a:avLst>
          </a:prstGeom>
          <a:solidFill>
            <a:srgbClr val="E24B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658368" y="4892040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ភាសាខ្មែរ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58368" y="5257800"/>
            <a:ext cx="522122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① ពេលសរសេរខុស ឬធ្វើឱ្យប្លុកដួល កូននិយាយថា៖ «មិនអីទេ ខ្ញុំអាចធ្វើម្តងទៀតបាន» ហើយចាប់ផ្តើមសាជាថ្មី។</a:t>
            </a:r>
            <a:endParaRPr lang="en-US" sz="1400" b="1" dirty="0"/>
          </a:p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② ពេលធ្វើខុសចំពោះមិត្តភក្តិ កូនមិនលាក់បាំងទេ កូនសុំទោស ហើយគិតថាលើកក្រោយគួរធ្វើយ៉ាងដូចម្តេច។</a:t>
            </a:r>
            <a:endParaRPr lang="en-US" sz="1400" b="1" dirty="0"/>
          </a:p>
        </p:txBody>
      </p:sp>
      <p:sp>
        <p:nvSpPr>
          <p:cNvPr id="24" name="Shape 22"/>
          <p:cNvSpPr/>
          <p:nvPr/>
        </p:nvSpPr>
        <p:spPr>
          <a:xfrm>
            <a:off x="6245352" y="4754880"/>
            <a:ext cx="5486400" cy="1645920"/>
          </a:xfrm>
          <a:prstGeom prst="roundRect">
            <a:avLst>
              <a:gd name="adj" fmla="val 611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6446520" y="4892040"/>
            <a:ext cx="1024128" cy="283464"/>
          </a:xfrm>
          <a:prstGeom prst="roundRect">
            <a:avLst>
              <a:gd name="adj" fmla="val 50000"/>
            </a:avLst>
          </a:prstGeom>
          <a:solidFill>
            <a:srgbClr val="E24B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446520" y="4892040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Segoe UI" pitchFamily="34" charset="-122"/>
                <a:cs typeface="Calibri" pitchFamily="34" charset="-120"/>
              </a:rPr>
              <a:t>Русский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446520" y="5257800"/>
            <a:ext cx="522122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latin typeface="Calibri" pitchFamily="34" charset="0"/>
                <a:ea typeface="Segoe UI" pitchFamily="34" charset="-122"/>
                <a:cs typeface="Calibri" pitchFamily="34" charset="-120"/>
              </a:rPr>
              <a:t>① Если я написал(а) неправильно или уронил(а) кубики, я говорю: «Ничего, можно сделать заново» — и пробую снова.</a:t>
            </a:r>
            <a:endParaRPr lang="en-US" sz="1400" b="1" dirty="0"/>
          </a:p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latin typeface="Calibri" pitchFamily="34" charset="0"/>
                <a:ea typeface="Segoe UI" pitchFamily="34" charset="-122"/>
                <a:cs typeface="Calibri" pitchFamily="34" charset="-120"/>
              </a:rPr>
              <a:t>② Если я ошибся(лась) перед другом, я не скрываю этого: извиняюсь и думаю, как поступить в следующий раз.</a:t>
            </a:r>
            <a:endParaRPr lang="en-US" sz="1400"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84632"/>
            <a:ext cx="137160" cy="137160"/>
          </a:xfrm>
          <a:prstGeom prst="ellipse">
            <a:avLst/>
          </a:prstGeom>
          <a:solidFill>
            <a:srgbClr val="E24B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24B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우리 아이 마음속에 자라는 네 가지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768096"/>
            <a:ext cx="566928" cy="566928"/>
          </a:xfrm>
          <a:prstGeom prst="ellipse">
            <a:avLst/>
          </a:prstGeom>
          <a:solidFill>
            <a:srgbClr val="E24B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457200" y="7680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152144" y="758952"/>
            <a:ext cx="10561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소중해요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11274552" cy="1481328"/>
          </a:xfrm>
          <a:prstGeom prst="roundRect">
            <a:avLst>
              <a:gd name="adj" fmla="val 6790"/>
            </a:avLst>
          </a:prstGeom>
          <a:solidFill>
            <a:srgbClr val="FFF1F2"/>
          </a:solidFill>
          <a:ln w="12700">
            <a:solidFill>
              <a:srgbClr val="F6CB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76656" y="1737360"/>
            <a:ext cx="822960" cy="283464"/>
          </a:xfrm>
          <a:prstGeom prst="roundRect">
            <a:avLst>
              <a:gd name="adj" fmla="val 50000"/>
            </a:avLst>
          </a:prstGeom>
          <a:solidFill>
            <a:srgbClr val="E24B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676656" y="1737360"/>
            <a:ext cx="822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한국어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76656" y="21031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B9303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사람과 비교하지 않아도 괜찮아요.</a:t>
            </a:r>
            <a:endParaRPr lang="en-US" sz="2900" dirty="0"/>
          </a:p>
        </p:txBody>
      </p:sp>
      <p:sp>
        <p:nvSpPr>
          <p:cNvPr id="11" name="Shape 9"/>
          <p:cNvSpPr/>
          <p:nvPr/>
        </p:nvSpPr>
        <p:spPr>
          <a:xfrm>
            <a:off x="457200" y="3273552"/>
            <a:ext cx="2615184" cy="3035808"/>
          </a:xfrm>
          <a:prstGeom prst="roundRect">
            <a:avLst>
              <a:gd name="adj" fmla="val 3846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3429000"/>
            <a:ext cx="1024128" cy="283464"/>
          </a:xfrm>
          <a:prstGeom prst="roundRect">
            <a:avLst>
              <a:gd name="adj" fmla="val 50000"/>
            </a:avLst>
          </a:prstGeom>
          <a:solidFill>
            <a:srgbClr val="E24B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640080" y="3429000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b="1" dirty="0">
                <a:solidFill>
                  <a:srgbClr val="2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Am Valuable</a:t>
            </a:r>
            <a:endParaRPr lang="en-US" sz="17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846320"/>
            <a:ext cx="224942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I don’t need to compare myself with others.</a:t>
            </a:r>
            <a:endParaRPr lang="en-US" b="1" dirty="0"/>
          </a:p>
        </p:txBody>
      </p:sp>
      <p:sp>
        <p:nvSpPr>
          <p:cNvPr id="16" name="Shape 14"/>
          <p:cNvSpPr/>
          <p:nvPr/>
        </p:nvSpPr>
        <p:spPr>
          <a:xfrm>
            <a:off x="3337560" y="3273552"/>
            <a:ext cx="2615184" cy="3035808"/>
          </a:xfrm>
          <a:prstGeom prst="roundRect">
            <a:avLst>
              <a:gd name="adj" fmla="val 3846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3520440" y="3429000"/>
            <a:ext cx="1371600" cy="283464"/>
          </a:xfrm>
          <a:prstGeom prst="roundRect">
            <a:avLst>
              <a:gd name="adj" fmla="val 50000"/>
            </a:avLst>
          </a:prstGeom>
          <a:solidFill>
            <a:srgbClr val="E24B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3520440" y="3429000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Tiếng Việt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3520440" y="384048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b="1" dirty="0">
                <a:solidFill>
                  <a:srgbClr val="2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thật quý giá</a:t>
            </a:r>
            <a:endParaRPr lang="en-US" sz="1750" dirty="0"/>
          </a:p>
        </p:txBody>
      </p:sp>
      <p:sp>
        <p:nvSpPr>
          <p:cNvPr id="20" name="Text 18"/>
          <p:cNvSpPr txBox="1"/>
          <p:nvPr/>
        </p:nvSpPr>
        <p:spPr>
          <a:xfrm>
            <a:off x="3520440" y="4846320"/>
            <a:ext cx="224942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Con không cần so sánh mình với người khác.</a:t>
            </a:r>
            <a:endParaRPr lang="en-US" b="1" dirty="0"/>
          </a:p>
        </p:txBody>
      </p:sp>
      <p:sp>
        <p:nvSpPr>
          <p:cNvPr id="21" name="Shape 19"/>
          <p:cNvSpPr/>
          <p:nvPr/>
        </p:nvSpPr>
        <p:spPr>
          <a:xfrm>
            <a:off x="6217920" y="3273552"/>
            <a:ext cx="2615184" cy="3035808"/>
          </a:xfrm>
          <a:prstGeom prst="roundRect">
            <a:avLst>
              <a:gd name="adj" fmla="val 3846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6400800" y="3429000"/>
            <a:ext cx="1371600" cy="283464"/>
          </a:xfrm>
          <a:prstGeom prst="roundRect">
            <a:avLst>
              <a:gd name="adj" fmla="val 50000"/>
            </a:avLst>
          </a:prstGeom>
          <a:solidFill>
            <a:srgbClr val="E24B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6400800" y="3429000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ភាសាខ្មែរ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384048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b="1" dirty="0">
                <a:solidFill>
                  <a:srgbClr val="2B244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ខ្ញុំមានតម្លៃ</a:t>
            </a:r>
            <a:endParaRPr lang="en-US" dirty="0"/>
          </a:p>
        </p:txBody>
      </p:sp>
      <p:sp>
        <p:nvSpPr>
          <p:cNvPr id="25" name="Text 23"/>
          <p:cNvSpPr txBox="1"/>
          <p:nvPr/>
        </p:nvSpPr>
        <p:spPr>
          <a:xfrm>
            <a:off x="6400800" y="4846320"/>
            <a:ext cx="224942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b="1" dirty="0"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ខ្ញុំមិនចាំបាច់ប្រៀបធៀបខ្លួនឯងនឹងអ្នកដទៃទេ។</a:t>
            </a:r>
            <a:endParaRPr lang="en-US" sz="1600" b="1" dirty="0"/>
          </a:p>
        </p:txBody>
      </p:sp>
      <p:sp>
        <p:nvSpPr>
          <p:cNvPr id="26" name="Shape 24"/>
          <p:cNvSpPr/>
          <p:nvPr/>
        </p:nvSpPr>
        <p:spPr>
          <a:xfrm>
            <a:off x="9098280" y="3273552"/>
            <a:ext cx="2615184" cy="3035808"/>
          </a:xfrm>
          <a:prstGeom prst="roundRect">
            <a:avLst>
              <a:gd name="adj" fmla="val 3846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9281160" y="3429000"/>
            <a:ext cx="1024128" cy="283464"/>
          </a:xfrm>
          <a:prstGeom prst="roundRect">
            <a:avLst>
              <a:gd name="adj" fmla="val 50000"/>
            </a:avLst>
          </a:prstGeom>
          <a:solidFill>
            <a:srgbClr val="E24B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9281160" y="3429000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Segoe UI" pitchFamily="34" charset="-122"/>
                <a:cs typeface="Calibri" pitchFamily="34" charset="-120"/>
              </a:rPr>
              <a:t>Русский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9281160" y="384048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0">
              <a:lnSpc>
                <a:spcPct val="108000"/>
              </a:lnSpc>
              <a:buNone/>
            </a:pPr>
            <a:r>
              <a:rPr lang="en-US" sz="1750" b="1" dirty="0">
                <a:solidFill>
                  <a:srgbClr val="2B2440"/>
                </a:solidFill>
                <a:latin typeface="Calibri" pitchFamily="34" charset="0"/>
                <a:ea typeface="Segoe UI" pitchFamily="34" charset="-122"/>
                <a:cs typeface="Calibri" pitchFamily="34" charset="-120"/>
              </a:rPr>
              <a:t>Я — ценный человек</a:t>
            </a:r>
            <a:endParaRPr lang="en-US" sz="1750" dirty="0"/>
          </a:p>
        </p:txBody>
      </p:sp>
      <p:sp>
        <p:nvSpPr>
          <p:cNvPr id="30" name="Text 28"/>
          <p:cNvSpPr txBox="1"/>
          <p:nvPr/>
        </p:nvSpPr>
        <p:spPr>
          <a:xfrm>
            <a:off x="9281160" y="4846320"/>
            <a:ext cx="224942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0">
              <a:lnSpc>
                <a:spcPct val="110000"/>
              </a:lnSpc>
              <a:buNone/>
            </a:pPr>
            <a:r>
              <a:rPr lang="en-US" b="1" dirty="0">
                <a:latin typeface="Calibri" pitchFamily="34" charset="0"/>
                <a:ea typeface="Segoe UI" pitchFamily="34" charset="-122"/>
                <a:cs typeface="Calibri" pitchFamily="34" charset="-120"/>
              </a:rPr>
              <a:t>Не нужно сравнивать себя с другими.</a:t>
            </a:r>
            <a:endParaRPr lang="en-US"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84632"/>
            <a:ext cx="137160" cy="137160"/>
          </a:xfrm>
          <a:prstGeom prst="ellipse">
            <a:avLst/>
          </a:prstGeom>
          <a:solidFill>
            <a:srgbClr val="E24B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24B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우리 아이 마음속에 자라는 네 가지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768096"/>
            <a:ext cx="566928" cy="566928"/>
          </a:xfrm>
          <a:prstGeom prst="ellipse">
            <a:avLst/>
          </a:prstGeom>
          <a:solidFill>
            <a:srgbClr val="E24B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457200" y="7680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152144" y="758952"/>
            <a:ext cx="10561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소중해요 — 생활 속 모습</a:t>
            </a:r>
            <a:endParaRPr lang="en-US" sz="3100" dirty="0"/>
          </a:p>
        </p:txBody>
      </p:sp>
      <p:sp>
        <p:nvSpPr>
          <p:cNvPr id="7" name="Text 5"/>
          <p:cNvSpPr txBox="1"/>
          <p:nvPr/>
        </p:nvSpPr>
        <p:spPr>
          <a:xfrm>
            <a:off x="1152144" y="1335024"/>
            <a:ext cx="10561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5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아이가 실제로 이렇게 말하고 행동합니다.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719072"/>
            <a:ext cx="11274552" cy="1097280"/>
          </a:xfrm>
          <a:prstGeom prst="roundRect">
            <a:avLst>
              <a:gd name="adj" fmla="val 9167"/>
            </a:avLst>
          </a:prstGeom>
          <a:solidFill>
            <a:srgbClr val="FFF1F2"/>
          </a:solidFill>
          <a:ln w="12700">
            <a:solidFill>
              <a:srgbClr val="F6CB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58368" y="1874520"/>
            <a:ext cx="822960" cy="283464"/>
          </a:xfrm>
          <a:prstGeom prst="roundRect">
            <a:avLst>
              <a:gd name="adj" fmla="val 50000"/>
            </a:avLst>
          </a:prstGeom>
          <a:solidFill>
            <a:srgbClr val="E24B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658368" y="1874520"/>
            <a:ext cx="822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한국어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609344" y="1837944"/>
            <a:ext cx="99212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친구가 나보다 잘하는 것이 있어도 “나에게도 잘하는 것과 좋은 점이 있어”라고 생각해요.</a:t>
            </a:r>
            <a:endParaRPr lang="en-US" sz="1600" b="1" dirty="0"/>
          </a:p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일등을 하지 못하거나 칭찬받지 못해도 노력한 나 자신을 인정하고 격려해요.</a:t>
            </a:r>
            <a:endParaRPr lang="en-US" sz="1600" b="1" dirty="0"/>
          </a:p>
        </p:txBody>
      </p:sp>
      <p:sp>
        <p:nvSpPr>
          <p:cNvPr id="12" name="Shape 10"/>
          <p:cNvSpPr/>
          <p:nvPr/>
        </p:nvSpPr>
        <p:spPr>
          <a:xfrm>
            <a:off x="457200" y="2944368"/>
            <a:ext cx="5486400" cy="1645920"/>
          </a:xfrm>
          <a:prstGeom prst="roundRect">
            <a:avLst>
              <a:gd name="adj" fmla="val 611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658368" y="3081528"/>
            <a:ext cx="1024128" cy="283464"/>
          </a:xfrm>
          <a:prstGeom prst="roundRect">
            <a:avLst>
              <a:gd name="adj" fmla="val 50000"/>
            </a:avLst>
          </a:prstGeom>
          <a:solidFill>
            <a:srgbClr val="E24B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658368" y="3081528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3447288"/>
            <a:ext cx="52852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① Even when a friend is better at something, I remind myself, “I have my own strengths and good qualities.”</a:t>
            </a:r>
            <a:endParaRPr lang="en-US" sz="1600" b="1" dirty="0"/>
          </a:p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② Even if I do not come first or receive praise, I recognize my effort and encourage myself.</a:t>
            </a:r>
            <a:endParaRPr lang="en-US" sz="1600" b="1" dirty="0"/>
          </a:p>
        </p:txBody>
      </p:sp>
      <p:sp>
        <p:nvSpPr>
          <p:cNvPr id="16" name="Shape 14"/>
          <p:cNvSpPr/>
          <p:nvPr/>
        </p:nvSpPr>
        <p:spPr>
          <a:xfrm>
            <a:off x="6245352" y="2944368"/>
            <a:ext cx="5486400" cy="1645920"/>
          </a:xfrm>
          <a:prstGeom prst="roundRect">
            <a:avLst>
              <a:gd name="adj" fmla="val 611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446520" y="3081528"/>
            <a:ext cx="1371600" cy="283464"/>
          </a:xfrm>
          <a:prstGeom prst="roundRect">
            <a:avLst>
              <a:gd name="adj" fmla="val 50000"/>
            </a:avLst>
          </a:prstGeom>
          <a:solidFill>
            <a:srgbClr val="E24B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6446520" y="3081528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Tiếng Việt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245352" y="3447288"/>
            <a:ext cx="54864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① Dù bạn làm một việc nào đó giỏi hơn, con vẫn tự nhủ: “Mình cũng có những điểm mạnh và điều tốt đẹp riêng.”</a:t>
            </a:r>
            <a:endParaRPr lang="en-US" sz="1600" b="1" dirty="0"/>
          </a:p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② Dù không đứng nhất hoặc không được khen, con vẫn ghi nhận sự cố gắng và tự động viên mình.</a:t>
            </a:r>
            <a:endParaRPr lang="en-US" sz="1600" b="1" dirty="0"/>
          </a:p>
        </p:txBody>
      </p:sp>
      <p:sp>
        <p:nvSpPr>
          <p:cNvPr id="20" name="Shape 18"/>
          <p:cNvSpPr/>
          <p:nvPr/>
        </p:nvSpPr>
        <p:spPr>
          <a:xfrm>
            <a:off x="457200" y="4754880"/>
            <a:ext cx="5486400" cy="1645920"/>
          </a:xfrm>
          <a:prstGeom prst="roundRect">
            <a:avLst>
              <a:gd name="adj" fmla="val 611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658368" y="4892040"/>
            <a:ext cx="1371600" cy="283464"/>
          </a:xfrm>
          <a:prstGeom prst="roundRect">
            <a:avLst>
              <a:gd name="adj" fmla="val 50000"/>
            </a:avLst>
          </a:prstGeom>
          <a:solidFill>
            <a:srgbClr val="E24B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658368" y="4892040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ភាសាខ្មែរ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58368" y="5257800"/>
            <a:ext cx="52852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① ទោះបីមិត្តភក្តិធ្វើអ្វីមួយបានល្អជាងក៏ដោយ កូនរំឭកខ្លួនឯងថា៖ «ខ្ញុំក៏មានចំណុចខ្លាំង និងចំណុចល្អផ្ទាល់ខ្លួនដែរ»។</a:t>
            </a:r>
            <a:endParaRPr lang="en-US" sz="1400" b="1" dirty="0"/>
          </a:p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② ទោះបីមិនបានលេខមួយ ឬមិនទទួលបានការសរសើរក៏ដោយ កូនទទួលស្គាល់ការខិតខំរបស់ខ្លួន និងលើកទឹកចិត្តខ្លួនឯង។</a:t>
            </a:r>
            <a:endParaRPr lang="en-US" sz="1400" b="1" dirty="0"/>
          </a:p>
        </p:txBody>
      </p:sp>
      <p:sp>
        <p:nvSpPr>
          <p:cNvPr id="24" name="Shape 22"/>
          <p:cNvSpPr/>
          <p:nvPr/>
        </p:nvSpPr>
        <p:spPr>
          <a:xfrm>
            <a:off x="6245352" y="4754880"/>
            <a:ext cx="5486400" cy="1645920"/>
          </a:xfrm>
          <a:prstGeom prst="roundRect">
            <a:avLst>
              <a:gd name="adj" fmla="val 611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6446520" y="4892040"/>
            <a:ext cx="1024128" cy="283464"/>
          </a:xfrm>
          <a:prstGeom prst="roundRect">
            <a:avLst>
              <a:gd name="adj" fmla="val 50000"/>
            </a:avLst>
          </a:prstGeom>
          <a:solidFill>
            <a:srgbClr val="E24B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446520" y="4892040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Segoe UI" pitchFamily="34" charset="-122"/>
                <a:cs typeface="Calibri" pitchFamily="34" charset="-120"/>
              </a:rPr>
              <a:t>Русский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446520" y="5257800"/>
            <a:ext cx="52852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Calibri" pitchFamily="34" charset="0"/>
                <a:ea typeface="Segoe UI" pitchFamily="34" charset="-122"/>
                <a:cs typeface="Calibri" pitchFamily="34" charset="-120"/>
              </a:rPr>
              <a:t>① Даже если друг что-то делает лучше меня, я думаю: «У меня тоже есть то, что я умею, и свои хорошие стороны».</a:t>
            </a:r>
            <a:endParaRPr lang="en-US" sz="1600" b="1" dirty="0"/>
          </a:p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Calibri" pitchFamily="34" charset="0"/>
                <a:ea typeface="Segoe UI" pitchFamily="34" charset="-122"/>
                <a:cs typeface="Calibri" pitchFamily="34" charset="-120"/>
              </a:rPr>
              <a:t>② Даже если я не стал(а) первым(ой) и меня не похвалили, я признаю свои старания и подбадриваю себя.</a:t>
            </a:r>
            <a:endParaRPr lang="en-US" sz="1600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84632"/>
            <a:ext cx="137160" cy="137160"/>
          </a:xfrm>
          <a:prstGeom prst="ellipse">
            <a:avLst/>
          </a:prstGeom>
          <a:solidFill>
            <a:srgbClr val="E24B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24B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아이가 잘 자란다는 것은?</a:t>
            </a:r>
            <a:endParaRPr lang="en-US" sz="1350" dirty="0"/>
          </a:p>
        </p:txBody>
      </p:sp>
      <p:pic>
        <p:nvPicPr>
          <p:cNvPr id="5" name="Image 0" descr="imgs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8256" y="804672"/>
            <a:ext cx="8321040" cy="573328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F7F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5120640" cy="5120640"/>
          </a:xfrm>
          <a:prstGeom prst="ellipse">
            <a:avLst/>
          </a:prstGeom>
          <a:solidFill>
            <a:srgbClr val="1F5C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-1097280" y="4480560"/>
            <a:ext cx="3291840" cy="3291840"/>
          </a:xfrm>
          <a:prstGeom prst="ellipse">
            <a:avLst/>
          </a:prstGeom>
          <a:solidFill>
            <a:srgbClr val="1F5C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10058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2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92608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부모의 화가 아이 마음에 남기는 것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79476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parent’s anger can leave in a child’s heart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457200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>
                    <a:alpha val="7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한국어</a:t>
            </a:r>
            <a:r>
              <a:rPr lang="en-US" sz="1350" b="1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English  ·  Tiếng Việt  ·  </a:t>
            </a:r>
            <a:r>
              <a:rPr lang="en-US" sz="1350" b="1" dirty="0">
                <a:solidFill>
                  <a:srgbClr val="FFFFFF">
                    <a:alpha val="75000"/>
                  </a:srgbClr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ភាសាខ្មែរ</a:t>
            </a:r>
            <a:r>
              <a:rPr lang="en-US" sz="1350" b="1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r>
              <a:rPr lang="en-US" sz="1350" b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Segoe UI" pitchFamily="34" charset="-122"/>
                <a:cs typeface="Segoe UI" pitchFamily="34" charset="-120"/>
              </a:rPr>
              <a:t>Русский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84632"/>
            <a:ext cx="137160" cy="137160"/>
          </a:xfrm>
          <a:prstGeom prst="ellipse">
            <a:avLst/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7F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부모의 화가 아이 마음에 남기는 것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589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한눈에 보기 — 열두 가지 모습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39"/>
            <a:ext cx="2615184" cy="1005840"/>
          </a:xfrm>
          <a:prstGeom prst="roundRect">
            <a:avLst>
              <a:gd name="adj" fmla="val 8462"/>
            </a:avLst>
          </a:prstGeom>
          <a:solidFill>
            <a:srgbClr val="EDF4FC"/>
          </a:solidFill>
          <a:ln w="12700">
            <a:solidFill>
              <a:srgbClr val="C6DC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640080" y="1837943"/>
            <a:ext cx="402336" cy="402336"/>
          </a:xfrm>
          <a:prstGeom prst="ellipse">
            <a:avLst/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640080" y="183794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295144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늘 다른 사람의 눈치를 먼저 봅니다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37560" y="1691639"/>
            <a:ext cx="2615184" cy="1005840"/>
          </a:xfrm>
          <a:prstGeom prst="roundRect">
            <a:avLst>
              <a:gd name="adj" fmla="val 8462"/>
            </a:avLst>
          </a:prstGeom>
          <a:solidFill>
            <a:srgbClr val="EDF4FC"/>
          </a:solidFill>
          <a:ln w="12700">
            <a:solidFill>
              <a:srgbClr val="C6DC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3520440" y="1837943"/>
            <a:ext cx="402336" cy="402336"/>
          </a:xfrm>
          <a:prstGeom prst="ellipse">
            <a:avLst/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3520440" y="183794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295144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자신의 감정을 설명하기 어려워합니다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7920" y="1691639"/>
            <a:ext cx="2615184" cy="1005840"/>
          </a:xfrm>
          <a:prstGeom prst="roundRect">
            <a:avLst>
              <a:gd name="adj" fmla="val 8462"/>
            </a:avLst>
          </a:prstGeom>
          <a:solidFill>
            <a:srgbClr val="EDF4FC"/>
          </a:solidFill>
          <a:ln w="12700">
            <a:solidFill>
              <a:srgbClr val="C6DC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400800" y="1837943"/>
            <a:ext cx="402336" cy="402336"/>
          </a:xfrm>
          <a:prstGeom prst="ellipse">
            <a:avLst/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6400800" y="183794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2295144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혼나지 않기 위해 거짓말을 배웁니다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098280" y="1691639"/>
            <a:ext cx="2615184" cy="1005840"/>
          </a:xfrm>
          <a:prstGeom prst="roundRect">
            <a:avLst>
              <a:gd name="adj" fmla="val 8462"/>
            </a:avLst>
          </a:prstGeom>
          <a:solidFill>
            <a:srgbClr val="EDF4FC"/>
          </a:solidFill>
          <a:ln w="12700">
            <a:solidFill>
              <a:srgbClr val="C6DC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9281160" y="1837943"/>
            <a:ext cx="402336" cy="402336"/>
          </a:xfrm>
          <a:prstGeom prst="ellipse">
            <a:avLst/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9281160" y="183794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281160" y="2295144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사람에게 쉽게 휘둘립니다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2807208"/>
            <a:ext cx="2615184" cy="1005840"/>
          </a:xfrm>
          <a:prstGeom prst="roundRect">
            <a:avLst>
              <a:gd name="adj" fmla="val 8462"/>
            </a:avLst>
          </a:prstGeom>
          <a:solidFill>
            <a:srgbClr val="EDF4FC"/>
          </a:solidFill>
          <a:ln w="12700">
            <a:solidFill>
              <a:srgbClr val="C6DC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640080" y="2953512"/>
            <a:ext cx="402336" cy="402336"/>
          </a:xfrm>
          <a:prstGeom prst="ellipse">
            <a:avLst/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640080" y="2953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3410712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실패에도 자신을 심하게 자책합니다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337560" y="2807208"/>
            <a:ext cx="2615184" cy="1005840"/>
          </a:xfrm>
          <a:prstGeom prst="roundRect">
            <a:avLst>
              <a:gd name="adj" fmla="val 8462"/>
            </a:avLst>
          </a:prstGeom>
          <a:solidFill>
            <a:srgbClr val="EDF4FC"/>
          </a:solidFill>
          <a:ln w="12700">
            <a:solidFill>
              <a:srgbClr val="C6DC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3520440" y="2953512"/>
            <a:ext cx="402336" cy="402336"/>
          </a:xfrm>
          <a:prstGeom prst="ellipse">
            <a:avLst/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 txBox="1"/>
          <p:nvPr/>
        </p:nvSpPr>
        <p:spPr>
          <a:xfrm>
            <a:off x="3520440" y="2953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520440" y="3410712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일이 있어도 쉽게 행복해하지 못합니다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17920" y="2807208"/>
            <a:ext cx="2615184" cy="1005840"/>
          </a:xfrm>
          <a:prstGeom prst="roundRect">
            <a:avLst>
              <a:gd name="adj" fmla="val 8462"/>
            </a:avLst>
          </a:prstGeom>
          <a:solidFill>
            <a:srgbClr val="EDF4FC"/>
          </a:solidFill>
          <a:ln w="12700">
            <a:solidFill>
              <a:srgbClr val="C6DC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6400800" y="2953512"/>
            <a:ext cx="402336" cy="402336"/>
          </a:xfrm>
          <a:prstGeom prst="ellipse">
            <a:avLst/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6400800" y="2953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0" y="3410712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감정을 참다가 한꺼번에 폭발합니다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098280" y="2807208"/>
            <a:ext cx="2615184" cy="1005840"/>
          </a:xfrm>
          <a:prstGeom prst="roundRect">
            <a:avLst>
              <a:gd name="adj" fmla="val 8462"/>
            </a:avLst>
          </a:prstGeom>
          <a:solidFill>
            <a:srgbClr val="EDF4FC"/>
          </a:solidFill>
          <a:ln w="12700">
            <a:solidFill>
              <a:srgbClr val="C6DC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9281160" y="2953512"/>
            <a:ext cx="402336" cy="402336"/>
          </a:xfrm>
          <a:prstGeom prst="ellipse">
            <a:avLst/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 txBox="1"/>
          <p:nvPr/>
        </p:nvSpPr>
        <p:spPr>
          <a:xfrm>
            <a:off x="9281160" y="2953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9281160" y="3410712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새로운 도전을 두려워합니다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57200" y="3922776"/>
            <a:ext cx="2615184" cy="1005840"/>
          </a:xfrm>
          <a:prstGeom prst="roundRect">
            <a:avLst>
              <a:gd name="adj" fmla="val 8462"/>
            </a:avLst>
          </a:prstGeom>
          <a:solidFill>
            <a:srgbClr val="EDF4FC"/>
          </a:solidFill>
          <a:ln w="12700">
            <a:solidFill>
              <a:srgbClr val="C6DC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640080" y="4069080"/>
            <a:ext cx="402336" cy="402336"/>
          </a:xfrm>
          <a:prstGeom prst="ellipse">
            <a:avLst/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 txBox="1"/>
          <p:nvPr/>
        </p:nvSpPr>
        <p:spPr>
          <a:xfrm>
            <a:off x="640080" y="4069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" y="4526280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가까운 사람에게 감정을 쏟아냅니다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337560" y="3922776"/>
            <a:ext cx="2615184" cy="1005840"/>
          </a:xfrm>
          <a:prstGeom prst="roundRect">
            <a:avLst>
              <a:gd name="adj" fmla="val 8462"/>
            </a:avLst>
          </a:prstGeom>
          <a:solidFill>
            <a:srgbClr val="EDF4FC"/>
          </a:solidFill>
          <a:ln w="12700">
            <a:solidFill>
              <a:srgbClr val="C6DC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3520440" y="4069080"/>
            <a:ext cx="402336" cy="402336"/>
          </a:xfrm>
          <a:prstGeom prst="ellipse">
            <a:avLst/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Text 41"/>
          <p:cNvSpPr txBox="1"/>
          <p:nvPr/>
        </p:nvSpPr>
        <p:spPr>
          <a:xfrm>
            <a:off x="3520440" y="4069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3520440" y="4526280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자신을 부족한 사람이라고 느낍니다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217920" y="3922776"/>
            <a:ext cx="2615184" cy="1005840"/>
          </a:xfrm>
          <a:prstGeom prst="roundRect">
            <a:avLst>
              <a:gd name="adj" fmla="val 8462"/>
            </a:avLst>
          </a:prstGeom>
          <a:solidFill>
            <a:srgbClr val="EDF4FC"/>
          </a:solidFill>
          <a:ln w="12700">
            <a:solidFill>
              <a:srgbClr val="C6DC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Shape 44"/>
          <p:cNvSpPr/>
          <p:nvPr/>
        </p:nvSpPr>
        <p:spPr>
          <a:xfrm>
            <a:off x="6400800" y="4069080"/>
            <a:ext cx="402336" cy="402336"/>
          </a:xfrm>
          <a:prstGeom prst="ellipse">
            <a:avLst/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" name="Text 45"/>
          <p:cNvSpPr txBox="1"/>
          <p:nvPr/>
        </p:nvSpPr>
        <p:spPr>
          <a:xfrm>
            <a:off x="6400800" y="4069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6400800" y="4526280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칭찬보다 비난에 더 민감해집니다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9098280" y="3922776"/>
            <a:ext cx="2615184" cy="1005840"/>
          </a:xfrm>
          <a:prstGeom prst="roundRect">
            <a:avLst>
              <a:gd name="adj" fmla="val 8462"/>
            </a:avLst>
          </a:prstGeom>
          <a:solidFill>
            <a:srgbClr val="EDF4FC"/>
          </a:solidFill>
          <a:ln w="12700">
            <a:solidFill>
              <a:srgbClr val="C6DC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Shape 48"/>
          <p:cNvSpPr/>
          <p:nvPr/>
        </p:nvSpPr>
        <p:spPr>
          <a:xfrm>
            <a:off x="9281160" y="4069080"/>
            <a:ext cx="402336" cy="402336"/>
          </a:xfrm>
          <a:prstGeom prst="ellipse">
            <a:avLst/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1" name="Text 49"/>
          <p:cNvSpPr txBox="1"/>
          <p:nvPr/>
        </p:nvSpPr>
        <p:spPr>
          <a:xfrm>
            <a:off x="9281160" y="4069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9281160" y="4526280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불안을 기본 감정처럼 안고 살아갑니다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57200" y="5029200"/>
            <a:ext cx="11274552" cy="1508760"/>
          </a:xfrm>
          <a:prstGeom prst="roundRect">
            <a:avLst>
              <a:gd name="adj" fmla="val 18966"/>
            </a:avLst>
          </a:prstGeom>
          <a:solidFill>
            <a:srgbClr val="FFF8E7"/>
          </a:solidFill>
          <a:ln w="12700">
            <a:solidFill>
              <a:srgbClr val="F1DFB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52"/>
          <p:cNvSpPr txBox="1"/>
          <p:nvPr/>
        </p:nvSpPr>
        <p:spPr>
          <a:xfrm>
            <a:off x="777240" y="5029200"/>
            <a:ext cx="10607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5B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아이가 이렇게 되는 것은 아닙니다. 화를 낸 날이 있어도 다시 안아 주고 설명해 주면 아이 마음은 회복됩니다.</a:t>
            </a:r>
            <a:endParaRPr lang="en-US" sz="1600" dirty="0"/>
          </a:p>
          <a:p>
            <a:pPr marL="0" indent="0" algn="l">
              <a:buNone/>
            </a:pPr>
            <a:r>
              <a:rPr lang="en-US" sz="1050" b="0" dirty="0">
                <a:solidFill>
                  <a:srgbClr val="8A5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every child turns out this way. Even on days you get angry, if you hug your child again and explain, their heart recovers.</a:t>
            </a:r>
            <a:endParaRPr lang="en-US" sz="1600" dirty="0"/>
          </a:p>
          <a:p>
            <a:pPr marL="0" indent="0" algn="l">
              <a:buNone/>
            </a:pPr>
            <a:r>
              <a:rPr lang="en-US" sz="1050" b="0" dirty="0">
                <a:solidFill>
                  <a:srgbClr val="8A5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phải đứa trẻ nào cũng trở nên như vậy. Dù có ngày bạn nổi giận, chỉ cần ôm con lại và giải thích, trái tim con sẽ hồi phục.</a:t>
            </a:r>
            <a:endParaRPr lang="en-US" sz="1600" dirty="0"/>
          </a:p>
          <a:p>
            <a:pPr marL="0" indent="0" algn="l">
              <a:buNone/>
            </a:pPr>
            <a:r>
              <a:rPr lang="en-US" sz="1050" b="0" dirty="0">
                <a:solidFill>
                  <a:srgbClr val="8A5B0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មិនមែនកុមារគ្រប់រូបសុទ្ធតែក្លាយជាបែបនេះទេ។ ទោះមានថ្ងៃដែលអ្នកខឹងក៏ដោយ បើអ្នកឱបកូនម្តងទៀត ហើយពន្យល់ ចិត្តកូននឹងជាសះស្បើយវិញ។</a:t>
            </a:r>
            <a:endParaRPr lang="en-US" sz="1600" dirty="0"/>
          </a:p>
          <a:p>
            <a:pPr marL="0" indent="0" algn="l" rtl="0">
              <a:buNone/>
            </a:pPr>
            <a:r>
              <a:rPr lang="en-US" sz="1050" b="0" dirty="0">
                <a:solidFill>
                  <a:srgbClr val="8A5B0B"/>
                </a:solidFill>
                <a:latin typeface="Calibri" pitchFamily="34" charset="0"/>
                <a:ea typeface="Segoe UI" pitchFamily="34" charset="-122"/>
                <a:cs typeface="Calibri" pitchFamily="34" charset="-120"/>
              </a:rPr>
              <a:t>Не каждый ребёнок становится таким. Даже если в какой-то день вы рассердились, обнимите ребёнка снова и объясните — и его сердце восстановится.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84632"/>
            <a:ext cx="137160" cy="137160"/>
          </a:xfrm>
          <a:prstGeom prst="ellipse">
            <a:avLst/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7F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부모의 화가 아이 마음에 남기는 것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768096"/>
            <a:ext cx="566928" cy="566928"/>
          </a:xfrm>
          <a:prstGeom prst="ellipse">
            <a:avLst/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457200" y="7680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152144" y="758952"/>
            <a:ext cx="10561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늘 다른 사람의 눈치를 먼저 봅니다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11274552" cy="1170432"/>
          </a:xfrm>
          <a:prstGeom prst="roundRect">
            <a:avLst>
              <a:gd name="adj" fmla="val 8594"/>
            </a:avLst>
          </a:prstGeom>
          <a:solidFill>
            <a:srgbClr val="EDF4FC"/>
          </a:solidFill>
          <a:ln w="12700">
            <a:solidFill>
              <a:srgbClr val="C6DC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58368" y="1728216"/>
            <a:ext cx="822960" cy="283464"/>
          </a:xfrm>
          <a:prstGeom prst="roundRect">
            <a:avLst>
              <a:gd name="adj" fmla="val 50000"/>
            </a:avLst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658368" y="1728216"/>
            <a:ext cx="822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한국어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1609344" y="1691640"/>
            <a:ext cx="9921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늘 다른 사람의 눈치를 먼저 보는 아이가 될 수 있습니다.</a:t>
            </a:r>
            <a:endParaRPr lang="en-US" sz="1700" dirty="0"/>
          </a:p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집안 분위기가 갑자기 바뀌는 경험이 반복되면 아이는 “먼저 눈치를 봐야 안전하다”라고 학습합니다</a:t>
            </a:r>
            <a:r>
              <a:rPr lang="en-US" sz="1350" dirty="0">
                <a:solidFill>
                  <a:srgbClr val="6E65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57200" y="2944368"/>
            <a:ext cx="5486400" cy="1645920"/>
          </a:xfrm>
          <a:prstGeom prst="roundRect">
            <a:avLst>
              <a:gd name="adj" fmla="val 611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58368" y="3081528"/>
            <a:ext cx="1024128" cy="283464"/>
          </a:xfrm>
          <a:prstGeom prst="roundRect">
            <a:avLst>
              <a:gd name="adj" fmla="val 50000"/>
            </a:avLst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658368" y="3081528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447288"/>
            <a:ext cx="54864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They may become highly alert to other people’s moods.</a:t>
            </a:r>
            <a:endParaRPr lang="en-US" sz="1600" b="1" dirty="0"/>
          </a:p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→ When the atmosphere at home changes suddenly and repeatedly, a child learns, “I need to watch other people’s moods first to stay safe.”</a:t>
            </a:r>
            <a:endParaRPr lang="en-US" sz="1600" b="1" dirty="0"/>
          </a:p>
        </p:txBody>
      </p:sp>
      <p:sp>
        <p:nvSpPr>
          <p:cNvPr id="15" name="Shape 13"/>
          <p:cNvSpPr/>
          <p:nvPr/>
        </p:nvSpPr>
        <p:spPr>
          <a:xfrm>
            <a:off x="6245352" y="2944368"/>
            <a:ext cx="5486400" cy="1645920"/>
          </a:xfrm>
          <a:prstGeom prst="roundRect">
            <a:avLst>
              <a:gd name="adj" fmla="val 611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446520" y="3081528"/>
            <a:ext cx="1371600" cy="283464"/>
          </a:xfrm>
          <a:prstGeom prst="roundRect">
            <a:avLst>
              <a:gd name="adj" fmla="val 50000"/>
            </a:avLst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6446520" y="3081528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Tiếng Việt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144768" y="3364992"/>
            <a:ext cx="558698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Trẻ có thể trở thành người luôn dò xét tâm trạng của người khác trước tiên.</a:t>
            </a:r>
            <a:endParaRPr lang="en-US" sz="1600" b="1" dirty="0"/>
          </a:p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→ Khi không khí gia đình thường xuyên thay đổi đột ngột, trẻ học rằng: “Mình phải quan sát tình hình trước thì mới an toàn.”</a:t>
            </a:r>
            <a:endParaRPr lang="en-US" sz="1600" b="1" dirty="0"/>
          </a:p>
        </p:txBody>
      </p:sp>
      <p:sp>
        <p:nvSpPr>
          <p:cNvPr id="19" name="Shape 17"/>
          <p:cNvSpPr/>
          <p:nvPr/>
        </p:nvSpPr>
        <p:spPr>
          <a:xfrm>
            <a:off x="457200" y="4754880"/>
            <a:ext cx="5486400" cy="1645920"/>
          </a:xfrm>
          <a:prstGeom prst="roundRect">
            <a:avLst>
              <a:gd name="adj" fmla="val 611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58368" y="4892040"/>
            <a:ext cx="1371600" cy="283464"/>
          </a:xfrm>
          <a:prstGeom prst="roundRect">
            <a:avLst>
              <a:gd name="adj" fmla="val 50000"/>
            </a:avLst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658368" y="4892040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ភាសាខ្មែរ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5257800"/>
            <a:ext cx="54864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កុមារអាចក្លាយជាមនុស្សដែលតែងតែសង្កេតមើលអារម្មណ៍របស់អ្នកដទៃជាមុន។</a:t>
            </a:r>
            <a:endParaRPr lang="en-US" sz="1600" b="1" dirty="0"/>
          </a:p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→ នៅពេលបរិយាកាសក្នុងគ្រួសារផ្លាស់ប្តូរភ្លាមៗជាញឹកញាប់ កុមាររៀនថា៖ «ខ្ញុំត្រូវមើលស្ថានការណ៍ជាមុន ទើបមានសុវត្ថិភាព»។</a:t>
            </a:r>
            <a:endParaRPr lang="en-US" sz="1600" b="1" dirty="0"/>
          </a:p>
        </p:txBody>
      </p:sp>
      <p:sp>
        <p:nvSpPr>
          <p:cNvPr id="23" name="Shape 21"/>
          <p:cNvSpPr/>
          <p:nvPr/>
        </p:nvSpPr>
        <p:spPr>
          <a:xfrm>
            <a:off x="6245352" y="4754880"/>
            <a:ext cx="5486400" cy="1645920"/>
          </a:xfrm>
          <a:prstGeom prst="roundRect">
            <a:avLst>
              <a:gd name="adj" fmla="val 611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6144768" y="4892040"/>
            <a:ext cx="1024128" cy="283464"/>
          </a:xfrm>
          <a:prstGeom prst="roundRect">
            <a:avLst>
              <a:gd name="adj" fmla="val 50000"/>
            </a:avLst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6144768" y="4892040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Segoe UI" pitchFamily="34" charset="-122"/>
                <a:cs typeface="Calibri" pitchFamily="34" charset="-120"/>
              </a:rPr>
              <a:t>Русский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144768" y="5312664"/>
            <a:ext cx="556869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Calibri" pitchFamily="34" charset="0"/>
                <a:ea typeface="Segoe UI" pitchFamily="34" charset="-122"/>
                <a:cs typeface="Calibri" pitchFamily="34" charset="-120"/>
              </a:rPr>
              <a:t>Ребёнок может привыкнуть всегда сначала присматриваться к настроению других.</a:t>
            </a:r>
            <a:endParaRPr lang="en-US" sz="1600" b="1" dirty="0"/>
          </a:p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Calibri" pitchFamily="34" charset="0"/>
                <a:ea typeface="Segoe UI" pitchFamily="34" charset="-122"/>
                <a:cs typeface="Calibri" pitchFamily="34" charset="-120"/>
              </a:rPr>
              <a:t>→ Когда атмосфера в доме раз за разом внезапно меняется, ребёнок усваивает: «Чтобы быть в безопасности, нужно сначала присмотреться к настроению окружающих».</a:t>
            </a:r>
            <a:endParaRPr lang="en-US" sz="1600" b="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84632"/>
            <a:ext cx="137160" cy="137160"/>
          </a:xfrm>
          <a:prstGeom prst="ellipse">
            <a:avLst/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7F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부모의 화가 아이 마음에 남기는 것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768096"/>
            <a:ext cx="566928" cy="566928"/>
          </a:xfrm>
          <a:prstGeom prst="ellipse">
            <a:avLst/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457200" y="7680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152144" y="758952"/>
            <a:ext cx="10561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자신의 감정을 설명하기 어려워합니다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11274552" cy="1170432"/>
          </a:xfrm>
          <a:prstGeom prst="roundRect">
            <a:avLst>
              <a:gd name="adj" fmla="val 8594"/>
            </a:avLst>
          </a:prstGeom>
          <a:solidFill>
            <a:srgbClr val="EDF4FC"/>
          </a:solidFill>
          <a:ln w="12700">
            <a:solidFill>
              <a:srgbClr val="C6DC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58368" y="1728216"/>
            <a:ext cx="822960" cy="283464"/>
          </a:xfrm>
          <a:prstGeom prst="roundRect">
            <a:avLst>
              <a:gd name="adj" fmla="val 50000"/>
            </a:avLst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658368" y="1728216"/>
            <a:ext cx="822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한국어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1609344" y="1691640"/>
            <a:ext cx="9921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자신의 감정을 설명하는 것을 어려워할 수 있습니다.</a:t>
            </a:r>
            <a:endParaRPr lang="en-US" sz="1700" dirty="0"/>
          </a:p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화, 슬픔, 억울함을 건강하게 표현하는 방법을 배우지 못했기 때문입니다</a:t>
            </a:r>
            <a:r>
              <a:rPr lang="en-US" sz="1350" dirty="0">
                <a:solidFill>
                  <a:srgbClr val="6E65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57200" y="2944368"/>
            <a:ext cx="5486400" cy="1645920"/>
          </a:xfrm>
          <a:prstGeom prst="roundRect">
            <a:avLst>
              <a:gd name="adj" fmla="val 611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58368" y="3081528"/>
            <a:ext cx="1024128" cy="283464"/>
          </a:xfrm>
          <a:prstGeom prst="roundRect">
            <a:avLst>
              <a:gd name="adj" fmla="val 50000"/>
            </a:avLst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658368" y="3081528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58368" y="3447288"/>
            <a:ext cx="52852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They may find it difficult to explain their feelings.</a:t>
            </a:r>
            <a:endParaRPr lang="en-US" sz="1600" b="1" dirty="0"/>
          </a:p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→ This is because they may not have learned healthy ways to express anger, sadness or a sense of unfairness.</a:t>
            </a:r>
            <a:endParaRPr lang="en-US" sz="1600" b="1" dirty="0"/>
          </a:p>
        </p:txBody>
      </p:sp>
      <p:sp>
        <p:nvSpPr>
          <p:cNvPr id="15" name="Shape 13"/>
          <p:cNvSpPr/>
          <p:nvPr/>
        </p:nvSpPr>
        <p:spPr>
          <a:xfrm>
            <a:off x="6245352" y="2944368"/>
            <a:ext cx="5486400" cy="1645920"/>
          </a:xfrm>
          <a:prstGeom prst="roundRect">
            <a:avLst>
              <a:gd name="adj" fmla="val 611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446520" y="3081528"/>
            <a:ext cx="1371600" cy="283464"/>
          </a:xfrm>
          <a:prstGeom prst="roundRect">
            <a:avLst>
              <a:gd name="adj" fmla="val 50000"/>
            </a:avLst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6446520" y="3081528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Tiếng Việt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3447288"/>
            <a:ext cx="526694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Trẻ có thể gặp khó khăn khi diễn tả cảm xúc của mình.</a:t>
            </a:r>
            <a:endParaRPr lang="en-US" sz="1600" b="1" dirty="0"/>
          </a:p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→ Đó là vì trẻ chưa học được cách thể hiện lành mạnh sự tức giận, buồn bã hoặc cảm giác bị oan ức.</a:t>
            </a:r>
            <a:endParaRPr lang="en-US" sz="1600" b="1" dirty="0"/>
          </a:p>
        </p:txBody>
      </p:sp>
      <p:sp>
        <p:nvSpPr>
          <p:cNvPr id="19" name="Shape 17"/>
          <p:cNvSpPr/>
          <p:nvPr/>
        </p:nvSpPr>
        <p:spPr>
          <a:xfrm>
            <a:off x="457200" y="4754880"/>
            <a:ext cx="5486400" cy="1645920"/>
          </a:xfrm>
          <a:prstGeom prst="roundRect">
            <a:avLst>
              <a:gd name="adj" fmla="val 611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58368" y="4892040"/>
            <a:ext cx="1371600" cy="283464"/>
          </a:xfrm>
          <a:prstGeom prst="roundRect">
            <a:avLst>
              <a:gd name="adj" fmla="val 50000"/>
            </a:avLst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658368" y="4892040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ភាសាខ្មែរ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5257800"/>
            <a:ext cx="522122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កុមារអាចពិបាកពន្យល់ពីអារម្មណ៍របស់ខ្លួន។</a:t>
            </a:r>
            <a:endParaRPr lang="en-US" sz="1600" b="1" dirty="0"/>
          </a:p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→ ព្រោះកុមារមិនបានរៀនពីរបៀបបង្ហាញកំហឹង ភាពសោកសៅ ឬអារម្មណ៍ថាមិនយុត្តិធម៌តាមរបៀបត្រឹមត្រូវ។</a:t>
            </a:r>
            <a:endParaRPr lang="en-US" sz="1600" b="1" dirty="0"/>
          </a:p>
        </p:txBody>
      </p:sp>
      <p:sp>
        <p:nvSpPr>
          <p:cNvPr id="23" name="Shape 21"/>
          <p:cNvSpPr/>
          <p:nvPr/>
        </p:nvSpPr>
        <p:spPr>
          <a:xfrm>
            <a:off x="6245352" y="4754880"/>
            <a:ext cx="5486400" cy="1645920"/>
          </a:xfrm>
          <a:prstGeom prst="roundRect">
            <a:avLst>
              <a:gd name="adj" fmla="val 611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6245352" y="4892040"/>
            <a:ext cx="1024128" cy="283464"/>
          </a:xfrm>
          <a:prstGeom prst="roundRect">
            <a:avLst>
              <a:gd name="adj" fmla="val 50000"/>
            </a:avLst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6245352" y="4892040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Segoe UI" pitchFamily="34" charset="-122"/>
                <a:cs typeface="Calibri" pitchFamily="34" charset="-120"/>
              </a:rPr>
              <a:t>Русский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245352" y="5257800"/>
            <a:ext cx="52852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Calibri" pitchFamily="34" charset="0"/>
                <a:ea typeface="Segoe UI" pitchFamily="34" charset="-122"/>
                <a:cs typeface="Calibri" pitchFamily="34" charset="-120"/>
              </a:rPr>
              <a:t>Ребёнку может быть трудно объяснить свои чувства.</a:t>
            </a:r>
            <a:endParaRPr lang="en-US" sz="1600" b="1" dirty="0"/>
          </a:p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Calibri" pitchFamily="34" charset="0"/>
                <a:ea typeface="Segoe UI" pitchFamily="34" charset="-122"/>
                <a:cs typeface="Calibri" pitchFamily="34" charset="-120"/>
              </a:rPr>
              <a:t>→ Потому что он не научился здоровым способом выражать злость, грусть и обиду.</a:t>
            </a:r>
            <a:endParaRPr lang="en-US" sz="1600" b="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84632"/>
            <a:ext cx="137160" cy="137160"/>
          </a:xfrm>
          <a:prstGeom prst="ellipse">
            <a:avLst/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7F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부모의 화가 아이 마음에 남기는 것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768096"/>
            <a:ext cx="566928" cy="566928"/>
          </a:xfrm>
          <a:prstGeom prst="ellipse">
            <a:avLst/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457200" y="7680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152144" y="758952"/>
            <a:ext cx="10561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혼나지 않기 위해 거짓말을 배웁니다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11274552" cy="1170432"/>
          </a:xfrm>
          <a:prstGeom prst="roundRect">
            <a:avLst>
              <a:gd name="adj" fmla="val 8594"/>
            </a:avLst>
          </a:prstGeom>
          <a:solidFill>
            <a:srgbClr val="EDF4FC"/>
          </a:solidFill>
          <a:ln w="12700">
            <a:solidFill>
              <a:srgbClr val="C6DC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58368" y="1728216"/>
            <a:ext cx="822960" cy="283464"/>
          </a:xfrm>
          <a:prstGeom prst="roundRect">
            <a:avLst>
              <a:gd name="adj" fmla="val 50000"/>
            </a:avLst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658368" y="1728216"/>
            <a:ext cx="822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한국어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1609344" y="1691640"/>
            <a:ext cx="9921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혼나지 않기 위해 거짓말부터 배우게 될 수 있습니다.</a:t>
            </a:r>
            <a:endParaRPr lang="en-US" sz="1700" dirty="0"/>
          </a:p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솔직함보다 ‘위험 피하기’가 더 중요해지기 때문입니다.</a:t>
            </a:r>
            <a:endParaRPr lang="en-US" sz="2000" b="1" dirty="0"/>
          </a:p>
        </p:txBody>
      </p:sp>
      <p:sp>
        <p:nvSpPr>
          <p:cNvPr id="11" name="Shape 9"/>
          <p:cNvSpPr/>
          <p:nvPr/>
        </p:nvSpPr>
        <p:spPr>
          <a:xfrm>
            <a:off x="457200" y="2944368"/>
            <a:ext cx="5486400" cy="1645920"/>
          </a:xfrm>
          <a:prstGeom prst="roundRect">
            <a:avLst>
              <a:gd name="adj" fmla="val 611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58368" y="3081528"/>
            <a:ext cx="1024128" cy="283464"/>
          </a:xfrm>
          <a:prstGeom prst="roundRect">
            <a:avLst>
              <a:gd name="adj" fmla="val 50000"/>
            </a:avLst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658368" y="3081528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58368" y="3447288"/>
            <a:ext cx="508406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They may learn to lie to avoid being scolded.</a:t>
            </a:r>
            <a:endParaRPr lang="en-US" sz="1600" b="1" dirty="0"/>
          </a:p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→ Avoiding danger becomes more important to them than being honest.</a:t>
            </a:r>
            <a:endParaRPr lang="en-US" sz="1600" b="1" dirty="0"/>
          </a:p>
        </p:txBody>
      </p:sp>
      <p:sp>
        <p:nvSpPr>
          <p:cNvPr id="15" name="Shape 13"/>
          <p:cNvSpPr/>
          <p:nvPr/>
        </p:nvSpPr>
        <p:spPr>
          <a:xfrm>
            <a:off x="6245352" y="2944368"/>
            <a:ext cx="5486400" cy="1645920"/>
          </a:xfrm>
          <a:prstGeom prst="roundRect">
            <a:avLst>
              <a:gd name="adj" fmla="val 611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446520" y="3081528"/>
            <a:ext cx="1371600" cy="283464"/>
          </a:xfrm>
          <a:prstGeom prst="roundRect">
            <a:avLst>
              <a:gd name="adj" fmla="val 50000"/>
            </a:avLst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6446520" y="3081528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Tiếng Việt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3447288"/>
            <a:ext cx="508406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Trẻ có thể học nói dối để tránh bị mắng.</a:t>
            </a:r>
            <a:endParaRPr lang="en-US" sz="1600" b="1" dirty="0"/>
          </a:p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→ Bởi vì “tránh nguy hiểm” trở nên quan trọng hơn sự trung thực.</a:t>
            </a:r>
            <a:endParaRPr lang="en-US" sz="1600" b="1" dirty="0"/>
          </a:p>
        </p:txBody>
      </p:sp>
      <p:sp>
        <p:nvSpPr>
          <p:cNvPr id="19" name="Shape 17"/>
          <p:cNvSpPr/>
          <p:nvPr/>
        </p:nvSpPr>
        <p:spPr>
          <a:xfrm>
            <a:off x="457200" y="4754880"/>
            <a:ext cx="5486400" cy="1645920"/>
          </a:xfrm>
          <a:prstGeom prst="roundRect">
            <a:avLst>
              <a:gd name="adj" fmla="val 611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58368" y="4892040"/>
            <a:ext cx="1371600" cy="283464"/>
          </a:xfrm>
          <a:prstGeom prst="roundRect">
            <a:avLst>
              <a:gd name="adj" fmla="val 50000"/>
            </a:avLst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658368" y="4892040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ភាសាខ្មែរ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5257800"/>
            <a:ext cx="538581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b="1" dirty="0"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កុមារអាចរៀននិយាយកុហក ដើម្បីកុំឱ្យគេស្តីបន្ទោស។</a:t>
            </a:r>
            <a:endParaRPr lang="en-US" b="1" dirty="0"/>
          </a:p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b="1" dirty="0"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→ ព្រោះការគេចពីគ្រោះថ្នាក់ក្លាយជារឿងសំខាន់ជាងភាពស្មោះត្រង់។</a:t>
            </a:r>
            <a:endParaRPr lang="en-US" b="1" dirty="0"/>
          </a:p>
        </p:txBody>
      </p:sp>
      <p:sp>
        <p:nvSpPr>
          <p:cNvPr id="23" name="Shape 21"/>
          <p:cNvSpPr/>
          <p:nvPr/>
        </p:nvSpPr>
        <p:spPr>
          <a:xfrm>
            <a:off x="6245352" y="4754880"/>
            <a:ext cx="5486400" cy="1645920"/>
          </a:xfrm>
          <a:prstGeom prst="roundRect">
            <a:avLst>
              <a:gd name="adj" fmla="val 611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6446520" y="4892040"/>
            <a:ext cx="1024128" cy="283464"/>
          </a:xfrm>
          <a:prstGeom prst="roundRect">
            <a:avLst>
              <a:gd name="adj" fmla="val 50000"/>
            </a:avLst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6446520" y="4892040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Segoe UI" pitchFamily="34" charset="-122"/>
                <a:cs typeface="Calibri" pitchFamily="34" charset="-120"/>
              </a:rPr>
              <a:t>Русский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446520" y="5257800"/>
            <a:ext cx="508406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Calibri" pitchFamily="34" charset="0"/>
                <a:ea typeface="Segoe UI" pitchFamily="34" charset="-122"/>
                <a:cs typeface="Calibri" pitchFamily="34" charset="-120"/>
              </a:rPr>
              <a:t>Ребёнок может научиться лгать, чтобы его не ругали.</a:t>
            </a:r>
            <a:endParaRPr lang="en-US" sz="1600" b="1" dirty="0"/>
          </a:p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Calibri" pitchFamily="34" charset="0"/>
                <a:ea typeface="Segoe UI" pitchFamily="34" charset="-122"/>
                <a:cs typeface="Calibri" pitchFamily="34" charset="-120"/>
              </a:rPr>
              <a:t>→ Потому что «избежать опасности» становится важнее честности.</a:t>
            </a:r>
            <a:endParaRPr lang="en-US" sz="1600" b="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84632"/>
            <a:ext cx="137160" cy="137160"/>
          </a:xfrm>
          <a:prstGeom prst="ellipse">
            <a:avLst/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7F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부모의 화가 아이 마음에 남기는 것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768096"/>
            <a:ext cx="566928" cy="566928"/>
          </a:xfrm>
          <a:prstGeom prst="ellipse">
            <a:avLst/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457200" y="7680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152144" y="758952"/>
            <a:ext cx="10561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사람에게 쉽게 휘둘립니다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11274552" cy="1170432"/>
          </a:xfrm>
          <a:prstGeom prst="roundRect">
            <a:avLst>
              <a:gd name="adj" fmla="val 8594"/>
            </a:avLst>
          </a:prstGeom>
          <a:solidFill>
            <a:srgbClr val="EDF4FC"/>
          </a:solidFill>
          <a:ln w="12700">
            <a:solidFill>
              <a:srgbClr val="C6DC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58368" y="1728216"/>
            <a:ext cx="822960" cy="283464"/>
          </a:xfrm>
          <a:prstGeom prst="roundRect">
            <a:avLst>
              <a:gd name="adj" fmla="val 50000"/>
            </a:avLst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658368" y="1728216"/>
            <a:ext cx="822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한국어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1609344" y="1691640"/>
            <a:ext cx="9921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사람에게 쉽게 휘둘릴 수 있습니다.</a:t>
            </a:r>
            <a:endParaRPr lang="en-US" sz="1700" dirty="0"/>
          </a:p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큰 목소리와 강한 말투에 위축되어 싫은 부탁도 거절하지 못하게 됩니다.</a:t>
            </a:r>
            <a:endParaRPr lang="en-US" sz="1600" b="1" dirty="0"/>
          </a:p>
        </p:txBody>
      </p:sp>
      <p:sp>
        <p:nvSpPr>
          <p:cNvPr id="11" name="Shape 9"/>
          <p:cNvSpPr/>
          <p:nvPr/>
        </p:nvSpPr>
        <p:spPr>
          <a:xfrm>
            <a:off x="457200" y="2944368"/>
            <a:ext cx="5486400" cy="1645920"/>
          </a:xfrm>
          <a:prstGeom prst="roundRect">
            <a:avLst>
              <a:gd name="adj" fmla="val 611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58368" y="3081528"/>
            <a:ext cx="1024128" cy="283464"/>
          </a:xfrm>
          <a:prstGeom prst="roundRect">
            <a:avLst>
              <a:gd name="adj" fmla="val 50000"/>
            </a:avLst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658368" y="3081528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58368" y="3447288"/>
            <a:ext cx="508406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They may be easily influenced or controlled by others.</a:t>
            </a:r>
            <a:endParaRPr lang="en-US" sz="1600" b="1" dirty="0"/>
          </a:p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→ Loud voices and harsh tones intimidate them, making it difficult to refuse requests they do not want to accept.</a:t>
            </a:r>
            <a:endParaRPr lang="en-US" sz="1600" b="1" dirty="0"/>
          </a:p>
        </p:txBody>
      </p:sp>
      <p:sp>
        <p:nvSpPr>
          <p:cNvPr id="15" name="Shape 13"/>
          <p:cNvSpPr/>
          <p:nvPr/>
        </p:nvSpPr>
        <p:spPr>
          <a:xfrm>
            <a:off x="6245352" y="2944368"/>
            <a:ext cx="5486400" cy="1645920"/>
          </a:xfrm>
          <a:prstGeom prst="roundRect">
            <a:avLst>
              <a:gd name="adj" fmla="val 611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446520" y="3081528"/>
            <a:ext cx="1371600" cy="283464"/>
          </a:xfrm>
          <a:prstGeom prst="roundRect">
            <a:avLst>
              <a:gd name="adj" fmla="val 50000"/>
            </a:avLst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6446520" y="3081528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Tiếng Việt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3447288"/>
            <a:ext cx="508406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Trẻ có thể dễ bị người khác chi phối.</a:t>
            </a:r>
            <a:endParaRPr lang="en-US" sz="1600" b="1" dirty="0"/>
          </a:p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→ Trẻ trở nên rụt rè trước giọng nói lớn hoặc gay gắt và khó từ chối cả những yêu cầu mình không muốn thực hiện.</a:t>
            </a:r>
            <a:endParaRPr lang="en-US" sz="1600" b="1" dirty="0"/>
          </a:p>
        </p:txBody>
      </p:sp>
      <p:sp>
        <p:nvSpPr>
          <p:cNvPr id="19" name="Shape 17"/>
          <p:cNvSpPr/>
          <p:nvPr/>
        </p:nvSpPr>
        <p:spPr>
          <a:xfrm>
            <a:off x="457200" y="4754880"/>
            <a:ext cx="5486400" cy="1645920"/>
          </a:xfrm>
          <a:prstGeom prst="roundRect">
            <a:avLst>
              <a:gd name="adj" fmla="val 611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58368" y="4892040"/>
            <a:ext cx="1371600" cy="283464"/>
          </a:xfrm>
          <a:prstGeom prst="roundRect">
            <a:avLst>
              <a:gd name="adj" fmla="val 50000"/>
            </a:avLst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658368" y="4892040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ភាសាខ្មែរ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5257800"/>
            <a:ext cx="508406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b="1" dirty="0"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កុមារអាចងាយរងឥទ្ធិពល ឬការគ្រប់គ្រងពីអ្នកដទៃ។</a:t>
            </a:r>
            <a:endParaRPr lang="en-US" b="1" dirty="0"/>
          </a:p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b="1" dirty="0"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→ សំឡេងខ្លាំង និងសម្តីតឹងរ៉ឹងធ្វើឱ្យកុមារភ័យខ្លាច ហើយពិបាកបដិសេធសំណើដែលខ្លួនមិនចង់ធ្វើ។</a:t>
            </a:r>
            <a:endParaRPr lang="en-US" b="1" dirty="0"/>
          </a:p>
        </p:txBody>
      </p:sp>
      <p:sp>
        <p:nvSpPr>
          <p:cNvPr id="23" name="Shape 21"/>
          <p:cNvSpPr/>
          <p:nvPr/>
        </p:nvSpPr>
        <p:spPr>
          <a:xfrm>
            <a:off x="6245352" y="4754880"/>
            <a:ext cx="5486400" cy="1645920"/>
          </a:xfrm>
          <a:prstGeom prst="roundRect">
            <a:avLst>
              <a:gd name="adj" fmla="val 611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6446520" y="4892040"/>
            <a:ext cx="1024128" cy="283464"/>
          </a:xfrm>
          <a:prstGeom prst="roundRect">
            <a:avLst>
              <a:gd name="adj" fmla="val 50000"/>
            </a:avLst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6446520" y="4892040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Segoe UI" pitchFamily="34" charset="-122"/>
                <a:cs typeface="Calibri" pitchFamily="34" charset="-120"/>
              </a:rPr>
              <a:t>Русский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446520" y="5257800"/>
            <a:ext cx="508406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Calibri" pitchFamily="34" charset="0"/>
                <a:ea typeface="Segoe UI" pitchFamily="34" charset="-122"/>
                <a:cs typeface="Calibri" pitchFamily="34" charset="-120"/>
              </a:rPr>
              <a:t>Ребёнок может легко поддаваться влиянию других.</a:t>
            </a:r>
            <a:endParaRPr lang="en-US" sz="1600" b="1" dirty="0"/>
          </a:p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Calibri" pitchFamily="34" charset="0"/>
                <a:ea typeface="Segoe UI" pitchFamily="34" charset="-122"/>
                <a:cs typeface="Calibri" pitchFamily="34" charset="-120"/>
              </a:rPr>
              <a:t>→ Громкий голос и резкий тон подавляют его, и он не может отказать даже в неприятной просьбе.</a:t>
            </a:r>
            <a:endParaRPr lang="en-US" sz="1600" b="1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84632"/>
            <a:ext cx="137160" cy="137160"/>
          </a:xfrm>
          <a:prstGeom prst="ellipse">
            <a:avLst/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7F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부모의 화가 아이 마음에 남기는 것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768096"/>
            <a:ext cx="566928" cy="566928"/>
          </a:xfrm>
          <a:prstGeom prst="ellipse">
            <a:avLst/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457200" y="7680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152144" y="758952"/>
            <a:ext cx="10561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실패에도 자신을 심하게 자책합니다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11274552" cy="1170432"/>
          </a:xfrm>
          <a:prstGeom prst="roundRect">
            <a:avLst>
              <a:gd name="adj" fmla="val 8594"/>
            </a:avLst>
          </a:prstGeom>
          <a:solidFill>
            <a:srgbClr val="EDF4FC"/>
          </a:solidFill>
          <a:ln w="12700">
            <a:solidFill>
              <a:srgbClr val="C6DC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58368" y="1728216"/>
            <a:ext cx="822960" cy="283464"/>
          </a:xfrm>
          <a:prstGeom prst="roundRect">
            <a:avLst>
              <a:gd name="adj" fmla="val 50000"/>
            </a:avLst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658368" y="1728216"/>
            <a:ext cx="822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한국어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1609344" y="1691640"/>
            <a:ext cx="9921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실패에도 자신을 심하게 자책할 수 있습니다.</a:t>
            </a:r>
            <a:endParaRPr lang="en-US" sz="1700" dirty="0"/>
          </a:p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어릴 때부터 ‘실수는 곧 비난받는 일’이라고 느끼며 자랐기 때문입니다</a:t>
            </a:r>
            <a:r>
              <a:rPr lang="en-US" sz="1350" dirty="0">
                <a:solidFill>
                  <a:srgbClr val="6E65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57200" y="2944368"/>
            <a:ext cx="5486400" cy="1645920"/>
          </a:xfrm>
          <a:prstGeom prst="roundRect">
            <a:avLst>
              <a:gd name="adj" fmla="val 611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58368" y="3081528"/>
            <a:ext cx="1024128" cy="283464"/>
          </a:xfrm>
          <a:prstGeom prst="roundRect">
            <a:avLst>
              <a:gd name="adj" fmla="val 50000"/>
            </a:avLst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658368" y="3081528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25780" y="3447288"/>
            <a:ext cx="54178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They may blame themselves harshly even for small failures.</a:t>
            </a:r>
            <a:endParaRPr lang="en-US" sz="1600" b="1" dirty="0"/>
          </a:p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→ They have grown up feeling that making a mistake means being criticized.</a:t>
            </a:r>
            <a:endParaRPr lang="en-US" sz="1600" b="1" dirty="0"/>
          </a:p>
        </p:txBody>
      </p:sp>
      <p:sp>
        <p:nvSpPr>
          <p:cNvPr id="15" name="Shape 13"/>
          <p:cNvSpPr/>
          <p:nvPr/>
        </p:nvSpPr>
        <p:spPr>
          <a:xfrm>
            <a:off x="6245352" y="2944368"/>
            <a:ext cx="5486400" cy="1645920"/>
          </a:xfrm>
          <a:prstGeom prst="roundRect">
            <a:avLst>
              <a:gd name="adj" fmla="val 611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446520" y="3081528"/>
            <a:ext cx="1371600" cy="283464"/>
          </a:xfrm>
          <a:prstGeom prst="roundRect">
            <a:avLst>
              <a:gd name="adj" fmla="val 50000"/>
            </a:avLst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6446520" y="3081528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Tiếng Việt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245352" y="3447288"/>
            <a:ext cx="54864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Trẻ có thể tự trách bản thân nặng nề ngay cả khi chỉ thất bại nhỏ.</a:t>
            </a:r>
            <a:endParaRPr lang="en-US" sz="1600" b="1" dirty="0"/>
          </a:p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→ Bởi vì từ nhỏ, trẻ đã lớn lên với cảm giác rằng mắc lỗi đồng nghĩa với bị chỉ trích.</a:t>
            </a:r>
            <a:endParaRPr lang="en-US" sz="1600" b="1" dirty="0"/>
          </a:p>
        </p:txBody>
      </p:sp>
      <p:sp>
        <p:nvSpPr>
          <p:cNvPr id="19" name="Shape 17"/>
          <p:cNvSpPr/>
          <p:nvPr/>
        </p:nvSpPr>
        <p:spPr>
          <a:xfrm>
            <a:off x="457200" y="4754880"/>
            <a:ext cx="5486400" cy="1645920"/>
          </a:xfrm>
          <a:prstGeom prst="roundRect">
            <a:avLst>
              <a:gd name="adj" fmla="val 611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58368" y="4892040"/>
            <a:ext cx="1371600" cy="283464"/>
          </a:xfrm>
          <a:prstGeom prst="roundRect">
            <a:avLst>
              <a:gd name="adj" fmla="val 50000"/>
            </a:avLst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658368" y="4892040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ភាសាខ្មែរ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25780" y="5257800"/>
            <a:ext cx="54864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កុមារអាចស្តីបន្ទោសខ្លួនឯងយ៉ាងខ្លាំង សូម្បីតែចំពោះការបរាជ័យតូចតាច។</a:t>
            </a:r>
            <a:endParaRPr lang="en-US" sz="1600" b="1" dirty="0"/>
          </a:p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→ ព្រោះកុមារធំឡើងដោយមានអារម្មណ៍ថា «ការធ្វើខុសមានន័យថាត្រូវគេស្តីបន្ទោស»។</a:t>
            </a:r>
            <a:endParaRPr lang="en-US" sz="1600" b="1" dirty="0"/>
          </a:p>
        </p:txBody>
      </p:sp>
      <p:sp>
        <p:nvSpPr>
          <p:cNvPr id="23" name="Shape 21"/>
          <p:cNvSpPr/>
          <p:nvPr/>
        </p:nvSpPr>
        <p:spPr>
          <a:xfrm>
            <a:off x="6245352" y="4754880"/>
            <a:ext cx="5486400" cy="1645920"/>
          </a:xfrm>
          <a:prstGeom prst="roundRect">
            <a:avLst>
              <a:gd name="adj" fmla="val 611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6446520" y="4892040"/>
            <a:ext cx="1024128" cy="283464"/>
          </a:xfrm>
          <a:prstGeom prst="roundRect">
            <a:avLst>
              <a:gd name="adj" fmla="val 50000"/>
            </a:avLst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6446520" y="4892040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Segoe UI" pitchFamily="34" charset="-122"/>
                <a:cs typeface="Calibri" pitchFamily="34" charset="-120"/>
              </a:rPr>
              <a:t>Русский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446520" y="5257800"/>
            <a:ext cx="52852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Calibri" pitchFamily="34" charset="0"/>
                <a:ea typeface="Segoe UI" pitchFamily="34" charset="-122"/>
                <a:cs typeface="Calibri" pitchFamily="34" charset="-120"/>
              </a:rPr>
              <a:t>Ребёнок может жёстко винить себя даже за маленькие неудачи.</a:t>
            </a:r>
            <a:endParaRPr lang="en-US" sz="1600" b="1" dirty="0"/>
          </a:p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Calibri" pitchFamily="34" charset="0"/>
                <a:ea typeface="Segoe UI" pitchFamily="34" charset="-122"/>
                <a:cs typeface="Calibri" pitchFamily="34" charset="-120"/>
              </a:rPr>
              <a:t>→ Потому что с детства он рос с ощущением, что «ошибка — это то, за что ругают».</a:t>
            </a:r>
            <a:endParaRPr lang="en-US" sz="1600" b="1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84632"/>
            <a:ext cx="137160" cy="137160"/>
          </a:xfrm>
          <a:prstGeom prst="ellipse">
            <a:avLst/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7F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부모의 화가 아이 마음에 남기는 것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768096"/>
            <a:ext cx="566928" cy="566928"/>
          </a:xfrm>
          <a:prstGeom prst="ellipse">
            <a:avLst/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457200" y="7680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152144" y="758952"/>
            <a:ext cx="10561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일이 있어도 쉽게 행복해하지 못합니다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11274552" cy="1170432"/>
          </a:xfrm>
          <a:prstGeom prst="roundRect">
            <a:avLst>
              <a:gd name="adj" fmla="val 8594"/>
            </a:avLst>
          </a:prstGeom>
          <a:solidFill>
            <a:srgbClr val="EDF4FC"/>
          </a:solidFill>
          <a:ln w="12700">
            <a:solidFill>
              <a:srgbClr val="C6DC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58368" y="1728216"/>
            <a:ext cx="822960" cy="283464"/>
          </a:xfrm>
          <a:prstGeom prst="roundRect">
            <a:avLst>
              <a:gd name="adj" fmla="val 50000"/>
            </a:avLst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658368" y="1728216"/>
            <a:ext cx="822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한국어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1609344" y="1691640"/>
            <a:ext cx="9921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일이 있어도 쉽게 행복해하지 못할 수 있습니다.</a:t>
            </a:r>
            <a:endParaRPr lang="en-US" sz="1700" dirty="0"/>
          </a:p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늘 긴장하며 살아온 아이는 편안한 상태 자체를 낯설게 느끼기도 합니다.</a:t>
            </a:r>
            <a:endParaRPr lang="en-US" sz="2000" b="1" dirty="0"/>
          </a:p>
        </p:txBody>
      </p:sp>
      <p:sp>
        <p:nvSpPr>
          <p:cNvPr id="11" name="Shape 9"/>
          <p:cNvSpPr/>
          <p:nvPr/>
        </p:nvSpPr>
        <p:spPr>
          <a:xfrm>
            <a:off x="457200" y="2944368"/>
            <a:ext cx="5486400" cy="1645920"/>
          </a:xfrm>
          <a:prstGeom prst="roundRect">
            <a:avLst>
              <a:gd name="adj" fmla="val 611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58368" y="3081528"/>
            <a:ext cx="1024128" cy="283464"/>
          </a:xfrm>
          <a:prstGeom prst="roundRect">
            <a:avLst>
              <a:gd name="adj" fmla="val 50000"/>
            </a:avLst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658368" y="3081528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447288"/>
            <a:ext cx="52852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They may find it difficult to feel happy even when something good happens.</a:t>
            </a:r>
            <a:endParaRPr lang="en-US" sz="1600" b="1" dirty="0"/>
          </a:p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→ A child who has lived in constant tension may find calmness itself unfamiliar.</a:t>
            </a:r>
            <a:endParaRPr lang="en-US" sz="1600" b="1" dirty="0"/>
          </a:p>
        </p:txBody>
      </p:sp>
      <p:sp>
        <p:nvSpPr>
          <p:cNvPr id="15" name="Shape 13"/>
          <p:cNvSpPr/>
          <p:nvPr/>
        </p:nvSpPr>
        <p:spPr>
          <a:xfrm>
            <a:off x="6245352" y="2944368"/>
            <a:ext cx="5486400" cy="1645920"/>
          </a:xfrm>
          <a:prstGeom prst="roundRect">
            <a:avLst>
              <a:gd name="adj" fmla="val 611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446520" y="3081528"/>
            <a:ext cx="1371600" cy="283464"/>
          </a:xfrm>
          <a:prstGeom prst="roundRect">
            <a:avLst>
              <a:gd name="adj" fmla="val 50000"/>
            </a:avLst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6446520" y="3081528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Tiếng Việt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336792" y="3447288"/>
            <a:ext cx="519379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Trẻ có thể khó cảm thấy hạnh phúc ngay cả khi có chuyện tốt xảy ra.</a:t>
            </a:r>
            <a:endParaRPr lang="en-US" sz="1600" b="1" dirty="0"/>
          </a:p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→ Trẻ từng sống trong trạng thái căng thẳng thường xuyên có thể cảm thấy sự bình yên rất xa lạ.</a:t>
            </a:r>
            <a:endParaRPr lang="en-US" sz="1600" b="1" dirty="0"/>
          </a:p>
        </p:txBody>
      </p:sp>
      <p:sp>
        <p:nvSpPr>
          <p:cNvPr id="19" name="Shape 17"/>
          <p:cNvSpPr/>
          <p:nvPr/>
        </p:nvSpPr>
        <p:spPr>
          <a:xfrm>
            <a:off x="457200" y="4754880"/>
            <a:ext cx="5486400" cy="1645920"/>
          </a:xfrm>
          <a:prstGeom prst="roundRect">
            <a:avLst>
              <a:gd name="adj" fmla="val 611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58368" y="4892040"/>
            <a:ext cx="1371600" cy="283464"/>
          </a:xfrm>
          <a:prstGeom prst="roundRect">
            <a:avLst>
              <a:gd name="adj" fmla="val 50000"/>
            </a:avLst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658368" y="4892040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ភាសាខ្មែរ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5257800"/>
            <a:ext cx="52852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កុមារអាចពិបាកមានអារម្មណ៍រីករាយ ទោះបីមានរឿងល្អកើតឡើងក៏ដោយ។</a:t>
            </a:r>
            <a:endParaRPr lang="en-US" sz="1600" b="1" dirty="0"/>
          </a:p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→ កុមារដែលធ្លាប់រស់នៅក្នុងភាពតានតឹងជានិច្ច អាចមានអារម្មណ៍ថាភាពស្ងប់ចិត្តជារឿងចម្លែក។</a:t>
            </a:r>
            <a:endParaRPr lang="en-US" sz="1600" b="1" dirty="0"/>
          </a:p>
        </p:txBody>
      </p:sp>
      <p:sp>
        <p:nvSpPr>
          <p:cNvPr id="23" name="Shape 21"/>
          <p:cNvSpPr/>
          <p:nvPr/>
        </p:nvSpPr>
        <p:spPr>
          <a:xfrm>
            <a:off x="6245352" y="4754880"/>
            <a:ext cx="5486400" cy="1645920"/>
          </a:xfrm>
          <a:prstGeom prst="roundRect">
            <a:avLst>
              <a:gd name="adj" fmla="val 611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6245352" y="4892040"/>
            <a:ext cx="1024128" cy="283464"/>
          </a:xfrm>
          <a:prstGeom prst="roundRect">
            <a:avLst>
              <a:gd name="adj" fmla="val 50000"/>
            </a:avLst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6245352" y="4892040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Segoe UI" pitchFamily="34" charset="-122"/>
                <a:cs typeface="Calibri" pitchFamily="34" charset="-120"/>
              </a:rPr>
              <a:t>Русский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245352" y="5257800"/>
            <a:ext cx="538581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Calibri" pitchFamily="34" charset="0"/>
                <a:ea typeface="Segoe UI" pitchFamily="34" charset="-122"/>
                <a:cs typeface="Calibri" pitchFamily="34" charset="-120"/>
              </a:rPr>
              <a:t>Ребёнку может быть трудно радоваться даже хорошим событиям.</a:t>
            </a:r>
            <a:endParaRPr lang="en-US" sz="1600" b="1" dirty="0"/>
          </a:p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Calibri" pitchFamily="34" charset="0"/>
                <a:ea typeface="Segoe UI" pitchFamily="34" charset="-122"/>
                <a:cs typeface="Calibri" pitchFamily="34" charset="-120"/>
              </a:rPr>
              <a:t>→ Ребёнок, живущий в постоянном напряжении, может воспринимать спокойное состояние как что-то непривычное.</a:t>
            </a:r>
            <a:endParaRPr lang="en-US" sz="1600" b="1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84632"/>
            <a:ext cx="137160" cy="137160"/>
          </a:xfrm>
          <a:prstGeom prst="ellipse">
            <a:avLst/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7F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부모의 화가 아이 마음에 남기는 것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768096"/>
            <a:ext cx="566928" cy="566928"/>
          </a:xfrm>
          <a:prstGeom prst="ellipse">
            <a:avLst/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457200" y="7680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152144" y="758952"/>
            <a:ext cx="10561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감정을 참다가 한꺼번에 폭발합니다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11274552" cy="1170432"/>
          </a:xfrm>
          <a:prstGeom prst="roundRect">
            <a:avLst>
              <a:gd name="adj" fmla="val 8594"/>
            </a:avLst>
          </a:prstGeom>
          <a:solidFill>
            <a:srgbClr val="EDF4FC"/>
          </a:solidFill>
          <a:ln w="12700">
            <a:solidFill>
              <a:srgbClr val="C6DC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58368" y="1728216"/>
            <a:ext cx="822960" cy="283464"/>
          </a:xfrm>
          <a:prstGeom prst="roundRect">
            <a:avLst>
              <a:gd name="adj" fmla="val 50000"/>
            </a:avLst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658368" y="1728216"/>
            <a:ext cx="822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한국어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1609344" y="1691640"/>
            <a:ext cx="9921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감정을 계속 참다가 한꺼번에 폭발할 수 있습니다.</a:t>
            </a:r>
            <a:endParaRPr lang="en-US" sz="1700" dirty="0"/>
          </a:p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감정을 차분하게 해소하는 방법보다 억누르거나 터뜨리는 방식만 배웠기 때문입니다.</a:t>
            </a:r>
            <a:endParaRPr lang="en-US" sz="2000" b="1" dirty="0"/>
          </a:p>
        </p:txBody>
      </p:sp>
      <p:sp>
        <p:nvSpPr>
          <p:cNvPr id="11" name="Shape 9"/>
          <p:cNvSpPr/>
          <p:nvPr/>
        </p:nvSpPr>
        <p:spPr>
          <a:xfrm>
            <a:off x="457200" y="2944368"/>
            <a:ext cx="5486400" cy="1645920"/>
          </a:xfrm>
          <a:prstGeom prst="roundRect">
            <a:avLst>
              <a:gd name="adj" fmla="val 611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58368" y="3081528"/>
            <a:ext cx="1024128" cy="283464"/>
          </a:xfrm>
          <a:prstGeom prst="roundRect">
            <a:avLst>
              <a:gd name="adj" fmla="val 50000"/>
            </a:avLst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658368" y="3081528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21208" y="3447288"/>
            <a:ext cx="542239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They may suppress their feelings and then explode all at once.</a:t>
            </a:r>
            <a:endParaRPr lang="en-US" sz="1600" b="1" dirty="0"/>
          </a:p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→ They may have learned only to hold feelings in or let them burst out, rather than process them calmly.</a:t>
            </a:r>
            <a:endParaRPr lang="en-US" sz="1600" b="1" dirty="0"/>
          </a:p>
        </p:txBody>
      </p:sp>
      <p:sp>
        <p:nvSpPr>
          <p:cNvPr id="15" name="Shape 13"/>
          <p:cNvSpPr/>
          <p:nvPr/>
        </p:nvSpPr>
        <p:spPr>
          <a:xfrm>
            <a:off x="6245352" y="2944368"/>
            <a:ext cx="5486400" cy="1645920"/>
          </a:xfrm>
          <a:prstGeom prst="roundRect">
            <a:avLst>
              <a:gd name="adj" fmla="val 611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446520" y="3081528"/>
            <a:ext cx="1371600" cy="283464"/>
          </a:xfrm>
          <a:prstGeom prst="roundRect">
            <a:avLst>
              <a:gd name="adj" fmla="val 50000"/>
            </a:avLst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6446520" y="3081528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Tiếng Việt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245352" y="3447288"/>
            <a:ext cx="52852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Trẻ có thể kìm nén cảm xúc rồi bùng nổ cùng một lúc.</a:t>
            </a:r>
            <a:endParaRPr lang="en-US" sz="1600" b="1" dirty="0"/>
          </a:p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→ Bởi vì trẻ chỉ học cách dồn nén hoặc bộc phát, thay vì giải tỏa cảm xúc một cách bình tĩnh.</a:t>
            </a:r>
            <a:endParaRPr lang="en-US" sz="1600" b="1" dirty="0"/>
          </a:p>
        </p:txBody>
      </p:sp>
      <p:sp>
        <p:nvSpPr>
          <p:cNvPr id="19" name="Shape 17"/>
          <p:cNvSpPr/>
          <p:nvPr/>
        </p:nvSpPr>
        <p:spPr>
          <a:xfrm>
            <a:off x="457200" y="4754880"/>
            <a:ext cx="5486400" cy="1645920"/>
          </a:xfrm>
          <a:prstGeom prst="roundRect">
            <a:avLst>
              <a:gd name="adj" fmla="val 611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58368" y="4892040"/>
            <a:ext cx="1371600" cy="283464"/>
          </a:xfrm>
          <a:prstGeom prst="roundRect">
            <a:avLst>
              <a:gd name="adj" fmla="val 50000"/>
            </a:avLst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658368" y="4892040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ភាសាខ្មែរ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21208" y="5257800"/>
            <a:ext cx="542239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កុមារអាចទប់អារម្មណ៍របស់ខ្លួនរហូតដល់ផ្ទុះឡើងក្នុងពេលតែមួយ។</a:t>
            </a:r>
            <a:endParaRPr lang="en-US" sz="1600" b="1" dirty="0"/>
          </a:p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→ ព្រោះកុមារបានរៀនតែការសង្កត់អារម្មណ៍ ឬបញ្ចេញវាខ្លាំងៗ ជំនួសឱ្យការដោះស្រាយដោយស្ងប់ចិត្ត។</a:t>
            </a:r>
            <a:endParaRPr lang="en-US" sz="1600" b="1" dirty="0"/>
          </a:p>
        </p:txBody>
      </p:sp>
      <p:sp>
        <p:nvSpPr>
          <p:cNvPr id="23" name="Shape 21"/>
          <p:cNvSpPr/>
          <p:nvPr/>
        </p:nvSpPr>
        <p:spPr>
          <a:xfrm>
            <a:off x="6245352" y="4754880"/>
            <a:ext cx="5486400" cy="1645920"/>
          </a:xfrm>
          <a:prstGeom prst="roundRect">
            <a:avLst>
              <a:gd name="adj" fmla="val 611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6327648" y="4892040"/>
            <a:ext cx="1024128" cy="283464"/>
          </a:xfrm>
          <a:prstGeom prst="roundRect">
            <a:avLst>
              <a:gd name="adj" fmla="val 50000"/>
            </a:avLst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6327648" y="4892040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Segoe UI" pitchFamily="34" charset="-122"/>
                <a:cs typeface="Calibri" pitchFamily="34" charset="-120"/>
              </a:rPr>
              <a:t>Русский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327648" y="5257800"/>
            <a:ext cx="52029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Calibri" pitchFamily="34" charset="0"/>
                <a:ea typeface="Segoe UI" pitchFamily="34" charset="-122"/>
                <a:cs typeface="Calibri" pitchFamily="34" charset="-120"/>
              </a:rPr>
              <a:t>Ребёнок может долго сдерживать чувства, а потом взрываться.</a:t>
            </a:r>
            <a:endParaRPr lang="en-US" sz="1600" b="1" dirty="0"/>
          </a:p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Calibri" pitchFamily="34" charset="0"/>
                <a:ea typeface="Segoe UI" pitchFamily="34" charset="-122"/>
                <a:cs typeface="Calibri" pitchFamily="34" charset="-120"/>
              </a:rPr>
              <a:t>→ Потому что он научился только подавлять чувства или выплёскивать их, а не спокойно справляться с ними.</a:t>
            </a:r>
            <a:endParaRPr lang="en-US" sz="1600" b="1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84632"/>
            <a:ext cx="137160" cy="137160"/>
          </a:xfrm>
          <a:prstGeom prst="ellipse">
            <a:avLst/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7F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부모의 화가 아이 마음에 남기는 것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768096"/>
            <a:ext cx="566928" cy="566928"/>
          </a:xfrm>
          <a:prstGeom prst="ellipse">
            <a:avLst/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457200" y="7680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152144" y="758952"/>
            <a:ext cx="10561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새로운 도전을 두려워합니다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11274552" cy="1170432"/>
          </a:xfrm>
          <a:prstGeom prst="roundRect">
            <a:avLst>
              <a:gd name="adj" fmla="val 8594"/>
            </a:avLst>
          </a:prstGeom>
          <a:solidFill>
            <a:srgbClr val="EDF4FC"/>
          </a:solidFill>
          <a:ln w="12700">
            <a:solidFill>
              <a:srgbClr val="C6DC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58368" y="1728216"/>
            <a:ext cx="822960" cy="283464"/>
          </a:xfrm>
          <a:prstGeom prst="roundRect">
            <a:avLst>
              <a:gd name="adj" fmla="val 50000"/>
            </a:avLst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658368" y="1728216"/>
            <a:ext cx="822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한국어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1609344" y="1691640"/>
            <a:ext cx="9921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새로운 도전을 두려워하는 성향이 강해질 수 있습니다.</a:t>
            </a:r>
            <a:endParaRPr lang="en-US" sz="1700" dirty="0"/>
          </a:p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실패하더라도 안전하고 괜찮다는 확신을 충분히 받아보지 못했기 때문입니다.</a:t>
            </a:r>
            <a:endParaRPr lang="en-US" sz="2000" b="1" dirty="0"/>
          </a:p>
        </p:txBody>
      </p:sp>
      <p:sp>
        <p:nvSpPr>
          <p:cNvPr id="11" name="Shape 9"/>
          <p:cNvSpPr/>
          <p:nvPr/>
        </p:nvSpPr>
        <p:spPr>
          <a:xfrm>
            <a:off x="457200" y="2944368"/>
            <a:ext cx="5486400" cy="1645920"/>
          </a:xfrm>
          <a:prstGeom prst="roundRect">
            <a:avLst>
              <a:gd name="adj" fmla="val 611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58368" y="3081528"/>
            <a:ext cx="1024128" cy="283464"/>
          </a:xfrm>
          <a:prstGeom prst="roundRect">
            <a:avLst>
              <a:gd name="adj" fmla="val 50000"/>
            </a:avLst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658368" y="3081528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58368" y="3447288"/>
            <a:ext cx="508406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They may become increasingly afraid of new challenges.</a:t>
            </a:r>
            <a:endParaRPr lang="en-US" sz="1600" b="1" dirty="0"/>
          </a:p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→ They may rarely have been reassured that they would still be safe and accepted even after failure.</a:t>
            </a:r>
            <a:endParaRPr lang="en-US" sz="1600" b="1" dirty="0"/>
          </a:p>
        </p:txBody>
      </p:sp>
      <p:sp>
        <p:nvSpPr>
          <p:cNvPr id="15" name="Shape 13"/>
          <p:cNvSpPr/>
          <p:nvPr/>
        </p:nvSpPr>
        <p:spPr>
          <a:xfrm>
            <a:off x="6245352" y="2944368"/>
            <a:ext cx="5486400" cy="1645920"/>
          </a:xfrm>
          <a:prstGeom prst="roundRect">
            <a:avLst>
              <a:gd name="adj" fmla="val 611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446520" y="3081528"/>
            <a:ext cx="1371600" cy="283464"/>
          </a:xfrm>
          <a:prstGeom prst="roundRect">
            <a:avLst>
              <a:gd name="adj" fmla="val 50000"/>
            </a:avLst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6446520" y="3081528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Tiếng Việt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3447288"/>
            <a:ext cx="508406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Trẻ có thể ngày càng sợ những thử thách mới.</a:t>
            </a:r>
            <a:endParaRPr lang="en-US" sz="1600" b="1" dirty="0"/>
          </a:p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→ Bởi vì trẻ ít khi được bảo đảm rằng dù thất bại, mình vẫn an toàn và được chấp nhận.</a:t>
            </a:r>
            <a:endParaRPr lang="en-US" sz="1600" b="1" dirty="0"/>
          </a:p>
        </p:txBody>
      </p:sp>
      <p:sp>
        <p:nvSpPr>
          <p:cNvPr id="19" name="Shape 17"/>
          <p:cNvSpPr/>
          <p:nvPr/>
        </p:nvSpPr>
        <p:spPr>
          <a:xfrm>
            <a:off x="457200" y="4754880"/>
            <a:ext cx="5486400" cy="1645920"/>
          </a:xfrm>
          <a:prstGeom prst="roundRect">
            <a:avLst>
              <a:gd name="adj" fmla="val 611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58368" y="4892040"/>
            <a:ext cx="1371600" cy="283464"/>
          </a:xfrm>
          <a:prstGeom prst="roundRect">
            <a:avLst>
              <a:gd name="adj" fmla="val 50000"/>
            </a:avLst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658368" y="4892040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ភាសាខ្មែរ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5257800"/>
            <a:ext cx="508406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កុមារអាចកាន់តែភ័យខ្លាចចំពោះការសាកល្បងអ្វីថ្មីៗ។</a:t>
            </a:r>
            <a:endParaRPr lang="en-US" sz="1600" b="1" dirty="0"/>
          </a:p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→ ព្រោះកុមារកម្រទទួលបានការធានាថា ទោះបរាជ័យក៏ដោយ ខ្លួននៅតែមានសុវត្ថិភាព និងត្រូវបានទទួលយក។</a:t>
            </a:r>
            <a:endParaRPr lang="en-US" sz="1600" b="1" dirty="0"/>
          </a:p>
        </p:txBody>
      </p:sp>
      <p:sp>
        <p:nvSpPr>
          <p:cNvPr id="23" name="Shape 21"/>
          <p:cNvSpPr/>
          <p:nvPr/>
        </p:nvSpPr>
        <p:spPr>
          <a:xfrm>
            <a:off x="6245352" y="4754880"/>
            <a:ext cx="5486400" cy="1645920"/>
          </a:xfrm>
          <a:prstGeom prst="roundRect">
            <a:avLst>
              <a:gd name="adj" fmla="val 611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6446520" y="4892040"/>
            <a:ext cx="1024128" cy="283464"/>
          </a:xfrm>
          <a:prstGeom prst="roundRect">
            <a:avLst>
              <a:gd name="adj" fmla="val 50000"/>
            </a:avLst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6446520" y="4892040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Segoe UI" pitchFamily="34" charset="-122"/>
                <a:cs typeface="Calibri" pitchFamily="34" charset="-120"/>
              </a:rPr>
              <a:t>Русский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446520" y="5257800"/>
            <a:ext cx="508406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Calibri" pitchFamily="34" charset="0"/>
                <a:ea typeface="Segoe UI" pitchFamily="34" charset="-122"/>
                <a:cs typeface="Calibri" pitchFamily="34" charset="-120"/>
              </a:rPr>
              <a:t>У ребёнка может усилиться страх перед новыми вызовами.</a:t>
            </a:r>
            <a:endParaRPr lang="en-US" sz="1600" b="1" dirty="0"/>
          </a:p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Calibri" pitchFamily="34" charset="0"/>
                <a:ea typeface="Segoe UI" pitchFamily="34" charset="-122"/>
                <a:cs typeface="Calibri" pitchFamily="34" charset="-120"/>
              </a:rPr>
              <a:t>→ Потому что ему недостаточно давали уверенности в том, что даже после неудачи он в безопасности и всё в порядке.</a:t>
            </a:r>
            <a:endParaRPr lang="en-US" sz="1600" b="1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84632"/>
            <a:ext cx="137160" cy="137160"/>
          </a:xfrm>
          <a:prstGeom prst="ellipse">
            <a:avLst/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7F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부모의 화가 아이 마음에 남기는 것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768096"/>
            <a:ext cx="566928" cy="566928"/>
          </a:xfrm>
          <a:prstGeom prst="ellipse">
            <a:avLst/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457200" y="7680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152144" y="758952"/>
            <a:ext cx="10561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가까운 사람에게 감정을 쏟아냅니다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11274552" cy="1170432"/>
          </a:xfrm>
          <a:prstGeom prst="roundRect">
            <a:avLst>
              <a:gd name="adj" fmla="val 8594"/>
            </a:avLst>
          </a:prstGeom>
          <a:solidFill>
            <a:srgbClr val="EDF4FC"/>
          </a:solidFill>
          <a:ln w="12700">
            <a:solidFill>
              <a:srgbClr val="C6DC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58368" y="1728216"/>
            <a:ext cx="822960" cy="283464"/>
          </a:xfrm>
          <a:prstGeom prst="roundRect">
            <a:avLst>
              <a:gd name="adj" fmla="val 50000"/>
            </a:avLst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658368" y="1728216"/>
            <a:ext cx="822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한국어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1609344" y="1691640"/>
            <a:ext cx="9921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가까운 사람에게 자신의 감정을 쏟아낼 수 있습니다.</a:t>
            </a:r>
            <a:endParaRPr lang="en-US" sz="1700" dirty="0"/>
          </a:p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가까운 사람에게 함부로 화를 내는 모습을 보고 배운 경우가 많기 때문입니다.</a:t>
            </a:r>
            <a:endParaRPr lang="en-US" sz="1600" b="1" dirty="0"/>
          </a:p>
        </p:txBody>
      </p:sp>
      <p:sp>
        <p:nvSpPr>
          <p:cNvPr id="11" name="Shape 9"/>
          <p:cNvSpPr/>
          <p:nvPr/>
        </p:nvSpPr>
        <p:spPr>
          <a:xfrm>
            <a:off x="457200" y="2944368"/>
            <a:ext cx="5486400" cy="1645920"/>
          </a:xfrm>
          <a:prstGeom prst="roundRect">
            <a:avLst>
              <a:gd name="adj" fmla="val 611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58368" y="3081528"/>
            <a:ext cx="1024128" cy="283464"/>
          </a:xfrm>
          <a:prstGeom prst="roundRect">
            <a:avLst>
              <a:gd name="adj" fmla="val 50000"/>
            </a:avLst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658368" y="3081528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429000"/>
            <a:ext cx="555040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They may pour out their emotions on the people closest to them.</a:t>
            </a:r>
            <a:endParaRPr lang="en-US" sz="1600" b="1" dirty="0"/>
          </a:p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→ They may have learned from seeing anger expressed carelessly toward the people one loves most.</a:t>
            </a:r>
            <a:endParaRPr lang="en-US" sz="1600" b="1" dirty="0"/>
          </a:p>
        </p:txBody>
      </p:sp>
      <p:sp>
        <p:nvSpPr>
          <p:cNvPr id="15" name="Shape 13"/>
          <p:cNvSpPr/>
          <p:nvPr/>
        </p:nvSpPr>
        <p:spPr>
          <a:xfrm>
            <a:off x="6245352" y="2944368"/>
            <a:ext cx="5486400" cy="1645920"/>
          </a:xfrm>
          <a:prstGeom prst="roundRect">
            <a:avLst>
              <a:gd name="adj" fmla="val 611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446520" y="3081528"/>
            <a:ext cx="1371600" cy="283464"/>
          </a:xfrm>
          <a:prstGeom prst="roundRect">
            <a:avLst>
              <a:gd name="adj" fmla="val 50000"/>
            </a:avLst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6446520" y="3081528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Tiếng Việt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3447288"/>
            <a:ext cx="542239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Trẻ có thể trút cảm xúc lên những người thân thiết nhất.</a:t>
            </a:r>
            <a:endParaRPr lang="en-US" sz="1600" b="1" dirty="0"/>
          </a:p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→ Bởi vì trẻ thường học từ việc chứng kiến người lớn tùy tiện nổi giận với chính những người mình yêu thương.</a:t>
            </a:r>
            <a:endParaRPr lang="en-US" sz="1600" b="1" dirty="0"/>
          </a:p>
        </p:txBody>
      </p:sp>
      <p:sp>
        <p:nvSpPr>
          <p:cNvPr id="19" name="Shape 17"/>
          <p:cNvSpPr/>
          <p:nvPr/>
        </p:nvSpPr>
        <p:spPr>
          <a:xfrm>
            <a:off x="457200" y="4754880"/>
            <a:ext cx="5486400" cy="1645920"/>
          </a:xfrm>
          <a:prstGeom prst="roundRect">
            <a:avLst>
              <a:gd name="adj" fmla="val 611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58368" y="4892040"/>
            <a:ext cx="1371600" cy="283464"/>
          </a:xfrm>
          <a:prstGeom prst="roundRect">
            <a:avLst>
              <a:gd name="adj" fmla="val 50000"/>
            </a:avLst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658368" y="4892040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ភាសាខ្មែរ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5257800"/>
            <a:ext cx="52852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កុមារអាចបញ្ចេញអារម្មណ៍ខ្លាំងៗទៅលើមនុស្សដែលជិតស្និទ្ធបំផុត។</a:t>
            </a:r>
            <a:endParaRPr lang="en-US" sz="1600" b="1" dirty="0"/>
          </a:p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→ ព្រោះកុមារអាចរៀនពីការឃើញមនុស្សពេញវ័យបញ្ចេញកំហឹងដោយមិនប្រុងប្រយ័ត្នចំពោះមនុស្សដែលខ្លួនស្រឡាញ់។</a:t>
            </a:r>
            <a:endParaRPr lang="en-US" sz="1600" b="1" dirty="0"/>
          </a:p>
        </p:txBody>
      </p:sp>
      <p:sp>
        <p:nvSpPr>
          <p:cNvPr id="23" name="Shape 21"/>
          <p:cNvSpPr/>
          <p:nvPr/>
        </p:nvSpPr>
        <p:spPr>
          <a:xfrm>
            <a:off x="6245352" y="4754880"/>
            <a:ext cx="5486400" cy="1645920"/>
          </a:xfrm>
          <a:prstGeom prst="roundRect">
            <a:avLst>
              <a:gd name="adj" fmla="val 611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6446520" y="4892040"/>
            <a:ext cx="1024128" cy="283464"/>
          </a:xfrm>
          <a:prstGeom prst="roundRect">
            <a:avLst>
              <a:gd name="adj" fmla="val 50000"/>
            </a:avLst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6446520" y="4892040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Segoe UI" pitchFamily="34" charset="-122"/>
                <a:cs typeface="Calibri" pitchFamily="34" charset="-120"/>
              </a:rPr>
              <a:t>Русский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446520" y="5257800"/>
            <a:ext cx="52852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Calibri" pitchFamily="34" charset="0"/>
                <a:ea typeface="Segoe UI" pitchFamily="34" charset="-122"/>
                <a:cs typeface="Calibri" pitchFamily="34" charset="-120"/>
              </a:rPr>
              <a:t>Ребёнок может выплёскивать свои чувства на самых близких.</a:t>
            </a:r>
            <a:endParaRPr lang="en-US" sz="1600" b="1" dirty="0"/>
          </a:p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Calibri" pitchFamily="34" charset="0"/>
                <a:ea typeface="Segoe UI" pitchFamily="34" charset="-122"/>
                <a:cs typeface="Calibri" pitchFamily="34" charset="-120"/>
              </a:rPr>
              <a:t>→ Потому что часто он видел и перенимал, как на близких людей срываются без оглядки.</a:t>
            </a:r>
            <a:endParaRPr lang="en-US" sz="1600" b="1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84632"/>
            <a:ext cx="137160" cy="137160"/>
          </a:xfrm>
          <a:prstGeom prst="ellipse">
            <a:avLst/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7F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부모의 화가 아이 마음에 남기는 것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768096"/>
            <a:ext cx="566928" cy="566928"/>
          </a:xfrm>
          <a:prstGeom prst="ellipse">
            <a:avLst/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457200" y="7680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152144" y="758952"/>
            <a:ext cx="10561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자신을 부족한 사람이라고 느낍니다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11274552" cy="1170432"/>
          </a:xfrm>
          <a:prstGeom prst="roundRect">
            <a:avLst>
              <a:gd name="adj" fmla="val 8594"/>
            </a:avLst>
          </a:prstGeom>
          <a:solidFill>
            <a:srgbClr val="EDF4FC"/>
          </a:solidFill>
          <a:ln w="12700">
            <a:solidFill>
              <a:srgbClr val="C6DC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58368" y="1728216"/>
            <a:ext cx="822960" cy="283464"/>
          </a:xfrm>
          <a:prstGeom prst="roundRect">
            <a:avLst>
              <a:gd name="adj" fmla="val 50000"/>
            </a:avLst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658368" y="1728216"/>
            <a:ext cx="822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한국어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1609344" y="1691640"/>
            <a:ext cx="9921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자신을 자꾸 부족한 사람이라고 느낄 수 있습니다.</a:t>
            </a:r>
            <a:endParaRPr lang="en-US" sz="1700" dirty="0"/>
          </a:p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반복된 비난과 비교는 아이의 마음속에 “나는 문제가 있는 사람”이라는 생각을 남깁니다.</a:t>
            </a:r>
            <a:endParaRPr lang="en-US" sz="2000" b="1" dirty="0"/>
          </a:p>
        </p:txBody>
      </p:sp>
      <p:sp>
        <p:nvSpPr>
          <p:cNvPr id="11" name="Shape 9"/>
          <p:cNvSpPr/>
          <p:nvPr/>
        </p:nvSpPr>
        <p:spPr>
          <a:xfrm>
            <a:off x="457200" y="2944368"/>
            <a:ext cx="5486400" cy="1645920"/>
          </a:xfrm>
          <a:prstGeom prst="roundRect">
            <a:avLst>
              <a:gd name="adj" fmla="val 611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58368" y="3081528"/>
            <a:ext cx="1024128" cy="283464"/>
          </a:xfrm>
          <a:prstGeom prst="roundRect">
            <a:avLst>
              <a:gd name="adj" fmla="val 50000"/>
            </a:avLst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658368" y="3081528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25780" y="3429000"/>
            <a:ext cx="52852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They may repeatedly feel that they are not good enough.</a:t>
            </a:r>
            <a:endParaRPr lang="en-US" sz="1600" b="1" dirty="0"/>
          </a:p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→ Repeated criticism and comparison can leave a child believing, “There is something wrong with me.”</a:t>
            </a:r>
            <a:endParaRPr lang="en-US" sz="1600" b="1" dirty="0"/>
          </a:p>
        </p:txBody>
      </p:sp>
      <p:sp>
        <p:nvSpPr>
          <p:cNvPr id="15" name="Shape 13"/>
          <p:cNvSpPr/>
          <p:nvPr/>
        </p:nvSpPr>
        <p:spPr>
          <a:xfrm>
            <a:off x="6245352" y="2944368"/>
            <a:ext cx="5486400" cy="1645920"/>
          </a:xfrm>
          <a:prstGeom prst="roundRect">
            <a:avLst>
              <a:gd name="adj" fmla="val 611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446520" y="3081528"/>
            <a:ext cx="1371600" cy="283464"/>
          </a:xfrm>
          <a:prstGeom prst="roundRect">
            <a:avLst>
              <a:gd name="adj" fmla="val 50000"/>
            </a:avLst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6446520" y="3081528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Tiếng Việt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3447288"/>
            <a:ext cx="508406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Trẻ có thể thường xuyên cảm thấy bản thân không đủ tốt.</a:t>
            </a:r>
            <a:endParaRPr lang="en-US" sz="1600" b="1" dirty="0"/>
          </a:p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→ Những lời chỉ trích và so sánh lặp đi lặp lại khiến trẻ nghĩ rằng: “Mình là người có vấn đề.”</a:t>
            </a:r>
            <a:endParaRPr lang="en-US" sz="1600" b="1" dirty="0"/>
          </a:p>
        </p:txBody>
      </p:sp>
      <p:sp>
        <p:nvSpPr>
          <p:cNvPr id="19" name="Shape 17"/>
          <p:cNvSpPr/>
          <p:nvPr/>
        </p:nvSpPr>
        <p:spPr>
          <a:xfrm>
            <a:off x="457200" y="4754880"/>
            <a:ext cx="5486400" cy="1645920"/>
          </a:xfrm>
          <a:prstGeom prst="roundRect">
            <a:avLst>
              <a:gd name="adj" fmla="val 611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58368" y="4892040"/>
            <a:ext cx="1371600" cy="283464"/>
          </a:xfrm>
          <a:prstGeom prst="roundRect">
            <a:avLst>
              <a:gd name="adj" fmla="val 50000"/>
            </a:avLst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658368" y="4892040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ភាសាខ្មែរ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5257800"/>
            <a:ext cx="508406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កុមារអាចមានអារម្មណ៍ជាញឹកញាប់ថាខ្លួនមិនល្អគ្រប់គ្រាន់។</a:t>
            </a:r>
            <a:endParaRPr lang="en-US" sz="1600" b="1" dirty="0"/>
          </a:p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→ ការស្តីបន្ទោស និងការប្រៀបធៀបដដែលៗ អាចធ្វើឱ្យកុមារគិតថា៖ «ខ្ញុំជាមនុស្សដែលមានបញ្ហា»។</a:t>
            </a:r>
            <a:endParaRPr lang="en-US" sz="1600" b="1" dirty="0"/>
          </a:p>
        </p:txBody>
      </p:sp>
      <p:sp>
        <p:nvSpPr>
          <p:cNvPr id="23" name="Shape 21"/>
          <p:cNvSpPr/>
          <p:nvPr/>
        </p:nvSpPr>
        <p:spPr>
          <a:xfrm>
            <a:off x="6245352" y="4754880"/>
            <a:ext cx="5486400" cy="1645920"/>
          </a:xfrm>
          <a:prstGeom prst="roundRect">
            <a:avLst>
              <a:gd name="adj" fmla="val 611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6446520" y="4892040"/>
            <a:ext cx="1024128" cy="283464"/>
          </a:xfrm>
          <a:prstGeom prst="roundRect">
            <a:avLst>
              <a:gd name="adj" fmla="val 50000"/>
            </a:avLst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6446520" y="4892040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Segoe UI" pitchFamily="34" charset="-122"/>
                <a:cs typeface="Calibri" pitchFamily="34" charset="-120"/>
              </a:rPr>
              <a:t>Русский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446520" y="5257800"/>
            <a:ext cx="508406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Calibri" pitchFamily="34" charset="0"/>
                <a:ea typeface="Segoe UI" pitchFamily="34" charset="-122"/>
                <a:cs typeface="Calibri" pitchFamily="34" charset="-120"/>
              </a:rPr>
              <a:t>Ребёнок может всё время чувствовать себя недостаточно хорошим.</a:t>
            </a:r>
            <a:endParaRPr lang="en-US" sz="1600" b="1" dirty="0"/>
          </a:p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Calibri" pitchFamily="34" charset="0"/>
                <a:ea typeface="Segoe UI" pitchFamily="34" charset="-122"/>
                <a:cs typeface="Calibri" pitchFamily="34" charset="-120"/>
              </a:rPr>
              <a:t>→ Постоянная критика и сравнения оставляют в душе ребёнка мысль: «Со мной что-то не так».</a:t>
            </a:r>
            <a:endParaRPr lang="en-US" sz="1600" b="1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84632"/>
            <a:ext cx="137160" cy="137160"/>
          </a:xfrm>
          <a:prstGeom prst="ellipse">
            <a:avLst/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7F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부모의 화가 아이 마음에 남기는 것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768096"/>
            <a:ext cx="566928" cy="566928"/>
          </a:xfrm>
          <a:prstGeom prst="ellipse">
            <a:avLst/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457200" y="7680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152144" y="758952"/>
            <a:ext cx="10561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칭찬보다 비난에 더 민감해집니다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11274552" cy="1170432"/>
          </a:xfrm>
          <a:prstGeom prst="roundRect">
            <a:avLst>
              <a:gd name="adj" fmla="val 8594"/>
            </a:avLst>
          </a:prstGeom>
          <a:solidFill>
            <a:srgbClr val="EDF4FC"/>
          </a:solidFill>
          <a:ln w="12700">
            <a:solidFill>
              <a:srgbClr val="C6DC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58368" y="1728216"/>
            <a:ext cx="822960" cy="283464"/>
          </a:xfrm>
          <a:prstGeom prst="roundRect">
            <a:avLst>
              <a:gd name="adj" fmla="val 50000"/>
            </a:avLst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658368" y="1728216"/>
            <a:ext cx="822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한국어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1609344" y="1691640"/>
            <a:ext cx="9921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칭찬보다 비난에 더 민감해질 수 있습니다.</a:t>
            </a:r>
            <a:endParaRPr lang="en-US" sz="1700" dirty="0"/>
          </a:p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좋은 말을 듣는 것보다 혼나고 비난받는 경험이 더 익숙했기 때문입니다.</a:t>
            </a:r>
            <a:endParaRPr lang="en-US" sz="2000" b="1" dirty="0"/>
          </a:p>
        </p:txBody>
      </p:sp>
      <p:sp>
        <p:nvSpPr>
          <p:cNvPr id="11" name="Shape 9"/>
          <p:cNvSpPr/>
          <p:nvPr/>
        </p:nvSpPr>
        <p:spPr>
          <a:xfrm>
            <a:off x="457200" y="2944368"/>
            <a:ext cx="5486400" cy="1645920"/>
          </a:xfrm>
          <a:prstGeom prst="roundRect">
            <a:avLst>
              <a:gd name="adj" fmla="val 611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58368" y="3081528"/>
            <a:ext cx="1024128" cy="283464"/>
          </a:xfrm>
          <a:prstGeom prst="roundRect">
            <a:avLst>
              <a:gd name="adj" fmla="val 50000"/>
            </a:avLst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658368" y="3081528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447288"/>
            <a:ext cx="54864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They may become more sensitive to criticism than to praise.</a:t>
            </a:r>
            <a:endParaRPr lang="en-US" sz="1600" b="1" dirty="0"/>
          </a:p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→ Being scolded or criticized has become more familiar to them than hearing encouraging words.</a:t>
            </a:r>
            <a:endParaRPr lang="en-US" sz="1600" b="1" dirty="0"/>
          </a:p>
        </p:txBody>
      </p:sp>
      <p:sp>
        <p:nvSpPr>
          <p:cNvPr id="15" name="Shape 13"/>
          <p:cNvSpPr/>
          <p:nvPr/>
        </p:nvSpPr>
        <p:spPr>
          <a:xfrm>
            <a:off x="6245352" y="2944368"/>
            <a:ext cx="5486400" cy="1645920"/>
          </a:xfrm>
          <a:prstGeom prst="roundRect">
            <a:avLst>
              <a:gd name="adj" fmla="val 611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446520" y="3081528"/>
            <a:ext cx="1371600" cy="283464"/>
          </a:xfrm>
          <a:prstGeom prst="roundRect">
            <a:avLst>
              <a:gd name="adj" fmla="val 50000"/>
            </a:avLst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6446520" y="3081528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Tiếng Việt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3447288"/>
            <a:ext cx="508406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Trẻ có thể trở nên nhạy cảm với lời chỉ trích hơn lời khen.</a:t>
            </a:r>
            <a:endParaRPr lang="en-US" sz="1600" b="1" dirty="0"/>
          </a:p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→ Bởi vì trải nghiệm bị mắng hoặc chỉ trích đã quen thuộc hơn việc được nghe những lời động viên.</a:t>
            </a:r>
            <a:endParaRPr lang="en-US" sz="1600" b="1" dirty="0"/>
          </a:p>
        </p:txBody>
      </p:sp>
      <p:sp>
        <p:nvSpPr>
          <p:cNvPr id="19" name="Shape 17"/>
          <p:cNvSpPr/>
          <p:nvPr/>
        </p:nvSpPr>
        <p:spPr>
          <a:xfrm>
            <a:off x="457200" y="4754880"/>
            <a:ext cx="5486400" cy="1645920"/>
          </a:xfrm>
          <a:prstGeom prst="roundRect">
            <a:avLst>
              <a:gd name="adj" fmla="val 611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58368" y="4892040"/>
            <a:ext cx="1371600" cy="283464"/>
          </a:xfrm>
          <a:prstGeom prst="roundRect">
            <a:avLst>
              <a:gd name="adj" fmla="val 50000"/>
            </a:avLst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658368" y="4892040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ភាសាខ្មែរ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5257800"/>
            <a:ext cx="508406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កុមារអាចកាន់តែរសើបចំពោះការរិះគន់ ជាងការសរសើរ។</a:t>
            </a:r>
            <a:endParaRPr lang="en-US" sz="1600" b="1" dirty="0"/>
          </a:p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→ ព្រោះបទពិសោធន៍នៃការត្រូវគេស្តីបន្ទោស ឬរិះគន់ មានភាពស៊ាំជាងការឮពាក្យលើកទឹកចិត្ត។</a:t>
            </a:r>
            <a:endParaRPr lang="en-US" sz="1600" b="1" dirty="0"/>
          </a:p>
        </p:txBody>
      </p:sp>
      <p:sp>
        <p:nvSpPr>
          <p:cNvPr id="23" name="Shape 21"/>
          <p:cNvSpPr/>
          <p:nvPr/>
        </p:nvSpPr>
        <p:spPr>
          <a:xfrm>
            <a:off x="6245352" y="4754880"/>
            <a:ext cx="5486400" cy="1645920"/>
          </a:xfrm>
          <a:prstGeom prst="roundRect">
            <a:avLst>
              <a:gd name="adj" fmla="val 611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6446520" y="4892040"/>
            <a:ext cx="1024128" cy="283464"/>
          </a:xfrm>
          <a:prstGeom prst="roundRect">
            <a:avLst>
              <a:gd name="adj" fmla="val 50000"/>
            </a:avLst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6446520" y="4892040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Segoe UI" pitchFamily="34" charset="-122"/>
                <a:cs typeface="Calibri" pitchFamily="34" charset="-120"/>
              </a:rPr>
              <a:t>Русский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446520" y="5257800"/>
            <a:ext cx="508406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Calibri" pitchFamily="34" charset="0"/>
                <a:ea typeface="Segoe UI" pitchFamily="34" charset="-122"/>
                <a:cs typeface="Calibri" pitchFamily="34" charset="-120"/>
              </a:rPr>
              <a:t>Ребёнок может стать более чувствительным к критике, чем к похвале.</a:t>
            </a:r>
            <a:endParaRPr lang="en-US" sz="1600" b="1" dirty="0"/>
          </a:p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Calibri" pitchFamily="34" charset="0"/>
                <a:ea typeface="Segoe UI" pitchFamily="34" charset="-122"/>
                <a:cs typeface="Calibri" pitchFamily="34" charset="-120"/>
              </a:rPr>
              <a:t>→ Потому что опыт, когда его ругали и критиковали, был ему привычнее, чем добрые слова.</a:t>
            </a:r>
            <a:endParaRPr lang="en-US" sz="1600" b="1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84632"/>
            <a:ext cx="137160" cy="137160"/>
          </a:xfrm>
          <a:prstGeom prst="ellipse">
            <a:avLst/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7F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부모의 화가 아이 마음에 남기는 것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768096"/>
            <a:ext cx="566928" cy="566928"/>
          </a:xfrm>
          <a:prstGeom prst="ellipse">
            <a:avLst/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457200" y="7680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152144" y="758952"/>
            <a:ext cx="10561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불안을 기본 감정처럼 안고 살아갑니다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11274552" cy="1170432"/>
          </a:xfrm>
          <a:prstGeom prst="roundRect">
            <a:avLst>
              <a:gd name="adj" fmla="val 8594"/>
            </a:avLst>
          </a:prstGeom>
          <a:solidFill>
            <a:srgbClr val="EDF4FC"/>
          </a:solidFill>
          <a:ln w="12700">
            <a:solidFill>
              <a:srgbClr val="C6DC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58368" y="1728216"/>
            <a:ext cx="822960" cy="283464"/>
          </a:xfrm>
          <a:prstGeom prst="roundRect">
            <a:avLst>
              <a:gd name="adj" fmla="val 50000"/>
            </a:avLst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658368" y="1728216"/>
            <a:ext cx="822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한국어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1609344" y="1691640"/>
            <a:ext cx="9921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불안을 기본 감정처럼 안고 살아갈 수 있습니다.</a:t>
            </a:r>
            <a:endParaRPr lang="en-US" sz="1700" dirty="0"/>
          </a:p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350" dirty="0">
                <a:solidFill>
                  <a:srgbClr val="6E65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언제 집안 분위기가 바뀔지 몰랐던 어린 시절의 긴장이 몸과 마음에 남아 있기 때문입니다.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57200" y="2944368"/>
            <a:ext cx="5486400" cy="1645920"/>
          </a:xfrm>
          <a:prstGeom prst="roundRect">
            <a:avLst>
              <a:gd name="adj" fmla="val 611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58368" y="3081528"/>
            <a:ext cx="1024128" cy="283464"/>
          </a:xfrm>
          <a:prstGeom prst="roundRect">
            <a:avLst>
              <a:gd name="adj" fmla="val 50000"/>
            </a:avLst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658368" y="3081528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429000"/>
            <a:ext cx="52852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They may carry anxiety as though it were their default emotion.</a:t>
            </a:r>
            <a:endParaRPr lang="en-US" sz="1600" b="1" dirty="0"/>
          </a:p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→ The tension of an unpredictable childhood may remain in both their body and mind.</a:t>
            </a:r>
            <a:endParaRPr lang="en-US" sz="1600" b="1" dirty="0"/>
          </a:p>
        </p:txBody>
      </p:sp>
      <p:sp>
        <p:nvSpPr>
          <p:cNvPr id="15" name="Shape 13"/>
          <p:cNvSpPr/>
          <p:nvPr/>
        </p:nvSpPr>
        <p:spPr>
          <a:xfrm>
            <a:off x="6245352" y="2944368"/>
            <a:ext cx="5486400" cy="1865376"/>
          </a:xfrm>
          <a:prstGeom prst="roundRect">
            <a:avLst>
              <a:gd name="adj" fmla="val 611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446520" y="3081528"/>
            <a:ext cx="1371600" cy="283464"/>
          </a:xfrm>
          <a:prstGeom prst="roundRect">
            <a:avLst>
              <a:gd name="adj" fmla="val 50000"/>
            </a:avLst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6432804" y="3099816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Tiếng Việt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407658" y="3392424"/>
            <a:ext cx="5362956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Trẻ có thể mang theo sự lo âu như một cảm xúc thường trực.</a:t>
            </a:r>
            <a:endParaRPr lang="en-US" sz="1600" b="1" dirty="0"/>
          </a:p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→ Sự căng thẳng từ một tuổi thơ không biết khi nào không khí gia đình sẽ thay đổi có thể còn lưu lại trong cơ thể và tâm trí.</a:t>
            </a:r>
            <a:endParaRPr lang="en-US" sz="1600" b="1" dirty="0"/>
          </a:p>
        </p:txBody>
      </p:sp>
      <p:sp>
        <p:nvSpPr>
          <p:cNvPr id="19" name="Shape 17"/>
          <p:cNvSpPr/>
          <p:nvPr/>
        </p:nvSpPr>
        <p:spPr>
          <a:xfrm>
            <a:off x="457200" y="4754880"/>
            <a:ext cx="5486400" cy="1645920"/>
          </a:xfrm>
          <a:prstGeom prst="roundRect">
            <a:avLst>
              <a:gd name="adj" fmla="val 611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58368" y="4892040"/>
            <a:ext cx="1371600" cy="283464"/>
          </a:xfrm>
          <a:prstGeom prst="roundRect">
            <a:avLst>
              <a:gd name="adj" fmla="val 50000"/>
            </a:avLst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658368" y="4892040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ភាសាខ្មែរ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25780" y="5257800"/>
            <a:ext cx="54864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កុមារអាចរស់នៅជាមួយការថប់បារម្ភ ដូចជាអារម្មណ៍ប្រចាំរបស់ខ្លួន។</a:t>
            </a:r>
            <a:endParaRPr lang="en-US" sz="1600" b="1" dirty="0"/>
          </a:p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→ ភាពតានតឹងពីកុមារភាពដែលមិនដឹងថាបរិយាកាសក្នុងគ្រួសារនឹងផ្លាស់ប្តូរពេលណា អាចនៅសល់ក្នុងរាងកាយ និងចិត្ត។</a:t>
            </a:r>
            <a:endParaRPr lang="en-US" sz="1600" b="1" dirty="0"/>
          </a:p>
        </p:txBody>
      </p:sp>
      <p:sp>
        <p:nvSpPr>
          <p:cNvPr id="23" name="Shape 21"/>
          <p:cNvSpPr/>
          <p:nvPr/>
        </p:nvSpPr>
        <p:spPr>
          <a:xfrm>
            <a:off x="6245352" y="4892040"/>
            <a:ext cx="5486400" cy="1508760"/>
          </a:xfrm>
          <a:prstGeom prst="roundRect">
            <a:avLst>
              <a:gd name="adj" fmla="val 611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6446520" y="4892040"/>
            <a:ext cx="1024128" cy="283464"/>
          </a:xfrm>
          <a:prstGeom prst="roundRect">
            <a:avLst>
              <a:gd name="adj" fmla="val 50000"/>
            </a:avLst>
          </a:prstGeom>
          <a:solidFill>
            <a:srgbClr val="2F7F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6446520" y="4892040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Segoe UI" pitchFamily="34" charset="-122"/>
                <a:cs typeface="Calibri" pitchFamily="34" charset="-120"/>
              </a:rPr>
              <a:t>Русский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446520" y="5257800"/>
            <a:ext cx="52852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Calibri" pitchFamily="34" charset="0"/>
                <a:ea typeface="Segoe UI" pitchFamily="34" charset="-122"/>
                <a:cs typeface="Calibri" pitchFamily="34" charset="-120"/>
              </a:rPr>
              <a:t>Ребёнок может жить с тревогой как с основным чувством.</a:t>
            </a:r>
            <a:endParaRPr lang="en-US" sz="1600" b="1" dirty="0"/>
          </a:p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Calibri" pitchFamily="34" charset="0"/>
                <a:ea typeface="Segoe UI" pitchFamily="34" charset="-122"/>
                <a:cs typeface="Calibri" pitchFamily="34" charset="-120"/>
              </a:rPr>
              <a:t>→ Потому что напряжение детства, когда он не знал, в какой момент изменится атмосфера в доме, остаётся в теле и душе.</a:t>
            </a:r>
            <a:endParaRPr lang="en-US" sz="1600" b="1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D082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5120640" cy="5120640"/>
          </a:xfrm>
          <a:prstGeom prst="ellipse">
            <a:avLst/>
          </a:prstGeom>
          <a:solidFill>
            <a:srgbClr val="A1630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-1097280" y="4480560"/>
            <a:ext cx="3291840" cy="3291840"/>
          </a:xfrm>
          <a:prstGeom prst="ellipse">
            <a:avLst/>
          </a:prstGeom>
          <a:solidFill>
            <a:srgbClr val="A1630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10058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2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92608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아이를 귀하게 여기는 부모의 말 10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79476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sentences that tell a child they matter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457200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>
                    <a:alpha val="7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한국어</a:t>
            </a:r>
            <a:r>
              <a:rPr lang="en-US" sz="1350" b="1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English  ·  Tiếng Việt  ·  </a:t>
            </a:r>
            <a:r>
              <a:rPr lang="en-US" sz="1350" b="1" dirty="0">
                <a:solidFill>
                  <a:srgbClr val="FFFFFF">
                    <a:alpha val="75000"/>
                  </a:srgbClr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ភាសាខ្មែរ</a:t>
            </a:r>
            <a:r>
              <a:rPr lang="en-US" sz="1350" b="1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r>
              <a:rPr lang="en-US" sz="1350" b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Segoe UI" pitchFamily="34" charset="-122"/>
                <a:cs typeface="Segoe UI" pitchFamily="34" charset="-120"/>
              </a:rPr>
              <a:t>Русский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84632"/>
            <a:ext cx="137160" cy="137160"/>
          </a:xfrm>
          <a:prstGeom prst="ellipse">
            <a:avLst/>
          </a:prstGeom>
          <a:solidFill>
            <a:srgbClr val="D082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082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아이를 귀하게 여기는 부모의 말 10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932688"/>
            <a:ext cx="11274552" cy="1993392"/>
          </a:xfrm>
          <a:prstGeom prst="roundRect">
            <a:avLst>
              <a:gd name="adj" fmla="val 5046"/>
            </a:avLst>
          </a:prstGeom>
          <a:solidFill>
            <a:srgbClr val="FFF5E4"/>
          </a:solidFill>
          <a:ln w="12700">
            <a:solidFill>
              <a:srgbClr val="F3DAA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77240" y="1280160"/>
            <a:ext cx="713232" cy="713232"/>
          </a:xfrm>
          <a:prstGeom prst="ellipse">
            <a:avLst/>
          </a:prstGeom>
          <a:solidFill>
            <a:srgbClr val="D082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777240" y="128016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719072" y="1097280"/>
            <a:ext cx="9692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5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네가 와준 건 엄마(아빠)에게 가장 큰 선물이야.</a:t>
            </a:r>
            <a:endParaRPr lang="en-US" sz="3500" dirty="0"/>
          </a:p>
        </p:txBody>
      </p:sp>
      <p:sp>
        <p:nvSpPr>
          <p:cNvPr id="8" name="Shape 6"/>
          <p:cNvSpPr/>
          <p:nvPr/>
        </p:nvSpPr>
        <p:spPr>
          <a:xfrm>
            <a:off x="457200" y="3145536"/>
            <a:ext cx="5486400" cy="1554480"/>
          </a:xfrm>
          <a:prstGeom prst="roundRect">
            <a:avLst>
              <a:gd name="adj" fmla="val 647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58368" y="3282696"/>
            <a:ext cx="1024128" cy="283464"/>
          </a:xfrm>
          <a:prstGeom prst="roundRect">
            <a:avLst>
              <a:gd name="adj" fmla="val 50000"/>
            </a:avLst>
          </a:prstGeom>
          <a:solidFill>
            <a:srgbClr val="D082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658368" y="3282696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3648456"/>
            <a:ext cx="50840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Having you in my life is the greatest gift.</a:t>
            </a:r>
            <a:endParaRPr lang="en-US" b="1" dirty="0"/>
          </a:p>
        </p:txBody>
      </p:sp>
      <p:sp>
        <p:nvSpPr>
          <p:cNvPr id="12" name="Shape 10"/>
          <p:cNvSpPr/>
          <p:nvPr/>
        </p:nvSpPr>
        <p:spPr>
          <a:xfrm>
            <a:off x="6245352" y="3145536"/>
            <a:ext cx="5486400" cy="1554480"/>
          </a:xfrm>
          <a:prstGeom prst="roundRect">
            <a:avLst>
              <a:gd name="adj" fmla="val 647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6446520" y="3282696"/>
            <a:ext cx="1371600" cy="283464"/>
          </a:xfrm>
          <a:prstGeom prst="roundRect">
            <a:avLst>
              <a:gd name="adj" fmla="val 50000"/>
            </a:avLst>
          </a:prstGeom>
          <a:solidFill>
            <a:srgbClr val="D082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6446520" y="3282696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Tiếng Việt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648456"/>
            <a:ext cx="50840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Con đến với mẹ (ba) là món quà lớn nhất.</a:t>
            </a:r>
            <a:endParaRPr lang="en-US" b="1" dirty="0"/>
          </a:p>
        </p:txBody>
      </p:sp>
      <p:sp>
        <p:nvSpPr>
          <p:cNvPr id="16" name="Shape 14"/>
          <p:cNvSpPr/>
          <p:nvPr/>
        </p:nvSpPr>
        <p:spPr>
          <a:xfrm>
            <a:off x="457200" y="4882896"/>
            <a:ext cx="5486400" cy="1554480"/>
          </a:xfrm>
          <a:prstGeom prst="roundRect">
            <a:avLst>
              <a:gd name="adj" fmla="val 647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58368" y="5020056"/>
            <a:ext cx="1371600" cy="283464"/>
          </a:xfrm>
          <a:prstGeom prst="roundRect">
            <a:avLst>
              <a:gd name="adj" fmla="val 50000"/>
            </a:avLst>
          </a:prstGeom>
          <a:solidFill>
            <a:srgbClr val="D082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658368" y="5020056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ភាសាខ្មែរ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5385816"/>
            <a:ext cx="50840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b="1" dirty="0"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ការដែលកូនបានមកក្នុងជីវិតម៉ាក់ (ប៉ា) គឺជាអំណោយដ៏ធំបំផុត។</a:t>
            </a:r>
            <a:endParaRPr lang="en-US" b="1" dirty="0"/>
          </a:p>
        </p:txBody>
      </p:sp>
      <p:sp>
        <p:nvSpPr>
          <p:cNvPr id="20" name="Shape 18"/>
          <p:cNvSpPr/>
          <p:nvPr/>
        </p:nvSpPr>
        <p:spPr>
          <a:xfrm>
            <a:off x="6245352" y="4882896"/>
            <a:ext cx="5486400" cy="1554480"/>
          </a:xfrm>
          <a:prstGeom prst="roundRect">
            <a:avLst>
              <a:gd name="adj" fmla="val 647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6446520" y="5020056"/>
            <a:ext cx="1024128" cy="283464"/>
          </a:xfrm>
          <a:prstGeom prst="roundRect">
            <a:avLst>
              <a:gd name="adj" fmla="val 50000"/>
            </a:avLst>
          </a:prstGeom>
          <a:solidFill>
            <a:srgbClr val="D082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6446520" y="5020056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Segoe UI" pitchFamily="34" charset="-122"/>
                <a:cs typeface="Calibri" pitchFamily="34" charset="-120"/>
              </a:rPr>
              <a:t>Русский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5385816"/>
            <a:ext cx="50840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b="1" dirty="0">
                <a:latin typeface="Calibri" pitchFamily="34" charset="0"/>
                <a:ea typeface="Segoe UI" pitchFamily="34" charset="-122"/>
                <a:cs typeface="Calibri" pitchFamily="34" charset="-120"/>
              </a:rPr>
              <a:t>То, что ты у нас есть, — самый большой подарок для мамы (папы).</a:t>
            </a:r>
            <a:endParaRPr lang="en-US" b="1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84632"/>
            <a:ext cx="137160" cy="137160"/>
          </a:xfrm>
          <a:prstGeom prst="ellipse">
            <a:avLst/>
          </a:prstGeom>
          <a:solidFill>
            <a:srgbClr val="D082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082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아이를 귀하게 여기는 부모의 말 10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932688"/>
            <a:ext cx="11274552" cy="1993392"/>
          </a:xfrm>
          <a:prstGeom prst="roundRect">
            <a:avLst>
              <a:gd name="adj" fmla="val 5046"/>
            </a:avLst>
          </a:prstGeom>
          <a:solidFill>
            <a:srgbClr val="FFF5E4"/>
          </a:solidFill>
          <a:ln w="12700">
            <a:solidFill>
              <a:srgbClr val="F3DAA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77240" y="1280160"/>
            <a:ext cx="713232" cy="713232"/>
          </a:xfrm>
          <a:prstGeom prst="ellipse">
            <a:avLst/>
          </a:prstGeom>
          <a:solidFill>
            <a:srgbClr val="D082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777240" y="128016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719072" y="1097280"/>
            <a:ext cx="9692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5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널 만난 건 내 인생에서 가장 기쁜 순간이었어.</a:t>
            </a:r>
            <a:endParaRPr lang="en-US" sz="3500" dirty="0"/>
          </a:p>
        </p:txBody>
      </p:sp>
      <p:sp>
        <p:nvSpPr>
          <p:cNvPr id="8" name="Shape 6"/>
          <p:cNvSpPr/>
          <p:nvPr/>
        </p:nvSpPr>
        <p:spPr>
          <a:xfrm>
            <a:off x="457200" y="3145536"/>
            <a:ext cx="5486400" cy="1554480"/>
          </a:xfrm>
          <a:prstGeom prst="roundRect">
            <a:avLst>
              <a:gd name="adj" fmla="val 647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58368" y="3282696"/>
            <a:ext cx="1024128" cy="283464"/>
          </a:xfrm>
          <a:prstGeom prst="roundRect">
            <a:avLst>
              <a:gd name="adj" fmla="val 50000"/>
            </a:avLst>
          </a:prstGeom>
          <a:solidFill>
            <a:srgbClr val="D082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658368" y="3282696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3648456"/>
            <a:ext cx="50840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Meeting you was the happiest moment of my life.</a:t>
            </a:r>
            <a:endParaRPr lang="en-US" b="1" dirty="0"/>
          </a:p>
        </p:txBody>
      </p:sp>
      <p:sp>
        <p:nvSpPr>
          <p:cNvPr id="12" name="Shape 10"/>
          <p:cNvSpPr/>
          <p:nvPr/>
        </p:nvSpPr>
        <p:spPr>
          <a:xfrm>
            <a:off x="6245352" y="3145536"/>
            <a:ext cx="5486400" cy="1554480"/>
          </a:xfrm>
          <a:prstGeom prst="roundRect">
            <a:avLst>
              <a:gd name="adj" fmla="val 647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6446520" y="3282696"/>
            <a:ext cx="1371600" cy="283464"/>
          </a:xfrm>
          <a:prstGeom prst="roundRect">
            <a:avLst>
              <a:gd name="adj" fmla="val 50000"/>
            </a:avLst>
          </a:prstGeom>
          <a:solidFill>
            <a:srgbClr val="D082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6446520" y="3282696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Tiếng Việt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648456"/>
            <a:ext cx="50840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Khoảnh khắc gặp con là khoảnh khắc hạnh phúc nhất trong đời mẹ (ba).</a:t>
            </a:r>
            <a:endParaRPr lang="en-US" b="1" dirty="0"/>
          </a:p>
        </p:txBody>
      </p:sp>
      <p:sp>
        <p:nvSpPr>
          <p:cNvPr id="16" name="Shape 14"/>
          <p:cNvSpPr/>
          <p:nvPr/>
        </p:nvSpPr>
        <p:spPr>
          <a:xfrm>
            <a:off x="457200" y="4882896"/>
            <a:ext cx="5486400" cy="1554480"/>
          </a:xfrm>
          <a:prstGeom prst="roundRect">
            <a:avLst>
              <a:gd name="adj" fmla="val 647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58368" y="5020056"/>
            <a:ext cx="1371600" cy="283464"/>
          </a:xfrm>
          <a:prstGeom prst="roundRect">
            <a:avLst>
              <a:gd name="adj" fmla="val 50000"/>
            </a:avLst>
          </a:prstGeom>
          <a:solidFill>
            <a:srgbClr val="D082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658368" y="5020056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ភាសាខ្មែរ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5385816"/>
            <a:ext cx="50840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b="1" dirty="0"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ពេលដែលម៉ាក់ (ប៉ា) បានជួបកូន គឺជាពេលវេលាដែលរីករាយបំផុតក្នុងជីវិត។</a:t>
            </a:r>
            <a:endParaRPr lang="en-US" b="1" dirty="0"/>
          </a:p>
        </p:txBody>
      </p:sp>
      <p:sp>
        <p:nvSpPr>
          <p:cNvPr id="20" name="Shape 18"/>
          <p:cNvSpPr/>
          <p:nvPr/>
        </p:nvSpPr>
        <p:spPr>
          <a:xfrm>
            <a:off x="6245352" y="4882896"/>
            <a:ext cx="5486400" cy="1554480"/>
          </a:xfrm>
          <a:prstGeom prst="roundRect">
            <a:avLst>
              <a:gd name="adj" fmla="val 647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6446520" y="5020056"/>
            <a:ext cx="1024128" cy="283464"/>
          </a:xfrm>
          <a:prstGeom prst="roundRect">
            <a:avLst>
              <a:gd name="adj" fmla="val 50000"/>
            </a:avLst>
          </a:prstGeom>
          <a:solidFill>
            <a:srgbClr val="D082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6446520" y="5020056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Segoe UI" pitchFamily="34" charset="-122"/>
                <a:cs typeface="Calibri" pitchFamily="34" charset="-120"/>
              </a:rPr>
              <a:t>Русский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5385816"/>
            <a:ext cx="50840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2000" b="1" dirty="0">
                <a:latin typeface="Calibri" pitchFamily="34" charset="0"/>
                <a:ea typeface="Segoe UI" pitchFamily="34" charset="-122"/>
                <a:cs typeface="Calibri" pitchFamily="34" charset="-120"/>
              </a:rPr>
              <a:t>Встреча с тобой — самый счастливый момент в моей жизни.</a:t>
            </a:r>
            <a:endParaRPr lang="en-US" sz="2000" b="1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84632"/>
            <a:ext cx="137160" cy="137160"/>
          </a:xfrm>
          <a:prstGeom prst="ellipse">
            <a:avLst/>
          </a:prstGeom>
          <a:solidFill>
            <a:srgbClr val="D082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082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아이를 귀하게 여기는 부모의 말 10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932688"/>
            <a:ext cx="11274552" cy="1993392"/>
          </a:xfrm>
          <a:prstGeom prst="roundRect">
            <a:avLst>
              <a:gd name="adj" fmla="val 5046"/>
            </a:avLst>
          </a:prstGeom>
          <a:solidFill>
            <a:srgbClr val="FFF5E4"/>
          </a:solidFill>
          <a:ln w="12700">
            <a:solidFill>
              <a:srgbClr val="F3DAA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77240" y="1280160"/>
            <a:ext cx="713232" cy="713232"/>
          </a:xfrm>
          <a:prstGeom prst="ellipse">
            <a:avLst/>
          </a:prstGeom>
          <a:solidFill>
            <a:srgbClr val="D082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777240" y="128016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719072" y="1097280"/>
            <a:ext cx="9692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5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네가 웃으면 세상도 함께 웃는 것 같아.</a:t>
            </a:r>
            <a:endParaRPr lang="en-US" sz="3500" dirty="0"/>
          </a:p>
        </p:txBody>
      </p:sp>
      <p:sp>
        <p:nvSpPr>
          <p:cNvPr id="8" name="Shape 6"/>
          <p:cNvSpPr/>
          <p:nvPr/>
        </p:nvSpPr>
        <p:spPr>
          <a:xfrm>
            <a:off x="457200" y="3145536"/>
            <a:ext cx="5486400" cy="1554480"/>
          </a:xfrm>
          <a:prstGeom prst="roundRect">
            <a:avLst>
              <a:gd name="adj" fmla="val 647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58368" y="3282696"/>
            <a:ext cx="1024128" cy="283464"/>
          </a:xfrm>
          <a:prstGeom prst="roundRect">
            <a:avLst>
              <a:gd name="adj" fmla="val 50000"/>
            </a:avLst>
          </a:prstGeom>
          <a:solidFill>
            <a:srgbClr val="D082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658368" y="3282696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3648456"/>
            <a:ext cx="50840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When you smile, it feels as though the whole world smiles with you.</a:t>
            </a:r>
            <a:endParaRPr lang="en-US" b="1" dirty="0"/>
          </a:p>
        </p:txBody>
      </p:sp>
      <p:sp>
        <p:nvSpPr>
          <p:cNvPr id="12" name="Shape 10"/>
          <p:cNvSpPr/>
          <p:nvPr/>
        </p:nvSpPr>
        <p:spPr>
          <a:xfrm>
            <a:off x="6245352" y="3145536"/>
            <a:ext cx="5486400" cy="1554480"/>
          </a:xfrm>
          <a:prstGeom prst="roundRect">
            <a:avLst>
              <a:gd name="adj" fmla="val 647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6446520" y="3282696"/>
            <a:ext cx="1371600" cy="283464"/>
          </a:xfrm>
          <a:prstGeom prst="roundRect">
            <a:avLst>
              <a:gd name="adj" fmla="val 50000"/>
            </a:avLst>
          </a:prstGeom>
          <a:solidFill>
            <a:srgbClr val="D082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6446520" y="3282696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Tiếng Việt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648456"/>
            <a:ext cx="50840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Khi con cười, mẹ (ba) cảm thấy như cả thế giới cũng mỉm cười cùng con.</a:t>
            </a:r>
            <a:endParaRPr lang="en-US" b="1" dirty="0"/>
          </a:p>
        </p:txBody>
      </p:sp>
      <p:sp>
        <p:nvSpPr>
          <p:cNvPr id="16" name="Shape 14"/>
          <p:cNvSpPr/>
          <p:nvPr/>
        </p:nvSpPr>
        <p:spPr>
          <a:xfrm>
            <a:off x="457200" y="4882896"/>
            <a:ext cx="5486400" cy="1554480"/>
          </a:xfrm>
          <a:prstGeom prst="roundRect">
            <a:avLst>
              <a:gd name="adj" fmla="val 647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58368" y="5020056"/>
            <a:ext cx="1371600" cy="283464"/>
          </a:xfrm>
          <a:prstGeom prst="roundRect">
            <a:avLst>
              <a:gd name="adj" fmla="val 50000"/>
            </a:avLst>
          </a:prstGeom>
          <a:solidFill>
            <a:srgbClr val="D082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658368" y="5020056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ភាសាខ្មែរ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5385816"/>
            <a:ext cx="50840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b="1" dirty="0"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ពេលកូនញញឹម ហាក់ដូចជាពិភពលោកទាំងមូលញញឹមជាមួយកូនដែរ។</a:t>
            </a:r>
            <a:endParaRPr lang="en-US" b="1" dirty="0"/>
          </a:p>
        </p:txBody>
      </p:sp>
      <p:sp>
        <p:nvSpPr>
          <p:cNvPr id="20" name="Shape 18"/>
          <p:cNvSpPr/>
          <p:nvPr/>
        </p:nvSpPr>
        <p:spPr>
          <a:xfrm>
            <a:off x="6245352" y="4882896"/>
            <a:ext cx="5486400" cy="1554480"/>
          </a:xfrm>
          <a:prstGeom prst="roundRect">
            <a:avLst>
              <a:gd name="adj" fmla="val 647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6446520" y="5020056"/>
            <a:ext cx="1024128" cy="283464"/>
          </a:xfrm>
          <a:prstGeom prst="roundRect">
            <a:avLst>
              <a:gd name="adj" fmla="val 50000"/>
            </a:avLst>
          </a:prstGeom>
          <a:solidFill>
            <a:srgbClr val="D082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6446520" y="5020056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Segoe UI" pitchFamily="34" charset="-122"/>
                <a:cs typeface="Calibri" pitchFamily="34" charset="-120"/>
              </a:rPr>
              <a:t>Русский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5385816"/>
            <a:ext cx="50840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b="1" dirty="0">
                <a:latin typeface="Calibri" pitchFamily="34" charset="0"/>
                <a:ea typeface="Segoe UI" pitchFamily="34" charset="-122"/>
                <a:cs typeface="Calibri" pitchFamily="34" charset="-120"/>
              </a:rPr>
              <a:t>Когда ты улыбаешься, кажется, что весь мир улыбается вместе с тобой.</a:t>
            </a:r>
            <a:endParaRPr lang="en-US" b="1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84632"/>
            <a:ext cx="137160" cy="137160"/>
          </a:xfrm>
          <a:prstGeom prst="ellipse">
            <a:avLst/>
          </a:prstGeom>
          <a:solidFill>
            <a:srgbClr val="D082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082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아이를 귀하게 여기는 부모의 말 10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932688"/>
            <a:ext cx="11274552" cy="1993392"/>
          </a:xfrm>
          <a:prstGeom prst="roundRect">
            <a:avLst>
              <a:gd name="adj" fmla="val 5046"/>
            </a:avLst>
          </a:prstGeom>
          <a:solidFill>
            <a:srgbClr val="FFF5E4"/>
          </a:solidFill>
          <a:ln w="12700">
            <a:solidFill>
              <a:srgbClr val="F3DAA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77240" y="1280160"/>
            <a:ext cx="713232" cy="713232"/>
          </a:xfrm>
          <a:prstGeom prst="ellipse">
            <a:avLst/>
          </a:prstGeom>
          <a:solidFill>
            <a:srgbClr val="D082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777240" y="128016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719072" y="1097280"/>
            <a:ext cx="9692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5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너는 그대로도 충분히 빛나는 아이야.</a:t>
            </a:r>
            <a:endParaRPr lang="en-US" sz="3500" dirty="0"/>
          </a:p>
        </p:txBody>
      </p:sp>
      <p:sp>
        <p:nvSpPr>
          <p:cNvPr id="8" name="Shape 6"/>
          <p:cNvSpPr/>
          <p:nvPr/>
        </p:nvSpPr>
        <p:spPr>
          <a:xfrm>
            <a:off x="457200" y="3145536"/>
            <a:ext cx="5486400" cy="1554480"/>
          </a:xfrm>
          <a:prstGeom prst="roundRect">
            <a:avLst>
              <a:gd name="adj" fmla="val 647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58368" y="3282696"/>
            <a:ext cx="1024128" cy="283464"/>
          </a:xfrm>
          <a:prstGeom prst="roundRect">
            <a:avLst>
              <a:gd name="adj" fmla="val 50000"/>
            </a:avLst>
          </a:prstGeom>
          <a:solidFill>
            <a:srgbClr val="D082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658368" y="3282696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3648456"/>
            <a:ext cx="50840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You shine brightly just as you are.</a:t>
            </a:r>
            <a:endParaRPr lang="en-US" b="1" dirty="0"/>
          </a:p>
        </p:txBody>
      </p:sp>
      <p:sp>
        <p:nvSpPr>
          <p:cNvPr id="12" name="Shape 10"/>
          <p:cNvSpPr/>
          <p:nvPr/>
        </p:nvSpPr>
        <p:spPr>
          <a:xfrm>
            <a:off x="6245352" y="3145536"/>
            <a:ext cx="5486400" cy="1554480"/>
          </a:xfrm>
          <a:prstGeom prst="roundRect">
            <a:avLst>
              <a:gd name="adj" fmla="val 647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6446520" y="3282696"/>
            <a:ext cx="1371600" cy="283464"/>
          </a:xfrm>
          <a:prstGeom prst="roundRect">
            <a:avLst>
              <a:gd name="adj" fmla="val 50000"/>
            </a:avLst>
          </a:prstGeom>
          <a:solidFill>
            <a:srgbClr val="D082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6446520" y="3282696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Tiếng Việt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648456"/>
            <a:ext cx="50840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Con tỏa sáng rực rỡ khi là chính mình.</a:t>
            </a:r>
            <a:endParaRPr lang="en-US" b="1" dirty="0"/>
          </a:p>
        </p:txBody>
      </p:sp>
      <p:sp>
        <p:nvSpPr>
          <p:cNvPr id="16" name="Shape 14"/>
          <p:cNvSpPr/>
          <p:nvPr/>
        </p:nvSpPr>
        <p:spPr>
          <a:xfrm>
            <a:off x="457200" y="4882896"/>
            <a:ext cx="5486400" cy="1554480"/>
          </a:xfrm>
          <a:prstGeom prst="roundRect">
            <a:avLst>
              <a:gd name="adj" fmla="val 647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58368" y="5020056"/>
            <a:ext cx="1371600" cy="283464"/>
          </a:xfrm>
          <a:prstGeom prst="roundRect">
            <a:avLst>
              <a:gd name="adj" fmla="val 50000"/>
            </a:avLst>
          </a:prstGeom>
          <a:solidFill>
            <a:srgbClr val="D082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658368" y="5020056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ភាសាខ្មែរ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5385816"/>
            <a:ext cx="50840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b="1" dirty="0"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កូនភ្លឺចែងចាំងគ្រប់គ្រាន់ហើយ ដោយគ្រាន់តែជាខ្លួនឯង។</a:t>
            </a:r>
            <a:endParaRPr lang="en-US" b="1" dirty="0"/>
          </a:p>
        </p:txBody>
      </p:sp>
      <p:sp>
        <p:nvSpPr>
          <p:cNvPr id="20" name="Shape 18"/>
          <p:cNvSpPr/>
          <p:nvPr/>
        </p:nvSpPr>
        <p:spPr>
          <a:xfrm>
            <a:off x="6245352" y="4882896"/>
            <a:ext cx="5486400" cy="1554480"/>
          </a:xfrm>
          <a:prstGeom prst="roundRect">
            <a:avLst>
              <a:gd name="adj" fmla="val 647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6446520" y="5020056"/>
            <a:ext cx="1024128" cy="283464"/>
          </a:xfrm>
          <a:prstGeom prst="roundRect">
            <a:avLst>
              <a:gd name="adj" fmla="val 50000"/>
            </a:avLst>
          </a:prstGeom>
          <a:solidFill>
            <a:srgbClr val="D082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6446520" y="5020056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Segoe UI" pitchFamily="34" charset="-122"/>
                <a:cs typeface="Calibri" pitchFamily="34" charset="-120"/>
              </a:rPr>
              <a:t>Русский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5385816"/>
            <a:ext cx="50840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2000" b="1" dirty="0">
                <a:latin typeface="Calibri" pitchFamily="34" charset="0"/>
                <a:ea typeface="Segoe UI" pitchFamily="34" charset="-122"/>
                <a:cs typeface="Calibri" pitchFamily="34" charset="-120"/>
              </a:rPr>
              <a:t>Ты сияешь, просто оставаясь собой.</a:t>
            </a:r>
            <a:endParaRPr lang="en-US" sz="2000" b="1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84632"/>
            <a:ext cx="137160" cy="137160"/>
          </a:xfrm>
          <a:prstGeom prst="ellipse">
            <a:avLst/>
          </a:prstGeom>
          <a:solidFill>
            <a:srgbClr val="D082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082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아이를 귀하게 여기는 부모의 말 10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932688"/>
            <a:ext cx="11274552" cy="1993392"/>
          </a:xfrm>
          <a:prstGeom prst="roundRect">
            <a:avLst>
              <a:gd name="adj" fmla="val 5046"/>
            </a:avLst>
          </a:prstGeom>
          <a:solidFill>
            <a:srgbClr val="FFF5E4"/>
          </a:solidFill>
          <a:ln w="12700">
            <a:solidFill>
              <a:srgbClr val="F3DAA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77240" y="1280160"/>
            <a:ext cx="713232" cy="713232"/>
          </a:xfrm>
          <a:prstGeom prst="ellipse">
            <a:avLst/>
          </a:prstGeom>
          <a:solidFill>
            <a:srgbClr val="D082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777240" y="128016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719072" y="1097280"/>
            <a:ext cx="9692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5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네가 내 곁에 있다는 사실만으로 행복해.</a:t>
            </a:r>
            <a:endParaRPr lang="en-US" sz="3500" dirty="0"/>
          </a:p>
        </p:txBody>
      </p:sp>
      <p:sp>
        <p:nvSpPr>
          <p:cNvPr id="8" name="Shape 6"/>
          <p:cNvSpPr/>
          <p:nvPr/>
        </p:nvSpPr>
        <p:spPr>
          <a:xfrm>
            <a:off x="457200" y="3145536"/>
            <a:ext cx="5486400" cy="1554480"/>
          </a:xfrm>
          <a:prstGeom prst="roundRect">
            <a:avLst>
              <a:gd name="adj" fmla="val 647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58368" y="3282696"/>
            <a:ext cx="1024128" cy="283464"/>
          </a:xfrm>
          <a:prstGeom prst="roundRect">
            <a:avLst>
              <a:gd name="adj" fmla="val 50000"/>
            </a:avLst>
          </a:prstGeom>
          <a:solidFill>
            <a:srgbClr val="D082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658368" y="3282696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3648456"/>
            <a:ext cx="50840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Just knowing that you are by my side makes me happy.</a:t>
            </a:r>
            <a:endParaRPr lang="en-US" b="1" dirty="0"/>
          </a:p>
        </p:txBody>
      </p:sp>
      <p:sp>
        <p:nvSpPr>
          <p:cNvPr id="12" name="Shape 10"/>
          <p:cNvSpPr/>
          <p:nvPr/>
        </p:nvSpPr>
        <p:spPr>
          <a:xfrm>
            <a:off x="6245352" y="3145536"/>
            <a:ext cx="5486400" cy="1554480"/>
          </a:xfrm>
          <a:prstGeom prst="roundRect">
            <a:avLst>
              <a:gd name="adj" fmla="val 647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6446520" y="3282696"/>
            <a:ext cx="1371600" cy="283464"/>
          </a:xfrm>
          <a:prstGeom prst="roundRect">
            <a:avLst>
              <a:gd name="adj" fmla="val 50000"/>
            </a:avLst>
          </a:prstGeom>
          <a:solidFill>
            <a:srgbClr val="D082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6446520" y="3282696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Tiếng Việt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648456"/>
            <a:ext cx="50840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Chỉ cần biết con ở bên cạnh, mẹ (ba) đã thấy hạnh phúc.</a:t>
            </a:r>
            <a:endParaRPr lang="en-US" b="1" dirty="0"/>
          </a:p>
        </p:txBody>
      </p:sp>
      <p:sp>
        <p:nvSpPr>
          <p:cNvPr id="16" name="Shape 14"/>
          <p:cNvSpPr/>
          <p:nvPr/>
        </p:nvSpPr>
        <p:spPr>
          <a:xfrm>
            <a:off x="457200" y="4882896"/>
            <a:ext cx="5486400" cy="1554480"/>
          </a:xfrm>
          <a:prstGeom prst="roundRect">
            <a:avLst>
              <a:gd name="adj" fmla="val 647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58368" y="5020056"/>
            <a:ext cx="1371600" cy="283464"/>
          </a:xfrm>
          <a:prstGeom prst="roundRect">
            <a:avLst>
              <a:gd name="adj" fmla="val 50000"/>
            </a:avLst>
          </a:prstGeom>
          <a:solidFill>
            <a:srgbClr val="D082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658368" y="5020056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ភាសាខ្មែរ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5385816"/>
            <a:ext cx="50840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b="1" dirty="0"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គ្រាន់តែដឹងថាកូននៅក្បែរ ម៉ាក់ (ប៉ា) ក៏មានសុភមង្គលហើយ។</a:t>
            </a:r>
            <a:endParaRPr lang="en-US" b="1" dirty="0"/>
          </a:p>
        </p:txBody>
      </p:sp>
      <p:sp>
        <p:nvSpPr>
          <p:cNvPr id="20" name="Shape 18"/>
          <p:cNvSpPr/>
          <p:nvPr/>
        </p:nvSpPr>
        <p:spPr>
          <a:xfrm>
            <a:off x="6245352" y="4882896"/>
            <a:ext cx="5486400" cy="1554480"/>
          </a:xfrm>
          <a:prstGeom prst="roundRect">
            <a:avLst>
              <a:gd name="adj" fmla="val 647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6446520" y="5020056"/>
            <a:ext cx="1024128" cy="283464"/>
          </a:xfrm>
          <a:prstGeom prst="roundRect">
            <a:avLst>
              <a:gd name="adj" fmla="val 50000"/>
            </a:avLst>
          </a:prstGeom>
          <a:solidFill>
            <a:srgbClr val="D082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6446520" y="5020056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Segoe UI" pitchFamily="34" charset="-122"/>
                <a:cs typeface="Calibri" pitchFamily="34" charset="-120"/>
              </a:rPr>
              <a:t>Русский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5385816"/>
            <a:ext cx="50840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b="1" dirty="0">
                <a:latin typeface="Calibri" pitchFamily="34" charset="0"/>
                <a:ea typeface="Segoe UI" pitchFamily="34" charset="-122"/>
                <a:cs typeface="Calibri" pitchFamily="34" charset="-120"/>
              </a:rPr>
              <a:t>Просто знать, что ты рядом, — уже счастье.</a:t>
            </a:r>
            <a:endParaRPr lang="en-US" b="1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84632"/>
            <a:ext cx="137160" cy="137160"/>
          </a:xfrm>
          <a:prstGeom prst="ellipse">
            <a:avLst/>
          </a:prstGeom>
          <a:solidFill>
            <a:srgbClr val="D082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082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아이를 귀하게 여기는 부모의 말 10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932688"/>
            <a:ext cx="11274552" cy="1993392"/>
          </a:xfrm>
          <a:prstGeom prst="roundRect">
            <a:avLst>
              <a:gd name="adj" fmla="val 5046"/>
            </a:avLst>
          </a:prstGeom>
          <a:solidFill>
            <a:srgbClr val="FFF5E4"/>
          </a:solidFill>
          <a:ln w="12700">
            <a:solidFill>
              <a:srgbClr val="F3DAA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77240" y="1280160"/>
            <a:ext cx="713232" cy="713232"/>
          </a:xfrm>
          <a:prstGeom prst="ellipse">
            <a:avLst/>
          </a:prstGeom>
          <a:solidFill>
            <a:srgbClr val="D082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777240" y="128016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719072" y="1097280"/>
            <a:ext cx="9692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5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네가 하는 작은 일 하나도 엄마(아빠)에겐 기쁨이야.</a:t>
            </a:r>
            <a:endParaRPr lang="en-US" sz="3500" dirty="0"/>
          </a:p>
        </p:txBody>
      </p:sp>
      <p:sp>
        <p:nvSpPr>
          <p:cNvPr id="8" name="Shape 6"/>
          <p:cNvSpPr/>
          <p:nvPr/>
        </p:nvSpPr>
        <p:spPr>
          <a:xfrm>
            <a:off x="457200" y="3145536"/>
            <a:ext cx="5486400" cy="1554480"/>
          </a:xfrm>
          <a:prstGeom prst="roundRect">
            <a:avLst>
              <a:gd name="adj" fmla="val 647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58368" y="3282696"/>
            <a:ext cx="1024128" cy="283464"/>
          </a:xfrm>
          <a:prstGeom prst="roundRect">
            <a:avLst>
              <a:gd name="adj" fmla="val 50000"/>
            </a:avLst>
          </a:prstGeom>
          <a:solidFill>
            <a:srgbClr val="D082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658368" y="3282696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3648456"/>
            <a:ext cx="50840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Even the smallest thing you do brings me joy.</a:t>
            </a:r>
            <a:endParaRPr lang="en-US" b="1" dirty="0"/>
          </a:p>
        </p:txBody>
      </p:sp>
      <p:sp>
        <p:nvSpPr>
          <p:cNvPr id="12" name="Shape 10"/>
          <p:cNvSpPr/>
          <p:nvPr/>
        </p:nvSpPr>
        <p:spPr>
          <a:xfrm>
            <a:off x="6245352" y="3145536"/>
            <a:ext cx="5486400" cy="1554480"/>
          </a:xfrm>
          <a:prstGeom prst="roundRect">
            <a:avLst>
              <a:gd name="adj" fmla="val 647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6446520" y="3282696"/>
            <a:ext cx="1371600" cy="283464"/>
          </a:xfrm>
          <a:prstGeom prst="roundRect">
            <a:avLst>
              <a:gd name="adj" fmla="val 50000"/>
            </a:avLst>
          </a:prstGeom>
          <a:solidFill>
            <a:srgbClr val="D082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6446520" y="3282696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Tiếng Việt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648456"/>
            <a:ext cx="50840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Dù là việc nhỏ nhất con làm cũng mang lại niềm vui cho mẹ (ba).</a:t>
            </a:r>
            <a:endParaRPr lang="en-US" b="1" dirty="0"/>
          </a:p>
        </p:txBody>
      </p:sp>
      <p:sp>
        <p:nvSpPr>
          <p:cNvPr id="16" name="Shape 14"/>
          <p:cNvSpPr/>
          <p:nvPr/>
        </p:nvSpPr>
        <p:spPr>
          <a:xfrm>
            <a:off x="457200" y="4882896"/>
            <a:ext cx="5486400" cy="1554480"/>
          </a:xfrm>
          <a:prstGeom prst="roundRect">
            <a:avLst>
              <a:gd name="adj" fmla="val 647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58368" y="5020056"/>
            <a:ext cx="1371600" cy="283464"/>
          </a:xfrm>
          <a:prstGeom prst="roundRect">
            <a:avLst>
              <a:gd name="adj" fmla="val 50000"/>
            </a:avLst>
          </a:prstGeom>
          <a:solidFill>
            <a:srgbClr val="D082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658368" y="5020056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ភាសាខ្មែរ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5385816"/>
            <a:ext cx="50840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b="1" dirty="0"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សូម្បីតែរឿងតូចបំផុតដែលកូនធ្វើ ក៏នាំក្តីរីករាយដល់ម៉ាក់ (ប៉ា)។</a:t>
            </a:r>
            <a:endParaRPr lang="en-US" b="1" dirty="0"/>
          </a:p>
        </p:txBody>
      </p:sp>
      <p:sp>
        <p:nvSpPr>
          <p:cNvPr id="20" name="Shape 18"/>
          <p:cNvSpPr/>
          <p:nvPr/>
        </p:nvSpPr>
        <p:spPr>
          <a:xfrm>
            <a:off x="6245352" y="4882896"/>
            <a:ext cx="5486400" cy="1554480"/>
          </a:xfrm>
          <a:prstGeom prst="roundRect">
            <a:avLst>
              <a:gd name="adj" fmla="val 647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6446520" y="5020056"/>
            <a:ext cx="1024128" cy="283464"/>
          </a:xfrm>
          <a:prstGeom prst="roundRect">
            <a:avLst>
              <a:gd name="adj" fmla="val 50000"/>
            </a:avLst>
          </a:prstGeom>
          <a:solidFill>
            <a:srgbClr val="D082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6446520" y="5020056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Segoe UI" pitchFamily="34" charset="-122"/>
                <a:cs typeface="Calibri" pitchFamily="34" charset="-120"/>
              </a:rPr>
              <a:t>Русский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5385816"/>
            <a:ext cx="50840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b="1" dirty="0">
                <a:latin typeface="Calibri" pitchFamily="34" charset="0"/>
                <a:ea typeface="Segoe UI" pitchFamily="34" charset="-122"/>
                <a:cs typeface="Calibri" pitchFamily="34" charset="-120"/>
              </a:rPr>
              <a:t>Даже самая маленькая мелочь, которую ты делаешь, радует маму (папу).</a:t>
            </a:r>
            <a:endParaRPr lang="en-US" b="1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84632"/>
            <a:ext cx="137160" cy="137160"/>
          </a:xfrm>
          <a:prstGeom prst="ellipse">
            <a:avLst/>
          </a:prstGeom>
          <a:solidFill>
            <a:srgbClr val="D082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082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아이를 귀하게 여기는 부모의 말 10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932688"/>
            <a:ext cx="11274552" cy="1993392"/>
          </a:xfrm>
          <a:prstGeom prst="roundRect">
            <a:avLst>
              <a:gd name="adj" fmla="val 5046"/>
            </a:avLst>
          </a:prstGeom>
          <a:solidFill>
            <a:srgbClr val="FFF5E4"/>
          </a:solidFill>
          <a:ln w="12700">
            <a:solidFill>
              <a:srgbClr val="F3DAA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77240" y="1280160"/>
            <a:ext cx="713232" cy="713232"/>
          </a:xfrm>
          <a:prstGeom prst="ellipse">
            <a:avLst/>
          </a:prstGeom>
          <a:solidFill>
            <a:srgbClr val="D082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777240" y="128016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719072" y="1097280"/>
            <a:ext cx="9692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5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네가 오늘도 건강하게 웃어준 것만으로 감사해.</a:t>
            </a:r>
            <a:endParaRPr lang="en-US" sz="3500" dirty="0"/>
          </a:p>
        </p:txBody>
      </p:sp>
      <p:sp>
        <p:nvSpPr>
          <p:cNvPr id="8" name="Shape 6"/>
          <p:cNvSpPr/>
          <p:nvPr/>
        </p:nvSpPr>
        <p:spPr>
          <a:xfrm>
            <a:off x="457200" y="3145536"/>
            <a:ext cx="5486400" cy="1554480"/>
          </a:xfrm>
          <a:prstGeom prst="roundRect">
            <a:avLst>
              <a:gd name="adj" fmla="val 647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58368" y="3282696"/>
            <a:ext cx="1024128" cy="283464"/>
          </a:xfrm>
          <a:prstGeom prst="roundRect">
            <a:avLst>
              <a:gd name="adj" fmla="val 50000"/>
            </a:avLst>
          </a:prstGeom>
          <a:solidFill>
            <a:srgbClr val="D082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658368" y="3282696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3648456"/>
            <a:ext cx="50840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I’m grateful that you’re healthy and smiling today.</a:t>
            </a:r>
            <a:endParaRPr lang="en-US" b="1" dirty="0"/>
          </a:p>
        </p:txBody>
      </p:sp>
      <p:sp>
        <p:nvSpPr>
          <p:cNvPr id="12" name="Shape 10"/>
          <p:cNvSpPr/>
          <p:nvPr/>
        </p:nvSpPr>
        <p:spPr>
          <a:xfrm>
            <a:off x="6245352" y="3145536"/>
            <a:ext cx="5486400" cy="1554480"/>
          </a:xfrm>
          <a:prstGeom prst="roundRect">
            <a:avLst>
              <a:gd name="adj" fmla="val 647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6446520" y="3282696"/>
            <a:ext cx="1371600" cy="283464"/>
          </a:xfrm>
          <a:prstGeom prst="roundRect">
            <a:avLst>
              <a:gd name="adj" fmla="val 50000"/>
            </a:avLst>
          </a:prstGeom>
          <a:solidFill>
            <a:srgbClr val="D082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6446520" y="3282696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Tiếng Việt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648456"/>
            <a:ext cx="50840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Mẹ (ba) biết ơn chỉ vì hôm nay con vẫn khỏe mạnh và mỉm cười.</a:t>
            </a:r>
            <a:endParaRPr lang="en-US" b="1" dirty="0"/>
          </a:p>
        </p:txBody>
      </p:sp>
      <p:sp>
        <p:nvSpPr>
          <p:cNvPr id="16" name="Shape 14"/>
          <p:cNvSpPr/>
          <p:nvPr/>
        </p:nvSpPr>
        <p:spPr>
          <a:xfrm>
            <a:off x="457200" y="4882896"/>
            <a:ext cx="5486400" cy="1554480"/>
          </a:xfrm>
          <a:prstGeom prst="roundRect">
            <a:avLst>
              <a:gd name="adj" fmla="val 647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58368" y="5020056"/>
            <a:ext cx="1371600" cy="283464"/>
          </a:xfrm>
          <a:prstGeom prst="roundRect">
            <a:avLst>
              <a:gd name="adj" fmla="val 50000"/>
            </a:avLst>
          </a:prstGeom>
          <a:solidFill>
            <a:srgbClr val="D082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658368" y="5020056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ភាសាខ្មែរ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5385816"/>
            <a:ext cx="50840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b="1" dirty="0"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ម៉ាក់ (ប៉ា) អរគុណណាស់ ដែលថ្ងៃនេះកូននៅតែមានសុខភាពល្អ និងញញឹម។</a:t>
            </a:r>
            <a:endParaRPr lang="en-US" b="1" dirty="0"/>
          </a:p>
        </p:txBody>
      </p:sp>
      <p:sp>
        <p:nvSpPr>
          <p:cNvPr id="20" name="Shape 18"/>
          <p:cNvSpPr/>
          <p:nvPr/>
        </p:nvSpPr>
        <p:spPr>
          <a:xfrm>
            <a:off x="6245352" y="4882896"/>
            <a:ext cx="5486400" cy="1554480"/>
          </a:xfrm>
          <a:prstGeom prst="roundRect">
            <a:avLst>
              <a:gd name="adj" fmla="val 647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6446520" y="5020056"/>
            <a:ext cx="1024128" cy="283464"/>
          </a:xfrm>
          <a:prstGeom prst="roundRect">
            <a:avLst>
              <a:gd name="adj" fmla="val 50000"/>
            </a:avLst>
          </a:prstGeom>
          <a:solidFill>
            <a:srgbClr val="D082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6446520" y="5020056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Segoe UI" pitchFamily="34" charset="-122"/>
                <a:cs typeface="Calibri" pitchFamily="34" charset="-120"/>
              </a:rPr>
              <a:t>Русский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5385816"/>
            <a:ext cx="50840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b="1" dirty="0">
                <a:latin typeface="Calibri" pitchFamily="34" charset="0"/>
                <a:ea typeface="Segoe UI" pitchFamily="34" charset="-122"/>
                <a:cs typeface="Calibri" pitchFamily="34" charset="-120"/>
              </a:rPr>
              <a:t>Спасибо, что сегодня ты здоров(а) и улыбаешься.</a:t>
            </a:r>
            <a:endParaRPr lang="en-US" b="1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84632"/>
            <a:ext cx="137160" cy="137160"/>
          </a:xfrm>
          <a:prstGeom prst="ellipse">
            <a:avLst/>
          </a:prstGeom>
          <a:solidFill>
            <a:srgbClr val="D082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082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아이를 귀하게 여기는 부모의 말 10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932688"/>
            <a:ext cx="11274552" cy="1993392"/>
          </a:xfrm>
          <a:prstGeom prst="roundRect">
            <a:avLst>
              <a:gd name="adj" fmla="val 5046"/>
            </a:avLst>
          </a:prstGeom>
          <a:solidFill>
            <a:srgbClr val="FFF5E4"/>
          </a:solidFill>
          <a:ln w="12700">
            <a:solidFill>
              <a:srgbClr val="F3DAA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77240" y="1280160"/>
            <a:ext cx="713232" cy="713232"/>
          </a:xfrm>
          <a:prstGeom prst="ellipse">
            <a:avLst/>
          </a:prstGeom>
          <a:solidFill>
            <a:srgbClr val="D082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777240" y="128016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719072" y="1097280"/>
            <a:ext cx="9692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5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너와 함께 걷는 길이 내 인생 최고의 여행이야.</a:t>
            </a:r>
            <a:endParaRPr lang="en-US" sz="3500" dirty="0"/>
          </a:p>
        </p:txBody>
      </p:sp>
      <p:sp>
        <p:nvSpPr>
          <p:cNvPr id="8" name="Shape 6"/>
          <p:cNvSpPr/>
          <p:nvPr/>
        </p:nvSpPr>
        <p:spPr>
          <a:xfrm>
            <a:off x="457200" y="3145536"/>
            <a:ext cx="5486400" cy="1554480"/>
          </a:xfrm>
          <a:prstGeom prst="roundRect">
            <a:avLst>
              <a:gd name="adj" fmla="val 647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58368" y="3282696"/>
            <a:ext cx="1024128" cy="283464"/>
          </a:xfrm>
          <a:prstGeom prst="roundRect">
            <a:avLst>
              <a:gd name="adj" fmla="val 50000"/>
            </a:avLst>
          </a:prstGeom>
          <a:solidFill>
            <a:srgbClr val="D082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658368" y="3282696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3648456"/>
            <a:ext cx="50840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Walking through life with you is the best journey of my life.</a:t>
            </a:r>
            <a:endParaRPr lang="en-US" b="1" dirty="0"/>
          </a:p>
        </p:txBody>
      </p:sp>
      <p:sp>
        <p:nvSpPr>
          <p:cNvPr id="12" name="Shape 10"/>
          <p:cNvSpPr/>
          <p:nvPr/>
        </p:nvSpPr>
        <p:spPr>
          <a:xfrm>
            <a:off x="6245352" y="3145536"/>
            <a:ext cx="5486400" cy="1554480"/>
          </a:xfrm>
          <a:prstGeom prst="roundRect">
            <a:avLst>
              <a:gd name="adj" fmla="val 647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6446520" y="3282696"/>
            <a:ext cx="1371600" cy="283464"/>
          </a:xfrm>
          <a:prstGeom prst="roundRect">
            <a:avLst>
              <a:gd name="adj" fmla="val 50000"/>
            </a:avLst>
          </a:prstGeom>
          <a:solidFill>
            <a:srgbClr val="D082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6446520" y="3282696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Tiếng Việt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648456"/>
            <a:ext cx="50840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Được cùng con bước đi là hành trình tuyệt vời nhất trong đời mẹ (ba).</a:t>
            </a:r>
            <a:endParaRPr lang="en-US" b="1" dirty="0"/>
          </a:p>
        </p:txBody>
      </p:sp>
      <p:sp>
        <p:nvSpPr>
          <p:cNvPr id="16" name="Shape 14"/>
          <p:cNvSpPr/>
          <p:nvPr/>
        </p:nvSpPr>
        <p:spPr>
          <a:xfrm>
            <a:off x="457200" y="4882896"/>
            <a:ext cx="5486400" cy="1554480"/>
          </a:xfrm>
          <a:prstGeom prst="roundRect">
            <a:avLst>
              <a:gd name="adj" fmla="val 647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58368" y="5020056"/>
            <a:ext cx="1371600" cy="283464"/>
          </a:xfrm>
          <a:prstGeom prst="roundRect">
            <a:avLst>
              <a:gd name="adj" fmla="val 50000"/>
            </a:avLst>
          </a:prstGeom>
          <a:solidFill>
            <a:srgbClr val="D082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658368" y="5020056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ភាសាខ្មែរ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5385816"/>
            <a:ext cx="50840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b="1" dirty="0"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ផ្លូវដែលបានដើរជាមួយកូន គឺជាដំណើរដ៏ល្អបំផុតក្នុងជីវិតម៉ាក់ (ប៉ា)។</a:t>
            </a:r>
            <a:endParaRPr lang="en-US" b="1" dirty="0"/>
          </a:p>
        </p:txBody>
      </p:sp>
      <p:sp>
        <p:nvSpPr>
          <p:cNvPr id="20" name="Shape 18"/>
          <p:cNvSpPr/>
          <p:nvPr/>
        </p:nvSpPr>
        <p:spPr>
          <a:xfrm>
            <a:off x="6245352" y="4882896"/>
            <a:ext cx="5486400" cy="1554480"/>
          </a:xfrm>
          <a:prstGeom prst="roundRect">
            <a:avLst>
              <a:gd name="adj" fmla="val 647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6446520" y="5020056"/>
            <a:ext cx="1024128" cy="283464"/>
          </a:xfrm>
          <a:prstGeom prst="roundRect">
            <a:avLst>
              <a:gd name="adj" fmla="val 50000"/>
            </a:avLst>
          </a:prstGeom>
          <a:solidFill>
            <a:srgbClr val="D082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6446520" y="5020056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Segoe UI" pitchFamily="34" charset="-122"/>
                <a:cs typeface="Calibri" pitchFamily="34" charset="-120"/>
              </a:rPr>
              <a:t>Русский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5385816"/>
            <a:ext cx="50840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b="1" dirty="0">
                <a:latin typeface="Calibri" pitchFamily="34" charset="0"/>
                <a:ea typeface="Segoe UI" pitchFamily="34" charset="-122"/>
                <a:cs typeface="Calibri" pitchFamily="34" charset="-120"/>
              </a:rPr>
              <a:t>Идти по жизни вместе с тобой — лучшее из моих путешествий.</a:t>
            </a:r>
            <a:endParaRPr lang="en-US" b="1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84632"/>
            <a:ext cx="137160" cy="137160"/>
          </a:xfrm>
          <a:prstGeom prst="ellipse">
            <a:avLst/>
          </a:prstGeom>
          <a:solidFill>
            <a:srgbClr val="D082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082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아이를 귀하게 여기는 부모의 말 10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932688"/>
            <a:ext cx="11274552" cy="1993392"/>
          </a:xfrm>
          <a:prstGeom prst="roundRect">
            <a:avLst>
              <a:gd name="adj" fmla="val 5046"/>
            </a:avLst>
          </a:prstGeom>
          <a:solidFill>
            <a:srgbClr val="FFF5E4"/>
          </a:solidFill>
          <a:ln w="12700">
            <a:solidFill>
              <a:srgbClr val="F3DAA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77240" y="1280160"/>
            <a:ext cx="713232" cy="713232"/>
          </a:xfrm>
          <a:prstGeom prst="ellipse">
            <a:avLst/>
          </a:prstGeom>
          <a:solidFill>
            <a:srgbClr val="D082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777240" y="128016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719072" y="1097280"/>
            <a:ext cx="9692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5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네가 내 아이인 게 자랑스럽고 또 고마워.</a:t>
            </a:r>
            <a:endParaRPr lang="en-US" sz="3500" dirty="0"/>
          </a:p>
        </p:txBody>
      </p:sp>
      <p:sp>
        <p:nvSpPr>
          <p:cNvPr id="8" name="Shape 6"/>
          <p:cNvSpPr/>
          <p:nvPr/>
        </p:nvSpPr>
        <p:spPr>
          <a:xfrm>
            <a:off x="457200" y="3145536"/>
            <a:ext cx="5486400" cy="1554480"/>
          </a:xfrm>
          <a:prstGeom prst="roundRect">
            <a:avLst>
              <a:gd name="adj" fmla="val 647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58368" y="3282696"/>
            <a:ext cx="1024128" cy="283464"/>
          </a:xfrm>
          <a:prstGeom prst="roundRect">
            <a:avLst>
              <a:gd name="adj" fmla="val 50000"/>
            </a:avLst>
          </a:prstGeom>
          <a:solidFill>
            <a:srgbClr val="D082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658368" y="3282696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3648456"/>
            <a:ext cx="50840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I am proud and grateful that you are my child.</a:t>
            </a:r>
            <a:endParaRPr lang="en-US" b="1" dirty="0"/>
          </a:p>
        </p:txBody>
      </p:sp>
      <p:sp>
        <p:nvSpPr>
          <p:cNvPr id="12" name="Shape 10"/>
          <p:cNvSpPr/>
          <p:nvPr/>
        </p:nvSpPr>
        <p:spPr>
          <a:xfrm>
            <a:off x="6245352" y="3145536"/>
            <a:ext cx="5486400" cy="1554480"/>
          </a:xfrm>
          <a:prstGeom prst="roundRect">
            <a:avLst>
              <a:gd name="adj" fmla="val 647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6446520" y="3282696"/>
            <a:ext cx="1371600" cy="283464"/>
          </a:xfrm>
          <a:prstGeom prst="roundRect">
            <a:avLst>
              <a:gd name="adj" fmla="val 50000"/>
            </a:avLst>
          </a:prstGeom>
          <a:solidFill>
            <a:srgbClr val="D082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6446520" y="3282696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Tiếng Việt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648456"/>
            <a:ext cx="50840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Mẹ (ba) tự hào và biết ơn vì con là con của mẹ (ba).</a:t>
            </a:r>
            <a:endParaRPr lang="en-US" b="1" dirty="0"/>
          </a:p>
        </p:txBody>
      </p:sp>
      <p:sp>
        <p:nvSpPr>
          <p:cNvPr id="16" name="Shape 14"/>
          <p:cNvSpPr/>
          <p:nvPr/>
        </p:nvSpPr>
        <p:spPr>
          <a:xfrm>
            <a:off x="457200" y="4882896"/>
            <a:ext cx="5486400" cy="1554480"/>
          </a:xfrm>
          <a:prstGeom prst="roundRect">
            <a:avLst>
              <a:gd name="adj" fmla="val 647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58368" y="5020056"/>
            <a:ext cx="1371600" cy="283464"/>
          </a:xfrm>
          <a:prstGeom prst="roundRect">
            <a:avLst>
              <a:gd name="adj" fmla="val 50000"/>
            </a:avLst>
          </a:prstGeom>
          <a:solidFill>
            <a:srgbClr val="D082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658368" y="5020056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ភាសាខ្មែរ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5385816"/>
            <a:ext cx="50840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b="1" dirty="0"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ម៉ាក់ (ប៉ា) មានមោទនភាព និងអរគុណដែលកូនជាកូនរបស់ម៉ាក់ (ប៉ា)។</a:t>
            </a:r>
            <a:endParaRPr lang="en-US" b="1" dirty="0"/>
          </a:p>
        </p:txBody>
      </p:sp>
      <p:sp>
        <p:nvSpPr>
          <p:cNvPr id="20" name="Shape 18"/>
          <p:cNvSpPr/>
          <p:nvPr/>
        </p:nvSpPr>
        <p:spPr>
          <a:xfrm>
            <a:off x="6245352" y="4882896"/>
            <a:ext cx="5486400" cy="1554480"/>
          </a:xfrm>
          <a:prstGeom prst="roundRect">
            <a:avLst>
              <a:gd name="adj" fmla="val 647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6446520" y="5020056"/>
            <a:ext cx="1024128" cy="283464"/>
          </a:xfrm>
          <a:prstGeom prst="roundRect">
            <a:avLst>
              <a:gd name="adj" fmla="val 50000"/>
            </a:avLst>
          </a:prstGeom>
          <a:solidFill>
            <a:srgbClr val="D082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6446520" y="5020056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Segoe UI" pitchFamily="34" charset="-122"/>
                <a:cs typeface="Calibri" pitchFamily="34" charset="-120"/>
              </a:rPr>
              <a:t>Русский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5385816"/>
            <a:ext cx="50840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b="1" dirty="0">
                <a:latin typeface="Calibri" pitchFamily="34" charset="0"/>
                <a:ea typeface="Segoe UI" pitchFamily="34" charset="-122"/>
                <a:cs typeface="Calibri" pitchFamily="34" charset="-120"/>
              </a:rPr>
              <a:t>Я горжусь тем, что ты мой ребёнок, и благодарю за это.</a:t>
            </a:r>
            <a:endParaRPr lang="en-US" b="1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84632"/>
            <a:ext cx="137160" cy="137160"/>
          </a:xfrm>
          <a:prstGeom prst="ellipse">
            <a:avLst/>
          </a:prstGeom>
          <a:solidFill>
            <a:srgbClr val="D082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082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아이를 귀하게 여기는 부모의 말 10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932688"/>
            <a:ext cx="11274552" cy="1993392"/>
          </a:xfrm>
          <a:prstGeom prst="roundRect">
            <a:avLst>
              <a:gd name="adj" fmla="val 5046"/>
            </a:avLst>
          </a:prstGeom>
          <a:solidFill>
            <a:srgbClr val="FFF5E4"/>
          </a:solidFill>
          <a:ln w="12700">
            <a:solidFill>
              <a:srgbClr val="F3DAA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77240" y="1280160"/>
            <a:ext cx="713232" cy="713232"/>
          </a:xfrm>
          <a:prstGeom prst="ellipse">
            <a:avLst/>
          </a:prstGeom>
          <a:solidFill>
            <a:srgbClr val="D082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777240" y="128016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719072" y="1097280"/>
            <a:ext cx="9692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5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너는 있는 그대로 충분히 소중한 존재야.</a:t>
            </a:r>
            <a:endParaRPr lang="en-US" sz="3500" dirty="0"/>
          </a:p>
        </p:txBody>
      </p:sp>
      <p:sp>
        <p:nvSpPr>
          <p:cNvPr id="8" name="Shape 6"/>
          <p:cNvSpPr/>
          <p:nvPr/>
        </p:nvSpPr>
        <p:spPr>
          <a:xfrm>
            <a:off x="457200" y="3145536"/>
            <a:ext cx="5486400" cy="1554480"/>
          </a:xfrm>
          <a:prstGeom prst="roundRect">
            <a:avLst>
              <a:gd name="adj" fmla="val 647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58368" y="3282696"/>
            <a:ext cx="1024128" cy="283464"/>
          </a:xfrm>
          <a:prstGeom prst="roundRect">
            <a:avLst>
              <a:gd name="adj" fmla="val 50000"/>
            </a:avLst>
          </a:prstGeom>
          <a:solidFill>
            <a:srgbClr val="D082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658368" y="3282696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3648456"/>
            <a:ext cx="50840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You are precious just as you are.</a:t>
            </a:r>
            <a:endParaRPr lang="en-US" b="1" dirty="0"/>
          </a:p>
        </p:txBody>
      </p:sp>
      <p:sp>
        <p:nvSpPr>
          <p:cNvPr id="12" name="Shape 10"/>
          <p:cNvSpPr/>
          <p:nvPr/>
        </p:nvSpPr>
        <p:spPr>
          <a:xfrm>
            <a:off x="6245352" y="3145536"/>
            <a:ext cx="5486400" cy="1554480"/>
          </a:xfrm>
          <a:prstGeom prst="roundRect">
            <a:avLst>
              <a:gd name="adj" fmla="val 647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6446520" y="3282696"/>
            <a:ext cx="1371600" cy="283464"/>
          </a:xfrm>
          <a:prstGeom prst="roundRect">
            <a:avLst>
              <a:gd name="adj" fmla="val 50000"/>
            </a:avLst>
          </a:prstGeom>
          <a:solidFill>
            <a:srgbClr val="D082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6446520" y="3282696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Tiếng Việt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648456"/>
            <a:ext cx="50840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Con luôn vô cùng quý giá, đúng như con vốn có.</a:t>
            </a:r>
            <a:endParaRPr lang="en-US" b="1" dirty="0"/>
          </a:p>
        </p:txBody>
      </p:sp>
      <p:sp>
        <p:nvSpPr>
          <p:cNvPr id="16" name="Shape 14"/>
          <p:cNvSpPr/>
          <p:nvPr/>
        </p:nvSpPr>
        <p:spPr>
          <a:xfrm>
            <a:off x="457200" y="4882896"/>
            <a:ext cx="5486400" cy="1554480"/>
          </a:xfrm>
          <a:prstGeom prst="roundRect">
            <a:avLst>
              <a:gd name="adj" fmla="val 647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58368" y="5020056"/>
            <a:ext cx="1371600" cy="283464"/>
          </a:xfrm>
          <a:prstGeom prst="roundRect">
            <a:avLst>
              <a:gd name="adj" fmla="val 50000"/>
            </a:avLst>
          </a:prstGeom>
          <a:solidFill>
            <a:srgbClr val="D082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658368" y="5020056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ភាសាខ្មែរ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5385816"/>
            <a:ext cx="50840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b="1" dirty="0"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កូនគឺជាមនុស្សដ៏មានតម្លៃ ដូចដែលកូនមានស្រាប់។</a:t>
            </a:r>
            <a:endParaRPr lang="en-US" b="1" dirty="0"/>
          </a:p>
        </p:txBody>
      </p:sp>
      <p:sp>
        <p:nvSpPr>
          <p:cNvPr id="20" name="Shape 18"/>
          <p:cNvSpPr/>
          <p:nvPr/>
        </p:nvSpPr>
        <p:spPr>
          <a:xfrm>
            <a:off x="6245352" y="4882896"/>
            <a:ext cx="5486400" cy="1554480"/>
          </a:xfrm>
          <a:prstGeom prst="roundRect">
            <a:avLst>
              <a:gd name="adj" fmla="val 6471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6446520" y="5020056"/>
            <a:ext cx="1024128" cy="283464"/>
          </a:xfrm>
          <a:prstGeom prst="roundRect">
            <a:avLst>
              <a:gd name="adj" fmla="val 50000"/>
            </a:avLst>
          </a:prstGeom>
          <a:solidFill>
            <a:srgbClr val="D082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6446520" y="5020056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Segoe UI" pitchFamily="34" charset="-122"/>
                <a:cs typeface="Calibri" pitchFamily="34" charset="-120"/>
              </a:rPr>
              <a:t>Русский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5385816"/>
            <a:ext cx="50840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b="1" dirty="0">
                <a:latin typeface="Calibri" pitchFamily="34" charset="0"/>
                <a:ea typeface="Segoe UI" pitchFamily="34" charset="-122"/>
                <a:cs typeface="Calibri" pitchFamily="34" charset="-120"/>
              </a:rPr>
              <a:t>Ты — бесценное сокровище просто потому, что ты есть.</a:t>
            </a:r>
            <a:endParaRPr lang="en-US" b="1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84632"/>
            <a:ext cx="137160" cy="137160"/>
          </a:xfrm>
          <a:prstGeom prst="ellipse">
            <a:avLst/>
          </a:prstGeom>
          <a:solidFill>
            <a:srgbClr val="D082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082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아이를 귀하게 여기는 부모의 말 10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589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 문장 모아 보기 — 오늘 집에서 써 보세요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486400" cy="822960"/>
          </a:xfrm>
          <a:prstGeom prst="roundRect">
            <a:avLst>
              <a:gd name="adj" fmla="val 12222"/>
            </a:avLst>
          </a:prstGeom>
          <a:solidFill>
            <a:srgbClr val="FFF5E4"/>
          </a:solidFill>
          <a:ln w="12700">
            <a:solidFill>
              <a:srgbClr val="F3DAA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621792" y="1929384"/>
            <a:ext cx="438912" cy="438912"/>
          </a:xfrm>
          <a:prstGeom prst="ellipse">
            <a:avLst/>
          </a:prstGeom>
          <a:solidFill>
            <a:srgbClr val="D082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621792" y="19293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70432" y="1792224"/>
            <a:ext cx="4590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네가 와준 건 엄마(아빠)에게 가장 큰 선물이야.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45352" y="1737360"/>
            <a:ext cx="5486400" cy="822960"/>
          </a:xfrm>
          <a:prstGeom prst="roundRect">
            <a:avLst>
              <a:gd name="adj" fmla="val 12222"/>
            </a:avLst>
          </a:prstGeom>
          <a:solidFill>
            <a:srgbClr val="FFF5E4"/>
          </a:solidFill>
          <a:ln w="12700">
            <a:solidFill>
              <a:srgbClr val="F3DAA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409944" y="1929384"/>
            <a:ext cx="438912" cy="438912"/>
          </a:xfrm>
          <a:prstGeom prst="ellipse">
            <a:avLst/>
          </a:prstGeom>
          <a:solidFill>
            <a:srgbClr val="D082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9944" y="19293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958584" y="1792224"/>
            <a:ext cx="4590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널 만난 건 내 인생에서 가장 기쁜 순간이었어.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2679192"/>
            <a:ext cx="5486400" cy="822960"/>
          </a:xfrm>
          <a:prstGeom prst="roundRect">
            <a:avLst>
              <a:gd name="adj" fmla="val 12222"/>
            </a:avLst>
          </a:prstGeom>
          <a:solidFill>
            <a:srgbClr val="FFF5E4"/>
          </a:solidFill>
          <a:ln w="12700">
            <a:solidFill>
              <a:srgbClr val="F3DAA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21792" y="2871216"/>
            <a:ext cx="438912" cy="438912"/>
          </a:xfrm>
          <a:prstGeom prst="ellipse">
            <a:avLst/>
          </a:prstGeom>
          <a:solidFill>
            <a:srgbClr val="D082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621792" y="28712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70432" y="2734056"/>
            <a:ext cx="4590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네가 웃으면 세상도 함께 웃는 것 같아.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45352" y="2679192"/>
            <a:ext cx="5486400" cy="822960"/>
          </a:xfrm>
          <a:prstGeom prst="roundRect">
            <a:avLst>
              <a:gd name="adj" fmla="val 12222"/>
            </a:avLst>
          </a:prstGeom>
          <a:solidFill>
            <a:srgbClr val="FFF5E4"/>
          </a:solidFill>
          <a:ln w="12700">
            <a:solidFill>
              <a:srgbClr val="F3DAA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409944" y="2871216"/>
            <a:ext cx="438912" cy="438912"/>
          </a:xfrm>
          <a:prstGeom prst="ellipse">
            <a:avLst/>
          </a:prstGeom>
          <a:solidFill>
            <a:srgbClr val="D082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6409944" y="28712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958584" y="2734056"/>
            <a:ext cx="4590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너는 그대로도 충분히 빛나는 아이야.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3621024"/>
            <a:ext cx="5486400" cy="822960"/>
          </a:xfrm>
          <a:prstGeom prst="roundRect">
            <a:avLst>
              <a:gd name="adj" fmla="val 12222"/>
            </a:avLst>
          </a:prstGeom>
          <a:solidFill>
            <a:srgbClr val="FFF5E4"/>
          </a:solidFill>
          <a:ln w="12700">
            <a:solidFill>
              <a:srgbClr val="F3DAA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621792" y="3813048"/>
            <a:ext cx="438912" cy="438912"/>
          </a:xfrm>
          <a:prstGeom prst="ellipse">
            <a:avLst/>
          </a:prstGeom>
          <a:solidFill>
            <a:srgbClr val="D082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621792" y="38130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170432" y="3675888"/>
            <a:ext cx="4590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네가 내 곁에 있다는 사실만으로 행복해.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45352" y="3621024"/>
            <a:ext cx="5486400" cy="822960"/>
          </a:xfrm>
          <a:prstGeom prst="roundRect">
            <a:avLst>
              <a:gd name="adj" fmla="val 12222"/>
            </a:avLst>
          </a:prstGeom>
          <a:solidFill>
            <a:srgbClr val="FFF5E4"/>
          </a:solidFill>
          <a:ln w="12700">
            <a:solidFill>
              <a:srgbClr val="F3DAA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6409944" y="3813048"/>
            <a:ext cx="438912" cy="438912"/>
          </a:xfrm>
          <a:prstGeom prst="ellipse">
            <a:avLst/>
          </a:prstGeom>
          <a:solidFill>
            <a:srgbClr val="D082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 txBox="1"/>
          <p:nvPr/>
        </p:nvSpPr>
        <p:spPr>
          <a:xfrm>
            <a:off x="6409944" y="38130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958584" y="3675888"/>
            <a:ext cx="4590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네가 하는 작은 일 하나도 엄마(아빠)에겐 기쁨이야.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57200" y="4562856"/>
            <a:ext cx="5486400" cy="822960"/>
          </a:xfrm>
          <a:prstGeom prst="roundRect">
            <a:avLst>
              <a:gd name="adj" fmla="val 12222"/>
            </a:avLst>
          </a:prstGeom>
          <a:solidFill>
            <a:srgbClr val="FFF5E4"/>
          </a:solidFill>
          <a:ln w="12700">
            <a:solidFill>
              <a:srgbClr val="F3DAA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621792" y="4754880"/>
            <a:ext cx="438912" cy="438912"/>
          </a:xfrm>
          <a:prstGeom prst="ellipse">
            <a:avLst/>
          </a:prstGeom>
          <a:solidFill>
            <a:srgbClr val="D082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621792" y="4754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1170432" y="4617720"/>
            <a:ext cx="4590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네가 오늘도 건강하게 웃어준 것만으로 감사해.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245352" y="4562856"/>
            <a:ext cx="5486400" cy="822960"/>
          </a:xfrm>
          <a:prstGeom prst="roundRect">
            <a:avLst>
              <a:gd name="adj" fmla="val 12222"/>
            </a:avLst>
          </a:prstGeom>
          <a:solidFill>
            <a:srgbClr val="FFF5E4"/>
          </a:solidFill>
          <a:ln w="12700">
            <a:solidFill>
              <a:srgbClr val="F3DAA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6409944" y="4754880"/>
            <a:ext cx="438912" cy="438912"/>
          </a:xfrm>
          <a:prstGeom prst="ellipse">
            <a:avLst/>
          </a:prstGeom>
          <a:solidFill>
            <a:srgbClr val="D082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 txBox="1"/>
          <p:nvPr/>
        </p:nvSpPr>
        <p:spPr>
          <a:xfrm>
            <a:off x="6409944" y="4754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6958584" y="4617720"/>
            <a:ext cx="4590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너와 함께 걷는 길이 내 인생 최고의 여행이야.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57200" y="5504688"/>
            <a:ext cx="5486400" cy="822960"/>
          </a:xfrm>
          <a:prstGeom prst="roundRect">
            <a:avLst>
              <a:gd name="adj" fmla="val 12222"/>
            </a:avLst>
          </a:prstGeom>
          <a:solidFill>
            <a:srgbClr val="FFF5E4"/>
          </a:solidFill>
          <a:ln w="12700">
            <a:solidFill>
              <a:srgbClr val="F3DAA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621792" y="5696712"/>
            <a:ext cx="438912" cy="438912"/>
          </a:xfrm>
          <a:prstGeom prst="ellipse">
            <a:avLst/>
          </a:prstGeom>
          <a:solidFill>
            <a:srgbClr val="D082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 txBox="1"/>
          <p:nvPr/>
        </p:nvSpPr>
        <p:spPr>
          <a:xfrm>
            <a:off x="621792" y="56967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1170432" y="5559552"/>
            <a:ext cx="4590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네가 내 아이인 게 자랑스럽고 또 고마워.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245352" y="5504688"/>
            <a:ext cx="5486400" cy="822960"/>
          </a:xfrm>
          <a:prstGeom prst="roundRect">
            <a:avLst>
              <a:gd name="adj" fmla="val 12222"/>
            </a:avLst>
          </a:prstGeom>
          <a:solidFill>
            <a:srgbClr val="FFF5E4"/>
          </a:solidFill>
          <a:ln w="12700">
            <a:solidFill>
              <a:srgbClr val="F3DAA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6409944" y="5696712"/>
            <a:ext cx="438912" cy="438912"/>
          </a:xfrm>
          <a:prstGeom prst="ellipse">
            <a:avLst/>
          </a:prstGeom>
          <a:solidFill>
            <a:srgbClr val="D082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Text 41"/>
          <p:cNvSpPr txBox="1"/>
          <p:nvPr/>
        </p:nvSpPr>
        <p:spPr>
          <a:xfrm>
            <a:off x="6409944" y="56967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6958584" y="5559552"/>
            <a:ext cx="4590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너는 있는 그대로 충분히 소중한 존재야.</a:t>
            </a:r>
            <a:endParaRPr lang="en-US" sz="1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109728" cy="10972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49808" y="32004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19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아이를 귀하게 여기는 부모의 말 10  ·  열 문장 모아 보기   |   English / 영어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91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Sentences at a Glance — Try Them at Home Today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1672" cy="4572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694944" y="131673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694944" y="1316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1252728"/>
            <a:ext cx="10341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you in my life is the greatest gift.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네가 와준 건 엄마(아빠)에게 가장 큰 선물이야.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48640" y="1764792"/>
            <a:ext cx="11091672" cy="4572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94944" y="1847088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94944" y="1847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1783080"/>
            <a:ext cx="10341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you was the happiest moment of my life.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널 만난 건 내 인생에서 가장 기쁜 순간이었어.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48640" y="2295144"/>
            <a:ext cx="11091672" cy="4572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94944" y="2377440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694944" y="2377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115568" y="2313432"/>
            <a:ext cx="10341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smile, it feels as though the whole world smiles with you.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네가 웃으면 세상도 함께 웃는 것 같아.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48640" y="2825496"/>
            <a:ext cx="11091672" cy="4572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94944" y="2907792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694944" y="2907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115568" y="2843784"/>
            <a:ext cx="10341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shine brightly just as you are.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너는 그대로도 충분히 빛나는 아이야.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48640" y="3355848"/>
            <a:ext cx="11091672" cy="4572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694944" y="3438144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694944" y="3438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115568" y="3374136"/>
            <a:ext cx="10341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knowing that you are by my side makes me happy.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네가 내 곁에 있다는 사실만으로 행복해.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548640" y="3886200"/>
            <a:ext cx="11091672" cy="4572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694944" y="39684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 txBox="1"/>
          <p:nvPr/>
        </p:nvSpPr>
        <p:spPr>
          <a:xfrm>
            <a:off x="694944" y="3968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115568" y="3904488"/>
            <a:ext cx="10341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the smallest thing you do brings me joy.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네가 하는 작은 일 하나도 엄마(아빠)에겐 기쁨이야.</a:t>
            </a: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548640" y="4416552"/>
            <a:ext cx="11091672" cy="4572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694944" y="4498848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694944" y="4498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115568" y="4434840"/>
            <a:ext cx="10341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I’m grateful that you’re healthy and smiling today.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네가 오늘도 건강하게 웃어준 것만으로 감사해.</a:t>
            </a: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548640" y="4946904"/>
            <a:ext cx="11091672" cy="4572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694944" y="5029200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 txBox="1"/>
          <p:nvPr/>
        </p:nvSpPr>
        <p:spPr>
          <a:xfrm>
            <a:off x="694944" y="5029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1115568" y="4965192"/>
            <a:ext cx="10341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through life with you is the best journey of my life.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너와 함께 걷는 길이 내 인생 최고의 여행이야.</a:t>
            </a: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548640" y="5477256"/>
            <a:ext cx="11091672" cy="4572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694944" y="5559552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 txBox="1"/>
          <p:nvPr/>
        </p:nvSpPr>
        <p:spPr>
          <a:xfrm>
            <a:off x="694944" y="5559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1115568" y="5495544"/>
            <a:ext cx="10341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proud and grateful that you are my child.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네가 내 아이인 게 자랑스럽고 또 고마워.</a:t>
            </a: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548640" y="6007608"/>
            <a:ext cx="11091672" cy="4572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694944" y="6089904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Text 41"/>
          <p:cNvSpPr txBox="1"/>
          <p:nvPr/>
        </p:nvSpPr>
        <p:spPr>
          <a:xfrm>
            <a:off x="694944" y="6089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1115568" y="6025896"/>
            <a:ext cx="10341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precious just as you are.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너는 있는 그대로 충분히 소중한 존재야.</a:t>
            </a:r>
            <a:endParaRPr 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109728" cy="10972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49808" y="32004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19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아이를 귀하게 여기는 부모의 말 10  ·  열 문장 모아 보기   |   Tiếng Việt / 베트남어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91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Mười câu nói — Hôm nay hãy thử nói ở nhà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1672" cy="4572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694944" y="131673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694944" y="1316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1252728"/>
            <a:ext cx="10341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đến với mẹ (ba) là món quà lớn nhất.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네가 와준 건 엄마(아빠)에게 가장 큰 선물이야.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48640" y="1764792"/>
            <a:ext cx="11091672" cy="4572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94944" y="1847088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94944" y="1847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1783080"/>
            <a:ext cx="10341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Khoảnh khắc gặp con là khoảnh khắc hạnh phúc nhất trong đời mẹ (ba).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널 만난 건 내 인생에서 가장 기쁜 순간이었어.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48640" y="2295144"/>
            <a:ext cx="11091672" cy="4572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94944" y="2377440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694944" y="2377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115568" y="2313432"/>
            <a:ext cx="10341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con cười, mẹ (ba) cảm thấy như cả thế giới cũng mỉm cười cùng con.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네가 웃으면 세상도 함께 웃는 것 같아.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48640" y="2825496"/>
            <a:ext cx="11091672" cy="4572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94944" y="2907792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694944" y="2907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115568" y="2843784"/>
            <a:ext cx="10341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tỏa sáng rực rỡ khi là chính mình.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너는 그대로도 충분히 빛나는 아이야.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48640" y="3355848"/>
            <a:ext cx="11091672" cy="4572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694944" y="3438144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694944" y="3438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115568" y="3374136"/>
            <a:ext cx="10341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cần biết con ở bên cạnh, mẹ (ba) đã thấy hạnh phúc.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네가 내 곁에 있다는 사실만으로 행복해.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548640" y="3886200"/>
            <a:ext cx="11091672" cy="4572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694944" y="39684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 txBox="1"/>
          <p:nvPr/>
        </p:nvSpPr>
        <p:spPr>
          <a:xfrm>
            <a:off x="694944" y="3968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115568" y="3904488"/>
            <a:ext cx="10341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 là việc nhỏ nhất con làm cũng mang lại niềm vui cho mẹ (ba).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네가 하는 작은 일 하나도 엄마(아빠)에겐 기쁨이야.</a:t>
            </a: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548640" y="4416552"/>
            <a:ext cx="11091672" cy="4572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694944" y="4498848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694944" y="4498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115568" y="4434840"/>
            <a:ext cx="10341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Mẹ (ba) biết ơn chỉ vì hôm nay con vẫn khỏe mạnh và mỉm cười.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네가 오늘도 건강하게 웃어준 것만으로 감사해.</a:t>
            </a: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548640" y="4946904"/>
            <a:ext cx="11091672" cy="4572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694944" y="5029200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 txBox="1"/>
          <p:nvPr/>
        </p:nvSpPr>
        <p:spPr>
          <a:xfrm>
            <a:off x="694944" y="5029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1115568" y="4965192"/>
            <a:ext cx="10341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Được cùng con bước đi là hành trình tuyệt vời nhất trong đời mẹ (ba).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너와 함께 걷는 길이 내 인생 최고의 여행이야.</a:t>
            </a: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548640" y="5477256"/>
            <a:ext cx="11091672" cy="4572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694944" y="5559552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 txBox="1"/>
          <p:nvPr/>
        </p:nvSpPr>
        <p:spPr>
          <a:xfrm>
            <a:off x="694944" y="5559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1115568" y="5495544"/>
            <a:ext cx="10341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Mẹ (ba) tự hào và biết ơn vì con là con của mẹ (ba).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네가 내 아이인 게 자랑스럽고 또 고마워.</a:t>
            </a: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548640" y="6007608"/>
            <a:ext cx="11091672" cy="4572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694944" y="6089904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Text 41"/>
          <p:cNvSpPr txBox="1"/>
          <p:nvPr/>
        </p:nvSpPr>
        <p:spPr>
          <a:xfrm>
            <a:off x="694944" y="6089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1115568" y="6025896"/>
            <a:ext cx="10341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luôn vô cùng quý giá, đúng như con vốn có.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너는 있는 그대로 충분히 소중한 존재야.</a:t>
            </a:r>
            <a:endParaRPr 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109728" cy="10972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49808" y="32004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19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아이를 귀하게 여기는 부모의 말 10  ·  열 문장 모아 보기   |   Khmer / 크메르어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91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B211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ឃ្លាទាំងដប់ — ថ្ងៃនេះសូមសាកល្បងនិយាយនៅផ្ទះ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1672" cy="4572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694944" y="131673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694944" y="1316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1252728"/>
            <a:ext cx="10341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b="1" dirty="0">
                <a:solidFill>
                  <a:srgbClr val="2B211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ការដែលកូនបានមកក្នុងជីវិតម៉ាក់ (ប៉ា) គឺជាអំណោយដ៏ធំបំផុត។</a:t>
            </a:r>
            <a:endParaRPr lang="en-US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네가 와준 건 엄마(아빠)에게 가장 큰 선물이야.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48640" y="1764792"/>
            <a:ext cx="11091672" cy="4572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94944" y="1847088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94944" y="1847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1783080"/>
            <a:ext cx="10341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b="1" dirty="0">
                <a:solidFill>
                  <a:srgbClr val="2B211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ពេលដែលម៉ាក់ (ប៉ា) បានជួបកូន គឺជាពេលវេលាដែលរីករាយបំផុតក្នុងជីវិត។</a:t>
            </a:r>
            <a:endParaRPr lang="en-US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널 만난 건 내 인생에서 가장 기쁜 순간이었어.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48640" y="2295144"/>
            <a:ext cx="11091672" cy="4572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94944" y="2377440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694944" y="2377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115568" y="2313432"/>
            <a:ext cx="10341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b="1" dirty="0">
                <a:solidFill>
                  <a:srgbClr val="2B211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ពេលកូនញញឹម ហាក់ដូចជាពិភពលោកទាំងមូលញញឹមជាមួយកូនដែរ។</a:t>
            </a:r>
            <a:endParaRPr lang="en-US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네가 웃으면 세상도 함께 웃는 것 같아.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48640" y="2825496"/>
            <a:ext cx="11091672" cy="4572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94944" y="2907792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694944" y="2907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115568" y="2843784"/>
            <a:ext cx="10341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b="1" dirty="0">
                <a:solidFill>
                  <a:srgbClr val="2B211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កូនភ្លឺចែងចាំងគ្រប់គ្រាន់ហើយ ដោយគ្រាន់តែជាខ្លួនឯង។</a:t>
            </a:r>
            <a:endParaRPr lang="en-US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너는 그대로도 충분히 빛나는 아이야.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48640" y="3355848"/>
            <a:ext cx="11091672" cy="4572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694944" y="3438144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694944" y="3438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115568" y="3374136"/>
            <a:ext cx="10341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b="1" dirty="0">
                <a:solidFill>
                  <a:srgbClr val="2B211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គ្រាន់តែដឹងថាកូននៅក្បែរ ម៉ាក់ (ប៉ា) ក៏មានសុភមង្គលហើយ។</a:t>
            </a:r>
            <a:endParaRPr lang="en-US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네가 내 곁에 있다는 사실만으로 행복해.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548640" y="3886200"/>
            <a:ext cx="11091672" cy="4572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694944" y="39684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 txBox="1"/>
          <p:nvPr/>
        </p:nvSpPr>
        <p:spPr>
          <a:xfrm>
            <a:off x="694944" y="3968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115568" y="3904488"/>
            <a:ext cx="10341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b="1" dirty="0">
                <a:solidFill>
                  <a:srgbClr val="2B211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សូម្បីតែរឿងតូចបំផុតដែលកូនធ្វើ ក៏នាំក្តីរីករាយដល់ម៉ាក់ (ប៉ា)។</a:t>
            </a:r>
            <a:endParaRPr lang="en-US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네가 하는 작은 일 하나도 엄마(아빠)에겐 기쁨이야.</a:t>
            </a: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548640" y="4416552"/>
            <a:ext cx="11091672" cy="4572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694944" y="4498848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694944" y="4498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115568" y="4434840"/>
            <a:ext cx="10341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b="1" dirty="0">
                <a:solidFill>
                  <a:srgbClr val="2B211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ម៉ាក់ (ប៉ា) អរគុណណាស់ ដែលថ្ងៃនេះកូននៅតែមានសុខភាពល្អ និងញញឹម។</a:t>
            </a:r>
            <a:endParaRPr lang="en-US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네가 오늘도 건강하게 웃어준 것만으로 감사해.</a:t>
            </a: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548640" y="4946904"/>
            <a:ext cx="11091672" cy="4572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694944" y="5029200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 txBox="1"/>
          <p:nvPr/>
        </p:nvSpPr>
        <p:spPr>
          <a:xfrm>
            <a:off x="694944" y="5029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1115568" y="4965192"/>
            <a:ext cx="10341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b="1" dirty="0">
                <a:solidFill>
                  <a:srgbClr val="2B211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ផ្លូវដែលបានដើរជាមួយកូន គឺជាដំណើរដ៏ល្អបំផុតក្នុងជីវិតម៉ាក់ (ប៉ា)។</a:t>
            </a:r>
            <a:endParaRPr lang="en-US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너와 함께 걷는 길이 내 인생 최고의 여행이야.</a:t>
            </a: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548640" y="5477256"/>
            <a:ext cx="11091672" cy="4572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694944" y="5559552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 txBox="1"/>
          <p:nvPr/>
        </p:nvSpPr>
        <p:spPr>
          <a:xfrm>
            <a:off x="694944" y="5559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1115568" y="5495544"/>
            <a:ext cx="10341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b="1" dirty="0">
                <a:solidFill>
                  <a:srgbClr val="2B211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ម៉ាក់ (ប៉ា) មានមោទនភាព និងអរគុណដែលកូនជាកូនរបស់ម៉ាក់ (ប៉ា)។</a:t>
            </a:r>
            <a:endParaRPr lang="en-US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네가 내 아이인 게 자랑스럽고 또 고마워.</a:t>
            </a: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548640" y="6007608"/>
            <a:ext cx="11091672" cy="4572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694944" y="6089904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Text 41"/>
          <p:cNvSpPr txBox="1"/>
          <p:nvPr/>
        </p:nvSpPr>
        <p:spPr>
          <a:xfrm>
            <a:off x="694944" y="6089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1115568" y="6025896"/>
            <a:ext cx="10341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b="1" dirty="0">
                <a:solidFill>
                  <a:srgbClr val="2B211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កូនគឺជាមនុស្សដ៏មានតម្លៃ ដូចដែលកូនមានស្រាប់។</a:t>
            </a:r>
            <a:endParaRPr lang="en-US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너는 있는 그대로 충분히 소중한 존재야.</a:t>
            </a:r>
            <a:endParaRPr 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109728" cy="10972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pPr rtl="0"/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49808" y="32004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0">
              <a:buNone/>
            </a:pPr>
            <a:r>
              <a:rPr lang="en-US" sz="1300" b="1" dirty="0">
                <a:solidFill>
                  <a:srgbClr val="E19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아이를 귀하게 여기는 부모의 말 10  ·  열 문장 모아 보기   |   Русский / 러시아어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91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0">
              <a:buNone/>
            </a:pPr>
            <a:r>
              <a:rPr lang="en-US" sz="2600" b="1" dirty="0">
                <a:solidFill>
                  <a:srgbClr val="2B2118"/>
                </a:solidFill>
                <a:latin typeface="Calibri" pitchFamily="34" charset="0"/>
                <a:ea typeface="Segoe UI" pitchFamily="34" charset="-122"/>
                <a:cs typeface="Calibri" pitchFamily="34" charset="-120"/>
              </a:rPr>
              <a:t>Десять фраз — скажите их сегодня дома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1672" cy="4572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pPr rtl="0"/>
            <a:endParaRPr/>
          </a:p>
        </p:txBody>
      </p:sp>
      <p:sp>
        <p:nvSpPr>
          <p:cNvPr id="6" name="Shape 4"/>
          <p:cNvSpPr/>
          <p:nvPr/>
        </p:nvSpPr>
        <p:spPr>
          <a:xfrm>
            <a:off x="694944" y="131673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pPr rtl="0"/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694944" y="1316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1252728"/>
            <a:ext cx="10341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B2118"/>
                </a:solidFill>
                <a:latin typeface="Calibri" pitchFamily="34" charset="0"/>
                <a:ea typeface="Segoe UI" pitchFamily="34" charset="-122"/>
                <a:cs typeface="Calibri" pitchFamily="34" charset="-120"/>
              </a:rPr>
              <a:t>То, что ты у нас есть, — самый большой подарок для мамы (папы).</a:t>
            </a:r>
            <a:endParaRPr lang="en-US" sz="2000" dirty="0"/>
          </a:p>
          <a:p>
            <a:pPr marL="0" indent="0" algn="l" rt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네가 와준 건 엄마(아빠)에게 가장 큰 선물이야.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1764792"/>
            <a:ext cx="11091672" cy="4572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pPr rtl="0"/>
            <a:endParaRPr/>
          </a:p>
        </p:txBody>
      </p:sp>
      <p:sp>
        <p:nvSpPr>
          <p:cNvPr id="10" name="Shape 8"/>
          <p:cNvSpPr/>
          <p:nvPr/>
        </p:nvSpPr>
        <p:spPr>
          <a:xfrm>
            <a:off x="694944" y="1847088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pPr rtl="0"/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94944" y="1847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1783080"/>
            <a:ext cx="10341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B2118"/>
                </a:solidFill>
                <a:latin typeface="Calibri" pitchFamily="34" charset="0"/>
                <a:ea typeface="Segoe UI" pitchFamily="34" charset="-122"/>
                <a:cs typeface="Calibri" pitchFamily="34" charset="-120"/>
              </a:rPr>
              <a:t>Встреча с тобой — самый счастливый момент в моей жизни.</a:t>
            </a:r>
            <a:endParaRPr lang="en-US" sz="2000" dirty="0"/>
          </a:p>
          <a:p>
            <a:pPr marL="0" indent="0" algn="l" rt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널 만난 건 내 인생에서 가장 기쁜 순간이었어.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2295144"/>
            <a:ext cx="11091672" cy="4572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pPr rtl="0"/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94944" y="2377440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pPr rtl="0"/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694944" y="2377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115568" y="2313432"/>
            <a:ext cx="10341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B2118"/>
                </a:solidFill>
                <a:latin typeface="Calibri" pitchFamily="34" charset="0"/>
                <a:ea typeface="Segoe UI" pitchFamily="34" charset="-122"/>
                <a:cs typeface="Calibri" pitchFamily="34" charset="-120"/>
              </a:rPr>
              <a:t>Когда ты улыбаешься, кажется, что весь мир улыбается вместе с тобой.</a:t>
            </a:r>
            <a:endParaRPr lang="en-US" sz="2000" dirty="0"/>
          </a:p>
          <a:p>
            <a:pPr marL="0" indent="0" algn="l" rt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네가 웃으면 세상도 함께 웃는 것 같아.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48640" y="2825496"/>
            <a:ext cx="11091672" cy="4572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pPr rtl="0"/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94944" y="2907792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pPr rtl="0"/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694944" y="2907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115568" y="2843784"/>
            <a:ext cx="10341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B2118"/>
                </a:solidFill>
                <a:latin typeface="Calibri" pitchFamily="34" charset="0"/>
                <a:ea typeface="Segoe UI" pitchFamily="34" charset="-122"/>
                <a:cs typeface="Calibri" pitchFamily="34" charset="-120"/>
              </a:rPr>
              <a:t>Ты сияешь, просто оставаясь собой.</a:t>
            </a:r>
            <a:endParaRPr lang="en-US" sz="2000" dirty="0"/>
          </a:p>
          <a:p>
            <a:pPr marL="0" indent="0" algn="l" rt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너는 그대로도 충분히 빛나는 아이야.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48640" y="3355848"/>
            <a:ext cx="11091672" cy="4572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pPr rtl="0"/>
            <a:endParaRPr/>
          </a:p>
        </p:txBody>
      </p:sp>
      <p:sp>
        <p:nvSpPr>
          <p:cNvPr id="22" name="Shape 20"/>
          <p:cNvSpPr/>
          <p:nvPr/>
        </p:nvSpPr>
        <p:spPr>
          <a:xfrm>
            <a:off x="694944" y="3438144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pPr rtl="0"/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694944" y="3438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115568" y="3374136"/>
            <a:ext cx="10341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B2118"/>
                </a:solidFill>
                <a:latin typeface="Calibri" pitchFamily="34" charset="0"/>
                <a:ea typeface="Segoe UI" pitchFamily="34" charset="-122"/>
                <a:cs typeface="Calibri" pitchFamily="34" charset="-120"/>
              </a:rPr>
              <a:t>Просто знать, что ты рядом, — уже счастье.</a:t>
            </a:r>
            <a:endParaRPr lang="en-US" sz="2000" dirty="0"/>
          </a:p>
          <a:p>
            <a:pPr marL="0" indent="0" algn="l" rt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네가 내 곁에 있다는 사실만으로 행복해.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548640" y="3886200"/>
            <a:ext cx="11091672" cy="4572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pPr rtl="0"/>
            <a:endParaRPr/>
          </a:p>
        </p:txBody>
      </p:sp>
      <p:sp>
        <p:nvSpPr>
          <p:cNvPr id="26" name="Shape 24"/>
          <p:cNvSpPr/>
          <p:nvPr/>
        </p:nvSpPr>
        <p:spPr>
          <a:xfrm>
            <a:off x="694944" y="39684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pPr rtl="0"/>
            <a:endParaRPr/>
          </a:p>
        </p:txBody>
      </p:sp>
      <p:sp>
        <p:nvSpPr>
          <p:cNvPr id="27" name="Text 25"/>
          <p:cNvSpPr txBox="1"/>
          <p:nvPr/>
        </p:nvSpPr>
        <p:spPr>
          <a:xfrm>
            <a:off x="694944" y="3968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115568" y="3904488"/>
            <a:ext cx="10341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B2118"/>
                </a:solidFill>
                <a:latin typeface="Calibri" pitchFamily="34" charset="0"/>
                <a:ea typeface="Segoe UI" pitchFamily="34" charset="-122"/>
                <a:cs typeface="Calibri" pitchFamily="34" charset="-120"/>
              </a:rPr>
              <a:t>Даже самая маленькая мелочь, которую ты делаешь, радует маму (папу).</a:t>
            </a:r>
            <a:endParaRPr lang="en-US" sz="2000" dirty="0"/>
          </a:p>
          <a:p>
            <a:pPr marL="0" indent="0" algn="l" rt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네가 하는 작은 일 하나도 엄마(아빠)에겐 기쁨이야.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548640" y="4416552"/>
            <a:ext cx="11091672" cy="4572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pPr rtl="0"/>
            <a:endParaRPr/>
          </a:p>
        </p:txBody>
      </p:sp>
      <p:sp>
        <p:nvSpPr>
          <p:cNvPr id="30" name="Shape 28"/>
          <p:cNvSpPr/>
          <p:nvPr/>
        </p:nvSpPr>
        <p:spPr>
          <a:xfrm>
            <a:off x="694944" y="4498848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pPr rtl="0"/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694944" y="4498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115568" y="4434840"/>
            <a:ext cx="10341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B2118"/>
                </a:solidFill>
                <a:latin typeface="Calibri" pitchFamily="34" charset="0"/>
                <a:ea typeface="Segoe UI" pitchFamily="34" charset="-122"/>
                <a:cs typeface="Calibri" pitchFamily="34" charset="-120"/>
              </a:rPr>
              <a:t>Спасибо, что сегодня ты здоров(а) и улыбаешься.</a:t>
            </a:r>
            <a:endParaRPr lang="en-US" sz="2000" dirty="0"/>
          </a:p>
          <a:p>
            <a:pPr marL="0" indent="0" algn="l" rt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네가 오늘도 건강하게 웃어준 것만으로 감사해.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548640" y="4946904"/>
            <a:ext cx="11091672" cy="4572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pPr rtl="0"/>
            <a:endParaRPr/>
          </a:p>
        </p:txBody>
      </p:sp>
      <p:sp>
        <p:nvSpPr>
          <p:cNvPr id="34" name="Shape 32"/>
          <p:cNvSpPr/>
          <p:nvPr/>
        </p:nvSpPr>
        <p:spPr>
          <a:xfrm>
            <a:off x="694944" y="5029200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pPr rtl="0"/>
            <a:endParaRPr/>
          </a:p>
        </p:txBody>
      </p:sp>
      <p:sp>
        <p:nvSpPr>
          <p:cNvPr id="35" name="Text 33"/>
          <p:cNvSpPr txBox="1"/>
          <p:nvPr/>
        </p:nvSpPr>
        <p:spPr>
          <a:xfrm>
            <a:off x="694944" y="5029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1115568" y="4965192"/>
            <a:ext cx="10341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B2118"/>
                </a:solidFill>
                <a:latin typeface="Calibri" pitchFamily="34" charset="0"/>
                <a:ea typeface="Segoe UI" pitchFamily="34" charset="-122"/>
                <a:cs typeface="Calibri" pitchFamily="34" charset="-120"/>
              </a:rPr>
              <a:t>Идти по жизни вместе с тобой — лучшее из моих путешествий.</a:t>
            </a:r>
            <a:endParaRPr lang="en-US" sz="2000" dirty="0"/>
          </a:p>
          <a:p>
            <a:pPr marL="0" indent="0" algn="l" rt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너와 함께 걷는 길이 내 인생 최고의 여행이야.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548640" y="5477256"/>
            <a:ext cx="11091672" cy="4572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pPr rtl="0"/>
            <a:endParaRPr/>
          </a:p>
        </p:txBody>
      </p:sp>
      <p:sp>
        <p:nvSpPr>
          <p:cNvPr id="38" name="Shape 36"/>
          <p:cNvSpPr/>
          <p:nvPr/>
        </p:nvSpPr>
        <p:spPr>
          <a:xfrm>
            <a:off x="694944" y="5559552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pPr rtl="0"/>
            <a:endParaRPr/>
          </a:p>
        </p:txBody>
      </p:sp>
      <p:sp>
        <p:nvSpPr>
          <p:cNvPr id="39" name="Text 37"/>
          <p:cNvSpPr txBox="1"/>
          <p:nvPr/>
        </p:nvSpPr>
        <p:spPr>
          <a:xfrm>
            <a:off x="694944" y="5559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1115568" y="5495544"/>
            <a:ext cx="10341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B2118"/>
                </a:solidFill>
                <a:latin typeface="Calibri" pitchFamily="34" charset="0"/>
                <a:ea typeface="Segoe UI" pitchFamily="34" charset="-122"/>
                <a:cs typeface="Calibri" pitchFamily="34" charset="-120"/>
              </a:rPr>
              <a:t>Я горжусь тем, что ты мой ребёнок, и благодарю за это.</a:t>
            </a:r>
            <a:endParaRPr lang="en-US" sz="2000" dirty="0"/>
          </a:p>
          <a:p>
            <a:pPr marL="0" indent="0" algn="l" rt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네가 내 아이인 게 자랑스럽고 또 고마워.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548640" y="6007608"/>
            <a:ext cx="11091672" cy="4572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pPr rtl="0"/>
            <a:endParaRPr/>
          </a:p>
        </p:txBody>
      </p:sp>
      <p:sp>
        <p:nvSpPr>
          <p:cNvPr id="42" name="Shape 40"/>
          <p:cNvSpPr/>
          <p:nvPr/>
        </p:nvSpPr>
        <p:spPr>
          <a:xfrm>
            <a:off x="694944" y="6089904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pPr rtl="0"/>
            <a:endParaRPr/>
          </a:p>
        </p:txBody>
      </p:sp>
      <p:sp>
        <p:nvSpPr>
          <p:cNvPr id="43" name="Text 41"/>
          <p:cNvSpPr txBox="1"/>
          <p:nvPr/>
        </p:nvSpPr>
        <p:spPr>
          <a:xfrm>
            <a:off x="694944" y="6089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1115568" y="6025896"/>
            <a:ext cx="10341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B2118"/>
                </a:solidFill>
                <a:latin typeface="Calibri" pitchFamily="34" charset="0"/>
                <a:ea typeface="Segoe UI" pitchFamily="34" charset="-122"/>
                <a:cs typeface="Calibri" pitchFamily="34" charset="-120"/>
              </a:rPr>
              <a:t>Ты — бесценное сокровище просто потому, что ты есть.</a:t>
            </a:r>
            <a:endParaRPr lang="en-US" sz="2000" dirty="0"/>
          </a:p>
          <a:p>
            <a:pPr marL="0" indent="0" algn="l" rt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너는 있는 그대로 충분히 소중한 존재야.</a:t>
            </a:r>
            <a:endParaRPr 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7C50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5120640" cy="5120640"/>
          </a:xfrm>
          <a:prstGeom prst="ellipse">
            <a:avLst/>
          </a:prstGeom>
          <a:solidFill>
            <a:srgbClr val="5C36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-1097280" y="4480560"/>
            <a:ext cx="3291840" cy="3291840"/>
          </a:xfrm>
          <a:prstGeom prst="ellipse">
            <a:avLst/>
          </a:prstGeom>
          <a:solidFill>
            <a:srgbClr val="5C36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10058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62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92608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전달법 (I-Message)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79476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Speaking my feelings without blaming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457200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>
                    <a:alpha val="7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한국어</a:t>
            </a:r>
            <a:r>
              <a:rPr lang="en-US" sz="1350" b="1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English  ·  Tiếng Việt  ·  </a:t>
            </a:r>
            <a:r>
              <a:rPr lang="en-US" sz="1350" b="1" dirty="0">
                <a:solidFill>
                  <a:srgbClr val="FFFFFF">
                    <a:alpha val="75000"/>
                  </a:srgbClr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ភាសាខ្មែរ</a:t>
            </a:r>
            <a:r>
              <a:rPr lang="en-US" sz="1350" b="1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r>
              <a:rPr lang="en-US" sz="1350" b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Segoe UI" pitchFamily="34" charset="-122"/>
                <a:cs typeface="Segoe UI" pitchFamily="34" charset="-120"/>
              </a:rPr>
              <a:t>Русский</a:t>
            </a:r>
            <a:endParaRPr lang="en-US" sz="13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84632"/>
            <a:ext cx="137160" cy="137160"/>
          </a:xfrm>
          <a:prstGeom prst="ellipse">
            <a:avLst/>
          </a:prstGeom>
          <a:solidFill>
            <a:srgbClr val="7C50C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C50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나 전달법 (I-Message)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589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전달법이란?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27632"/>
            <a:ext cx="11274552" cy="1280160"/>
          </a:xfrm>
          <a:prstGeom prst="roundRect">
            <a:avLst>
              <a:gd name="adj" fmla="val 7857"/>
            </a:avLst>
          </a:prstGeom>
          <a:solidFill>
            <a:srgbClr val="F3EDFC"/>
          </a:solidFill>
          <a:ln w="12700">
            <a:solidFill>
              <a:srgbClr val="DBCAF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658368" y="1783080"/>
            <a:ext cx="822960" cy="283464"/>
          </a:xfrm>
          <a:prstGeom prst="roundRect">
            <a:avLst>
              <a:gd name="adj" fmla="val 50000"/>
            </a:avLst>
          </a:prstGeom>
          <a:solidFill>
            <a:srgbClr val="7C50C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658368" y="1783080"/>
            <a:ext cx="822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한국어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609344" y="1746504"/>
            <a:ext cx="99212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25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전달법 (I-Message)</a:t>
            </a:r>
            <a:endParaRPr lang="en-US" sz="2500" dirty="0"/>
          </a:p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상대를 비난하지 않고 내 마음을 전하는 말하기 방법</a:t>
            </a:r>
            <a:endParaRPr lang="en-US" sz="2800" b="1" dirty="0"/>
          </a:p>
        </p:txBody>
      </p:sp>
      <p:sp>
        <p:nvSpPr>
          <p:cNvPr id="9" name="Shape 7"/>
          <p:cNvSpPr/>
          <p:nvPr/>
        </p:nvSpPr>
        <p:spPr>
          <a:xfrm>
            <a:off x="457200" y="3035808"/>
            <a:ext cx="5486400" cy="1609344"/>
          </a:xfrm>
          <a:prstGeom prst="roundRect">
            <a:avLst>
              <a:gd name="adj" fmla="val 6250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58368" y="3172968"/>
            <a:ext cx="1024128" cy="283464"/>
          </a:xfrm>
          <a:prstGeom prst="roundRect">
            <a:avLst>
              <a:gd name="adj" fmla="val 50000"/>
            </a:avLst>
          </a:prstGeom>
          <a:solidFill>
            <a:srgbClr val="7C50C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58368" y="3172968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3538728"/>
            <a:ext cx="508406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2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I-Message</a:t>
            </a:r>
            <a:endParaRPr lang="en-US" sz="2400" b="1" dirty="0"/>
          </a:p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Expressing my feelings without blaming others</a:t>
            </a:r>
            <a:endParaRPr lang="en-US" sz="2400" b="1" dirty="0"/>
          </a:p>
        </p:txBody>
      </p:sp>
      <p:sp>
        <p:nvSpPr>
          <p:cNvPr id="13" name="Shape 11"/>
          <p:cNvSpPr/>
          <p:nvPr/>
        </p:nvSpPr>
        <p:spPr>
          <a:xfrm>
            <a:off x="6245352" y="3035808"/>
            <a:ext cx="5486400" cy="1609344"/>
          </a:xfrm>
          <a:prstGeom prst="roundRect">
            <a:avLst>
              <a:gd name="adj" fmla="val 6250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446520" y="3172968"/>
            <a:ext cx="1371600" cy="283464"/>
          </a:xfrm>
          <a:prstGeom prst="roundRect">
            <a:avLst>
              <a:gd name="adj" fmla="val 50000"/>
            </a:avLst>
          </a:prstGeom>
          <a:solidFill>
            <a:srgbClr val="7C50C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6446520" y="3172968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Tiếng Việt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3538728"/>
            <a:ext cx="508406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2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Thông điệp “Tôi”</a:t>
            </a:r>
            <a:endParaRPr lang="en-US" sz="2400" b="1" dirty="0"/>
          </a:p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Bày tỏ cảm xúc mà không đổ lỗi cho người khác</a:t>
            </a:r>
            <a:endParaRPr lang="en-US" sz="2400" b="1" dirty="0"/>
          </a:p>
        </p:txBody>
      </p:sp>
      <p:sp>
        <p:nvSpPr>
          <p:cNvPr id="17" name="Shape 15"/>
          <p:cNvSpPr/>
          <p:nvPr/>
        </p:nvSpPr>
        <p:spPr>
          <a:xfrm>
            <a:off x="457200" y="4828032"/>
            <a:ext cx="5486400" cy="1609344"/>
          </a:xfrm>
          <a:prstGeom prst="roundRect">
            <a:avLst>
              <a:gd name="adj" fmla="val 6250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58368" y="4965192"/>
            <a:ext cx="1371600" cy="283464"/>
          </a:xfrm>
          <a:prstGeom prst="roundRect">
            <a:avLst>
              <a:gd name="adj" fmla="val 50000"/>
            </a:avLst>
          </a:prstGeom>
          <a:solidFill>
            <a:srgbClr val="7C50C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658368" y="4965192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ភាសាខ្មែរ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58368" y="5330952"/>
            <a:ext cx="508406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2000" b="1" dirty="0"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សារ «ខ្ញុំ»</a:t>
            </a:r>
            <a:endParaRPr lang="en-US" sz="2000" b="1" dirty="0"/>
          </a:p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បង្ហាញអារម្មណ៍របស់ខ្ញុំដោយមិនស្តីបន្ទោសអ្នកដទៃ</a:t>
            </a:r>
            <a:endParaRPr lang="en-US" sz="2000" b="1" dirty="0"/>
          </a:p>
        </p:txBody>
      </p:sp>
      <p:sp>
        <p:nvSpPr>
          <p:cNvPr id="21" name="Shape 19"/>
          <p:cNvSpPr/>
          <p:nvPr/>
        </p:nvSpPr>
        <p:spPr>
          <a:xfrm>
            <a:off x="6245352" y="4828032"/>
            <a:ext cx="5486400" cy="1609344"/>
          </a:xfrm>
          <a:prstGeom prst="roundRect">
            <a:avLst>
              <a:gd name="adj" fmla="val 6250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6446520" y="4965192"/>
            <a:ext cx="1024128" cy="283464"/>
          </a:xfrm>
          <a:prstGeom prst="roundRect">
            <a:avLst>
              <a:gd name="adj" fmla="val 50000"/>
            </a:avLst>
          </a:prstGeom>
          <a:solidFill>
            <a:srgbClr val="7C50C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6446520" y="4965192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Segoe UI" pitchFamily="34" charset="-122"/>
                <a:cs typeface="Calibri" pitchFamily="34" charset="-120"/>
              </a:rPr>
              <a:t>Русский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446520" y="5330952"/>
            <a:ext cx="508406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2400" b="1" dirty="0">
                <a:latin typeface="Calibri" pitchFamily="34" charset="0"/>
                <a:ea typeface="Segoe UI" pitchFamily="34" charset="-122"/>
                <a:cs typeface="Calibri" pitchFamily="34" charset="-120"/>
              </a:rPr>
              <a:t>«Я-сообщение»</a:t>
            </a:r>
            <a:endParaRPr lang="en-US" sz="2400" b="1" dirty="0"/>
          </a:p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b="1" dirty="0">
                <a:latin typeface="Calibri" pitchFamily="34" charset="0"/>
                <a:ea typeface="Segoe UI" pitchFamily="34" charset="-122"/>
                <a:cs typeface="Calibri" pitchFamily="34" charset="-120"/>
              </a:rPr>
              <a:t>Способ выразить свои чувства, не обвиняя другого</a:t>
            </a:r>
            <a:endParaRPr lang="en-US" sz="2400" b="1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84632"/>
            <a:ext cx="137160" cy="137160"/>
          </a:xfrm>
          <a:prstGeom prst="ellipse">
            <a:avLst/>
          </a:prstGeom>
          <a:solidFill>
            <a:srgbClr val="7C50C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C50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나 전달법 (I-Message)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589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‘너 전달법’과 ‘나 전달법’의 차이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486400" cy="4617720"/>
          </a:xfrm>
          <a:prstGeom prst="roundRect">
            <a:avLst>
              <a:gd name="adj" fmla="val 2178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713232" y="1920240"/>
            <a:ext cx="475488" cy="475488"/>
          </a:xfrm>
          <a:prstGeom prst="ellipse">
            <a:avLst/>
          </a:prstGeom>
          <a:solidFill>
            <a:srgbClr val="7A738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713232" y="1920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90195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너 전달법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23113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You-Message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2633472"/>
            <a:ext cx="49743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‘너 전달법’은 상대를 비난하거나 평가하여 방어적인 태도와 갈등을 키울 수 있어요.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337560"/>
            <a:ext cx="5248656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“You-messages” can sound blaming or judgmental, making the other person defensive and increasing conflict.</a:t>
            </a:r>
            <a:endParaRPr lang="en-US" sz="1600" b="1" dirty="0"/>
          </a:p>
          <a:p>
            <a:pPr marL="0" indent="0"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“Thông điệp Bạn” có thể mang tính chỉ trích hoặc đánh giá, khiến đối phương phòng thủ và làm xung đột gia tăng.</a:t>
            </a:r>
            <a:endParaRPr lang="en-US" sz="1600" b="1" dirty="0"/>
          </a:p>
          <a:p>
            <a:pPr marL="0" indent="0"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400" b="1" dirty="0"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«សារអ្នក» អាចមានលក្ខណៈស្តីបន្ទោស ឬវាយតម្លៃអ្នកដទៃ ដែលធ្វើឱ្យពួកគេការពារខ្លួន និងបង្កើនជម្លោះ។</a:t>
            </a:r>
            <a:endParaRPr lang="en-US" b="1" dirty="0"/>
          </a:p>
          <a:p>
            <a:pPr marL="0" indent="0"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600" b="1" dirty="0">
                <a:latin typeface="Calibri" pitchFamily="34" charset="0"/>
                <a:ea typeface="Segoe UI" pitchFamily="34" charset="-122"/>
                <a:cs typeface="Calibri" pitchFamily="34" charset="-120"/>
              </a:rPr>
              <a:t>«Ты-сообщение» обвиняет или оценивает собеседника, вызывает защитную реакцию и усиливает конфликт.</a:t>
            </a:r>
            <a:endParaRPr lang="en-US" sz="1600" b="1" dirty="0"/>
          </a:p>
        </p:txBody>
      </p:sp>
      <p:sp>
        <p:nvSpPr>
          <p:cNvPr id="12" name="Shape 10"/>
          <p:cNvSpPr/>
          <p:nvPr/>
        </p:nvSpPr>
        <p:spPr>
          <a:xfrm>
            <a:off x="6245352" y="1691640"/>
            <a:ext cx="5486400" cy="4617720"/>
          </a:xfrm>
          <a:prstGeom prst="roundRect">
            <a:avLst>
              <a:gd name="adj" fmla="val 2178"/>
            </a:avLst>
          </a:prstGeom>
          <a:solidFill>
            <a:srgbClr val="F3EDFC"/>
          </a:solidFill>
          <a:ln w="12700">
            <a:solidFill>
              <a:srgbClr val="DBCAF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6501384" y="1920240"/>
            <a:ext cx="475488" cy="475488"/>
          </a:xfrm>
          <a:prstGeom prst="ellipse">
            <a:avLst/>
          </a:prstGeom>
          <a:solidFill>
            <a:srgbClr val="7C50C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6501384" y="1920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114032" y="190195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전달법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7114032" y="223113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I-Message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01384" y="2633472"/>
            <a:ext cx="49743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‘나 전달법’은 내 감정과 생각을 솔직하게 표현하여 서로 이해하고 좋은 관계를 만드는 데 도움이 돼요.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6382512" y="3337560"/>
            <a:ext cx="5248656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“I-messages” honestly express my feelings and thoughts, helping us understand each other and build better relationships.</a:t>
            </a:r>
            <a:endParaRPr lang="en-US" sz="1600" b="1" dirty="0"/>
          </a:p>
          <a:p>
            <a:pPr marL="0" indent="0"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“Thông điệp Tôi” thể hiện chân thành cảm xúc và suy nghĩ của mình, giúp hai bên thấu hiểu và xây dựng mối quan hệ tốt đẹp.</a:t>
            </a:r>
            <a:endParaRPr lang="en-US" sz="1600" b="1" dirty="0"/>
          </a:p>
          <a:p>
            <a:pPr marL="0" indent="0"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400" b="1" dirty="0"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«សារខ្ញុំ» បង្ហាញអារម្មណ៍ និងគំនិតរបស់ខ្លួនដោយស្មោះត្រង់ ជួយឱ្យយល់គ្នា និងកសាងទំនាក់ទំនងល្អ។</a:t>
            </a:r>
            <a:endParaRPr lang="en-US" b="1" dirty="0"/>
          </a:p>
          <a:p>
            <a:pPr marL="0" indent="0"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600" b="1" dirty="0">
                <a:latin typeface="Calibri" pitchFamily="34" charset="0"/>
                <a:ea typeface="Segoe UI" pitchFamily="34" charset="-122"/>
                <a:cs typeface="Calibri" pitchFamily="34" charset="-120"/>
              </a:rPr>
              <a:t>«Я-сообщение» честно выражает мои чувства и мысли, помогает понять друг друга и строить хорошие отношения.</a:t>
            </a:r>
            <a:endParaRPr lang="en-US" sz="1600" b="1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84632"/>
            <a:ext cx="137160" cy="137160"/>
          </a:xfrm>
          <a:prstGeom prst="ellipse">
            <a:avLst/>
          </a:prstGeom>
          <a:solidFill>
            <a:srgbClr val="7C50C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C50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나 전달법 (I-Message)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589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전달법 3단계 — 상황 · 감정 · 바람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16736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5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가지를 순서대로 이어 말하면 됩니다.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3502152" cy="2880360"/>
          </a:xfrm>
          <a:prstGeom prst="roundRect">
            <a:avLst>
              <a:gd name="adj" fmla="val 3492"/>
            </a:avLst>
          </a:prstGeom>
          <a:solidFill>
            <a:srgbClr val="F3EDFC"/>
          </a:solidFill>
          <a:ln w="12700">
            <a:solidFill>
              <a:srgbClr val="DBCAF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731520" y="2121408"/>
            <a:ext cx="457200" cy="457200"/>
          </a:xfrm>
          <a:prstGeom prst="ellipse">
            <a:avLst/>
          </a:prstGeom>
          <a:solidFill>
            <a:srgbClr val="7C50C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731520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103120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5C36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</a:t>
            </a:r>
            <a:endParaRPr lang="en-US" sz="23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706624"/>
            <a:ext cx="2953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있었던 일을 그대로 말합니다</a:t>
            </a:r>
            <a:endParaRPr lang="en-US" sz="1600" b="1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090672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the situation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3511296"/>
            <a:ext cx="2953512" cy="1097280"/>
          </a:xfrm>
          <a:prstGeom prst="roundRect">
            <a:avLst>
              <a:gd name="adj" fmla="val 9167"/>
            </a:avLst>
          </a:prstGeom>
          <a:solidFill>
            <a:srgbClr val="FFFFFF"/>
          </a:solidFill>
          <a:ln w="12700">
            <a:solidFill>
              <a:srgbClr val="DBCAF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841248" y="3511296"/>
            <a:ext cx="27340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5C36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“네가 약속한 시간보다 늦게 왔을 때”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61104" y="1874520"/>
            <a:ext cx="3502152" cy="2880360"/>
          </a:xfrm>
          <a:prstGeom prst="roundRect">
            <a:avLst>
              <a:gd name="adj" fmla="val 3492"/>
            </a:avLst>
          </a:prstGeom>
          <a:solidFill>
            <a:srgbClr val="F3EDFC"/>
          </a:solidFill>
          <a:ln w="12700">
            <a:solidFill>
              <a:srgbClr val="DBCAF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535424" y="2121408"/>
            <a:ext cx="457200" cy="457200"/>
          </a:xfrm>
          <a:prstGeom prst="ellipse">
            <a:avLst/>
          </a:prstGeom>
          <a:solidFill>
            <a:srgbClr val="7C50C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4535424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129784" y="2103120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5C36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감정</a:t>
            </a:r>
            <a:endParaRPr lang="en-US" sz="2300" dirty="0"/>
          </a:p>
        </p:txBody>
      </p:sp>
      <p:sp>
        <p:nvSpPr>
          <p:cNvPr id="18" name="Text 16"/>
          <p:cNvSpPr txBox="1"/>
          <p:nvPr/>
        </p:nvSpPr>
        <p:spPr>
          <a:xfrm>
            <a:off x="4535424" y="2706624"/>
            <a:ext cx="2953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마음을 말합니다</a:t>
            </a:r>
            <a:endParaRPr lang="en-US" sz="1600" b="1" dirty="0"/>
          </a:p>
        </p:txBody>
      </p:sp>
      <p:sp>
        <p:nvSpPr>
          <p:cNvPr id="19" name="Text 17"/>
          <p:cNvSpPr txBox="1"/>
          <p:nvPr/>
        </p:nvSpPr>
        <p:spPr>
          <a:xfrm>
            <a:off x="4535424" y="3090672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how I feel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35424" y="3511296"/>
            <a:ext cx="2953512" cy="1097280"/>
          </a:xfrm>
          <a:prstGeom prst="roundRect">
            <a:avLst>
              <a:gd name="adj" fmla="val 9167"/>
            </a:avLst>
          </a:prstGeom>
          <a:solidFill>
            <a:srgbClr val="FFFFFF"/>
          </a:solidFill>
          <a:ln w="12700">
            <a:solidFill>
              <a:srgbClr val="DBCAF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4645152" y="3511296"/>
            <a:ext cx="27340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5C36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“엄마는 많이 걱정됐어.”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065008" y="1874520"/>
            <a:ext cx="3502152" cy="2880360"/>
          </a:xfrm>
          <a:prstGeom prst="roundRect">
            <a:avLst>
              <a:gd name="adj" fmla="val 3492"/>
            </a:avLst>
          </a:prstGeom>
          <a:solidFill>
            <a:srgbClr val="F3EDFC"/>
          </a:solidFill>
          <a:ln w="12700">
            <a:solidFill>
              <a:srgbClr val="DBCAF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8339328" y="2121408"/>
            <a:ext cx="457200" cy="457200"/>
          </a:xfrm>
          <a:prstGeom prst="ellipse">
            <a:avLst/>
          </a:prstGeom>
          <a:solidFill>
            <a:srgbClr val="7C50C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 txBox="1"/>
          <p:nvPr/>
        </p:nvSpPr>
        <p:spPr>
          <a:xfrm>
            <a:off x="8339328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933688" y="2103120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5C36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바람</a:t>
            </a:r>
            <a:endParaRPr lang="en-US" sz="2300" dirty="0"/>
          </a:p>
        </p:txBody>
      </p:sp>
      <p:sp>
        <p:nvSpPr>
          <p:cNvPr id="26" name="Text 24"/>
          <p:cNvSpPr txBox="1"/>
          <p:nvPr/>
        </p:nvSpPr>
        <p:spPr>
          <a:xfrm>
            <a:off x="8339328" y="2706624"/>
            <a:ext cx="2953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원하는 것을 말합니다</a:t>
            </a:r>
            <a:endParaRPr lang="en-US" sz="1600" b="1" dirty="0"/>
          </a:p>
        </p:txBody>
      </p:sp>
      <p:sp>
        <p:nvSpPr>
          <p:cNvPr id="27" name="Text 25"/>
          <p:cNvSpPr txBox="1"/>
          <p:nvPr/>
        </p:nvSpPr>
        <p:spPr>
          <a:xfrm>
            <a:off x="8339328" y="3090672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what I hope for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339328" y="3511296"/>
            <a:ext cx="2953512" cy="1097280"/>
          </a:xfrm>
          <a:prstGeom prst="roundRect">
            <a:avLst>
              <a:gd name="adj" fmla="val 9167"/>
            </a:avLst>
          </a:prstGeom>
          <a:solidFill>
            <a:srgbClr val="FFFFFF"/>
          </a:solidFill>
          <a:ln w="12700">
            <a:solidFill>
              <a:srgbClr val="DBCAF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8449056" y="3511296"/>
            <a:ext cx="27340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5C36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“다음엔 늦으면 꼭 연락해 주면 좋겠어.”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57200" y="5029200"/>
            <a:ext cx="11274552" cy="1051560"/>
          </a:xfrm>
          <a:prstGeom prst="roundRect">
            <a:avLst>
              <a:gd name="adj" fmla="val 9565"/>
            </a:avLst>
          </a:prstGeom>
          <a:solidFill>
            <a:srgbClr val="7C50C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822960" y="502920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“네가 늦게 왔을 때 / 엄마는 걱정됐어 / 다음엔 연락해 주면 좋겠어.”</a:t>
            </a:r>
            <a:endParaRPr lang="en-US" sz="2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84632"/>
            <a:ext cx="137160" cy="137160"/>
          </a:xfrm>
          <a:prstGeom prst="ellipse">
            <a:avLst/>
          </a:prstGeom>
          <a:solidFill>
            <a:srgbClr val="7C50C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C50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나 전달법 (I-Message)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768096"/>
            <a:ext cx="566928" cy="566928"/>
          </a:xfrm>
          <a:prstGeom prst="ellipse">
            <a:avLst/>
          </a:prstGeom>
          <a:solidFill>
            <a:srgbClr val="7C50C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457200" y="7680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152144" y="758952"/>
            <a:ext cx="10561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약속 시간에 늦었을 때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5486400" cy="3931920"/>
          </a:xfrm>
          <a:prstGeom prst="roundRect">
            <a:avLst>
              <a:gd name="adj" fmla="val 2558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713232" y="1883664"/>
            <a:ext cx="512064" cy="512064"/>
          </a:xfrm>
          <a:prstGeom prst="ellipse">
            <a:avLst/>
          </a:prstGeom>
          <a:solidFill>
            <a:srgbClr val="7A738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713232" y="18836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883664"/>
            <a:ext cx="4343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E65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말하면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40664" y="2569464"/>
            <a:ext cx="49743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5D56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너는 왜 늦었어?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3429000"/>
            <a:ext cx="497433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Why are you late?</a:t>
            </a:r>
            <a:endParaRPr lang="en-US" b="1" dirty="0"/>
          </a:p>
          <a:p>
            <a:pPr marL="0" indent="0" algn="l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Tại sao con đến muộn?</a:t>
            </a:r>
            <a:endParaRPr lang="en-US" b="1" dirty="0"/>
          </a:p>
          <a:p>
            <a:pPr marL="0" indent="0" algn="l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b="1" dirty="0"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ហេតុអ្វីបានជាកូនមកយឺត?</a:t>
            </a:r>
            <a:endParaRPr lang="en-US" b="1" dirty="0"/>
          </a:p>
          <a:p>
            <a:pPr marL="0" indent="0" algn="l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b="1" dirty="0">
                <a:latin typeface="Calibri" pitchFamily="34" charset="0"/>
                <a:ea typeface="Segoe UI" pitchFamily="34" charset="-122"/>
                <a:cs typeface="Calibri" pitchFamily="34" charset="-120"/>
              </a:rPr>
              <a:t>Почему ты опоздал(а)?</a:t>
            </a:r>
            <a:endParaRPr lang="en-US" b="1" dirty="0"/>
          </a:p>
        </p:txBody>
      </p:sp>
      <p:sp>
        <p:nvSpPr>
          <p:cNvPr id="13" name="Shape 11"/>
          <p:cNvSpPr/>
          <p:nvPr/>
        </p:nvSpPr>
        <p:spPr>
          <a:xfrm>
            <a:off x="6245352" y="1691640"/>
            <a:ext cx="5486400" cy="3931920"/>
          </a:xfrm>
          <a:prstGeom prst="roundRect">
            <a:avLst>
              <a:gd name="adj" fmla="val 2558"/>
            </a:avLst>
          </a:prstGeom>
          <a:solidFill>
            <a:srgbClr val="F3EDFC"/>
          </a:solidFill>
          <a:ln w="12700">
            <a:solidFill>
              <a:srgbClr val="DBCAF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501384" y="1883664"/>
            <a:ext cx="512064" cy="512064"/>
          </a:xfrm>
          <a:prstGeom prst="ellipse">
            <a:avLst/>
          </a:prstGeom>
          <a:solidFill>
            <a:srgbClr val="7C50C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6501384" y="18836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7159752" y="1883664"/>
            <a:ext cx="4343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E65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말해요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528816" y="2487168"/>
            <a:ext cx="49743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5C36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네가 늦게 와서 나는 많이 걱정됐어. 다음엔 꼭 연락해 줘.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501384" y="3611880"/>
            <a:ext cx="497433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13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When you came home late, I was very worried. Next time, please call me.</a:t>
            </a:r>
            <a:endParaRPr lang="en-US" b="1" dirty="0"/>
          </a:p>
          <a:p>
            <a:pPr marL="0" indent="0" algn="l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13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Khi con về muộn, mẹ (ba) đã rất lo. Lần sau con nhớ gọi cho mẹ (ba) nhé.</a:t>
            </a:r>
            <a:endParaRPr lang="en-US" b="1" dirty="0"/>
          </a:p>
          <a:p>
            <a:pPr marL="0" indent="0" algn="l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1300" b="1" dirty="0"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ពេលកូនមកយឺត ម៉ាក់ (ប៉ា) បារម្ភណាស់។ លើកក្រោយ សូមទូរស័ព្ទប្រាប់ម៉ាក់ (ប៉ា) ផង។</a:t>
            </a:r>
            <a:endParaRPr lang="en-US" b="1" dirty="0"/>
          </a:p>
          <a:p>
            <a:pPr marL="0" indent="0" algn="l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1300" b="1" dirty="0">
                <a:latin typeface="Calibri" pitchFamily="34" charset="0"/>
                <a:ea typeface="Segoe UI" pitchFamily="34" charset="-122"/>
                <a:cs typeface="Calibri" pitchFamily="34" charset="-120"/>
              </a:rPr>
              <a:t>Когда ты поздно пришёл (пришла), я очень переживал(а). В следующий раз обязательно позвони мне.</a:t>
            </a:r>
            <a:endParaRPr lang="en-US" b="1" dirty="0"/>
          </a:p>
        </p:txBody>
      </p:sp>
      <p:sp>
        <p:nvSpPr>
          <p:cNvPr id="19" name="Shape 17"/>
          <p:cNvSpPr/>
          <p:nvPr/>
        </p:nvSpPr>
        <p:spPr>
          <a:xfrm>
            <a:off x="457200" y="5760720"/>
            <a:ext cx="11274552" cy="640080"/>
          </a:xfrm>
          <a:prstGeom prst="roundRect">
            <a:avLst>
              <a:gd name="adj" fmla="val 15714"/>
            </a:avLst>
          </a:prstGeom>
          <a:solidFill>
            <a:srgbClr val="7C50C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822960" y="57607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‘너’로 시작하면 아이를 평가하는 말이 되고, ‘나’로 시작하면 내 마음을 설명하는 말이 됩니다.</a:t>
            </a:r>
            <a:endParaRPr lang="en-US" sz="15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84632"/>
            <a:ext cx="137160" cy="137160"/>
          </a:xfrm>
          <a:prstGeom prst="ellipse">
            <a:avLst/>
          </a:prstGeom>
          <a:solidFill>
            <a:srgbClr val="7C50C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C50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나 전달법 (I-Message)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768096"/>
            <a:ext cx="566928" cy="566928"/>
          </a:xfrm>
          <a:prstGeom prst="ellipse">
            <a:avLst/>
          </a:prstGeom>
          <a:solidFill>
            <a:srgbClr val="7C50C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457200" y="7680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152144" y="758952"/>
            <a:ext cx="10561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말을 듣지 않는다고 느낄 때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5486400" cy="3931920"/>
          </a:xfrm>
          <a:prstGeom prst="roundRect">
            <a:avLst>
              <a:gd name="adj" fmla="val 2558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713232" y="1883664"/>
            <a:ext cx="512064" cy="512064"/>
          </a:xfrm>
          <a:prstGeom prst="ellipse">
            <a:avLst/>
          </a:prstGeom>
          <a:solidFill>
            <a:srgbClr val="7A738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713232" y="18836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883664"/>
            <a:ext cx="4343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E65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말하면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2601467"/>
            <a:ext cx="4974336" cy="6400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5D56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너는 내 말을 왜 안 들어?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" y="3502153"/>
            <a:ext cx="51114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Why don’t you listen to me?</a:t>
            </a:r>
            <a:endParaRPr lang="en-US" b="1" dirty="0"/>
          </a:p>
          <a:p>
            <a:pPr marL="0" indent="0" algn="l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Tại sao con không nghe lời mẹ (ba)?</a:t>
            </a:r>
            <a:endParaRPr lang="en-US" b="1" dirty="0"/>
          </a:p>
          <a:p>
            <a:pPr marL="0" indent="0" algn="l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b="1" dirty="0"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ហេតុអ្វីកូនមិនស្តាប់ម៉ាក់ (ប៉ា)?</a:t>
            </a:r>
            <a:endParaRPr lang="en-US" b="1" dirty="0"/>
          </a:p>
          <a:p>
            <a:pPr marL="0" indent="0" algn="l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b="1" dirty="0">
                <a:latin typeface="Calibri" pitchFamily="34" charset="0"/>
                <a:ea typeface="Segoe UI" pitchFamily="34" charset="-122"/>
                <a:cs typeface="Calibri" pitchFamily="34" charset="-120"/>
              </a:rPr>
              <a:t>Почему ты меня не слушаешь?</a:t>
            </a:r>
            <a:endParaRPr lang="en-US" b="1" dirty="0"/>
          </a:p>
        </p:txBody>
      </p:sp>
      <p:sp>
        <p:nvSpPr>
          <p:cNvPr id="13" name="Shape 11"/>
          <p:cNvSpPr/>
          <p:nvPr/>
        </p:nvSpPr>
        <p:spPr>
          <a:xfrm>
            <a:off x="6245352" y="1691640"/>
            <a:ext cx="5486400" cy="3931920"/>
          </a:xfrm>
          <a:prstGeom prst="roundRect">
            <a:avLst>
              <a:gd name="adj" fmla="val 2558"/>
            </a:avLst>
          </a:prstGeom>
          <a:solidFill>
            <a:srgbClr val="F3EDFC"/>
          </a:solidFill>
          <a:ln w="12700">
            <a:solidFill>
              <a:srgbClr val="DBCAF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501384" y="1883664"/>
            <a:ext cx="512064" cy="512064"/>
          </a:xfrm>
          <a:prstGeom prst="ellipse">
            <a:avLst/>
          </a:prstGeom>
          <a:solidFill>
            <a:srgbClr val="7C50C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6501384" y="18836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7159752" y="1883664"/>
            <a:ext cx="4343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E65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말해요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501384" y="2487168"/>
            <a:ext cx="49743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5C36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말할 때 네가 듣지 않으면 나는 속상해. 내 이야기를 들어주면 좋겠어.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528816" y="3611880"/>
            <a:ext cx="51114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13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When you don’t listen while I’m talking, I feel sad. I’d like you to listen to me.</a:t>
            </a:r>
            <a:endParaRPr lang="en-US" b="1" dirty="0"/>
          </a:p>
          <a:p>
            <a:pPr marL="0" indent="0" algn="l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13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Khi mẹ (ba) nói mà con không nghe, mẹ (ba) thấy buồn. Mẹ (ba) mong con lắng nghe.</a:t>
            </a:r>
            <a:endParaRPr lang="en-US" b="1" dirty="0"/>
          </a:p>
          <a:p>
            <a:pPr marL="0" indent="0" algn="l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1300" b="1" dirty="0"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ពេលម៉ាក់ (ប៉ា) និយាយ ហើយកូនមិនស្តាប់ ម៉ាក់ (ប៉ា) ពិបាកចិត្ត។ ម៉ាក់ (ប៉ា) ចង់ឱ្យកូនស្តាប់។</a:t>
            </a:r>
            <a:endParaRPr lang="en-US" b="1" dirty="0"/>
          </a:p>
          <a:p>
            <a:pPr marL="0" indent="0" algn="l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1300" b="1" dirty="0">
                <a:latin typeface="Calibri" pitchFamily="34" charset="0"/>
                <a:ea typeface="Segoe UI" pitchFamily="34" charset="-122"/>
                <a:cs typeface="Calibri" pitchFamily="34" charset="-120"/>
              </a:rPr>
              <a:t>Когда я говорю, а ты не слушаешь, мне грустно. Мне бы хотелось, чтобы ты меня выслушал(а).</a:t>
            </a:r>
            <a:endParaRPr lang="en-US" b="1" dirty="0"/>
          </a:p>
        </p:txBody>
      </p:sp>
      <p:sp>
        <p:nvSpPr>
          <p:cNvPr id="19" name="Shape 17"/>
          <p:cNvSpPr/>
          <p:nvPr/>
        </p:nvSpPr>
        <p:spPr>
          <a:xfrm>
            <a:off x="457200" y="5760720"/>
            <a:ext cx="11274552" cy="640080"/>
          </a:xfrm>
          <a:prstGeom prst="roundRect">
            <a:avLst>
              <a:gd name="adj" fmla="val 15714"/>
            </a:avLst>
          </a:prstGeom>
          <a:solidFill>
            <a:srgbClr val="7C50C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822960" y="57607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‘너’로 시작하면 아이를 평가하는 말이 되고, ‘나’로 시작하면 내 마음을 설명하는 말이 됩니다.</a:t>
            </a:r>
            <a:endParaRPr lang="en-US" sz="15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84632"/>
            <a:ext cx="137160" cy="137160"/>
          </a:xfrm>
          <a:prstGeom prst="ellipse">
            <a:avLst/>
          </a:prstGeom>
          <a:solidFill>
            <a:srgbClr val="7C50C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C50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나 전달법 (I-Message)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768096"/>
            <a:ext cx="566928" cy="566928"/>
          </a:xfrm>
          <a:prstGeom prst="ellipse">
            <a:avLst/>
          </a:prstGeom>
          <a:solidFill>
            <a:srgbClr val="7C50C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457200" y="7680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152144" y="758952"/>
            <a:ext cx="10561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화가 날 때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5486400" cy="3931920"/>
          </a:xfrm>
          <a:prstGeom prst="roundRect">
            <a:avLst>
              <a:gd name="adj" fmla="val 2558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713232" y="1883664"/>
            <a:ext cx="512064" cy="512064"/>
          </a:xfrm>
          <a:prstGeom prst="ellipse">
            <a:avLst/>
          </a:prstGeom>
          <a:solidFill>
            <a:srgbClr val="7A738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713232" y="18836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883664"/>
            <a:ext cx="4343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E65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말하면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2514600"/>
            <a:ext cx="49743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5D56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너 때문에 화났어.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" y="3364992"/>
            <a:ext cx="497433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You made me angry.</a:t>
            </a:r>
            <a:endParaRPr lang="en-US" b="1" dirty="0"/>
          </a:p>
          <a:p>
            <a:pPr marL="0" indent="0" algn="l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Tại con mà mẹ (ba) tức giận đấy.</a:t>
            </a:r>
            <a:endParaRPr lang="en-US" b="1" dirty="0"/>
          </a:p>
          <a:p>
            <a:pPr marL="0" indent="0" algn="l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b="1" dirty="0"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ម៉ាក់ (ប៉ា) ខឹងដោយសារតែកូន។</a:t>
            </a:r>
            <a:endParaRPr lang="en-US" b="1" dirty="0"/>
          </a:p>
          <a:p>
            <a:pPr marL="0" indent="0" algn="l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b="1" dirty="0">
                <a:latin typeface="Calibri" pitchFamily="34" charset="0"/>
                <a:ea typeface="Segoe UI" pitchFamily="34" charset="-122"/>
                <a:cs typeface="Calibri" pitchFamily="34" charset="-120"/>
              </a:rPr>
              <a:t>Ты меня разозлил(а).</a:t>
            </a:r>
            <a:endParaRPr lang="en-US" b="1" dirty="0"/>
          </a:p>
        </p:txBody>
      </p:sp>
      <p:sp>
        <p:nvSpPr>
          <p:cNvPr id="13" name="Shape 11"/>
          <p:cNvSpPr/>
          <p:nvPr/>
        </p:nvSpPr>
        <p:spPr>
          <a:xfrm>
            <a:off x="6245352" y="1691640"/>
            <a:ext cx="5486400" cy="3931920"/>
          </a:xfrm>
          <a:prstGeom prst="roundRect">
            <a:avLst>
              <a:gd name="adj" fmla="val 2558"/>
            </a:avLst>
          </a:prstGeom>
          <a:solidFill>
            <a:srgbClr val="F3EDFC"/>
          </a:solidFill>
          <a:ln w="12700">
            <a:solidFill>
              <a:srgbClr val="DBCAF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501384" y="1883664"/>
            <a:ext cx="512064" cy="512064"/>
          </a:xfrm>
          <a:prstGeom prst="ellipse">
            <a:avLst/>
          </a:prstGeom>
          <a:solidFill>
            <a:srgbClr val="7C50C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6501384" y="18836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7159752" y="1883664"/>
            <a:ext cx="4343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E65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말해요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501384" y="2487168"/>
            <a:ext cx="49743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5C36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네가 약속을 지키지 않으면 나는 속상하고 마음이 힘들어. 약속은 지켜 주면 좋겠어.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528816" y="3611880"/>
            <a:ext cx="497433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13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When you don’t keep your promise, I feel hurt and upset. I’d like you to keep your promises.</a:t>
            </a:r>
            <a:endParaRPr lang="en-US" b="1" dirty="0"/>
          </a:p>
          <a:p>
            <a:pPr marL="0" indent="0" algn="l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13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Khi con không giữ lời hứa, mẹ (ba) thấy tổn thương và buồn. Mẹ (ba) mong con giữ lời hứa.</a:t>
            </a:r>
            <a:endParaRPr lang="en-US" b="1" dirty="0"/>
          </a:p>
          <a:p>
            <a:pPr marL="0" indent="0" algn="l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1300" b="1" dirty="0"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ពេលកូនមិនរក្សាការសន្យា ម៉ាក់ (ប៉ា) ឈឺចិត្ត និងពិបាកចិត្ត។ ម៉ាក់ (ប៉ា) ចង់ឱ្យកូនរក្សាការសន្យា។</a:t>
            </a:r>
            <a:endParaRPr lang="en-US" b="1" dirty="0"/>
          </a:p>
          <a:p>
            <a:pPr marL="0" indent="0" algn="l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1300" b="1" dirty="0">
                <a:latin typeface="Calibri" pitchFamily="34" charset="0"/>
                <a:ea typeface="Segoe UI" pitchFamily="34" charset="-122"/>
                <a:cs typeface="Calibri" pitchFamily="34" charset="-120"/>
              </a:rPr>
              <a:t>Когда ты не держишь обещание, мне обидно и тяжело на душе. Мне бы хотелось, чтобы ты выполнял(а) обещания.</a:t>
            </a:r>
            <a:endParaRPr lang="en-US" b="1" dirty="0"/>
          </a:p>
        </p:txBody>
      </p:sp>
      <p:sp>
        <p:nvSpPr>
          <p:cNvPr id="19" name="Shape 17"/>
          <p:cNvSpPr/>
          <p:nvPr/>
        </p:nvSpPr>
        <p:spPr>
          <a:xfrm>
            <a:off x="457200" y="5760720"/>
            <a:ext cx="11274552" cy="640080"/>
          </a:xfrm>
          <a:prstGeom prst="roundRect">
            <a:avLst>
              <a:gd name="adj" fmla="val 15714"/>
            </a:avLst>
          </a:prstGeom>
          <a:solidFill>
            <a:srgbClr val="7C50C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822960" y="57607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‘너’로 시작하면 아이를 평가하는 말이 되고, ‘나’로 시작하면 내 마음을 설명하는 말이 됩니다.</a:t>
            </a:r>
            <a:endParaRPr lang="en-US" sz="15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84632"/>
            <a:ext cx="137160" cy="137160"/>
          </a:xfrm>
          <a:prstGeom prst="ellipse">
            <a:avLst/>
          </a:prstGeom>
          <a:solidFill>
            <a:srgbClr val="7C50C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C50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나 전달법 (I-Message)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768096"/>
            <a:ext cx="566928" cy="566928"/>
          </a:xfrm>
          <a:prstGeom prst="ellipse">
            <a:avLst/>
          </a:prstGeom>
          <a:solidFill>
            <a:srgbClr val="7C50C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457200" y="7680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152144" y="758952"/>
            <a:ext cx="10561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아이가 떠들 때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5486400" cy="3931920"/>
          </a:xfrm>
          <a:prstGeom prst="roundRect">
            <a:avLst>
              <a:gd name="adj" fmla="val 2558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713232" y="1883664"/>
            <a:ext cx="512064" cy="512064"/>
          </a:xfrm>
          <a:prstGeom prst="ellipse">
            <a:avLst/>
          </a:prstGeom>
          <a:solidFill>
            <a:srgbClr val="7A738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713232" y="18836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883664"/>
            <a:ext cx="4343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E65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말하면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2514600"/>
            <a:ext cx="49743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5D56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너는 너무 시끄러워.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813816" y="3346704"/>
            <a:ext cx="497433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2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You are too noisy.</a:t>
            </a:r>
            <a:endParaRPr lang="en-US" sz="2000" b="1" dirty="0"/>
          </a:p>
          <a:p>
            <a:pPr marL="0" indent="0" algn="l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2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Con ồn ào quá.</a:t>
            </a:r>
            <a:endParaRPr lang="en-US" sz="2000" b="1" dirty="0"/>
          </a:p>
          <a:p>
            <a:pPr marL="0" indent="0" algn="l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b="1" dirty="0"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កូនធ្វើសំឡេងខ្លាំងពេកហើយ។</a:t>
            </a:r>
            <a:endParaRPr lang="en-US" sz="2000" b="1" dirty="0"/>
          </a:p>
          <a:p>
            <a:pPr marL="0" indent="0" algn="l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2000" b="1" dirty="0">
                <a:latin typeface="Calibri" pitchFamily="34" charset="0"/>
                <a:ea typeface="Segoe UI" pitchFamily="34" charset="-122"/>
                <a:cs typeface="Calibri" pitchFamily="34" charset="-120"/>
              </a:rPr>
              <a:t>Ты слишком шумишь.</a:t>
            </a:r>
            <a:endParaRPr lang="en-US" sz="2000" b="1" dirty="0"/>
          </a:p>
        </p:txBody>
      </p:sp>
      <p:sp>
        <p:nvSpPr>
          <p:cNvPr id="13" name="Shape 11"/>
          <p:cNvSpPr/>
          <p:nvPr/>
        </p:nvSpPr>
        <p:spPr>
          <a:xfrm>
            <a:off x="6245352" y="1691640"/>
            <a:ext cx="5486400" cy="3931920"/>
          </a:xfrm>
          <a:prstGeom prst="roundRect">
            <a:avLst>
              <a:gd name="adj" fmla="val 2558"/>
            </a:avLst>
          </a:prstGeom>
          <a:solidFill>
            <a:srgbClr val="F3EDFC"/>
          </a:solidFill>
          <a:ln w="12700">
            <a:solidFill>
              <a:srgbClr val="DBCAF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501384" y="1883664"/>
            <a:ext cx="512064" cy="512064"/>
          </a:xfrm>
          <a:prstGeom prst="ellipse">
            <a:avLst/>
          </a:prstGeom>
          <a:solidFill>
            <a:srgbClr val="7C50C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6501384" y="18836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7159752" y="1883664"/>
            <a:ext cx="4343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E65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말해요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501384" y="2487168"/>
            <a:ext cx="49743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5C36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네가 크게 떠들면 나는 힘들어. 조금만 조용히 해 주면 좋겠어.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601968" y="3611880"/>
            <a:ext cx="497433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13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When you are very loud, it is hard for me. I’d like it to be a little quieter.</a:t>
            </a:r>
            <a:endParaRPr lang="en-US" sz="2000" b="1" dirty="0"/>
          </a:p>
          <a:p>
            <a:pPr marL="0" indent="0" algn="l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13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Khi con ồn ào quá, mẹ (ba) thấy mệt. Mẹ (ba) mong con yên tĩnh hơn một chút.</a:t>
            </a:r>
            <a:endParaRPr lang="en-US" sz="2000" b="1" dirty="0"/>
          </a:p>
          <a:p>
            <a:pPr marL="0" indent="0" algn="l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1300" b="1" dirty="0"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ពេលកូនធ្វើសំឡេងខ្លាំងពេក ម៉ាក់ (ប៉ា) ពិបាក។ ម៉ាក់ (ប៉ា) ចង់ឱ្យស្ងាត់បន្តិច។</a:t>
            </a:r>
            <a:endParaRPr lang="en-US" sz="2000" b="1" dirty="0"/>
          </a:p>
          <a:p>
            <a:pPr marL="0" indent="0" algn="l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1300" b="1" dirty="0">
                <a:latin typeface="Calibri" pitchFamily="34" charset="0"/>
                <a:ea typeface="Segoe UI" pitchFamily="34" charset="-122"/>
                <a:cs typeface="Calibri" pitchFamily="34" charset="-120"/>
              </a:rPr>
              <a:t>Когда ты сильно шумишь, мне тяжело. Мне бы хотелось, чтобы было немного тише.</a:t>
            </a:r>
            <a:endParaRPr lang="en-US" sz="2000" b="1" dirty="0"/>
          </a:p>
        </p:txBody>
      </p:sp>
      <p:sp>
        <p:nvSpPr>
          <p:cNvPr id="19" name="Shape 17"/>
          <p:cNvSpPr/>
          <p:nvPr/>
        </p:nvSpPr>
        <p:spPr>
          <a:xfrm>
            <a:off x="457200" y="5760720"/>
            <a:ext cx="11274552" cy="640080"/>
          </a:xfrm>
          <a:prstGeom prst="roundRect">
            <a:avLst>
              <a:gd name="adj" fmla="val 15714"/>
            </a:avLst>
          </a:prstGeom>
          <a:solidFill>
            <a:srgbClr val="7C50C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822960" y="57607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‘너’로 시작하면 아이를 평가하는 말이 되고, ‘나’로 시작하면 내 마음을 설명하는 말이 됩니다.</a:t>
            </a:r>
            <a:endParaRPr lang="en-US" sz="15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84632"/>
            <a:ext cx="137160" cy="137160"/>
          </a:xfrm>
          <a:prstGeom prst="ellipse">
            <a:avLst/>
          </a:prstGeom>
          <a:solidFill>
            <a:srgbClr val="7C50C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C50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나 전달법 (I-Message)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589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연습 — 한 문장 바꾸기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16736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5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요즘 아이에게 자주 하는 말 한 가지를 떠올려 보세요.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5486400" cy="3931920"/>
          </a:xfrm>
          <a:prstGeom prst="roundRect">
            <a:avLst>
              <a:gd name="adj" fmla="val 2558"/>
            </a:avLst>
          </a:prstGeom>
          <a:solidFill>
            <a:srgbClr val="F5F4F8"/>
          </a:solidFill>
          <a:ln w="12700">
            <a:solidFill>
              <a:srgbClr val="E4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713232" y="2084832"/>
            <a:ext cx="4974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E65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자주 하는 말 (너 전달법)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13232" y="2880360"/>
            <a:ext cx="4974336" cy="0"/>
          </a:xfrm>
          <a:prstGeom prst="line">
            <a:avLst/>
          </a:prstGeom>
          <a:noFill/>
          <a:ln w="12700">
            <a:solidFill>
              <a:srgbClr val="BDB7C7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713232" y="3566160"/>
            <a:ext cx="4974336" cy="0"/>
          </a:xfrm>
          <a:prstGeom prst="line">
            <a:avLst/>
          </a:prstGeom>
          <a:noFill/>
          <a:ln w="12700">
            <a:solidFill>
              <a:srgbClr val="BDB7C7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13232" y="4251960"/>
            <a:ext cx="4974336" cy="0"/>
          </a:xfrm>
          <a:prstGeom prst="line">
            <a:avLst/>
          </a:prstGeom>
          <a:noFill/>
          <a:ln w="12700">
            <a:solidFill>
              <a:srgbClr val="BDB7C7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6245352" y="1874520"/>
            <a:ext cx="5486400" cy="3931920"/>
          </a:xfrm>
          <a:prstGeom prst="roundRect">
            <a:avLst>
              <a:gd name="adj" fmla="val 2558"/>
            </a:avLst>
          </a:prstGeom>
          <a:solidFill>
            <a:srgbClr val="F3EDFC"/>
          </a:solidFill>
          <a:ln w="12700">
            <a:solidFill>
              <a:srgbClr val="DBCAF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501384" y="2084832"/>
            <a:ext cx="4974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C36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바꾸어 볼 말 (나 전달법)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501384" y="2880360"/>
            <a:ext cx="4974336" cy="0"/>
          </a:xfrm>
          <a:prstGeom prst="line">
            <a:avLst/>
          </a:prstGeom>
          <a:noFill/>
          <a:ln w="12700">
            <a:solidFill>
              <a:srgbClr val="C4B2E5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501384" y="3566160"/>
            <a:ext cx="4974336" cy="0"/>
          </a:xfrm>
          <a:prstGeom prst="line">
            <a:avLst/>
          </a:prstGeom>
          <a:noFill/>
          <a:ln w="12700">
            <a:solidFill>
              <a:srgbClr val="C4B2E5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6501384" y="4251960"/>
            <a:ext cx="4974336" cy="0"/>
          </a:xfrm>
          <a:prstGeom prst="line">
            <a:avLst/>
          </a:prstGeom>
          <a:noFill/>
          <a:ln w="12700">
            <a:solidFill>
              <a:srgbClr val="C4B2E5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6501384" y="5029200"/>
            <a:ext cx="4974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5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 → 감정 → 바람 순서로 이어서 적어 보세요.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6035040"/>
            <a:ext cx="11274552" cy="502920"/>
          </a:xfrm>
          <a:prstGeom prst="roundRect">
            <a:avLst>
              <a:gd name="adj" fmla="val 20000"/>
            </a:avLst>
          </a:prstGeom>
          <a:solidFill>
            <a:srgbClr val="7C50C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822960" y="60350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짝과 함께 소리 내어 말해 보고, 오늘 저녁 집에서 한 번 사용해 보세요.</a:t>
            </a:r>
            <a:endParaRPr lang="en-US" sz="15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3F9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5120640" cy="5120640"/>
          </a:xfrm>
          <a:prstGeom prst="ellipse">
            <a:avLst/>
          </a:prstGeom>
          <a:solidFill>
            <a:srgbClr val="2E70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-1097280" y="4480560"/>
            <a:ext cx="3291840" cy="3291840"/>
          </a:xfrm>
          <a:prstGeom prst="ellipse">
            <a:avLst/>
          </a:prstGeom>
          <a:solidFill>
            <a:srgbClr val="2E70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10058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62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92608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문화는 나의 힘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79476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cultures, my strength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457200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>
                    <a:alpha val="7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한국어</a:t>
            </a:r>
            <a:r>
              <a:rPr lang="en-US" sz="1350" b="1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English  ·  Tiếng Việt  ·  </a:t>
            </a:r>
            <a:r>
              <a:rPr lang="en-US" sz="1350" b="1" dirty="0">
                <a:solidFill>
                  <a:srgbClr val="FFFFFF">
                    <a:alpha val="75000"/>
                  </a:srgbClr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ភាសាខ្មែរ</a:t>
            </a:r>
            <a:r>
              <a:rPr lang="en-US" sz="1350" b="1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r>
              <a:rPr lang="en-US" sz="1350" b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Segoe UI" pitchFamily="34" charset="-122"/>
                <a:cs typeface="Segoe UI" pitchFamily="34" charset="-120"/>
              </a:rPr>
              <a:t>Русский</a:t>
            </a:r>
            <a:endParaRPr lang="en-US" sz="13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429768"/>
            <a:ext cx="109728" cy="10972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3"/>
          <p:cNvSpPr txBox="1"/>
          <p:nvPr/>
        </p:nvSpPr>
        <p:spPr>
          <a:xfrm>
            <a:off x="749808" y="32004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19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두 문화는 나의 힘  ·  다문화 부모 일곱 가지 다짐   |   한국어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48640" y="658368"/>
            <a:ext cx="11091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다문화 부모 일곱 가지 다짐</a:t>
            </a:r>
          </a:p>
        </p:txBody>
      </p:sp>
      <p:sp>
        <p:nvSpPr>
          <p:cNvPr id="5" name="Shape 5"/>
          <p:cNvSpPr/>
          <p:nvPr/>
        </p:nvSpPr>
        <p:spPr>
          <a:xfrm>
            <a:off x="548640" y="1240000"/>
            <a:ext cx="11091672" cy="6200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6"/>
          <p:cNvSpPr/>
          <p:nvPr/>
        </p:nvSpPr>
        <p:spPr>
          <a:xfrm>
            <a:off x="694944" y="14036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7"/>
          <p:cNvSpPr txBox="1"/>
          <p:nvPr/>
        </p:nvSpPr>
        <p:spPr>
          <a:xfrm>
            <a:off x="694944" y="1403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115568" y="1280000"/>
            <a:ext cx="10341864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아이에게 엄마 나라와 아빠 나라를 모두 소중히 여기도록 가르치겠습니다.</a:t>
            </a:r>
          </a:p>
        </p:txBody>
      </p:sp>
      <p:sp>
        <p:nvSpPr>
          <p:cNvPr id="9" name="Shape 9"/>
          <p:cNvSpPr/>
          <p:nvPr/>
        </p:nvSpPr>
        <p:spPr>
          <a:xfrm>
            <a:off x="548640" y="1940000"/>
            <a:ext cx="11091672" cy="6200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10"/>
          <p:cNvSpPr/>
          <p:nvPr/>
        </p:nvSpPr>
        <p:spPr>
          <a:xfrm>
            <a:off x="694944" y="21036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11"/>
          <p:cNvSpPr txBox="1"/>
          <p:nvPr/>
        </p:nvSpPr>
        <p:spPr>
          <a:xfrm>
            <a:off x="694944" y="2103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115568" y="1980000"/>
            <a:ext cx="10341864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아이가 두 나라 말을 즐겁게 배우도록 돕겠습니다.</a:t>
            </a:r>
          </a:p>
        </p:txBody>
      </p:sp>
      <p:sp>
        <p:nvSpPr>
          <p:cNvPr id="13" name="Shape 13"/>
          <p:cNvSpPr/>
          <p:nvPr/>
        </p:nvSpPr>
        <p:spPr>
          <a:xfrm>
            <a:off x="548640" y="2640000"/>
            <a:ext cx="11091672" cy="6200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4"/>
          <p:cNvSpPr/>
          <p:nvPr/>
        </p:nvSpPr>
        <p:spPr>
          <a:xfrm>
            <a:off x="694944" y="28036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5"/>
          <p:cNvSpPr txBox="1"/>
          <p:nvPr/>
        </p:nvSpPr>
        <p:spPr>
          <a:xfrm>
            <a:off x="694944" y="2803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1115568" y="2680000"/>
            <a:ext cx="10341864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아이를 있는 모습 그대로 사랑하겠습니다.</a:t>
            </a:r>
          </a:p>
        </p:txBody>
      </p:sp>
      <p:sp>
        <p:nvSpPr>
          <p:cNvPr id="17" name="Shape 17"/>
          <p:cNvSpPr/>
          <p:nvPr/>
        </p:nvSpPr>
        <p:spPr>
          <a:xfrm>
            <a:off x="548640" y="3340000"/>
            <a:ext cx="11091672" cy="6200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8"/>
          <p:cNvSpPr/>
          <p:nvPr/>
        </p:nvSpPr>
        <p:spPr>
          <a:xfrm>
            <a:off x="694944" y="35036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9"/>
          <p:cNvSpPr txBox="1"/>
          <p:nvPr/>
        </p:nvSpPr>
        <p:spPr>
          <a:xfrm>
            <a:off x="694944" y="3503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1115568" y="3380000"/>
            <a:ext cx="10341864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아이가 힘들 때 언제나 함께하겠습니다.</a:t>
            </a:r>
          </a:p>
        </p:txBody>
      </p:sp>
      <p:sp>
        <p:nvSpPr>
          <p:cNvPr id="21" name="Shape 21"/>
          <p:cNvSpPr/>
          <p:nvPr/>
        </p:nvSpPr>
        <p:spPr>
          <a:xfrm>
            <a:off x="548640" y="4040000"/>
            <a:ext cx="11091672" cy="6200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2"/>
          <p:cNvSpPr/>
          <p:nvPr/>
        </p:nvSpPr>
        <p:spPr>
          <a:xfrm>
            <a:off x="694944" y="42036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3"/>
          <p:cNvSpPr txBox="1"/>
          <p:nvPr/>
        </p:nvSpPr>
        <p:spPr>
          <a:xfrm>
            <a:off x="694944" y="4203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1115568" y="4080000"/>
            <a:ext cx="10341864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아이의 이야기를 끝까지 잘 들어주겠습니다.</a:t>
            </a:r>
          </a:p>
        </p:txBody>
      </p:sp>
      <p:sp>
        <p:nvSpPr>
          <p:cNvPr id="25" name="Shape 25"/>
          <p:cNvSpPr/>
          <p:nvPr/>
        </p:nvSpPr>
        <p:spPr>
          <a:xfrm>
            <a:off x="548640" y="4740000"/>
            <a:ext cx="11091672" cy="6200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6"/>
          <p:cNvSpPr/>
          <p:nvPr/>
        </p:nvSpPr>
        <p:spPr>
          <a:xfrm>
            <a:off x="694944" y="49036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7"/>
          <p:cNvSpPr txBox="1"/>
          <p:nvPr/>
        </p:nvSpPr>
        <p:spPr>
          <a:xfrm>
            <a:off x="694944" y="4903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1115568" y="4780000"/>
            <a:ext cx="10341864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서로 다른 문화를 존중하는 모습을 먼저 보여주겠습니다.</a:t>
            </a:r>
          </a:p>
        </p:txBody>
      </p:sp>
      <p:sp>
        <p:nvSpPr>
          <p:cNvPr id="29" name="Shape 29"/>
          <p:cNvSpPr/>
          <p:nvPr/>
        </p:nvSpPr>
        <p:spPr>
          <a:xfrm>
            <a:off x="548640" y="5440000"/>
            <a:ext cx="11091672" cy="6200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30"/>
          <p:cNvSpPr/>
          <p:nvPr/>
        </p:nvSpPr>
        <p:spPr>
          <a:xfrm>
            <a:off x="694944" y="56036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31"/>
          <p:cNvSpPr txBox="1"/>
          <p:nvPr/>
        </p:nvSpPr>
        <p:spPr>
          <a:xfrm>
            <a:off x="694944" y="5603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1115568" y="5480000"/>
            <a:ext cx="10341864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우리 아이가 두 나라를 이어주는 멋진 사람으로 자랄 것을 믿고 응원하겠습니다.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429768"/>
            <a:ext cx="109728" cy="10972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3"/>
          <p:cNvSpPr txBox="1"/>
          <p:nvPr/>
        </p:nvSpPr>
        <p:spPr>
          <a:xfrm>
            <a:off x="749808" y="32004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19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두 문화는 나의 힘  ·  다문화 부모 일곱 가지 다짐   |   English / 영어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48640" y="658368"/>
            <a:ext cx="11091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Seven Promises as Multicultural Parents</a:t>
            </a:r>
          </a:p>
        </p:txBody>
      </p:sp>
      <p:sp>
        <p:nvSpPr>
          <p:cNvPr id="5" name="Shape 5"/>
          <p:cNvSpPr/>
          <p:nvPr/>
        </p:nvSpPr>
        <p:spPr>
          <a:xfrm>
            <a:off x="548640" y="1240000"/>
            <a:ext cx="11091672" cy="6200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6"/>
          <p:cNvSpPr/>
          <p:nvPr/>
        </p:nvSpPr>
        <p:spPr>
          <a:xfrm>
            <a:off x="694944" y="14036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7"/>
          <p:cNvSpPr txBox="1"/>
          <p:nvPr/>
        </p:nvSpPr>
        <p:spPr>
          <a:xfrm>
            <a:off x="694944" y="1403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115568" y="1280000"/>
            <a:ext cx="10341864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teach my child to value both their mother’s country and their father’s country.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아이에게 엄마 나라와 아빠 나라를 모두 소중히 여기도록 가르치겠습니다.</a:t>
            </a:r>
          </a:p>
        </p:txBody>
      </p:sp>
      <p:sp>
        <p:nvSpPr>
          <p:cNvPr id="9" name="Shape 9"/>
          <p:cNvSpPr/>
          <p:nvPr/>
        </p:nvSpPr>
        <p:spPr>
          <a:xfrm>
            <a:off x="548640" y="1940000"/>
            <a:ext cx="11091672" cy="6200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10"/>
          <p:cNvSpPr/>
          <p:nvPr/>
        </p:nvSpPr>
        <p:spPr>
          <a:xfrm>
            <a:off x="694944" y="21036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11"/>
          <p:cNvSpPr txBox="1"/>
          <p:nvPr/>
        </p:nvSpPr>
        <p:spPr>
          <a:xfrm>
            <a:off x="694944" y="2103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115568" y="1980000"/>
            <a:ext cx="10341864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help my child enjoy learning both languages.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아이가 두 나라 말을 즐겁게 배우도록 돕겠습니다.</a:t>
            </a:r>
          </a:p>
        </p:txBody>
      </p:sp>
      <p:sp>
        <p:nvSpPr>
          <p:cNvPr id="13" name="Shape 13"/>
          <p:cNvSpPr/>
          <p:nvPr/>
        </p:nvSpPr>
        <p:spPr>
          <a:xfrm>
            <a:off x="548640" y="2640000"/>
            <a:ext cx="11091672" cy="6200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4"/>
          <p:cNvSpPr/>
          <p:nvPr/>
        </p:nvSpPr>
        <p:spPr>
          <a:xfrm>
            <a:off x="694944" y="28036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5"/>
          <p:cNvSpPr txBox="1"/>
          <p:nvPr/>
        </p:nvSpPr>
        <p:spPr>
          <a:xfrm>
            <a:off x="694944" y="2803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1115568" y="2680000"/>
            <a:ext cx="10341864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love my child just as they are.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아이를 있는 모습 그대로 사랑하겠습니다.</a:t>
            </a:r>
          </a:p>
        </p:txBody>
      </p:sp>
      <p:sp>
        <p:nvSpPr>
          <p:cNvPr id="17" name="Shape 17"/>
          <p:cNvSpPr/>
          <p:nvPr/>
        </p:nvSpPr>
        <p:spPr>
          <a:xfrm>
            <a:off x="548640" y="3340000"/>
            <a:ext cx="11091672" cy="6200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8"/>
          <p:cNvSpPr/>
          <p:nvPr/>
        </p:nvSpPr>
        <p:spPr>
          <a:xfrm>
            <a:off x="694944" y="35036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9"/>
          <p:cNvSpPr txBox="1"/>
          <p:nvPr/>
        </p:nvSpPr>
        <p:spPr>
          <a:xfrm>
            <a:off x="694944" y="3503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1115568" y="3380000"/>
            <a:ext cx="10341864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always be there for my child through difficult times.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아이가 힘들 때 언제나 함께하겠습니다.</a:t>
            </a:r>
          </a:p>
        </p:txBody>
      </p:sp>
      <p:sp>
        <p:nvSpPr>
          <p:cNvPr id="21" name="Shape 21"/>
          <p:cNvSpPr/>
          <p:nvPr/>
        </p:nvSpPr>
        <p:spPr>
          <a:xfrm>
            <a:off x="548640" y="4040000"/>
            <a:ext cx="11091672" cy="6200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2"/>
          <p:cNvSpPr/>
          <p:nvPr/>
        </p:nvSpPr>
        <p:spPr>
          <a:xfrm>
            <a:off x="694944" y="42036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3"/>
          <p:cNvSpPr txBox="1"/>
          <p:nvPr/>
        </p:nvSpPr>
        <p:spPr>
          <a:xfrm>
            <a:off x="694944" y="4203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1115568" y="4080000"/>
            <a:ext cx="10341864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listen to my child’s story with care, all the way to the end.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아이의 이야기를 끝까지 잘 들어주겠습니다.</a:t>
            </a:r>
          </a:p>
        </p:txBody>
      </p:sp>
      <p:sp>
        <p:nvSpPr>
          <p:cNvPr id="25" name="Shape 25"/>
          <p:cNvSpPr/>
          <p:nvPr/>
        </p:nvSpPr>
        <p:spPr>
          <a:xfrm>
            <a:off x="548640" y="4740000"/>
            <a:ext cx="11091672" cy="6200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6"/>
          <p:cNvSpPr/>
          <p:nvPr/>
        </p:nvSpPr>
        <p:spPr>
          <a:xfrm>
            <a:off x="694944" y="49036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7"/>
          <p:cNvSpPr txBox="1"/>
          <p:nvPr/>
        </p:nvSpPr>
        <p:spPr>
          <a:xfrm>
            <a:off x="694944" y="4903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1115568" y="4780000"/>
            <a:ext cx="10341864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be the first to show respect for cultures different from my own.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서로 다른 문화를 존중하는 모습을 먼저 보여주겠습니다.</a:t>
            </a:r>
          </a:p>
        </p:txBody>
      </p:sp>
      <p:sp>
        <p:nvSpPr>
          <p:cNvPr id="29" name="Shape 29"/>
          <p:cNvSpPr/>
          <p:nvPr/>
        </p:nvSpPr>
        <p:spPr>
          <a:xfrm>
            <a:off x="548640" y="5440000"/>
            <a:ext cx="11091672" cy="6200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30"/>
          <p:cNvSpPr/>
          <p:nvPr/>
        </p:nvSpPr>
        <p:spPr>
          <a:xfrm>
            <a:off x="694944" y="56036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31"/>
          <p:cNvSpPr txBox="1"/>
          <p:nvPr/>
        </p:nvSpPr>
        <p:spPr>
          <a:xfrm>
            <a:off x="694944" y="5603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1115568" y="5480000"/>
            <a:ext cx="10341864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believe in my child and will support them to become someone who bridges two countries.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우리 아이가 두 나라를 이어주는 멋진 사람으로 자랄 것을 믿고 응원하겠습니다.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429768"/>
            <a:ext cx="109728" cy="10972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3"/>
          <p:cNvSpPr txBox="1"/>
          <p:nvPr/>
        </p:nvSpPr>
        <p:spPr>
          <a:xfrm>
            <a:off x="749808" y="32004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19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두 문화는 나의 힘  ·  다문화 부모 일곱 가지 다짐   |   Tiếng Việt / 베트남어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48640" y="658368"/>
            <a:ext cx="11091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Bảy lời cam kết của cha mẹ đa văn hóa</a:t>
            </a:r>
          </a:p>
        </p:txBody>
      </p:sp>
      <p:sp>
        <p:nvSpPr>
          <p:cNvPr id="5" name="Shape 5"/>
          <p:cNvSpPr/>
          <p:nvPr/>
        </p:nvSpPr>
        <p:spPr>
          <a:xfrm>
            <a:off x="548640" y="1240000"/>
            <a:ext cx="11091672" cy="6200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6"/>
          <p:cNvSpPr/>
          <p:nvPr/>
        </p:nvSpPr>
        <p:spPr>
          <a:xfrm>
            <a:off x="694944" y="14036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7"/>
          <p:cNvSpPr txBox="1"/>
          <p:nvPr/>
        </p:nvSpPr>
        <p:spPr>
          <a:xfrm>
            <a:off x="694944" y="1403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115568" y="1280000"/>
            <a:ext cx="10341864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Tôi sẽ dạy con trân trọng cả quê hương của mẹ và quê hương của cha.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아이에게 엄마 나라와 아빠 나라를 모두 소중히 여기도록 가르치겠습니다.</a:t>
            </a:r>
          </a:p>
        </p:txBody>
      </p:sp>
      <p:sp>
        <p:nvSpPr>
          <p:cNvPr id="9" name="Shape 9"/>
          <p:cNvSpPr/>
          <p:nvPr/>
        </p:nvSpPr>
        <p:spPr>
          <a:xfrm>
            <a:off x="548640" y="1940000"/>
            <a:ext cx="11091672" cy="6200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10"/>
          <p:cNvSpPr/>
          <p:nvPr/>
        </p:nvSpPr>
        <p:spPr>
          <a:xfrm>
            <a:off x="694944" y="21036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11"/>
          <p:cNvSpPr txBox="1"/>
          <p:nvPr/>
        </p:nvSpPr>
        <p:spPr>
          <a:xfrm>
            <a:off x="694944" y="2103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115568" y="1980000"/>
            <a:ext cx="10341864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Tôi sẽ giúp con học và yêu thích cả hai ngôn ngữ.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아이가 두 나라 말을 즐겁게 배우도록 돕겠습니다.</a:t>
            </a:r>
          </a:p>
        </p:txBody>
      </p:sp>
      <p:sp>
        <p:nvSpPr>
          <p:cNvPr id="13" name="Shape 13"/>
          <p:cNvSpPr/>
          <p:nvPr/>
        </p:nvSpPr>
        <p:spPr>
          <a:xfrm>
            <a:off x="548640" y="2640000"/>
            <a:ext cx="11091672" cy="6200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4"/>
          <p:cNvSpPr/>
          <p:nvPr/>
        </p:nvSpPr>
        <p:spPr>
          <a:xfrm>
            <a:off x="694944" y="28036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5"/>
          <p:cNvSpPr txBox="1"/>
          <p:nvPr/>
        </p:nvSpPr>
        <p:spPr>
          <a:xfrm>
            <a:off x="694944" y="2803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1115568" y="2680000"/>
            <a:ext cx="10341864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Tôi sẽ yêu thương con đúng như con vốn có.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아이를 있는 모습 그대로 사랑하겠습니다.</a:t>
            </a:r>
          </a:p>
        </p:txBody>
      </p:sp>
      <p:sp>
        <p:nvSpPr>
          <p:cNvPr id="17" name="Shape 17"/>
          <p:cNvSpPr/>
          <p:nvPr/>
        </p:nvSpPr>
        <p:spPr>
          <a:xfrm>
            <a:off x="548640" y="3340000"/>
            <a:ext cx="11091672" cy="6200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8"/>
          <p:cNvSpPr/>
          <p:nvPr/>
        </p:nvSpPr>
        <p:spPr>
          <a:xfrm>
            <a:off x="694944" y="35036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9"/>
          <p:cNvSpPr txBox="1"/>
          <p:nvPr/>
        </p:nvSpPr>
        <p:spPr>
          <a:xfrm>
            <a:off x="694944" y="3503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1115568" y="3380000"/>
            <a:ext cx="10341864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Tôi sẽ luôn ở bên con mỗi khi con gặp khó khăn.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아이가 힘들 때 언제나 함께하겠습니다.</a:t>
            </a:r>
          </a:p>
        </p:txBody>
      </p:sp>
      <p:sp>
        <p:nvSpPr>
          <p:cNvPr id="21" name="Shape 21"/>
          <p:cNvSpPr/>
          <p:nvPr/>
        </p:nvSpPr>
        <p:spPr>
          <a:xfrm>
            <a:off x="548640" y="4040000"/>
            <a:ext cx="11091672" cy="6200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2"/>
          <p:cNvSpPr/>
          <p:nvPr/>
        </p:nvSpPr>
        <p:spPr>
          <a:xfrm>
            <a:off x="694944" y="42036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3"/>
          <p:cNvSpPr txBox="1"/>
          <p:nvPr/>
        </p:nvSpPr>
        <p:spPr>
          <a:xfrm>
            <a:off x="694944" y="4203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1115568" y="4080000"/>
            <a:ext cx="10341864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Tôi sẽ lắng nghe câu chuyện của con đến cùng.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아이의 이야기를 끝까지 잘 들어주겠습니다.</a:t>
            </a:r>
          </a:p>
        </p:txBody>
      </p:sp>
      <p:sp>
        <p:nvSpPr>
          <p:cNvPr id="25" name="Shape 25"/>
          <p:cNvSpPr/>
          <p:nvPr/>
        </p:nvSpPr>
        <p:spPr>
          <a:xfrm>
            <a:off x="548640" y="4740000"/>
            <a:ext cx="11091672" cy="6200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6"/>
          <p:cNvSpPr/>
          <p:nvPr/>
        </p:nvSpPr>
        <p:spPr>
          <a:xfrm>
            <a:off x="694944" y="49036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7"/>
          <p:cNvSpPr txBox="1"/>
          <p:nvPr/>
        </p:nvSpPr>
        <p:spPr>
          <a:xfrm>
            <a:off x="694944" y="4903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1115568" y="4780000"/>
            <a:ext cx="10341864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Tôi sẽ là người đầu tiên làm gương trong việc tôn trọng những nền văn hóa khác nhau.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서로 다른 문화를 존중하는 모습을 먼저 보여주겠습니다.</a:t>
            </a:r>
          </a:p>
        </p:txBody>
      </p:sp>
      <p:sp>
        <p:nvSpPr>
          <p:cNvPr id="29" name="Shape 29"/>
          <p:cNvSpPr/>
          <p:nvPr/>
        </p:nvSpPr>
        <p:spPr>
          <a:xfrm>
            <a:off x="548640" y="5440000"/>
            <a:ext cx="11091672" cy="6200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30"/>
          <p:cNvSpPr/>
          <p:nvPr/>
        </p:nvSpPr>
        <p:spPr>
          <a:xfrm>
            <a:off x="694944" y="56036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31"/>
          <p:cNvSpPr txBox="1"/>
          <p:nvPr/>
        </p:nvSpPr>
        <p:spPr>
          <a:xfrm>
            <a:off x="694944" y="5603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1115568" y="5480000"/>
            <a:ext cx="10341864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Tôi tin tưởng và sẽ luôn ủng hộ để con trở thành một người tuyệt vời, là cầu nối giữa hai đất </a:t>
            </a:r>
            <a:r>
              <a:rPr lang="en-US" sz="2000" b="1" dirty="0" err="1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nước</a:t>
            </a:r>
            <a:r>
              <a:rPr lang="en-US" sz="20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 err="1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</a:t>
            </a:r>
            <a:r>
              <a:rPr lang="en-US" sz="14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우리 아이가 두 나라를 이어주는 멋진 사람으로 자랄 것을 믿고 응원하겠습니다.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429768"/>
            <a:ext cx="109728" cy="10972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3"/>
          <p:cNvSpPr txBox="1"/>
          <p:nvPr/>
        </p:nvSpPr>
        <p:spPr>
          <a:xfrm>
            <a:off x="749808" y="32004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19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두 문화는 나의 힘  ·  다문화 부모 일곱 가지 다짐   |   Khmer / 크메르어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48640" y="658368"/>
            <a:ext cx="11091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2B211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ការសន្យាទាំងប្រាំពីររបស់ឪពុកម្តាយពហុវប្បធម៌</a:t>
            </a:r>
          </a:p>
        </p:txBody>
      </p:sp>
      <p:sp>
        <p:nvSpPr>
          <p:cNvPr id="5" name="Shape 5"/>
          <p:cNvSpPr/>
          <p:nvPr/>
        </p:nvSpPr>
        <p:spPr>
          <a:xfrm>
            <a:off x="548640" y="1240000"/>
            <a:ext cx="11091672" cy="6200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6"/>
          <p:cNvSpPr/>
          <p:nvPr/>
        </p:nvSpPr>
        <p:spPr>
          <a:xfrm>
            <a:off x="694944" y="14036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7"/>
          <p:cNvSpPr txBox="1"/>
          <p:nvPr/>
        </p:nvSpPr>
        <p:spPr>
          <a:xfrm>
            <a:off x="694944" y="1403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115568" y="1280000"/>
            <a:ext cx="10341864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B211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ខ្ញុំនឹងបង្រៀនកូនឱ្យចេះឱ្យតម្លៃទាំងប្រទេសរបស់ម្តាយ និងប្រទេសរបស់ឪពុក។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아이에게 엄마 나라와 아빠 나라를 모두 소중히 여기도록 가르치겠습니다.</a:t>
            </a:r>
          </a:p>
        </p:txBody>
      </p:sp>
      <p:sp>
        <p:nvSpPr>
          <p:cNvPr id="9" name="Shape 9"/>
          <p:cNvSpPr/>
          <p:nvPr/>
        </p:nvSpPr>
        <p:spPr>
          <a:xfrm>
            <a:off x="548640" y="1940000"/>
            <a:ext cx="11091672" cy="6200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10"/>
          <p:cNvSpPr/>
          <p:nvPr/>
        </p:nvSpPr>
        <p:spPr>
          <a:xfrm>
            <a:off x="694944" y="21036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11"/>
          <p:cNvSpPr txBox="1"/>
          <p:nvPr/>
        </p:nvSpPr>
        <p:spPr>
          <a:xfrm>
            <a:off x="694944" y="2103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115568" y="1980000"/>
            <a:ext cx="10341864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B211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ខ្ញុំនឹងជួយឱ្យកូនរៀនភាសាទាំងពីរដោយរីករាយ។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아이가 두 나라 말을 즐겁게 배우도록 돕겠습니다.</a:t>
            </a:r>
          </a:p>
        </p:txBody>
      </p:sp>
      <p:sp>
        <p:nvSpPr>
          <p:cNvPr id="13" name="Shape 13"/>
          <p:cNvSpPr/>
          <p:nvPr/>
        </p:nvSpPr>
        <p:spPr>
          <a:xfrm>
            <a:off x="548640" y="2640000"/>
            <a:ext cx="11091672" cy="6200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4"/>
          <p:cNvSpPr/>
          <p:nvPr/>
        </p:nvSpPr>
        <p:spPr>
          <a:xfrm>
            <a:off x="694944" y="28036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5"/>
          <p:cNvSpPr txBox="1"/>
          <p:nvPr/>
        </p:nvSpPr>
        <p:spPr>
          <a:xfrm>
            <a:off x="694944" y="2803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1115568" y="2680000"/>
            <a:ext cx="10341864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B211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ខ្ញុំនឹងស្រឡាញ់កូន ដូចដែលកូនមានស្រាប់។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아이를 있는 모습 그대로 사랑하겠습니다.</a:t>
            </a:r>
          </a:p>
        </p:txBody>
      </p:sp>
      <p:sp>
        <p:nvSpPr>
          <p:cNvPr id="17" name="Shape 17"/>
          <p:cNvSpPr/>
          <p:nvPr/>
        </p:nvSpPr>
        <p:spPr>
          <a:xfrm>
            <a:off x="548640" y="3340000"/>
            <a:ext cx="11091672" cy="6200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8"/>
          <p:cNvSpPr/>
          <p:nvPr/>
        </p:nvSpPr>
        <p:spPr>
          <a:xfrm>
            <a:off x="694944" y="35036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9"/>
          <p:cNvSpPr txBox="1"/>
          <p:nvPr/>
        </p:nvSpPr>
        <p:spPr>
          <a:xfrm>
            <a:off x="694944" y="3503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1115568" y="3380000"/>
            <a:ext cx="10341864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B211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ខ្ញុំនឹងនៅជាមួយកូនជានិច្ច នៅពេលកូនជួបការលំបាក។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아이가 힘들 때 언제나 함께하겠습니다.</a:t>
            </a:r>
          </a:p>
        </p:txBody>
      </p:sp>
      <p:sp>
        <p:nvSpPr>
          <p:cNvPr id="21" name="Shape 21"/>
          <p:cNvSpPr/>
          <p:nvPr/>
        </p:nvSpPr>
        <p:spPr>
          <a:xfrm>
            <a:off x="548640" y="4040000"/>
            <a:ext cx="11091672" cy="6200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2"/>
          <p:cNvSpPr/>
          <p:nvPr/>
        </p:nvSpPr>
        <p:spPr>
          <a:xfrm>
            <a:off x="694944" y="42036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3"/>
          <p:cNvSpPr txBox="1"/>
          <p:nvPr/>
        </p:nvSpPr>
        <p:spPr>
          <a:xfrm>
            <a:off x="694944" y="4203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1115568" y="4080000"/>
            <a:ext cx="10341864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B211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ខ្ញុំនឹងស្តាប់រឿងរបស់កូនរហូតដល់ចប់ ដោយយកចិត្តទុកដាក់។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아이의 이야기를 끝까지 잘 들어주겠습니다.</a:t>
            </a:r>
          </a:p>
        </p:txBody>
      </p:sp>
      <p:sp>
        <p:nvSpPr>
          <p:cNvPr id="25" name="Shape 25"/>
          <p:cNvSpPr/>
          <p:nvPr/>
        </p:nvSpPr>
        <p:spPr>
          <a:xfrm>
            <a:off x="548640" y="4740000"/>
            <a:ext cx="11091672" cy="6200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6"/>
          <p:cNvSpPr/>
          <p:nvPr/>
        </p:nvSpPr>
        <p:spPr>
          <a:xfrm>
            <a:off x="694944" y="49036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7"/>
          <p:cNvSpPr txBox="1"/>
          <p:nvPr/>
        </p:nvSpPr>
        <p:spPr>
          <a:xfrm>
            <a:off x="694944" y="4903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1115568" y="4780000"/>
            <a:ext cx="10341864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B211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ខ្ញុំនឹងធ្វើជាគំរូមុនគេ ក្នុងការគោរពវប្បធម៌ខុសៗគ្នា។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서로 다른 문화를 존중하는 모습을 먼저 보여주겠습니다.</a:t>
            </a:r>
          </a:p>
        </p:txBody>
      </p:sp>
      <p:sp>
        <p:nvSpPr>
          <p:cNvPr id="29" name="Shape 29"/>
          <p:cNvSpPr/>
          <p:nvPr/>
        </p:nvSpPr>
        <p:spPr>
          <a:xfrm>
            <a:off x="548640" y="5440000"/>
            <a:ext cx="11091672" cy="6200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30"/>
          <p:cNvSpPr/>
          <p:nvPr/>
        </p:nvSpPr>
        <p:spPr>
          <a:xfrm>
            <a:off x="694944" y="56036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31"/>
          <p:cNvSpPr txBox="1"/>
          <p:nvPr/>
        </p:nvSpPr>
        <p:spPr>
          <a:xfrm>
            <a:off x="694944" y="5603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1115568" y="5480000"/>
            <a:ext cx="10341864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B211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ខ្ញុំជឿជាក់ និងគាំទ្រកូន ឱ្យក្លាយជាមនុស្សដ៏អស្ចារ្យ ដែលភ្ជាប់ប្រទេសទាំងពីរ។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우리 아이가 두 나라를 이어주는 멋진 사람으로 자랄 것을 믿고 응원하겠습니다.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429768"/>
            <a:ext cx="109728" cy="10972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pPr rtl="0"/>
            <a:endParaRPr/>
          </a:p>
        </p:txBody>
      </p:sp>
      <p:sp>
        <p:nvSpPr>
          <p:cNvPr id="3" name="Text 3"/>
          <p:cNvSpPr txBox="1"/>
          <p:nvPr/>
        </p:nvSpPr>
        <p:spPr>
          <a:xfrm>
            <a:off x="749808" y="32004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19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두 문화는 나의 힘  ·  다문화 부모 일곱 가지 다짐   |   Русский / 러시아어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48640" y="658368"/>
            <a:ext cx="11091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2B2118"/>
                </a:solidFill>
                <a:latin typeface="Calibri" pitchFamily="34" charset="0"/>
                <a:ea typeface="Segoe UI" pitchFamily="34" charset="-122"/>
                <a:cs typeface="Calibri" pitchFamily="34" charset="-120"/>
              </a:rPr>
              <a:t>Семь обещаний родителей многокультурной семьи</a:t>
            </a:r>
          </a:p>
        </p:txBody>
      </p:sp>
      <p:sp>
        <p:nvSpPr>
          <p:cNvPr id="5" name="Shape 5"/>
          <p:cNvSpPr/>
          <p:nvPr/>
        </p:nvSpPr>
        <p:spPr>
          <a:xfrm>
            <a:off x="548640" y="1240000"/>
            <a:ext cx="11091672" cy="6200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pPr rtl="0"/>
            <a:endParaRPr/>
          </a:p>
        </p:txBody>
      </p:sp>
      <p:sp>
        <p:nvSpPr>
          <p:cNvPr id="6" name="Shape 6"/>
          <p:cNvSpPr/>
          <p:nvPr/>
        </p:nvSpPr>
        <p:spPr>
          <a:xfrm>
            <a:off x="694944" y="14036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pPr rtl="0"/>
            <a:endParaRPr/>
          </a:p>
        </p:txBody>
      </p:sp>
      <p:sp>
        <p:nvSpPr>
          <p:cNvPr id="7" name="Text 7"/>
          <p:cNvSpPr txBox="1"/>
          <p:nvPr/>
        </p:nvSpPr>
        <p:spPr>
          <a:xfrm>
            <a:off x="694944" y="1403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115568" y="1280000"/>
            <a:ext cx="10341864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B2118"/>
                </a:solidFill>
                <a:latin typeface="Calibri" pitchFamily="34" charset="0"/>
                <a:ea typeface="Segoe UI" pitchFamily="34" charset="-122"/>
                <a:cs typeface="Calibri" pitchFamily="34" charset="-120"/>
              </a:rPr>
              <a:t>Я научу ребёнка одинаково ценить и страну мамы, и страну папы.</a:t>
            </a:r>
          </a:p>
          <a:p>
            <a:pPr marL="0" indent="0" algn="l" rt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아이에게 엄마 나라와 아빠 나라를 모두 소중히 여기도록 가르치겠습니다.</a:t>
            </a:r>
          </a:p>
        </p:txBody>
      </p:sp>
      <p:sp>
        <p:nvSpPr>
          <p:cNvPr id="9" name="Shape 9"/>
          <p:cNvSpPr/>
          <p:nvPr/>
        </p:nvSpPr>
        <p:spPr>
          <a:xfrm>
            <a:off x="548640" y="1940000"/>
            <a:ext cx="11091672" cy="6200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pPr rtl="0"/>
            <a:endParaRPr/>
          </a:p>
        </p:txBody>
      </p:sp>
      <p:sp>
        <p:nvSpPr>
          <p:cNvPr id="10" name="Shape 10"/>
          <p:cNvSpPr/>
          <p:nvPr/>
        </p:nvSpPr>
        <p:spPr>
          <a:xfrm>
            <a:off x="694944" y="21036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pPr rtl="0"/>
            <a:endParaRPr/>
          </a:p>
        </p:txBody>
      </p:sp>
      <p:sp>
        <p:nvSpPr>
          <p:cNvPr id="11" name="Text 11"/>
          <p:cNvSpPr txBox="1"/>
          <p:nvPr/>
        </p:nvSpPr>
        <p:spPr>
          <a:xfrm>
            <a:off x="694944" y="2103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115568" y="1980000"/>
            <a:ext cx="10341864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B2118"/>
                </a:solidFill>
                <a:latin typeface="Calibri" pitchFamily="34" charset="0"/>
                <a:ea typeface="Segoe UI" pitchFamily="34" charset="-122"/>
                <a:cs typeface="Calibri" pitchFamily="34" charset="-120"/>
              </a:rPr>
              <a:t>Я помогу ребёнку с радостью учить языки обеих стран.</a:t>
            </a:r>
          </a:p>
          <a:p>
            <a:pPr marL="0" indent="0" algn="l" rt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아이가 두 나라 말을 즐겁게 배우도록 돕겠습니다.</a:t>
            </a:r>
          </a:p>
        </p:txBody>
      </p:sp>
      <p:sp>
        <p:nvSpPr>
          <p:cNvPr id="13" name="Shape 13"/>
          <p:cNvSpPr/>
          <p:nvPr/>
        </p:nvSpPr>
        <p:spPr>
          <a:xfrm>
            <a:off x="548640" y="2640000"/>
            <a:ext cx="11091672" cy="6200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pPr rtl="0"/>
            <a:endParaRPr/>
          </a:p>
        </p:txBody>
      </p:sp>
      <p:sp>
        <p:nvSpPr>
          <p:cNvPr id="14" name="Shape 14"/>
          <p:cNvSpPr/>
          <p:nvPr/>
        </p:nvSpPr>
        <p:spPr>
          <a:xfrm>
            <a:off x="694944" y="28036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pPr rtl="0"/>
            <a:endParaRPr/>
          </a:p>
        </p:txBody>
      </p:sp>
      <p:sp>
        <p:nvSpPr>
          <p:cNvPr id="15" name="Text 15"/>
          <p:cNvSpPr txBox="1"/>
          <p:nvPr/>
        </p:nvSpPr>
        <p:spPr>
          <a:xfrm>
            <a:off x="694944" y="2803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1115568" y="2680000"/>
            <a:ext cx="10341864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B2118"/>
                </a:solidFill>
                <a:latin typeface="Calibri" pitchFamily="34" charset="0"/>
                <a:ea typeface="Segoe UI" pitchFamily="34" charset="-122"/>
                <a:cs typeface="Calibri" pitchFamily="34" charset="-120"/>
              </a:rPr>
              <a:t>Я буду любить ребёнка таким, какой он есть.</a:t>
            </a:r>
          </a:p>
          <a:p>
            <a:pPr marL="0" indent="0" algn="l" rt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아이를 있는 모습 그대로 사랑하겠습니다.</a:t>
            </a:r>
          </a:p>
        </p:txBody>
      </p:sp>
      <p:sp>
        <p:nvSpPr>
          <p:cNvPr id="17" name="Shape 17"/>
          <p:cNvSpPr/>
          <p:nvPr/>
        </p:nvSpPr>
        <p:spPr>
          <a:xfrm>
            <a:off x="548640" y="3340000"/>
            <a:ext cx="11091672" cy="6200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pPr rtl="0"/>
            <a:endParaRPr/>
          </a:p>
        </p:txBody>
      </p:sp>
      <p:sp>
        <p:nvSpPr>
          <p:cNvPr id="18" name="Shape 18"/>
          <p:cNvSpPr/>
          <p:nvPr/>
        </p:nvSpPr>
        <p:spPr>
          <a:xfrm>
            <a:off x="694944" y="35036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pPr rtl="0"/>
            <a:endParaRPr/>
          </a:p>
        </p:txBody>
      </p:sp>
      <p:sp>
        <p:nvSpPr>
          <p:cNvPr id="19" name="Text 19"/>
          <p:cNvSpPr txBox="1"/>
          <p:nvPr/>
        </p:nvSpPr>
        <p:spPr>
          <a:xfrm>
            <a:off x="694944" y="3503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1115568" y="3380000"/>
            <a:ext cx="10341864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B2118"/>
                </a:solidFill>
                <a:latin typeface="Calibri" pitchFamily="34" charset="0"/>
                <a:ea typeface="Segoe UI" pitchFamily="34" charset="-122"/>
                <a:cs typeface="Calibri" pitchFamily="34" charset="-120"/>
              </a:rPr>
              <a:t>Я всегда буду рядом, когда ребёнку трудно.</a:t>
            </a:r>
          </a:p>
          <a:p>
            <a:pPr marL="0" indent="0" algn="l" rt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아이가 힘들 때 언제나 함께하겠습니다.</a:t>
            </a:r>
          </a:p>
        </p:txBody>
      </p:sp>
      <p:sp>
        <p:nvSpPr>
          <p:cNvPr id="21" name="Shape 21"/>
          <p:cNvSpPr/>
          <p:nvPr/>
        </p:nvSpPr>
        <p:spPr>
          <a:xfrm>
            <a:off x="548640" y="4040000"/>
            <a:ext cx="11091672" cy="6200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pPr rtl="0"/>
            <a:endParaRPr/>
          </a:p>
        </p:txBody>
      </p:sp>
      <p:sp>
        <p:nvSpPr>
          <p:cNvPr id="22" name="Shape 22"/>
          <p:cNvSpPr/>
          <p:nvPr/>
        </p:nvSpPr>
        <p:spPr>
          <a:xfrm>
            <a:off x="694944" y="42036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pPr rtl="0"/>
            <a:endParaRPr/>
          </a:p>
        </p:txBody>
      </p:sp>
      <p:sp>
        <p:nvSpPr>
          <p:cNvPr id="23" name="Text 23"/>
          <p:cNvSpPr txBox="1"/>
          <p:nvPr/>
        </p:nvSpPr>
        <p:spPr>
          <a:xfrm>
            <a:off x="694944" y="4203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1115568" y="4080000"/>
            <a:ext cx="10341864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B2118"/>
                </a:solidFill>
                <a:latin typeface="Calibri" pitchFamily="34" charset="0"/>
                <a:ea typeface="Segoe UI" pitchFamily="34" charset="-122"/>
                <a:cs typeface="Calibri" pitchFamily="34" charset="-120"/>
              </a:rPr>
              <a:t>Я буду внимательно выслушивать ребёнка до конца.</a:t>
            </a:r>
          </a:p>
          <a:p>
            <a:pPr marL="0" indent="0" algn="l" rt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아이의 이야기를 끝까지 잘 들어주겠습니다.</a:t>
            </a:r>
          </a:p>
        </p:txBody>
      </p:sp>
      <p:sp>
        <p:nvSpPr>
          <p:cNvPr id="25" name="Shape 25"/>
          <p:cNvSpPr/>
          <p:nvPr/>
        </p:nvSpPr>
        <p:spPr>
          <a:xfrm>
            <a:off x="548640" y="4740000"/>
            <a:ext cx="11091672" cy="6200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pPr rtl="0"/>
            <a:endParaRPr/>
          </a:p>
        </p:txBody>
      </p:sp>
      <p:sp>
        <p:nvSpPr>
          <p:cNvPr id="26" name="Shape 26"/>
          <p:cNvSpPr/>
          <p:nvPr/>
        </p:nvSpPr>
        <p:spPr>
          <a:xfrm>
            <a:off x="694944" y="49036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pPr rtl="0"/>
            <a:endParaRPr/>
          </a:p>
        </p:txBody>
      </p:sp>
      <p:sp>
        <p:nvSpPr>
          <p:cNvPr id="27" name="Text 27"/>
          <p:cNvSpPr txBox="1"/>
          <p:nvPr/>
        </p:nvSpPr>
        <p:spPr>
          <a:xfrm>
            <a:off x="694944" y="4903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1115568" y="4780000"/>
            <a:ext cx="10341864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B2118"/>
                </a:solidFill>
                <a:latin typeface="Calibri" pitchFamily="34" charset="0"/>
                <a:ea typeface="Segoe UI" pitchFamily="34" charset="-122"/>
                <a:cs typeface="Calibri" pitchFamily="34" charset="-120"/>
              </a:rPr>
              <a:t>Я сам(а) покажу пример уважения к другим культурам.</a:t>
            </a:r>
          </a:p>
          <a:p>
            <a:pPr marL="0" indent="0" algn="l" rt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서로 다른 문화를 존중하는 모습을 먼저 보여주겠습니다.</a:t>
            </a:r>
          </a:p>
        </p:txBody>
      </p:sp>
      <p:sp>
        <p:nvSpPr>
          <p:cNvPr id="29" name="Shape 29"/>
          <p:cNvSpPr/>
          <p:nvPr/>
        </p:nvSpPr>
        <p:spPr>
          <a:xfrm>
            <a:off x="548640" y="5440000"/>
            <a:ext cx="11091672" cy="6200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pPr rtl="0"/>
            <a:endParaRPr/>
          </a:p>
        </p:txBody>
      </p:sp>
      <p:sp>
        <p:nvSpPr>
          <p:cNvPr id="30" name="Shape 30"/>
          <p:cNvSpPr/>
          <p:nvPr/>
        </p:nvSpPr>
        <p:spPr>
          <a:xfrm>
            <a:off x="694944" y="56036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pPr rtl="0"/>
            <a:endParaRPr/>
          </a:p>
        </p:txBody>
      </p:sp>
      <p:sp>
        <p:nvSpPr>
          <p:cNvPr id="31" name="Text 31"/>
          <p:cNvSpPr txBox="1"/>
          <p:nvPr/>
        </p:nvSpPr>
        <p:spPr>
          <a:xfrm>
            <a:off x="694944" y="5603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1115568" y="5480000"/>
            <a:ext cx="10341864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B2118"/>
                </a:solidFill>
                <a:latin typeface="Calibri" pitchFamily="34" charset="0"/>
                <a:ea typeface="Segoe UI" pitchFamily="34" charset="-122"/>
                <a:cs typeface="Calibri" pitchFamily="34" charset="-120"/>
              </a:rPr>
              <a:t>Я верю, что мой ребёнок вырастет замечательным человеком, соединяющим две страны, и буду его поддерживать.</a:t>
            </a:r>
          </a:p>
          <a:p>
            <a:pPr marL="0" indent="0" algn="l" rtl="0">
              <a:lnSpc>
                <a:spcPct val="100000"/>
              </a:lnSpc>
              <a:buNone/>
            </a:pPr>
            <a:r>
              <a:rPr lang="en-US" sz="1400" dirty="0" err="1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</a:t>
            </a:r>
            <a:r>
              <a:rPr lang="en-US" sz="14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우리 아이가 두 나라를 이어주는 멋진 사람으로 자랄 것을 믿고 응원하겠습니다.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429768"/>
            <a:ext cx="109728" cy="10972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3"/>
          <p:cNvSpPr txBox="1"/>
          <p:nvPr/>
        </p:nvSpPr>
        <p:spPr>
          <a:xfrm>
            <a:off x="749808" y="32004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19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두 문화는 나의 힘  ·  다문화가족 자녀 일곱 가지 다짐   |   한국어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48640" y="658368"/>
            <a:ext cx="11091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다문화가족 자녀 일곱 가지 다짐</a:t>
            </a:r>
          </a:p>
        </p:txBody>
      </p:sp>
      <p:sp>
        <p:nvSpPr>
          <p:cNvPr id="5" name="Shape 5"/>
          <p:cNvSpPr/>
          <p:nvPr/>
        </p:nvSpPr>
        <p:spPr>
          <a:xfrm>
            <a:off x="548640" y="1240000"/>
            <a:ext cx="11091672" cy="6200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6"/>
          <p:cNvSpPr/>
          <p:nvPr/>
        </p:nvSpPr>
        <p:spPr>
          <a:xfrm>
            <a:off x="694944" y="14036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7"/>
          <p:cNvSpPr txBox="1"/>
          <p:nvPr/>
        </p:nvSpPr>
        <p:spPr>
          <a:xfrm>
            <a:off x="694944" y="1403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115568" y="1280000"/>
            <a:ext cx="10341864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엄마 나라와 아빠 나라를 모두 사랑해요.</a:t>
            </a:r>
          </a:p>
        </p:txBody>
      </p:sp>
      <p:sp>
        <p:nvSpPr>
          <p:cNvPr id="9" name="Shape 9"/>
          <p:cNvSpPr/>
          <p:nvPr/>
        </p:nvSpPr>
        <p:spPr>
          <a:xfrm>
            <a:off x="548640" y="1940000"/>
            <a:ext cx="11091672" cy="6200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10"/>
          <p:cNvSpPr/>
          <p:nvPr/>
        </p:nvSpPr>
        <p:spPr>
          <a:xfrm>
            <a:off x="694944" y="21036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11"/>
          <p:cNvSpPr txBox="1"/>
          <p:nvPr/>
        </p:nvSpPr>
        <p:spPr>
          <a:xfrm>
            <a:off x="694944" y="2103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115568" y="1980000"/>
            <a:ext cx="10341864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두 나라 말을 할 수 있어서 참 자랑스러워요.</a:t>
            </a:r>
          </a:p>
        </p:txBody>
      </p:sp>
      <p:sp>
        <p:nvSpPr>
          <p:cNvPr id="13" name="Shape 13"/>
          <p:cNvSpPr/>
          <p:nvPr/>
        </p:nvSpPr>
        <p:spPr>
          <a:xfrm>
            <a:off x="548640" y="2640000"/>
            <a:ext cx="11091672" cy="6200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4"/>
          <p:cNvSpPr/>
          <p:nvPr/>
        </p:nvSpPr>
        <p:spPr>
          <a:xfrm>
            <a:off x="694944" y="28036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5"/>
          <p:cNvSpPr txBox="1"/>
          <p:nvPr/>
        </p:nvSpPr>
        <p:spPr>
          <a:xfrm>
            <a:off x="694944" y="2803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1115568" y="2680000"/>
            <a:ext cx="10341864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지금 이 모습 그대로 소중한 아이예요.</a:t>
            </a:r>
          </a:p>
        </p:txBody>
      </p:sp>
      <p:sp>
        <p:nvSpPr>
          <p:cNvPr id="17" name="Shape 17"/>
          <p:cNvSpPr/>
          <p:nvPr/>
        </p:nvSpPr>
        <p:spPr>
          <a:xfrm>
            <a:off x="548640" y="3340000"/>
            <a:ext cx="11091672" cy="6200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8"/>
          <p:cNvSpPr/>
          <p:nvPr/>
        </p:nvSpPr>
        <p:spPr>
          <a:xfrm>
            <a:off x="694944" y="35036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9"/>
          <p:cNvSpPr txBox="1"/>
          <p:nvPr/>
        </p:nvSpPr>
        <p:spPr>
          <a:xfrm>
            <a:off x="694944" y="3503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1115568" y="3380000"/>
            <a:ext cx="10341864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나와 다른 친구도 존중해요.</a:t>
            </a:r>
          </a:p>
        </p:txBody>
      </p:sp>
      <p:sp>
        <p:nvSpPr>
          <p:cNvPr id="21" name="Shape 21"/>
          <p:cNvSpPr/>
          <p:nvPr/>
        </p:nvSpPr>
        <p:spPr>
          <a:xfrm>
            <a:off x="548640" y="4040000"/>
            <a:ext cx="11091672" cy="6200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2"/>
          <p:cNvSpPr/>
          <p:nvPr/>
        </p:nvSpPr>
        <p:spPr>
          <a:xfrm>
            <a:off x="694944" y="42036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3"/>
          <p:cNvSpPr txBox="1"/>
          <p:nvPr/>
        </p:nvSpPr>
        <p:spPr>
          <a:xfrm>
            <a:off x="694944" y="4203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1115568" y="4080000"/>
            <a:ext cx="10341864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뭐라고 해도 나는 씩씩하고 자신 있어요.</a:t>
            </a:r>
          </a:p>
        </p:txBody>
      </p:sp>
      <p:sp>
        <p:nvSpPr>
          <p:cNvPr id="25" name="Shape 25"/>
          <p:cNvSpPr/>
          <p:nvPr/>
        </p:nvSpPr>
        <p:spPr>
          <a:xfrm>
            <a:off x="548640" y="4740000"/>
            <a:ext cx="11091672" cy="6200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6"/>
          <p:cNvSpPr/>
          <p:nvPr/>
        </p:nvSpPr>
        <p:spPr>
          <a:xfrm>
            <a:off x="694944" y="49036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7"/>
          <p:cNvSpPr txBox="1"/>
          <p:nvPr/>
        </p:nvSpPr>
        <p:spPr>
          <a:xfrm>
            <a:off x="694944" y="4903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1115568" y="4780000"/>
            <a:ext cx="10341864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힘들거나 속상하면 엄마, 아빠, 선생님께 이야기해요.</a:t>
            </a:r>
          </a:p>
        </p:txBody>
      </p:sp>
      <p:sp>
        <p:nvSpPr>
          <p:cNvPr id="29" name="Shape 29"/>
          <p:cNvSpPr/>
          <p:nvPr/>
        </p:nvSpPr>
        <p:spPr>
          <a:xfrm>
            <a:off x="548640" y="5440000"/>
            <a:ext cx="11091672" cy="6200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30"/>
          <p:cNvSpPr/>
          <p:nvPr/>
        </p:nvSpPr>
        <p:spPr>
          <a:xfrm>
            <a:off x="694944" y="56036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31"/>
          <p:cNvSpPr txBox="1"/>
          <p:nvPr/>
        </p:nvSpPr>
        <p:spPr>
          <a:xfrm>
            <a:off x="694944" y="5603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1115568" y="5480000"/>
            <a:ext cx="10341864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두 나라를 이어주는 멋진 사람이 될 거예요.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429768"/>
            <a:ext cx="109728" cy="10972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3"/>
          <p:cNvSpPr txBox="1"/>
          <p:nvPr/>
        </p:nvSpPr>
        <p:spPr>
          <a:xfrm>
            <a:off x="749808" y="32004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19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두 문화는 나의 힘  ·  다문화가족 자녀 일곱 가지 다짐   |   English / 영어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48640" y="658368"/>
            <a:ext cx="11091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Seven Promises as Multicultural Children</a:t>
            </a:r>
          </a:p>
        </p:txBody>
      </p:sp>
      <p:sp>
        <p:nvSpPr>
          <p:cNvPr id="5" name="Shape 5"/>
          <p:cNvSpPr/>
          <p:nvPr/>
        </p:nvSpPr>
        <p:spPr>
          <a:xfrm>
            <a:off x="548640" y="1240000"/>
            <a:ext cx="11091672" cy="6200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6"/>
          <p:cNvSpPr/>
          <p:nvPr/>
        </p:nvSpPr>
        <p:spPr>
          <a:xfrm>
            <a:off x="694944" y="14036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7"/>
          <p:cNvSpPr txBox="1"/>
          <p:nvPr/>
        </p:nvSpPr>
        <p:spPr>
          <a:xfrm>
            <a:off x="694944" y="1403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115568" y="1280000"/>
            <a:ext cx="10341864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love both my mother’s country and my father’s country.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엄마 나라와 아빠 나라를 모두 사랑해요.</a:t>
            </a:r>
          </a:p>
        </p:txBody>
      </p:sp>
      <p:sp>
        <p:nvSpPr>
          <p:cNvPr id="9" name="Shape 9"/>
          <p:cNvSpPr/>
          <p:nvPr/>
        </p:nvSpPr>
        <p:spPr>
          <a:xfrm>
            <a:off x="548640" y="1940000"/>
            <a:ext cx="11091672" cy="6200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10"/>
          <p:cNvSpPr/>
          <p:nvPr/>
        </p:nvSpPr>
        <p:spPr>
          <a:xfrm>
            <a:off x="694944" y="21036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11"/>
          <p:cNvSpPr txBox="1"/>
          <p:nvPr/>
        </p:nvSpPr>
        <p:spPr>
          <a:xfrm>
            <a:off x="694944" y="2103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115568" y="1980000"/>
            <a:ext cx="10341864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proud that I can speak two languages.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두 나라 말을 할 수 있어서 참 자랑스러워요.</a:t>
            </a:r>
          </a:p>
        </p:txBody>
      </p:sp>
      <p:sp>
        <p:nvSpPr>
          <p:cNvPr id="13" name="Shape 13"/>
          <p:cNvSpPr/>
          <p:nvPr/>
        </p:nvSpPr>
        <p:spPr>
          <a:xfrm>
            <a:off x="548640" y="2640000"/>
            <a:ext cx="11091672" cy="6200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4"/>
          <p:cNvSpPr/>
          <p:nvPr/>
        </p:nvSpPr>
        <p:spPr>
          <a:xfrm>
            <a:off x="694944" y="28036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5"/>
          <p:cNvSpPr txBox="1"/>
          <p:nvPr/>
        </p:nvSpPr>
        <p:spPr>
          <a:xfrm>
            <a:off x="694944" y="2803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1115568" y="2680000"/>
            <a:ext cx="10341864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precious just as I am right now.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지금 이 모습 그대로 소중한 아이예요.</a:t>
            </a:r>
          </a:p>
        </p:txBody>
      </p:sp>
      <p:sp>
        <p:nvSpPr>
          <p:cNvPr id="17" name="Shape 17"/>
          <p:cNvSpPr/>
          <p:nvPr/>
        </p:nvSpPr>
        <p:spPr>
          <a:xfrm>
            <a:off x="548640" y="3340000"/>
            <a:ext cx="11091672" cy="6200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8"/>
          <p:cNvSpPr/>
          <p:nvPr/>
        </p:nvSpPr>
        <p:spPr>
          <a:xfrm>
            <a:off x="694944" y="35036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9"/>
          <p:cNvSpPr txBox="1"/>
          <p:nvPr/>
        </p:nvSpPr>
        <p:spPr>
          <a:xfrm>
            <a:off x="694944" y="3503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1115568" y="3380000"/>
            <a:ext cx="10341864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also respect friends who are different from me.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나와 다른 친구도 존중해요.</a:t>
            </a:r>
          </a:p>
        </p:txBody>
      </p:sp>
      <p:sp>
        <p:nvSpPr>
          <p:cNvPr id="21" name="Shape 21"/>
          <p:cNvSpPr/>
          <p:nvPr/>
        </p:nvSpPr>
        <p:spPr>
          <a:xfrm>
            <a:off x="548640" y="4040000"/>
            <a:ext cx="11091672" cy="6200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2"/>
          <p:cNvSpPr/>
          <p:nvPr/>
        </p:nvSpPr>
        <p:spPr>
          <a:xfrm>
            <a:off x="694944" y="42036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3"/>
          <p:cNvSpPr txBox="1"/>
          <p:nvPr/>
        </p:nvSpPr>
        <p:spPr>
          <a:xfrm>
            <a:off x="694944" y="4203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1115568" y="4080000"/>
            <a:ext cx="10341864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matter what others say, I am brave and confident.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뭐라고 해도 나는 씩씩하고 자신 있어요.</a:t>
            </a:r>
          </a:p>
        </p:txBody>
      </p:sp>
      <p:sp>
        <p:nvSpPr>
          <p:cNvPr id="25" name="Shape 25"/>
          <p:cNvSpPr/>
          <p:nvPr/>
        </p:nvSpPr>
        <p:spPr>
          <a:xfrm>
            <a:off x="548640" y="4740000"/>
            <a:ext cx="11091672" cy="6200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6"/>
          <p:cNvSpPr/>
          <p:nvPr/>
        </p:nvSpPr>
        <p:spPr>
          <a:xfrm>
            <a:off x="694944" y="49036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7"/>
          <p:cNvSpPr txBox="1"/>
          <p:nvPr/>
        </p:nvSpPr>
        <p:spPr>
          <a:xfrm>
            <a:off x="694944" y="4903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1115568" y="4780000"/>
            <a:ext cx="10341864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 feel sad or upset, I talk to my mom, my dad or my teacher.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힘들거나 속상하면 엄마, 아빠, 선생님께 이야기해요.</a:t>
            </a:r>
          </a:p>
        </p:txBody>
      </p:sp>
      <p:sp>
        <p:nvSpPr>
          <p:cNvPr id="29" name="Shape 29"/>
          <p:cNvSpPr/>
          <p:nvPr/>
        </p:nvSpPr>
        <p:spPr>
          <a:xfrm>
            <a:off x="548640" y="5440000"/>
            <a:ext cx="11091672" cy="6200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30"/>
          <p:cNvSpPr/>
          <p:nvPr/>
        </p:nvSpPr>
        <p:spPr>
          <a:xfrm>
            <a:off x="694944" y="56036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31"/>
          <p:cNvSpPr txBox="1"/>
          <p:nvPr/>
        </p:nvSpPr>
        <p:spPr>
          <a:xfrm>
            <a:off x="694944" y="5603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1115568" y="5480000"/>
            <a:ext cx="10341864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grow up to be someone who brings two countries together.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두 나라를 이어주는 멋진 사람이 될 거예요.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429768"/>
            <a:ext cx="109728" cy="10972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3"/>
          <p:cNvSpPr txBox="1"/>
          <p:nvPr/>
        </p:nvSpPr>
        <p:spPr>
          <a:xfrm>
            <a:off x="749808" y="32004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19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두 문화는 나의 힘  ·  다문화가족 자녀 일곱 가지 다짐   |   Tiếng Việt / 베트남어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48640" y="658368"/>
            <a:ext cx="11091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Bảy lời hứa của con</a:t>
            </a:r>
          </a:p>
        </p:txBody>
      </p:sp>
      <p:sp>
        <p:nvSpPr>
          <p:cNvPr id="5" name="Shape 5"/>
          <p:cNvSpPr/>
          <p:nvPr/>
        </p:nvSpPr>
        <p:spPr>
          <a:xfrm>
            <a:off x="548640" y="1240000"/>
            <a:ext cx="11091672" cy="6200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6"/>
          <p:cNvSpPr/>
          <p:nvPr/>
        </p:nvSpPr>
        <p:spPr>
          <a:xfrm>
            <a:off x="694944" y="14036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7"/>
          <p:cNvSpPr txBox="1"/>
          <p:nvPr/>
        </p:nvSpPr>
        <p:spPr>
          <a:xfrm>
            <a:off x="694944" y="1403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115568" y="1280000"/>
            <a:ext cx="10341864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yêu cả quê hương của mẹ và quê hương của cha.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엄마 나라와 아빠 나라를 모두 사랑해요.</a:t>
            </a:r>
          </a:p>
        </p:txBody>
      </p:sp>
      <p:sp>
        <p:nvSpPr>
          <p:cNvPr id="9" name="Shape 9"/>
          <p:cNvSpPr/>
          <p:nvPr/>
        </p:nvSpPr>
        <p:spPr>
          <a:xfrm>
            <a:off x="548640" y="1940000"/>
            <a:ext cx="11091672" cy="6200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10"/>
          <p:cNvSpPr/>
          <p:nvPr/>
        </p:nvSpPr>
        <p:spPr>
          <a:xfrm>
            <a:off x="694944" y="21036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11"/>
          <p:cNvSpPr txBox="1"/>
          <p:nvPr/>
        </p:nvSpPr>
        <p:spPr>
          <a:xfrm>
            <a:off x="694944" y="2103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115568" y="1980000"/>
            <a:ext cx="10341864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rất tự hào vì có thể nói được hai ngôn ngữ.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두 나라 말을 할 수 있어서 참 자랑스러워요.</a:t>
            </a:r>
          </a:p>
        </p:txBody>
      </p:sp>
      <p:sp>
        <p:nvSpPr>
          <p:cNvPr id="13" name="Shape 13"/>
          <p:cNvSpPr/>
          <p:nvPr/>
        </p:nvSpPr>
        <p:spPr>
          <a:xfrm>
            <a:off x="548640" y="2640000"/>
            <a:ext cx="11091672" cy="6200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4"/>
          <p:cNvSpPr/>
          <p:nvPr/>
        </p:nvSpPr>
        <p:spPr>
          <a:xfrm>
            <a:off x="694944" y="28036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5"/>
          <p:cNvSpPr txBox="1"/>
          <p:nvPr/>
        </p:nvSpPr>
        <p:spPr>
          <a:xfrm>
            <a:off x="694944" y="2803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1115568" y="2680000"/>
            <a:ext cx="10341864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là một đứa trẻ quý giá, đúng như con vốn có.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지금 이 모습 그대로 소중한 아이예요.</a:t>
            </a:r>
          </a:p>
        </p:txBody>
      </p:sp>
      <p:sp>
        <p:nvSpPr>
          <p:cNvPr id="17" name="Shape 17"/>
          <p:cNvSpPr/>
          <p:nvPr/>
        </p:nvSpPr>
        <p:spPr>
          <a:xfrm>
            <a:off x="548640" y="3340000"/>
            <a:ext cx="11091672" cy="6200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8"/>
          <p:cNvSpPr/>
          <p:nvPr/>
        </p:nvSpPr>
        <p:spPr>
          <a:xfrm>
            <a:off x="694944" y="35036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9"/>
          <p:cNvSpPr txBox="1"/>
          <p:nvPr/>
        </p:nvSpPr>
        <p:spPr>
          <a:xfrm>
            <a:off x="694944" y="3503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1115568" y="3380000"/>
            <a:ext cx="10341864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tôn trọng những người bạn khác với mình.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나와 다른 친구도 존중해요.</a:t>
            </a:r>
          </a:p>
        </p:txBody>
      </p:sp>
      <p:sp>
        <p:nvSpPr>
          <p:cNvPr id="21" name="Shape 21"/>
          <p:cNvSpPr/>
          <p:nvPr/>
        </p:nvSpPr>
        <p:spPr>
          <a:xfrm>
            <a:off x="548640" y="4040000"/>
            <a:ext cx="11091672" cy="6200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2"/>
          <p:cNvSpPr/>
          <p:nvPr/>
        </p:nvSpPr>
        <p:spPr>
          <a:xfrm>
            <a:off x="694944" y="42036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3"/>
          <p:cNvSpPr txBox="1"/>
          <p:nvPr/>
        </p:nvSpPr>
        <p:spPr>
          <a:xfrm>
            <a:off x="694944" y="4203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1115568" y="4080000"/>
            <a:ext cx="10341864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 ai nói gì đi nữa, con vẫn mạnh mẽ và tự tin.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뭐라고 해도 나는 씩씩하고 자신 있어요.</a:t>
            </a:r>
          </a:p>
        </p:txBody>
      </p:sp>
      <p:sp>
        <p:nvSpPr>
          <p:cNvPr id="25" name="Shape 25"/>
          <p:cNvSpPr/>
          <p:nvPr/>
        </p:nvSpPr>
        <p:spPr>
          <a:xfrm>
            <a:off x="548640" y="4740000"/>
            <a:ext cx="11091672" cy="6200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6"/>
          <p:cNvSpPr/>
          <p:nvPr/>
        </p:nvSpPr>
        <p:spPr>
          <a:xfrm>
            <a:off x="694944" y="49036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7"/>
          <p:cNvSpPr txBox="1"/>
          <p:nvPr/>
        </p:nvSpPr>
        <p:spPr>
          <a:xfrm>
            <a:off x="694944" y="4903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1115568" y="4780000"/>
            <a:ext cx="10341864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gặp khó khăn hoặc buồn bã, con sẽ chia sẻ với mẹ, cha hoặc thầy cô giáo.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힘들거나 속상하면 엄마, 아빠, 선생님께 이야기해요.</a:t>
            </a:r>
          </a:p>
        </p:txBody>
      </p:sp>
      <p:sp>
        <p:nvSpPr>
          <p:cNvPr id="29" name="Shape 29"/>
          <p:cNvSpPr/>
          <p:nvPr/>
        </p:nvSpPr>
        <p:spPr>
          <a:xfrm>
            <a:off x="548640" y="5440000"/>
            <a:ext cx="11091672" cy="6200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30"/>
          <p:cNvSpPr/>
          <p:nvPr/>
        </p:nvSpPr>
        <p:spPr>
          <a:xfrm>
            <a:off x="694944" y="56036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31"/>
          <p:cNvSpPr txBox="1"/>
          <p:nvPr/>
        </p:nvSpPr>
        <p:spPr>
          <a:xfrm>
            <a:off x="694944" y="5603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1115568" y="5480000"/>
            <a:ext cx="10341864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sẽ trở thành một người tuyệt vời, là cầu nối gắn kết hai đất nước.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두 나라를 이어주는 멋진 사람이 될 거예요.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429768"/>
            <a:ext cx="109728" cy="10972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3"/>
          <p:cNvSpPr txBox="1"/>
          <p:nvPr/>
        </p:nvSpPr>
        <p:spPr>
          <a:xfrm>
            <a:off x="749808" y="32004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19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두 문화는 나의 힘  ·  다문화가족 자녀 일곱 가지 다짐   |   Khmer / 크메르어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48640" y="658368"/>
            <a:ext cx="11091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2B211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ការសន្យាទាំងប្រាំពីររបស់កុមារពហុវប្បធម៌</a:t>
            </a:r>
          </a:p>
        </p:txBody>
      </p:sp>
      <p:sp>
        <p:nvSpPr>
          <p:cNvPr id="5" name="Shape 5"/>
          <p:cNvSpPr/>
          <p:nvPr/>
        </p:nvSpPr>
        <p:spPr>
          <a:xfrm>
            <a:off x="548640" y="1240000"/>
            <a:ext cx="11091672" cy="6200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6"/>
          <p:cNvSpPr/>
          <p:nvPr/>
        </p:nvSpPr>
        <p:spPr>
          <a:xfrm>
            <a:off x="694944" y="14036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7"/>
          <p:cNvSpPr txBox="1"/>
          <p:nvPr/>
        </p:nvSpPr>
        <p:spPr>
          <a:xfrm>
            <a:off x="694944" y="1403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115568" y="1280000"/>
            <a:ext cx="10341864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B211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ខ្ញុំស្រឡាញ់ទាំងប្រទេសរបស់ម្តាយ និងប្រទេសរបស់ឪពុក។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엄마 나라와 아빠 나라를 모두 사랑해요.</a:t>
            </a:r>
          </a:p>
        </p:txBody>
      </p:sp>
      <p:sp>
        <p:nvSpPr>
          <p:cNvPr id="9" name="Shape 9"/>
          <p:cNvSpPr/>
          <p:nvPr/>
        </p:nvSpPr>
        <p:spPr>
          <a:xfrm>
            <a:off x="548640" y="1940000"/>
            <a:ext cx="11091672" cy="6200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10"/>
          <p:cNvSpPr/>
          <p:nvPr/>
        </p:nvSpPr>
        <p:spPr>
          <a:xfrm>
            <a:off x="694944" y="21036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11"/>
          <p:cNvSpPr txBox="1"/>
          <p:nvPr/>
        </p:nvSpPr>
        <p:spPr>
          <a:xfrm>
            <a:off x="694944" y="2103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115568" y="1980000"/>
            <a:ext cx="10341864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B211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ខ្ញុំមានមោទនភាពណាស់ ដែលអាចនិយាយភាសាទាំងពីរបាន។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두 나라 말을 할 수 있어서 참 자랑스러워요.</a:t>
            </a:r>
          </a:p>
        </p:txBody>
      </p:sp>
      <p:sp>
        <p:nvSpPr>
          <p:cNvPr id="13" name="Shape 13"/>
          <p:cNvSpPr/>
          <p:nvPr/>
        </p:nvSpPr>
        <p:spPr>
          <a:xfrm>
            <a:off x="548640" y="2640000"/>
            <a:ext cx="11091672" cy="6200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4"/>
          <p:cNvSpPr/>
          <p:nvPr/>
        </p:nvSpPr>
        <p:spPr>
          <a:xfrm>
            <a:off x="694944" y="28036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5"/>
          <p:cNvSpPr txBox="1"/>
          <p:nvPr/>
        </p:nvSpPr>
        <p:spPr>
          <a:xfrm>
            <a:off x="694944" y="2803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1115568" y="2680000"/>
            <a:ext cx="10341864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B211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ខ្ញុំគឺជាកុមារដ៏មានតម្លៃ ដូចដែលខ្ញុំមានស្រាប់។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지금 이 모습 그대로 소중한 아이예요.</a:t>
            </a:r>
          </a:p>
        </p:txBody>
      </p:sp>
      <p:sp>
        <p:nvSpPr>
          <p:cNvPr id="17" name="Shape 17"/>
          <p:cNvSpPr/>
          <p:nvPr/>
        </p:nvSpPr>
        <p:spPr>
          <a:xfrm>
            <a:off x="548640" y="3340000"/>
            <a:ext cx="11091672" cy="6200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8"/>
          <p:cNvSpPr/>
          <p:nvPr/>
        </p:nvSpPr>
        <p:spPr>
          <a:xfrm>
            <a:off x="694944" y="35036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9"/>
          <p:cNvSpPr txBox="1"/>
          <p:nvPr/>
        </p:nvSpPr>
        <p:spPr>
          <a:xfrm>
            <a:off x="694944" y="3503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1115568" y="3380000"/>
            <a:ext cx="10341864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B211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ខ្ញុំគោរពមិត្តភក្តិដែលខុសពីខ្ញុំដែរ។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나와 다른 친구도 존중해요.</a:t>
            </a:r>
          </a:p>
        </p:txBody>
      </p:sp>
      <p:sp>
        <p:nvSpPr>
          <p:cNvPr id="21" name="Shape 21"/>
          <p:cNvSpPr/>
          <p:nvPr/>
        </p:nvSpPr>
        <p:spPr>
          <a:xfrm>
            <a:off x="548640" y="4040000"/>
            <a:ext cx="11091672" cy="6200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2"/>
          <p:cNvSpPr/>
          <p:nvPr/>
        </p:nvSpPr>
        <p:spPr>
          <a:xfrm>
            <a:off x="694944" y="42036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3"/>
          <p:cNvSpPr txBox="1"/>
          <p:nvPr/>
        </p:nvSpPr>
        <p:spPr>
          <a:xfrm>
            <a:off x="694944" y="4203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1115568" y="4080000"/>
            <a:ext cx="10341864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B211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ទោះបីអ្នកដទៃនិយាយយ៉ាងណាក៏ដោយ ខ្ញុំនៅតែរឹងមាំ និងមានទំនុកចិត្ត។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뭐라고 해도 나는 씩씩하고 자신 있어요.</a:t>
            </a:r>
          </a:p>
        </p:txBody>
      </p:sp>
      <p:sp>
        <p:nvSpPr>
          <p:cNvPr id="25" name="Shape 25"/>
          <p:cNvSpPr/>
          <p:nvPr/>
        </p:nvSpPr>
        <p:spPr>
          <a:xfrm>
            <a:off x="548640" y="4740000"/>
            <a:ext cx="11091672" cy="6200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6"/>
          <p:cNvSpPr/>
          <p:nvPr/>
        </p:nvSpPr>
        <p:spPr>
          <a:xfrm>
            <a:off x="694944" y="49036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7"/>
          <p:cNvSpPr txBox="1"/>
          <p:nvPr/>
        </p:nvSpPr>
        <p:spPr>
          <a:xfrm>
            <a:off x="694944" y="4903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1115568" y="4780000"/>
            <a:ext cx="10341864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B211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ពេលពិបាកចិត្ត ឬអន់ចិត្ត ខ្ញុំនឹងប្រាប់ម្តាយ ឪពុក ឬលោកគ្រូអ្នកគ្រូ។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힘들거나 속상하면 엄마, 아빠, 선생님께 이야기해요.</a:t>
            </a:r>
          </a:p>
        </p:txBody>
      </p:sp>
      <p:sp>
        <p:nvSpPr>
          <p:cNvPr id="29" name="Shape 29"/>
          <p:cNvSpPr/>
          <p:nvPr/>
        </p:nvSpPr>
        <p:spPr>
          <a:xfrm>
            <a:off x="548640" y="5440000"/>
            <a:ext cx="11091672" cy="6200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30"/>
          <p:cNvSpPr/>
          <p:nvPr/>
        </p:nvSpPr>
        <p:spPr>
          <a:xfrm>
            <a:off x="694944" y="56036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31"/>
          <p:cNvSpPr txBox="1"/>
          <p:nvPr/>
        </p:nvSpPr>
        <p:spPr>
          <a:xfrm>
            <a:off x="694944" y="5603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1115568" y="5480000"/>
            <a:ext cx="10341864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B211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ខ្ញុំនឹងក្លាយជាមនុស្សដ៏អស្ចារ្យ ដែលភ្ជាប់ប្រទេសទាំងពីរ។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두 나라를 이어주는 멋진 사람이 될 거예요.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429768"/>
            <a:ext cx="109728" cy="10972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pPr rtl="0"/>
            <a:endParaRPr/>
          </a:p>
        </p:txBody>
      </p:sp>
      <p:sp>
        <p:nvSpPr>
          <p:cNvPr id="3" name="Text 3"/>
          <p:cNvSpPr txBox="1"/>
          <p:nvPr/>
        </p:nvSpPr>
        <p:spPr>
          <a:xfrm>
            <a:off x="749808" y="32004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19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두 문화는 나의 힘  ·  다문화가족 자녀 일곱 가지 다짐   |   Русский / 러시아어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48640" y="658368"/>
            <a:ext cx="11091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2B2118"/>
                </a:solidFill>
                <a:latin typeface="Calibri" pitchFamily="34" charset="0"/>
                <a:ea typeface="Segoe UI" pitchFamily="34" charset="-122"/>
                <a:cs typeface="Calibri" pitchFamily="34" charset="-120"/>
              </a:rPr>
              <a:t>Семь обещаний ребёнка многокультурной семьи</a:t>
            </a:r>
          </a:p>
        </p:txBody>
      </p:sp>
      <p:sp>
        <p:nvSpPr>
          <p:cNvPr id="5" name="Shape 5"/>
          <p:cNvSpPr/>
          <p:nvPr/>
        </p:nvSpPr>
        <p:spPr>
          <a:xfrm>
            <a:off x="548640" y="1240000"/>
            <a:ext cx="11091672" cy="6200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pPr rtl="0"/>
            <a:endParaRPr/>
          </a:p>
        </p:txBody>
      </p:sp>
      <p:sp>
        <p:nvSpPr>
          <p:cNvPr id="6" name="Shape 6"/>
          <p:cNvSpPr/>
          <p:nvPr/>
        </p:nvSpPr>
        <p:spPr>
          <a:xfrm>
            <a:off x="694944" y="14036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pPr rtl="0"/>
            <a:endParaRPr/>
          </a:p>
        </p:txBody>
      </p:sp>
      <p:sp>
        <p:nvSpPr>
          <p:cNvPr id="7" name="Text 7"/>
          <p:cNvSpPr txBox="1"/>
          <p:nvPr/>
        </p:nvSpPr>
        <p:spPr>
          <a:xfrm>
            <a:off x="694944" y="1403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115568" y="1280000"/>
            <a:ext cx="10341864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B2118"/>
                </a:solidFill>
                <a:latin typeface="Calibri" pitchFamily="34" charset="0"/>
                <a:ea typeface="Segoe UI" pitchFamily="34" charset="-122"/>
                <a:cs typeface="Calibri" pitchFamily="34" charset="-120"/>
              </a:rPr>
              <a:t>Я люблю и страну мамы, и страну папы.</a:t>
            </a:r>
          </a:p>
          <a:p>
            <a:pPr marL="0" indent="0" algn="l" rt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엄마 나라와 아빠 나라를 모두 사랑해요.</a:t>
            </a:r>
          </a:p>
        </p:txBody>
      </p:sp>
      <p:sp>
        <p:nvSpPr>
          <p:cNvPr id="9" name="Shape 9"/>
          <p:cNvSpPr/>
          <p:nvPr/>
        </p:nvSpPr>
        <p:spPr>
          <a:xfrm>
            <a:off x="548640" y="1940000"/>
            <a:ext cx="11091672" cy="6200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pPr rtl="0"/>
            <a:endParaRPr/>
          </a:p>
        </p:txBody>
      </p:sp>
      <p:sp>
        <p:nvSpPr>
          <p:cNvPr id="10" name="Shape 10"/>
          <p:cNvSpPr/>
          <p:nvPr/>
        </p:nvSpPr>
        <p:spPr>
          <a:xfrm>
            <a:off x="694944" y="21036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pPr rtl="0"/>
            <a:endParaRPr/>
          </a:p>
        </p:txBody>
      </p:sp>
      <p:sp>
        <p:nvSpPr>
          <p:cNvPr id="11" name="Text 11"/>
          <p:cNvSpPr txBox="1"/>
          <p:nvPr/>
        </p:nvSpPr>
        <p:spPr>
          <a:xfrm>
            <a:off x="694944" y="2103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115568" y="1980000"/>
            <a:ext cx="10341864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B2118"/>
                </a:solidFill>
                <a:latin typeface="Calibri" pitchFamily="34" charset="0"/>
                <a:ea typeface="Segoe UI" pitchFamily="34" charset="-122"/>
                <a:cs typeface="Calibri" pitchFamily="34" charset="-120"/>
              </a:rPr>
              <a:t>Я очень горжусь тем, что могу говорить на двух языках.</a:t>
            </a:r>
          </a:p>
          <a:p>
            <a:pPr marL="0" indent="0" algn="l" rt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두 나라 말을 할 수 있어서 참 자랑스러워요.</a:t>
            </a:r>
          </a:p>
        </p:txBody>
      </p:sp>
      <p:sp>
        <p:nvSpPr>
          <p:cNvPr id="13" name="Shape 13"/>
          <p:cNvSpPr/>
          <p:nvPr/>
        </p:nvSpPr>
        <p:spPr>
          <a:xfrm>
            <a:off x="548640" y="2640000"/>
            <a:ext cx="11091672" cy="6200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pPr rtl="0"/>
            <a:endParaRPr/>
          </a:p>
        </p:txBody>
      </p:sp>
      <p:sp>
        <p:nvSpPr>
          <p:cNvPr id="14" name="Shape 14"/>
          <p:cNvSpPr/>
          <p:nvPr/>
        </p:nvSpPr>
        <p:spPr>
          <a:xfrm>
            <a:off x="694944" y="28036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pPr rtl="0"/>
            <a:endParaRPr/>
          </a:p>
        </p:txBody>
      </p:sp>
      <p:sp>
        <p:nvSpPr>
          <p:cNvPr id="15" name="Text 15"/>
          <p:cNvSpPr txBox="1"/>
          <p:nvPr/>
        </p:nvSpPr>
        <p:spPr>
          <a:xfrm>
            <a:off x="694944" y="2803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1115568" y="2680000"/>
            <a:ext cx="10341864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B2118"/>
                </a:solidFill>
                <a:latin typeface="Calibri" pitchFamily="34" charset="0"/>
                <a:ea typeface="Segoe UI" pitchFamily="34" charset="-122"/>
                <a:cs typeface="Calibri" pitchFamily="34" charset="-120"/>
              </a:rPr>
              <a:t>Я — драгоценный ребёнок, такой, какой я есть сейчас.</a:t>
            </a:r>
          </a:p>
          <a:p>
            <a:pPr marL="0" indent="0" algn="l" rt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지금 이 모습 그대로 소중한 아이예요.</a:t>
            </a:r>
          </a:p>
        </p:txBody>
      </p:sp>
      <p:sp>
        <p:nvSpPr>
          <p:cNvPr id="17" name="Shape 17"/>
          <p:cNvSpPr/>
          <p:nvPr/>
        </p:nvSpPr>
        <p:spPr>
          <a:xfrm>
            <a:off x="548640" y="3340000"/>
            <a:ext cx="11091672" cy="6200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pPr rtl="0"/>
            <a:endParaRPr/>
          </a:p>
        </p:txBody>
      </p:sp>
      <p:sp>
        <p:nvSpPr>
          <p:cNvPr id="18" name="Shape 18"/>
          <p:cNvSpPr/>
          <p:nvPr/>
        </p:nvSpPr>
        <p:spPr>
          <a:xfrm>
            <a:off x="694944" y="35036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pPr rtl="0"/>
            <a:endParaRPr/>
          </a:p>
        </p:txBody>
      </p:sp>
      <p:sp>
        <p:nvSpPr>
          <p:cNvPr id="19" name="Text 19"/>
          <p:cNvSpPr txBox="1"/>
          <p:nvPr/>
        </p:nvSpPr>
        <p:spPr>
          <a:xfrm>
            <a:off x="694944" y="3503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1115568" y="3380000"/>
            <a:ext cx="10341864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B2118"/>
                </a:solidFill>
                <a:latin typeface="Calibri" pitchFamily="34" charset="0"/>
                <a:ea typeface="Segoe UI" pitchFamily="34" charset="-122"/>
                <a:cs typeface="Calibri" pitchFamily="34" charset="-120"/>
              </a:rPr>
              <a:t>Я уважаю и тех друзей, которые не похожи на меня.</a:t>
            </a:r>
          </a:p>
          <a:p>
            <a:pPr marL="0" indent="0" algn="l" rt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나와 다른 친구도 존중해요.</a:t>
            </a:r>
          </a:p>
        </p:txBody>
      </p:sp>
      <p:sp>
        <p:nvSpPr>
          <p:cNvPr id="21" name="Shape 21"/>
          <p:cNvSpPr/>
          <p:nvPr/>
        </p:nvSpPr>
        <p:spPr>
          <a:xfrm>
            <a:off x="548640" y="4040000"/>
            <a:ext cx="11091672" cy="6200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pPr rtl="0"/>
            <a:endParaRPr/>
          </a:p>
        </p:txBody>
      </p:sp>
      <p:sp>
        <p:nvSpPr>
          <p:cNvPr id="22" name="Shape 22"/>
          <p:cNvSpPr/>
          <p:nvPr/>
        </p:nvSpPr>
        <p:spPr>
          <a:xfrm>
            <a:off x="694944" y="42036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pPr rtl="0"/>
            <a:endParaRPr/>
          </a:p>
        </p:txBody>
      </p:sp>
      <p:sp>
        <p:nvSpPr>
          <p:cNvPr id="23" name="Text 23"/>
          <p:cNvSpPr txBox="1"/>
          <p:nvPr/>
        </p:nvSpPr>
        <p:spPr>
          <a:xfrm>
            <a:off x="694944" y="4203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1115568" y="4080000"/>
            <a:ext cx="10341864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B2118"/>
                </a:solidFill>
                <a:latin typeface="Calibri" pitchFamily="34" charset="0"/>
                <a:ea typeface="Segoe UI" pitchFamily="34" charset="-122"/>
                <a:cs typeface="Calibri" pitchFamily="34" charset="-120"/>
              </a:rPr>
              <a:t>Что бы ни говорили другие, у меня есть смелость и уверенность в себе.</a:t>
            </a:r>
          </a:p>
          <a:p>
            <a:pPr marL="0" indent="0" algn="l" rt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뭐라고 해도 나는 씩씩하고 자신 있어요.</a:t>
            </a:r>
          </a:p>
        </p:txBody>
      </p:sp>
      <p:sp>
        <p:nvSpPr>
          <p:cNvPr id="25" name="Shape 25"/>
          <p:cNvSpPr/>
          <p:nvPr/>
        </p:nvSpPr>
        <p:spPr>
          <a:xfrm>
            <a:off x="548640" y="4740000"/>
            <a:ext cx="11091672" cy="6200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pPr rtl="0"/>
            <a:endParaRPr/>
          </a:p>
        </p:txBody>
      </p:sp>
      <p:sp>
        <p:nvSpPr>
          <p:cNvPr id="26" name="Shape 26"/>
          <p:cNvSpPr/>
          <p:nvPr/>
        </p:nvSpPr>
        <p:spPr>
          <a:xfrm>
            <a:off x="694944" y="49036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pPr rtl="0"/>
            <a:endParaRPr/>
          </a:p>
        </p:txBody>
      </p:sp>
      <p:sp>
        <p:nvSpPr>
          <p:cNvPr id="27" name="Text 27"/>
          <p:cNvSpPr txBox="1"/>
          <p:nvPr/>
        </p:nvSpPr>
        <p:spPr>
          <a:xfrm>
            <a:off x="694944" y="4903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1115568" y="4780000"/>
            <a:ext cx="10341864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B2118"/>
                </a:solidFill>
                <a:latin typeface="Calibri" pitchFamily="34" charset="0"/>
                <a:ea typeface="Segoe UI" pitchFamily="34" charset="-122"/>
                <a:cs typeface="Calibri" pitchFamily="34" charset="-120"/>
              </a:rPr>
              <a:t>Если мне трудно или грустно, я рассказываю маме, папе или учителю.</a:t>
            </a:r>
          </a:p>
          <a:p>
            <a:pPr marL="0" indent="0" algn="l" rt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힘들거나 속상하면 엄마, 아빠, 선생님께 이야기해요.</a:t>
            </a:r>
          </a:p>
        </p:txBody>
      </p:sp>
      <p:sp>
        <p:nvSpPr>
          <p:cNvPr id="29" name="Shape 29"/>
          <p:cNvSpPr/>
          <p:nvPr/>
        </p:nvSpPr>
        <p:spPr>
          <a:xfrm>
            <a:off x="548640" y="5440000"/>
            <a:ext cx="11091672" cy="620000"/>
          </a:xfrm>
          <a:prstGeom prst="roundRect">
            <a:avLst>
              <a:gd name="adj" fmla="val 24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pPr rtl="0"/>
            <a:endParaRPr/>
          </a:p>
        </p:txBody>
      </p:sp>
      <p:sp>
        <p:nvSpPr>
          <p:cNvPr id="30" name="Shape 30"/>
          <p:cNvSpPr/>
          <p:nvPr/>
        </p:nvSpPr>
        <p:spPr>
          <a:xfrm>
            <a:off x="694944" y="5603696"/>
            <a:ext cx="292608" cy="29260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pPr rtl="0"/>
            <a:endParaRPr/>
          </a:p>
        </p:txBody>
      </p:sp>
      <p:sp>
        <p:nvSpPr>
          <p:cNvPr id="31" name="Text 31"/>
          <p:cNvSpPr txBox="1"/>
          <p:nvPr/>
        </p:nvSpPr>
        <p:spPr>
          <a:xfrm>
            <a:off x="694944" y="5603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1115568" y="5480000"/>
            <a:ext cx="10341864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B2118"/>
                </a:solidFill>
                <a:latin typeface="Calibri" pitchFamily="34" charset="0"/>
                <a:ea typeface="Segoe UI" pitchFamily="34" charset="-122"/>
                <a:cs typeface="Calibri" pitchFamily="34" charset="-120"/>
              </a:rPr>
              <a:t>Я стану замечательным человеком, который соединяет две страны.</a:t>
            </a:r>
          </a:p>
          <a:p>
            <a:pPr marL="0" indent="0" algn="l" rt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8A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두 나라를 이어주는 멋진 사람이 될 거예요.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429768"/>
            <a:ext cx="109728" cy="109728"/>
          </a:xfrm>
          <a:prstGeom prst="ellipse">
            <a:avLst/>
          </a:prstGeom>
          <a:solidFill>
            <a:srgbClr val="E190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3"/>
          <p:cNvSpPr txBox="1"/>
          <p:nvPr/>
        </p:nvSpPr>
        <p:spPr>
          <a:xfrm>
            <a:off x="749808" y="32004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19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두 문화는 나의 힘  ·  핵심 문구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48640" y="658368"/>
            <a:ext cx="11091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함께 기억할 두 문장</a:t>
            </a:r>
          </a:p>
        </p:txBody>
      </p:sp>
      <p:sp>
        <p:nvSpPr>
          <p:cNvPr id="5" name="Shape 5"/>
          <p:cNvSpPr/>
          <p:nvPr/>
        </p:nvSpPr>
        <p:spPr>
          <a:xfrm>
            <a:off x="548640" y="1240000"/>
            <a:ext cx="5395836" cy="4820000"/>
          </a:xfrm>
          <a:prstGeom prst="roundRect">
            <a:avLst>
              <a:gd name="adj" fmla="val 6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6"/>
          <p:cNvSpPr txBox="1"/>
          <p:nvPr/>
        </p:nvSpPr>
        <p:spPr>
          <a:xfrm>
            <a:off x="822960" y="1468600"/>
            <a:ext cx="4847196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19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부모의 문장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822960" y="1980000"/>
            <a:ext cx="4847196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한국어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822960" y="2190000"/>
            <a:ext cx="4847196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아이의 두 문화는 우리 가족의 힘입니다.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822960" y="2760000"/>
            <a:ext cx="4847196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822960" y="2970000"/>
            <a:ext cx="4847196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child’s two cultures are our family’s strength.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822960" y="3540000"/>
            <a:ext cx="4847196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Tiếng Việt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822960" y="3750000"/>
            <a:ext cx="4847196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nền văn hóa của con chính là sức mạnh của gia đình chúng ta.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822960" y="4320000"/>
            <a:ext cx="4847196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8A7A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ភាសាខ្មែរ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822960" y="4530000"/>
            <a:ext cx="4847196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B211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វប្បធម៌ទាំងពីររបស់កូនយើង គឺជាកម្លាំងរបស់គ្រួសារយើង។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822960" y="5100000"/>
            <a:ext cx="4847196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8A7A66"/>
                </a:solidFill>
                <a:latin typeface="Calibri" pitchFamily="34" charset="0"/>
                <a:ea typeface="Segoe UI" pitchFamily="34" charset="-122"/>
                <a:cs typeface="Calibri" pitchFamily="34" charset="-120"/>
              </a:rPr>
              <a:t>Русский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822960" y="5310000"/>
            <a:ext cx="4847196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B2118"/>
                </a:solidFill>
                <a:latin typeface="Calibri" pitchFamily="34" charset="0"/>
                <a:ea typeface="Segoe UI" pitchFamily="34" charset="-122"/>
                <a:cs typeface="Calibri" pitchFamily="34" charset="-120"/>
              </a:rPr>
              <a:t>Две культуры нашего ребёнка — это сила нашей семьи.</a:t>
            </a:r>
          </a:p>
        </p:txBody>
      </p:sp>
      <p:sp>
        <p:nvSpPr>
          <p:cNvPr id="17" name="Shape 17"/>
          <p:cNvSpPr/>
          <p:nvPr/>
        </p:nvSpPr>
        <p:spPr>
          <a:xfrm>
            <a:off x="6244476" y="1240000"/>
            <a:ext cx="5395836" cy="4820000"/>
          </a:xfrm>
          <a:prstGeom prst="roundRect">
            <a:avLst>
              <a:gd name="adj" fmla="val 6000"/>
            </a:avLst>
          </a:prstGeom>
          <a:solidFill>
            <a:srgbClr val="FDF6E9"/>
          </a:solidFill>
          <a:ln w="12700">
            <a:solidFill>
              <a:srgbClr val="F0DF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8"/>
          <p:cNvSpPr txBox="1"/>
          <p:nvPr/>
        </p:nvSpPr>
        <p:spPr>
          <a:xfrm>
            <a:off x="6518796" y="1468600"/>
            <a:ext cx="4847196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19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아이의 문장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6518796" y="1980000"/>
            <a:ext cx="4847196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한국어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6518796" y="2190000"/>
            <a:ext cx="4847196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문화 모두 내 것이고, 둘 다 소중해요.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6518796" y="2760000"/>
            <a:ext cx="4847196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6518796" y="2970000"/>
            <a:ext cx="4847196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cultures are part of me, and I cherish them equally.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6518796" y="3540000"/>
            <a:ext cx="4847196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Tiếng Việt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6518796" y="3750000"/>
            <a:ext cx="4847196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 hai nền văn hóa đều là của con, và cả hai đều quý giá.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6518796" y="4320000"/>
            <a:ext cx="4847196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8A7A6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ភាសាខ្មែរ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6518796" y="4530000"/>
            <a:ext cx="4847196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B211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វប្បធម៌ទាំងពីរគឺជារបស់ខ្ញុំ ហើយទាំងពីរសុទ្ធតែមានតម្លៃ។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6518796" y="5100000"/>
            <a:ext cx="4847196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8A7A66"/>
                </a:solidFill>
                <a:latin typeface="Calibri" pitchFamily="34" charset="0"/>
                <a:ea typeface="Segoe UI" pitchFamily="34" charset="-122"/>
                <a:cs typeface="Calibri" pitchFamily="34" charset="-120"/>
              </a:rPr>
              <a:t>Русский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6518796" y="5310000"/>
            <a:ext cx="4847196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B2118"/>
                </a:solidFill>
                <a:latin typeface="Calibri" pitchFamily="34" charset="0"/>
                <a:ea typeface="Segoe UI" pitchFamily="34" charset="-122"/>
                <a:cs typeface="Calibri" pitchFamily="34" charset="-120"/>
              </a:rPr>
              <a:t>Обе культуры — мои, и обе мне дороги.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37360" y="3931920"/>
            <a:ext cx="4937760" cy="4937760"/>
          </a:xfrm>
          <a:prstGeom prst="ellipse">
            <a:avLst/>
          </a:prstGeom>
          <a:solidFill>
            <a:srgbClr val="FDE4E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9692640" y="-1645920"/>
            <a:ext cx="4389120" cy="4389120"/>
          </a:xfrm>
          <a:prstGeom prst="ellipse">
            <a:avLst/>
          </a:prstGeom>
          <a:solidFill>
            <a:srgbClr val="E9F3E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1097280" y="21488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</a:t>
            </a:r>
            <a:endParaRPr lang="en-US" sz="5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3154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24B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38862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B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오늘부터 우리 가족의 행복을 함께 시작해요.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4297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start building a happier family together today.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023360" y="5120640"/>
            <a:ext cx="4142232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0D7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3299993" y="5120640"/>
            <a:ext cx="55920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E65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사상구보건소 051-310-4500  ·  다누리콜센터 1577-1366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11986</Words>
  <Application>Microsoft Office PowerPoint</Application>
  <PresentationFormat>와이드스크린</PresentationFormat>
  <Paragraphs>1245</Paragraphs>
  <Slides>67</Slides>
  <Notes>67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67</vt:i4>
      </vt:variant>
    </vt:vector>
  </HeadingPairs>
  <TitlesOfParts>
    <vt:vector size="72" baseType="lpstr">
      <vt:lpstr>맑은 고딕</vt:lpstr>
      <vt:lpstr>Arial</vt:lpstr>
      <vt:lpstr>Calibri</vt:lpstr>
      <vt:lpstr>Leelawadee UI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우리 아이 마음 키우기 (다국어)</dc:title>
  <dc:subject>PptxGenJS Presentation</dc:subject>
  <dc:creator>사상구보건소</dc:creator>
  <cp:lastModifiedBy>USER_</cp:lastModifiedBy>
  <cp:revision>22</cp:revision>
  <cp:lastPrinted>2026-10-19T08:12:56Z</cp:lastPrinted>
  <dcterms:created xsi:type="dcterms:W3CDTF">2026-09-07T04:32:53Z</dcterms:created>
  <dcterms:modified xsi:type="dcterms:W3CDTF">2026-10-19T08:13:07Z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DRDomainID">
    <vt:lpwstr>0100000000001970</vt:lpwstr>
  </property>
  <property fmtid="{D5CDD505-2E9C-101B-9397-08002B2CF9AE}" pid="3" name="FDRSys">
    <vt:lpwstr>Fasoo Data Radar Client Agent</vt:lpwstr>
  </property>
  <property fmtid="{D5CDD505-2E9C-101B-9397-08002B2CF9AE}" pid="4" name="FDRver">
    <vt:lpwstr>1.0</vt:lpwstr>
  </property>
  <property fmtid="{D5CDD505-2E9C-101B-9397-08002B2CF9AE}" name="FDRSet" pid="9">
    <vt:lpwstr>auto</vt:lpwstr>
  </property>
  <property fmtid="{D5CDD505-2E9C-101B-9397-08002B2CF9AE}" name="FDRClass" pid="19">
    <vt:lpwstr>1</vt:lpwstr>
  </property>
  <property fmtid="{D5CDD505-2E9C-101B-9397-08002B2CF9AE}" name="FDRDate" pid="20">
    <vt:lpwstr>20261029T011253Z</vt:lpwstr>
  </property>
  <property fmtid="{D5CDD505-2E9C-101B-9397-08002B2CF9AE}" name="Fasoo_Trace_ID" pid="21">
    <vt:lpwstr>eyJub2RlMSI6eyJkc2QiOiIwMDAwMDAwMDAwMDAwMDAwIiwibG9nVGltZSI6IjIwMjYtMTAtMjlUMDE6MTI6NDZaIiwicElEIjoyMDQ4LCJwcm9jZXNzSWQiOjEzMTIwLCJwcm9jZXNzTmFtZSI6ImZfZmRybWdyLmV4ZSIsInRyYWNlSWQiOiJCRUYzNDc3Qjg2RkM0NEQ2QUMxQzIyMzUxNTdFMDM2QyIsInVzZXJDb2RlIjoibWFyaWEwMCJ9LCJub2RlMiI6eyJkc2QiOiIwMTAwMDAwMDAwMDAxNDMzIiwibG9nVGltZSI6IjIwMjYtMTAtMzBUMDU6NDQ6MzRaIiwicElEIjoxLCJwcm9jZXNzSWQiOjEzMTIwLCJwcm9jZXNzTmFtZSI6ImZfYmF0bWdyLmV4ZSIsInRyYWNlSWQiOiIyNjNDOUZGMzNDOTM0MUE2OUMxQjMyQzVEQzY1MjA4NyIsInVzZXJDb2RlIjoibWFyaWEwMCJ9LCJub2RlMyI6eyJkc2QiOiIwMDAwMDAwMDAwMDAwMDAwIiwibG9nVGltZSI6IjIwMjYtMTAtMzBUMDU6NDU6MTFaIiwicElEIjoyMDQ4LCJwcm9jZXNzSWQiOjEzMTIwLCJwcm9jZXNzTmFtZSI6ImZfYmF0bWdyLmV4ZSIsInRyYWNlSWQiOiJBQUI0NkY3QzAwQUU0NTdEODk2MUIxMzMzQjc3RUEwMiIsInVzZXJDb2RlIjoibWFyaWEwMCJ9LCJub2RlNCI6eyJkc2QiOiIwMTAwMDAwMDAwMDAxNDMzIiwibG9nVGltZSI6IjIwMjYtMTAtMzBUMDU6NDY6MDVaIiwicElEIjoxMDQ4NTc3LCJwcm9jZXNzSWQiOjEzMTIwLCJwcm9jZXNzTmFtZSI6ImZfZmRybWdyLmV4ZSIsInRyYWNlSWQiOiJGN0RBQkZFNjNEQTE0NDgzOUIxODFCOTEzOTg1NDczQyIsInVzZXJDb2RlIjoibWFyaWEwMCJ9LCJub2RlNSI6eyJkc2QiOiIwMDAwMDAwMDAwMDAwMDAwIiwibG9nVGltZSI6IjIwMjYtMTAtMzBUMDU6NDc6MjhaIiwicElEIjoyMDQ4LCJwcm9jZXNzSWQiOjIwMDk2LCJwcm9jZXNzTmFtZSI6ImZfZmRybWdyLmV4ZSIsInRyYWNlSWQiOiIzQ0MyRUIzQjE5Njk0QkMzQkRBQjVDQTVBQUMyNjhFOCIsInVzZXJDb2RlIjoibWFyaWEwMCJ9LCJub2RlQ291bnQiOjE5LCJyb290VHJhY2VJZCI6IkY4QTI0REEyNzZCNTRGMzhBMUQyRkExRjU3QzUzRTZDIn0=</vt:lpwstr>
  </property>
</Properties>
</file>